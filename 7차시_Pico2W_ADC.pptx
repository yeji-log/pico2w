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아날로그 입력 (ADC)</a:t>
            </a:r>
          </a:p>
          <a:p/>
          <a:p>
            <a:r>
              <a:t>[지시] 지난 시간 RGB 회로를 그대로 꺼내게 한다. 가변저항을 배부한다.</a:t>
            </a:r>
          </a:p>
          <a:p/>
          <a:p>
            <a:r>
              <a:t>4차시에 버튼으로 입력을 배웠죠. 그런데 버튼은 답이 두 개뿐이었습니다. 눌렸다 아니면 안 눌렸다.</a:t>
            </a:r>
          </a:p>
          <a:p/>
          <a:p>
            <a:r>
              <a:t>[발문] 그런데 세상에는 두 가지로 안 나뉘는 게 많죠. 뭐가 있을까요?</a:t>
            </a:r>
          </a:p>
          <a:p/>
          <a:p>
            <a:r>
              <a:t>온도, 밝기, 소리 크기, 볼륨. 이런 건 '얼마나'가 있습니다. 이걸 아날로그라고 합니다.</a:t>
            </a:r>
          </a:p>
          <a:p/>
          <a:p>
            <a:r>
              <a:t>오늘은 그 '얼마나'를 읽습니다. 화면 오른쪽 그림 보세요. 손잡이를 돌리면 숫자가 나옵니다. 0에서 65535 사이의 값이요.</a:t>
            </a:r>
          </a:p>
          <a:p/>
          <a:p>
            <a:r>
              <a:t>이 숫자 범위, 어디서 많이 봤죠? 지난 두 시간 동안 LED 밝기 정할 때 쓴 그 범위입니다. 오늘 이게 아주 편리하게 쓰입니다.</a:t>
            </a:r>
          </a:p>
          <a:p/>
          <a:p>
            <a:r>
              <a:t>1차시 핀 배치도에서 GP26, 27, 28만 아날로그가 된다고 했던 거 기억하시나요. 드디어 그 세 핀을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디지털과 아날로그의 차이. 개념부터 잡고 갑니다.</a:t>
            </a:r>
          </a:p>
          <a:p/>
          <a:p>
            <a:r>
              <a:t>둘째, ADC가 하는 일. 이름 그대로 아날로그를 디지털로 바꾸는 장치예요.</a:t>
            </a:r>
          </a:p>
          <a:p/>
          <a:p>
            <a:r>
              <a:t>셋째, 가변저항. 다리가 세 개인데 어디에 뭘 연결하는지가 오늘의 고비입니다.</a:t>
            </a:r>
          </a:p>
          <a:p/>
          <a:p>
            <a:r>
              <a:t>넷째, 값의 해상도. 조금 어려운 얘긴데 1차시에 예고했던 12비트 이야기가 여기서 나옵니다.</a:t>
            </a:r>
          </a:p>
          <a:p/>
          <a:p>
            <a:r>
              <a:t>다섯째, 읽은 값으로 LED를 제어합니다. 오늘의 목표 지점이에요.</a:t>
            </a:r>
          </a:p>
          <a:p/>
          <a:p>
            <a:r>
              <a:t>오늘은 드디어 입력이 '정도'를 갖습니다. 그러면 만들 수 있는 게 확 늘어납니다.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RGB LED의 공통 다리는 가장 긴 것, GND로 간다. PWM 세 개를 쓴다. 색 값은 257을 곱해 변환한다. 그리고 그걸 set_color 함수로 묶었죠.</a:t>
            </a:r>
          </a:p>
          <a:p/>
          <a:p>
            <a:r>
              <a:t>[지시] 회로 확인 시간을 3분 준다. set_color(255, 0, 0)으로 빨간불이 켜지는지 확인시킨다.</a:t>
            </a:r>
          </a:p>
          <a:p/>
          <a:p>
            <a:r>
              <a:t>오늘은 그 회로를 그대로 씁니다. 빼지 마세요. 가변저항만 빈자리에 추가로 꽂을 겁니다.</a:t>
            </a:r>
          </a:p>
          <a:p/>
          <a:p>
            <a:r>
              <a:t>지난 시간 코드도 살려 두면 좋습니다. 오늘 실습에서 set_color를 다시 쓸 거예요.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디지털과 아날로그</a:t>
            </a:r>
          </a:p>
          <a:p/>
          <a:p>
            <a:r>
              <a:t>먼저 개념을 분명히 합시다.</a:t>
            </a:r>
          </a:p>
          <a:p/>
          <a:p>
            <a:r>
              <a:t>4차시에 버튼을 읽었죠. 값이 0 아니면 1이었습니다. 중간이 없었어요. 반쯤 눌렀다는 건 없습니다. 이런 걸 디지털이라고 합니다.</a:t>
            </a:r>
          </a:p>
          <a:p/>
          <a:p>
            <a:r>
              <a:t>그런데 오른쪽을 보세요. 손잡이를 돌리는 건 다릅니다. 조금 돌릴 수도 있고 많이 돌릴 수도 있어요. 그 사이에 무수히 많은 위치가 있습니다. 이게 아날로그입니다.</a:t>
            </a:r>
          </a:p>
          <a:p/>
          <a:p>
            <a:r>
              <a:t>[발문] 우리 주변에서 아날로그인 걸 세 개만 말해 볼까요?</a:t>
            </a:r>
          </a:p>
          <a:p/>
          <a:p>
            <a:r>
              <a:t>밝기, 온도, 소리 크기, 거리, 무게. 다 정도가 있죠.</a:t>
            </a:r>
          </a:p>
          <a:p/>
          <a:p>
            <a:r>
              <a:t>1차시에 제가 이렇게 말했습니다. 디지털 신호는 두 가지 상태만 있다고요. 맞는 말입니다. 그런데 오늘 우리는 그 두 가지밖에 못 다루는 보드로 아날로그를 읽으려고 합니다.</a:t>
            </a:r>
          </a:p>
          <a:p/>
          <a:p>
            <a:r>
              <a:t>[발문] 두 가지만 아는 보드가 어떻게 중간값을 읽을까요?</a:t>
            </a:r>
          </a:p>
          <a:p/>
          <a:p>
            <a:r>
              <a:t>5차시에 비슷한 문제를 풀었죠. 그때는 출력이었고 답이 PWM이었습니다. 오늘은 입력이고, 답은 ADC입니다.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ADC — 전압을 숫자로 바꿔 주는 장치</a:t>
            </a:r>
          </a:p>
          <a:p/>
          <a:p>
            <a:r>
              <a:t>ADC는 Analog to Digital Converter의 줄임말입니다. 아날로그를 디지털로 바꾸는 변환기예요.</a:t>
            </a:r>
          </a:p>
          <a:p/>
          <a:p>
            <a:r>
              <a:t>하는 일은 딱 하나입니다. 핀에 걸린 전압을 재서 숫자로 바꿔 줍니다.</a:t>
            </a:r>
          </a:p>
          <a:p/>
          <a:p>
            <a:r>
              <a:t>화면 위쪽 흐름을 보세요. 왼쪽에 0에서 3.3볼트 사이의 전압이 들어옵니다. ADC가 그걸 재서, 오른쪽으로 0에서 65535 사이의 숫자를 내놓습니다.</a:t>
            </a:r>
          </a:p>
          <a:p/>
          <a:p>
            <a:r>
              <a:t>0볼트면 0, 3.3볼트면 65535. 그 사이는 비례해서 나옵니다. 1.65볼트면 대략 절반쯤인 32768이 나오겠죠.</a:t>
            </a:r>
          </a:p>
          <a:p/>
          <a:p>
            <a:r>
              <a:t>그리고 이 ADC는 따로 살 필요가 없습니다. 보드 칩 안에 이미 들어 있어요. 우리는 read_u16()이라고 부르기만 하면 됩니다.</a:t>
            </a:r>
          </a:p>
          <a:p/>
          <a:p>
            <a:r>
              <a:t>[지시] 하단 문장을 짚으며 5차시와 연결한다.</a:t>
            </a:r>
          </a:p>
          <a:p/>
          <a:p>
            <a:r>
              <a:t>맨 아래 줄을 보세요. 5차시 PWM 기억나시죠. 숫자를 넣으면 전압처럼 내보내 주는 거였습니다. ADC는 정확히 반대예요. 전압을 넣으면 숫자로 바꿔 줍니다. 나가는 문과 들어오는 문인 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아날로그를 읽을 수 있는 핀은 세 개뿐</a:t>
            </a:r>
          </a:p>
          <a:p/>
          <a:p>
            <a:r>
              <a:t>여기서 1차시 내용이 돌아옵니다.</a:t>
            </a:r>
          </a:p>
          <a:p/>
          <a:p>
            <a:r>
              <a:t>1차시에 핀 배치도 나눠 드렸죠. 색깔이 네 가지였는데, 청록색이 뭐였는지 기억나시나요?</a:t>
            </a:r>
          </a:p>
          <a:p/>
          <a:p>
            <a:r>
              <a:t>아날로그 입력이 되는 특별한 핀 세 개였습니다. GP26, GP27, GP28이요.</a:t>
            </a:r>
          </a:p>
          <a:p/>
          <a:p>
            <a:r>
              <a:t>[지시] 핀아웃 인쇄물을 다시 꺼내게 한다. 31, 32, 34번을 짚게 한다.</a:t>
            </a:r>
          </a:p>
          <a:p/>
          <a:p>
            <a:r>
              <a:t>물리적으로는 31번, 32번, 34번 핀입니다. 오른쪽 아래쪽에 몰려 있어요.</a:t>
            </a:r>
          </a:p>
          <a:p/>
          <a:p>
            <a:r>
              <a:t>중요한 건 이겁니다. 다른 핀으로는 아날로그를 못 읽습니다. GP15에 가변저항을 꽂고 ADC로 읽으려고 하면 오류가 납니다. 이 세 핀 중 하나여야 해요.</a:t>
            </a:r>
          </a:p>
          <a:p/>
          <a:p>
            <a:r>
              <a:t>[지시] 왼쪽 아래 비교 박스를 짚는다.</a:t>
            </a:r>
          </a:p>
          <a:p/>
          <a:p>
            <a:r>
              <a:t>그리고 1차시 비교표 기억하시나요. 아날로그 항목에서 우노가 이겼다고 했죠. 채널 수가 6개 대 3개였습니다.</a:t>
            </a:r>
          </a:p>
          <a:p/>
          <a:p>
            <a:r>
              <a:t>그런데 그때 같이 적혀 있던 게 있어요. 비트 수입니다. 우노는 10비트, 피코는 12비트예요. 채널은 적지만 한 채널을 더 잘게 나눠 읽습니다. 이게 무슨 뜻인지는 조금 뒤에 자세히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가변저항 — 돌리면 전압이 나뉜다</a:t>
            </a:r>
          </a:p>
          <a:p/>
          <a:p>
            <a:r>
              <a:t>[지시] 가변저항을 꺼내 들어 보게 한다. 손잡이를 돌려 보게 한다.</a:t>
            </a:r>
          </a:p>
          <a:p/>
          <a:p>
            <a:r>
              <a:t>부품을 꺼내 보세요. 손잡이가 달려 있고 다리가 세 개죠.</a:t>
            </a:r>
          </a:p>
          <a:p/>
          <a:p>
            <a:r>
              <a:t>3차시에 배운 저항은 다리가 두 개였습니다. 이건 세 개예요. 왜 하나 더 있을까요?</a:t>
            </a:r>
          </a:p>
          <a:p/>
          <a:p>
            <a:r>
              <a:t>안쪽 구조를 보면 이해가 됩니다. 화면 왼쪽 그림처럼 긴 저항 막대가 하나 있고, 그 위를 미끄러지는 접점이 하나 있습니다. 이 접점을 와이퍼라고 불러요. 자동차 와이퍼처럼 움직인다고 해서 붙은 이름입니다.</a:t>
            </a:r>
          </a:p>
          <a:p/>
          <a:p>
            <a:r>
              <a:t>양 끝 다리는 저항 막대의 양쪽 끝이고, 가운데 다리가 와이퍼입니다.</a:t>
            </a:r>
          </a:p>
          <a:p/>
          <a:p>
            <a:r>
              <a:t>[발문] 양 끝에 3.3볼트와 0볼트를 걸어 두면, 가운데에서는 몇 볼트가 나올까요?</a:t>
            </a:r>
          </a:p>
          <a:p/>
          <a:p>
            <a:r>
              <a:t>와이퍼 위치에 따라 달라집니다. 한가운데면 1.65볼트, GND 쪽으로 붙으면 0볼트에 가까워지고, 3.3볼트 쪽으로 붙으면 3.3볼트에 가까워져요.</a:t>
            </a:r>
          </a:p>
          <a:p/>
          <a:p>
            <a:r>
              <a:t>이렇게 전압을 비율로 나누는 걸 전압 분배라고 합니다. 회로에서 아주 자주 쓰는 방법이에요.</a:t>
            </a:r>
          </a:p>
          <a:p/>
          <a:p>
            <a:r>
              <a:t>그러니까 손잡이를 돌린다는 건 전압의 비율을 바꾸는 겁니다. 그리고 우리는 그 전압을 ADC로 읽는 거고요.</a:t>
            </a:r>
          </a:p>
          <a:p/>
          <a:p>
            <a:r>
              <a:t>[활동] 손잡이를 끝까지 양쪽으로 돌려 보게 한다. 걸리는 지점이 양 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만들 회로</a:t>
            </a:r>
          </a:p>
          <a:p/>
          <a:p>
            <a:r>
              <a:t>RGB LED 회로는 그대로 두세요. 오늘 손댈 필요 없습니다.</a:t>
            </a:r>
          </a:p>
          <a:p/>
          <a:p>
            <a:r>
              <a:t>가변저항만 브레드보드 빈자리에 꽂고 점퍼선 세 개를 연결합니다.</a:t>
            </a:r>
          </a:p>
          <a:p/>
          <a:p>
            <a:r>
              <a:t>위쪽 그림을 보세요. 양 끝 다리에 3.3볼트와 GND, 가운데 다리는 GP26으로 갑니다.</a:t>
            </a:r>
          </a:p>
          <a:p/>
          <a:p>
            <a:r>
              <a:t>핀 번호를 확인합시다. 3V3은 36번, GP26은 31번, GND는 33번을 쓰겠습니다.</a:t>
            </a:r>
          </a:p>
          <a:p/>
          <a:p>
            <a:r>
              <a:t>[발문] 왜 GND를 23번이 아니라 33번을 쓸까요?</a:t>
            </a:r>
          </a:p>
          <a:p/>
          <a:p>
            <a:r>
              <a:t>1차시 핀 배치도를 보면 33번에 AGND라고 적혀 있습니다. 아날로그 전용 GND예요. 아날로그 값은 아주 작은 잡음에도 흔들리기 때문에, 전용 GND를 쓰면 값이 조금 더 안정적입니다.</a:t>
            </a:r>
          </a:p>
          <a:p/>
          <a:p>
            <a:r>
              <a:t>23번을 써도 동작은 합니다. 다만 33번이 조금 더 낫습니다.</a:t>
            </a:r>
          </a:p>
          <a:p/>
          <a:p>
            <a:r>
              <a:t>[지시] 핀아웃 인쇄물에서 31, 33, 36번을 짚게 한다. 세 핀 모두 오른쪽 열이라 배선이 편하다는 점을 알려 준다.</a:t>
            </a:r>
          </a:p>
          <a:p/>
          <a:p>
            <a:r>
              <a:t>세 핀이 모두 오른쪽 열에 몰려 있어서 배선이 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배선하는 순서</a:t>
            </a:r>
          </a:p>
          <a:p/>
          <a:p>
            <a:r>
              <a:t>오늘 배선은 지금까지 중 제일 간단합니다. 부품 하나에 점퍼선 세 개예요.</a:t>
            </a:r>
          </a:p>
          <a:p/>
          <a:p>
            <a:r>
              <a:t>1번. 케이블을 뽑습니다. RGB 회로는 그대로 두세요.</a:t>
            </a:r>
          </a:p>
          <a:p/>
          <a:p>
            <a:r>
              <a:t>2번. 가변저항을 꽂습니다. 다리 세 개가 각각 다른 세로줄에 들어가야 합니다. 지난 시간 RGB LED와 같은 이유예요.</a:t>
            </a:r>
          </a:p>
          <a:p/>
          <a:p>
            <a:r>
              <a:t>3번. 양 끝 다리에 3.3볼트와 GND를 연결합니다. 어느 쪽이 3.3볼트든 상관없습니다. 다만 방향이 바뀌면 돌리는 방향과 값이 반대가 돼요. 그건 나중에 바꿔 끼우면 됩니다.</a:t>
            </a:r>
          </a:p>
          <a:p/>
          <a:p>
            <a:r>
              <a:t>4번. 가운데 다리를 GP26에 연결합니다. 여기가 핵심이에요.</a:t>
            </a:r>
          </a:p>
          <a:p/>
          <a:p>
            <a:r>
              <a:t>5번. 확인하고 연결합니다.</a:t>
            </a:r>
          </a:p>
          <a:p/>
          <a:p>
            <a:r>
              <a:t>[지시] 아래 붉은 박스를 강조한다. 오늘 가장 흔한 실수다.</a:t>
            </a:r>
          </a:p>
          <a:p/>
          <a:p>
            <a:r>
              <a:t>가장 흔한 실수가 가운데 다리를 안 쓰고 끝 다리를 GP26에 연결하는 겁니다. 그러면 손잡이를 아무리 돌려도 값이 안 변해요. 항상 0이거나 항상 최대입니다.</a:t>
            </a:r>
          </a:p>
          <a:p/>
          <a:p>
            <a:r>
              <a:t>[지시] 순회한다. 배선이 끝난 조는 다음 장 코드를 미리 쳐 두게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값이 잘 읽히는지 먼저 확인</a:t>
            </a:r>
          </a:p>
          <a:p/>
          <a:p>
            <a:r>
              <a:t>4차시에 배운 순서 그대로입니다. 한꺼번에 다 만들지 말고, 값부터 확인합니다.</a:t>
            </a:r>
          </a:p>
          <a:p/>
          <a:p>
            <a:r>
              <a:t>코드는 아홉 줄이에요.</a:t>
            </a:r>
          </a:p>
          <a:p/>
          <a:p>
            <a:r>
              <a:t>1행에서 ADC를 불러옵니다. Pin이랑 같이요.</a:t>
            </a:r>
          </a:p>
          <a:p/>
          <a:p>
            <a:r>
              <a:t>4행이 핵심입니다. ADC(Pin(26)). 5차시에 PWM(Pin(15)) 했던 것과 똑같은 모양이죠. Pin을 ADC로 한 번 감싸는 겁니다.</a:t>
            </a:r>
          </a:p>
          <a:p/>
          <a:p>
            <a:r>
              <a:t>7행. read_u16()으로 값을 읽어 v에 담습니다. 이름이 read_u16인 거 잘 보세요. 지난 두 시간 동안 쓴 duty_u16과 짝입니다. 하나는 읽고 하나는 씁니다. 범위도 같아요.</a:t>
            </a:r>
          </a:p>
          <a:p/>
          <a:p>
            <a:r>
              <a:t>8행에서 화면에 찍고, 9행에서 0.2초 쉽니다.</a:t>
            </a:r>
          </a:p>
          <a:p/>
          <a:p>
            <a:r>
              <a:t>[지시] 실행시키고 손잡이를 천천히 돌리게 한다.</a:t>
            </a:r>
          </a:p>
          <a:p/>
          <a:p>
            <a:r>
              <a:t>실행하고 손잡이를 천천히 돌려 보세요. 숫자가 부드럽게 변할 겁니다.</a:t>
            </a:r>
          </a:p>
          <a:p/>
          <a:p>
            <a:r>
              <a:t>[발문] 양 끝에서 몇이 나오나요?</a:t>
            </a:r>
          </a:p>
          <a:p/>
          <a:p>
            <a:r>
              <a:t>한쪽 끝은 0 근처, 반대쪽은 65535 근처가 나옵니다. 정확히 0이나 65535가 아닐 수도 있어요. 정상입니다.</a:t>
            </a:r>
          </a:p>
          <a:p/>
          <a:p>
            <a:r>
              <a:t>그리고 손을 안 대고 가만히 둬도 숫자가 몇씩 왔다 갔다 할 겁니다. 이것도 정상이에요. 왜 그런지는 다음 장에서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0~65535인데 실제 단계는 4096개</a:t>
            </a:r>
          </a:p>
          <a:p/>
          <a:p>
            <a:r>
              <a:t>조금 어려운 얘기인데, 1차시에 예고한 12비트가 여기서 나옵니다.</a:t>
            </a:r>
          </a:p>
          <a:p/>
          <a:p>
            <a:r>
              <a:t>read_u16()이 0에서 65535 사이 값을 돌려주죠. 그럼 65536가지를 구분할 수 있다는 뜻일까요?</a:t>
            </a:r>
          </a:p>
          <a:p/>
          <a:p>
            <a:r>
              <a:t>아닙니다. Pico의 ADC는 12비트예요. 2의 12제곱, 4096가지만 구분합니다.</a:t>
            </a:r>
          </a:p>
          <a:p/>
          <a:p>
            <a:r>
              <a:t>[발문] 그럼 왜 65535까지 나올까요?</a:t>
            </a:r>
          </a:p>
          <a:p/>
          <a:p>
            <a:r>
              <a:t>read_u16이라는 이름 때문입니다. u16, 16비트로 돌려주겠다는 약속이에요. 그래서 4096개짜리 값을 65536 범위로 늘려서 줍니다.</a:t>
            </a:r>
          </a:p>
          <a:p/>
          <a:p>
            <a:r>
              <a:t>그 결과가 화면 왼쪽 그림입니다. 손잡이를 아주 조금씩 돌리면 값이 부드럽게 변하는 게 아니라 계단처럼 뜁니다. 16씩요. 65536 나누기 4096이 16이니까요.</a:t>
            </a:r>
          </a:p>
          <a:p/>
          <a:p>
            <a:r>
              <a:t>[지시] 셸 출력을 자세히 보게 하면 실제로 16의 배수로 뛰는 것이 보인다.</a:t>
            </a:r>
          </a:p>
          <a:p/>
          <a:p>
            <a:r>
              <a:t>실습에서 문제가 되진 않습니다. 4096단계면 충분히 세밀하거든요. 다만 '숫자 범위'와 '실제 정밀도'가 다르다는 걸 알아 두면 좋습니다.</a:t>
            </a:r>
          </a:p>
          <a:p/>
          <a:p>
            <a:r>
              <a:t>[지시] 하단 박스를 짚는다. 학생들이 고장이라고 생각하기 쉬운 부분이다.</a:t>
            </a:r>
          </a:p>
          <a:p/>
          <a:p>
            <a:r>
              <a:t>그리고 아까 값이 흔들린다고 했죠. 고장이 아닙니다. ADC가 워낙 예민해서 아주 작은 전기 잡음까지 잡아내는 거예요. 정밀하게 재고 싶으면 여러 번 읽어서 평균을 내면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읽은 값을 쓸모 있게 바꾸기</a:t>
            </a:r>
          </a:p>
          <a:p/>
          <a:p>
            <a:r>
              <a:t>0에서 65535라는 숫자는 사람이 보기에 불편합니다. 그래서 필요한 단위로 바꿔 씁니다.</a:t>
            </a:r>
          </a:p>
          <a:p/>
          <a:p>
            <a:r>
              <a:t>첫째, 전압으로. v 곱하기 3.3 나누기 65535를 하면 몇 볼트인지 나옵니다. 손잡이를 한가운데 두면 1.65볼트 정도가 나올 거예요.</a:t>
            </a:r>
          </a:p>
          <a:p/>
          <a:p>
            <a:r>
              <a:t>둘째, 퍼센트로. 100을 곱하고 65535로 나누면 0에서 100 사이가 됩니다.</a:t>
            </a:r>
          </a:p>
          <a:p/>
          <a:p>
            <a:r>
              <a:t>셋째, 색 값으로. 255를 곱하고 65535로 나누면 0에서 255 사이가 나옵니다. 이건 지난 시간 set_color에 바로 넣을 수 있어요. 실습에서 씁니다.</a:t>
            </a:r>
          </a:p>
          <a:p/>
          <a:p>
            <a:r>
              <a:t>[지시] 하단 박스의 // 설명을 짚는다. 학생들이 처음 보는 연산자다.</a:t>
            </a:r>
          </a:p>
          <a:p/>
          <a:p>
            <a:r>
              <a:t>여기서 처음 보는 기호가 하나 있습니다. 나눗셈 기호 두 개, //요.</a:t>
            </a:r>
          </a:p>
          <a:p/>
          <a:p>
            <a:r>
              <a:t>일반 나눗셈 /는 소수가 나옵니다. 3 나누기 2는 1.5죠. 그런데 //를 쓰면 소수점을 버리고 1이 나옵니다.</a:t>
            </a:r>
          </a:p>
          <a:p/>
          <a:p>
            <a:r>
              <a:t>[발문] 왜 소수를 버려야 할까요?</a:t>
            </a:r>
          </a:p>
          <a:p/>
          <a:p>
            <a:r>
              <a:t>duty_u16이나 set_color에는 정수만 넣을 수 있기 때문입니다. 1.5 같은 값을 넣으면 오류가 나요. 그래서 //를 씁니다.</a:t>
            </a:r>
          </a:p>
          <a:p/>
          <a:p>
            <a:r>
              <a:t>전압 계산에서는 소수가 필요하니까 /를 그대로 썼습니다. 목적에 따라 골라 쓰면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손잡이로 LED 밝기 조절하기</a:t>
            </a:r>
          </a:p>
          <a:p/>
          <a:p>
            <a:r>
              <a:t>오늘의 목표 지점입니다. 그런데 코드가 놀랄 만큼 짧아요.</a:t>
            </a:r>
          </a:p>
          <a:p/>
          <a:p>
            <a:r>
              <a:t>[지시] 9행을 짚으며 강조한다. 오늘 가장 기분 좋은 순간이다.</a:t>
            </a:r>
          </a:p>
          <a:p/>
          <a:p>
            <a:r>
              <a:t>9행을 보세요. led.duty_u16(v). 읽은 값을 그냥 그대로 넣었습니다. 아무 계산도 안 했어요.</a:t>
            </a:r>
          </a:p>
          <a:p/>
          <a:p>
            <a:r>
              <a:t>[발문] 왜 변환이 필요 없을까요?</a:t>
            </a:r>
          </a:p>
          <a:p/>
          <a:p>
            <a:r>
              <a:t>범위가 똑같기 때문입니다. read_u16()이 0에서 65535를 주고, duty_u16()이 0에서 65535를 받습니다. 딱 맞아떨어져요.</a:t>
            </a:r>
          </a:p>
          <a:p/>
          <a:p>
            <a:r>
              <a:t>이게 우연이 아닙니다. 마이크로파이썬이 일부러 이렇게 맞춰 둔 겁니다. 읽은 값을 바로 쓸 수 있게요.</a:t>
            </a:r>
          </a:p>
          <a:p/>
          <a:p>
            <a:r>
              <a:t>GP13을 쓴 이유는 지난 시간 RGB LED의 빨강 다리가 거기 연결되어 있기 때문입니다. 새로 배선할 게 없어요.</a:t>
            </a:r>
          </a:p>
          <a:p/>
          <a:p>
            <a:r>
              <a:t>[지시] 실행시킨다. 손잡이를 돌리며 LED가 따라오는 것을 확인시킨다.</a:t>
            </a:r>
          </a:p>
          <a:p/>
          <a:p>
            <a:r>
              <a:t>실행하고 손잡이를 돌려 보세요.</a:t>
            </a:r>
          </a:p>
          <a:p/>
          <a:p>
            <a:r>
              <a:t>축하합니다. 지금 여러분이 만든 게 뭔지 아세요? 조광 스위치입니다. 집에 있는 밝기 조절되는 전등 스위치, 그거랑 원리가 같아요.</a:t>
            </a:r>
          </a:p>
          <a:p/>
          <a:p>
            <a:r>
              <a:t>4차시에 배운 입력과 5차시에 배운 PWM 출력이 오늘 손끝에서 만난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아날로그 입력에서 지켜야 할 것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 규칙은 사실 새로운 게 아닙니다. 1차시의 3.3볼트 규칙 그대로예요.</a:t>
            </a:r>
          </a:p>
          <a:p/>
          <a:p>
            <a:r>
              <a:t>오른쪽 빨간 쪽부터. 첫째, VBUS를 가변저항에 연결하지 마세요. VBUS는 5볼트입니다. 가변저항 양 끝에 5볼트를 걸면 가운데에서 최대 5볼트가 나와요. 그게 그대로 ADC 핀으로 들어갑니다.</a:t>
            </a:r>
          </a:p>
          <a:p/>
          <a:p>
            <a:r>
              <a:t>[발문] 그러면 어떻게 될까요?</a:t>
            </a:r>
          </a:p>
          <a:p/>
          <a:p>
            <a:r>
              <a:t>칩이 손상됩니다. ADC 핀도 결국 GPIO예요. 1차시에 GPIO에 5볼트 금지라고 했던 그 규칙이 여기에도 그대로입니다.</a:t>
            </a:r>
          </a:p>
          <a:p/>
          <a:p>
            <a:r>
              <a:t>둘째도 같은 얘기고요. 셋째, GP26에서 28 외의 핀으로 아날로그를 읽으려 하면 오류가 납니다.</a:t>
            </a:r>
          </a:p>
          <a:p/>
          <a:p>
            <a:r>
              <a:t>넷째, 끝 다리를 GP26에 연결하는 것. 이건 위험하진 않은데 동작을 안 합니다. 값이 안 변해요.</a:t>
            </a:r>
          </a:p>
          <a:p/>
          <a:p>
            <a:r>
              <a:t>왼쪽 초록 쪽은 반대로 해야 할 것들입니다. 마지막 줄, 정밀하게 재려면 여러 번 읽어서 평균을 내라는 건 실제 프로젝트에서 아주 많이 쓰는 방법입니다. 열 번 읽어서 10으로 나누면 값이 훨씬 안정적입니다.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세 가지 도전</a:t>
            </a:r>
          </a:p>
          <a:p/>
          <a:p>
            <a:r>
              <a:t>지난 시간 RGB LED가 그대로 있으니 오늘은 색까지 조절할 수 있습니다.</a:t>
            </a:r>
          </a:p>
          <a:p/>
          <a:p>
            <a:r>
              <a:t>첫째, 흰색 밝기 조절입니다. 세 채널에 같은 값을 넣으면 됩니다. 아까 코드에서 한 줄을 세 줄로 늘리는 거예요.</a:t>
            </a:r>
          </a:p>
          <a:p/>
          <a:p>
            <a:r>
              <a:t>[발문] 세 채널에 같은 값을 넣으면 무슨 색이 나오죠? (답: 흰색. 6차시에서 배운 가산혼합)</a:t>
            </a:r>
          </a:p>
          <a:p/>
          <a:p>
            <a:r>
              <a:t>둘째, 색 바꾸기. 아까 배운 변환을 씁니다. v를 0에서 255로 줄이고, 그걸 set_color에 넣어요. 화면 코드를 보면 빨강 자리에 255 빼기 c, 초록 자리에 c를 넣었습니다. 손잡이를 돌리면 빨강이 줄면서 초록이 늘어납니다. 6차시 실습에서 한 것과 같은 방식이에요.</a:t>
            </a:r>
          </a:p>
          <a:p/>
          <a:p>
            <a:r>
              <a:t>셋째는 도전입니다. 구간을 나누는 겁니다. 값이 크면 빨강, 중간이면 노랑, 작으면 초록.</a:t>
            </a:r>
          </a:p>
          <a:p/>
          <a:p>
            <a:r>
              <a:t>여기서 elif가 나옵니다. else if의 줄임말이에요. 조건이 세 개 이상일 때 씁니다. 4차시에 if와 else만 썼는데, 그 사이에 들어가는 겁니다.</a:t>
            </a:r>
          </a:p>
          <a:p/>
          <a:p>
            <a:r>
              <a:t>[지시] 5분 실습. 순회한다. 첫째까지만 해도 충분하다고 안내한다. elif는 처음 보는 학생이 많으므로 판서로 한 번 정리해 주면 좋다.</a:t>
            </a:r>
          </a:p>
          <a:p/>
          <a:p>
            <a:r>
              <a:t>이건 실제로 쓸모가 있습니다. 온도가 높으면 빨강, 적당하면 초록. 다음 시간에 온도 센서를 붙이면 바로 응용할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값이 뜻대로 안 나올 때</a:t>
            </a:r>
          </a:p>
          <a:p/>
          <a:p>
            <a:r>
              <a:t>오늘 원인은 거의 두 가지입니다. 가운데 다리와 양 끝 연결.</a:t>
            </a:r>
          </a:p>
          <a:p/>
          <a:p>
            <a:r>
              <a:t>1위는 가운데 다리를 안 쓴 경우입니다. 돌려도 값이 안 변하면 이겁니다.</a:t>
            </a:r>
          </a:p>
          <a:p/>
          <a:p>
            <a:r>
              <a:t>둘째, 값이 0에서 안 올라가면 3.3볼트 쪽이 안 연결된 겁니다.</a:t>
            </a:r>
          </a:p>
          <a:p/>
          <a:p>
            <a:r>
              <a:t>셋째, 돌리는 방향과 값이 반대면 3.3볼트와 GND가 서로 바뀐 거예요. 두 점퍼선을 바꿔 끼우면 됩니다. 이건 틀린 게 아니라 취향 문제이기도 합니다.</a:t>
            </a:r>
          </a:p>
          <a:p/>
          <a:p>
            <a:r>
              <a:t>넷째, 값이 심하게 튀면 다리가 헐겁거나 GND를 일반 GND로 쓴 경우입니다. AGND, 33번 핀을 써 보세요.</a:t>
            </a:r>
          </a:p>
          <a:p/>
          <a:p>
            <a:r>
              <a:t>다섯째, ADC 오류가 나면 핀 번호를 보세요.</a:t>
            </a:r>
          </a:p>
          <a:p/>
          <a:p>
            <a:r>
              <a:t>[지시] 맨 아래 줄을 강조한다. 4차시부터 계속 강화해 온 문제 분해 습관이다.</a:t>
            </a:r>
          </a:p>
          <a:p/>
          <a:p>
            <a:r>
              <a:t>그리고 4차시부터 계속 말한 그 방법. LED가 이상하면 print(v)로 값부터 확인하세요. 값이 정상인데 LED가 이상하면 회로가 아니라 코드 문제입니다. 문제를 반으로 쪼개는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아날로그를 읽었습니다. 4차시 버튼은 0과 1뿐이었는데, 오늘은 그 사이의 값을 그대로 읽었죠.</a:t>
            </a:r>
          </a:p>
          <a:p/>
          <a:p>
            <a:r>
              <a:t>둘째, 범위를 이어 붙였습니다. read_u16과 duty_u16이 같은 범위라서 변환 없이 바로 이었어요. 입력과 출력이 손끝에서 연결되는 순간이었습니다.</a:t>
            </a:r>
          </a:p>
          <a:p/>
          <a:p>
            <a:r>
              <a:t>셋째, 값을 필요한 단위로 바꾸는 법을 배웠습니다. 전압으로, 퍼센트로, 색 값으로. 이건 앞으로 센서를 다룰 때마다 계속 씁니다.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아날로그는 GP26, 27, 28. 가운데 다리로 읽는다.</a:t>
            </a:r>
          </a:p>
          <a:p/>
          <a:p>
            <a:r>
              <a:t>[지시] 회로는 그대로 두고 보관하게 한다. 다음 시간에는 가변저항 자리에 온습도 센서를 붙인다.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온습도 센서와 I2C</a:t>
            </a:r>
          </a:p>
          <a:p/>
          <a:p>
            <a:r>
              <a:t>오늘 읽은 건 손잡이였습니다. 사람이 직접 돌리는 거였죠.</a:t>
            </a:r>
          </a:p>
          <a:p/>
          <a:p>
            <a:r>
              <a:t>다음 시간에는 진짜 센서를 붙입니다. 온도와 습도를 재는 센서예요. 지금 이 교실이 몇 도인지, 습도가 몇 퍼센트인지 여러분 보드가 직접 읽게 됩니다.</a:t>
            </a:r>
          </a:p>
          <a:p/>
          <a:p>
            <a:r>
              <a:t>그런데 이 센서는 오늘처럼 전압을 읽는 방식이 아닙니다. 센서가 이미 숫자로 계산해서 갖고 있어요. 우리는 그걸 물어봐서 받아 오면 됩니다.</a:t>
            </a:r>
          </a:p>
          <a:p/>
          <a:p>
            <a:r>
              <a:t>그 물어보는 방법이 I2C입니다. 1차시 특수 기능 표에서 봤던 그거예요. 선 두 개, SDA와 SCL만 쓰는 통신 방식입니다.</a:t>
            </a:r>
          </a:p>
          <a:p/>
          <a:p>
            <a:r>
              <a:t>[발문] 선 두 개로 여러 장치를 연결하면 문제가 하나 생길 것 같은데, 뭘까요?</a:t>
            </a:r>
          </a:p>
          <a:p/>
          <a:p>
            <a:r>
              <a:t>누구한테 말하는 건지 구분이 안 되죠. 그래서 장치마다 주소가 있습니다. 다음 시간에 그 주소를 찾는 것부터 시작합니다.</a:t>
            </a:r>
          </a:p>
          <a:p/>
          <a:p>
            <a:r>
              <a:t>오른쪽 코드의 scan()이 그 명령이에요. 연결된 장치들의 주소를 찾아 줍니다.</a:t>
            </a:r>
          </a:p>
          <a:p/>
          <a:p>
            <a:r>
              <a:t>[마무리] 준비물 공지 — 키트 그대로 가져오세요. 온습도 센서는 다음 시간에 나눠 드립니다. 오늘 만든 회로는 그대로 두시면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7차시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아날로그 입력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ADC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눌렸다·아니다가 아니라 '얼마나'를 읽습니다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가변저항  ·  전압 분배  ·  read_u16  ·  GP26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77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read_u16()</a:t>
            </a:r>
          </a:p>
        </p:txBody>
      </p:sp>
      <p:sp>
        <p:nvSpPr>
          <p:cNvPr id="9" name="Oval 8"/>
          <p:cNvSpPr/>
          <p:nvPr/>
        </p:nvSpPr>
        <p:spPr>
          <a:xfrm>
            <a:off x="8023860" y="2674620"/>
            <a:ext cx="1143000" cy="1143000"/>
          </a:xfrm>
          <a:prstGeom prst="ellipse">
            <a:avLst/>
          </a:prstGeom>
          <a:solidFill>
            <a:srgbClr val="3A4046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51876" y="2802636"/>
            <a:ext cx="886968" cy="886968"/>
          </a:xfrm>
          <a:prstGeom prst="ellipse">
            <a:avLst/>
          </a:prstGeom>
          <a:solidFill>
            <a:srgbClr val="23272B"/>
          </a:solidFill>
          <a:ln w="9525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91956" y="2930651"/>
            <a:ext cx="118872" cy="118872"/>
          </a:xfrm>
          <a:prstGeom prst="ellipse">
            <a:avLst/>
          </a:prstGeom>
          <a:solidFill>
            <a:srgbClr val="F0A9AE"/>
          </a:solidFill>
          <a:ln w="63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64040" y="3072384"/>
            <a:ext cx="1874519" cy="146304"/>
          </a:xfrm>
          <a:prstGeom prst="roundRect">
            <a:avLst>
              <a:gd name="adj" fmla="val 50000"/>
            </a:avLst>
          </a:prstGeom>
          <a:solidFill>
            <a:srgbClr val="15181B"/>
          </a:solidFill>
          <a:ln w="6350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64040" y="3072384"/>
            <a:ext cx="1188720" cy="146304"/>
          </a:xfrm>
          <a:prstGeom prst="roundRect">
            <a:avLst>
              <a:gd name="adj" fmla="val 50000"/>
            </a:avLst>
          </a:prstGeom>
          <a:solidFill>
            <a:srgbClr val="F0A9AE"/>
          </a:solidFill>
          <a:ln w="63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3346704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41520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3639312"/>
            <a:ext cx="18745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0 ~ 65535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디지털과 아날로그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0·1로 나뉘는 것과 그렇지 않은 것을 구분한다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ADC가 하는 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아날로그 전압을 숫자로 바꾸는 과정을 이해한다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가변저항 읽기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 세 개를 어떻게 연결하는지 알고 값을 읽는다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값의 해상도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0~65535로 보이지만 실제 단계는 4096개임을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읽은 값으로 제어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손잡이를 돌린 만큼 LED 밝기가 바뀌게 만든다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6차시에는 세 값으로 색을 만들었습니다. 오늘은 그 값을 손잡이로 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공통 다리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가장 긴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RGB LED의 공통은 GND로 갑니다.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PWM 세 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R·G·B 각각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채널마다 저항을 하나씩 넣습니다.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× 257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 변환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0~255를 0~65535로 바꿉니다.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0312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set_color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함수로 묶기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 줄을 한 줄로 줄였습니다.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지난 시간 회로는 그대로 두세요.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오늘은 가변저항만 빈자리에 추가로 꽂습니다. RGB LED는 빼지 않습니다.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디지털과 아날로그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버튼은 두 가지 답만 줍니다. 그런데 세상의 많은 것은 그렇게 나뉘지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디지털  ·  4차시의 버튼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237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0 또는 1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4078224"/>
            <a:ext cx="1188720" cy="146304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3218688"/>
            <a:ext cx="1188720" cy="100584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2976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4297680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590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중간이 없습니다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아날로그  ·  오늘의 손잡이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237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그 사이 모든 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4133088"/>
            <a:ext cx="292608" cy="91440"/>
          </a:xfrm>
          <a:prstGeom prst="rect">
            <a:avLst/>
          </a:prstGeom>
          <a:solidFill>
            <a:srgbClr val="F4C4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13448" y="4048048"/>
            <a:ext cx="292608" cy="176479"/>
          </a:xfrm>
          <a:prstGeom prst="rect">
            <a:avLst/>
          </a:prstGeom>
          <a:solidFill>
            <a:srgbClr val="ECB2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7496" y="3963009"/>
            <a:ext cx="292608" cy="261518"/>
          </a:xfrm>
          <a:prstGeom prst="rect">
            <a:avLst/>
          </a:prstGeom>
          <a:solidFill>
            <a:srgbClr val="E3A0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81544" y="3877970"/>
            <a:ext cx="292608" cy="346557"/>
          </a:xfrm>
          <a:prstGeom prst="rect">
            <a:avLst/>
          </a:prstGeom>
          <a:solidFill>
            <a:srgbClr val="DB8F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65592" y="3792931"/>
            <a:ext cx="292608" cy="431596"/>
          </a:xfrm>
          <a:prstGeom prst="rect">
            <a:avLst/>
          </a:prstGeom>
          <a:solidFill>
            <a:srgbClr val="D37D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3707891"/>
            <a:ext cx="292608" cy="516635"/>
          </a:xfrm>
          <a:prstGeom prst="rect">
            <a:avLst/>
          </a:prstGeom>
          <a:solidFill>
            <a:srgbClr val="CB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3688" y="3622852"/>
            <a:ext cx="292608" cy="601675"/>
          </a:xfrm>
          <a:prstGeom prst="rect">
            <a:avLst/>
          </a:prstGeom>
          <a:solidFill>
            <a:srgbClr val="C25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17736" y="3537813"/>
            <a:ext cx="292608" cy="686714"/>
          </a:xfrm>
          <a:prstGeom prst="rect">
            <a:avLst/>
          </a:prstGeom>
          <a:solidFill>
            <a:srgbClr val="BA4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01784" y="3452774"/>
            <a:ext cx="292608" cy="771753"/>
          </a:xfrm>
          <a:prstGeom prst="rect">
            <a:avLst/>
          </a:prstGeom>
          <a:solidFill>
            <a:srgbClr val="B235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85832" y="3367735"/>
            <a:ext cx="292608" cy="856792"/>
          </a:xfrm>
          <a:prstGeom prst="rect">
            <a:avLst/>
          </a:prstGeom>
          <a:solidFill>
            <a:srgbClr val="AA24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69880" y="3282696"/>
            <a:ext cx="292608" cy="941832"/>
          </a:xfrm>
          <a:prstGeom prst="rect">
            <a:avLst/>
          </a:prstGeom>
          <a:solidFill>
            <a:srgbClr val="A11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853928" y="3197656"/>
            <a:ext cx="292608" cy="1026871"/>
          </a:xfrm>
          <a:prstGeom prst="rect">
            <a:avLst/>
          </a:prstGeom>
          <a:solidFill>
            <a:srgbClr val="9900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429768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  →  중간의 수많은 값  →  최대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590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정도를 그대로 읽습니다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74920"/>
            <a:ext cx="338328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2578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디지털에 가까운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54126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버튼, 스위치, 자석 감지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02836" y="5074920"/>
            <a:ext cx="338328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7156" y="52578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아날로그에 가까운 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7156" y="554126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밝기, 온도, 소리, 거리, 무게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5074920"/>
            <a:ext cx="338328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2" y="5257800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1차시에서 한 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5541264"/>
            <a:ext cx="2880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"디지털 신호는 두 상태뿐입니다"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ADC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ADC — 전압을 숫자로 바꿔 주는 장치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Analog to Digital Converter. 보드 안에 이미 들어 있는 부품입니다.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1645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377440"/>
            <a:ext cx="1737360" cy="548640"/>
          </a:xfrm>
          <a:prstGeom prst="roundRect">
            <a:avLst>
              <a:gd name="adj" fmla="val 14000"/>
            </a:avLst>
          </a:prstGeom>
          <a:solidFill>
            <a:srgbClr val="0B7285"/>
          </a:solidFill>
          <a:ln w="12700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377440"/>
            <a:ext cx="173736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 ~ 3.3V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017520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핀에 걸린 전압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633472"/>
            <a:ext cx="7315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11880" y="2377440"/>
            <a:ext cx="2103120" cy="54864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10312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0175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칩 안에 들어 있음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2633472"/>
            <a:ext cx="7315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2377440"/>
            <a:ext cx="1920240" cy="548640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1920240" cy="548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 ~ 65535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코드에서 읽는 숫자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231136"/>
            <a:ext cx="2651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read_u16()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542032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이 명령 하나로 지금 핀에 걸린 전압을 숫자로 받아 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0965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0965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13308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전압을 잰다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902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그 순간 핀에 몇 볼트가 걸려 있는지 측정합니다.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2836" y="38862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77156" y="40965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7156" y="40965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4356" y="413308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숫자로 바꾼다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7156" y="45902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0V는 0, 3.3V는 65535. 그 사이는 비례해서 나옵니다.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38862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4192" y="40965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0965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413308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코드가 받는다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90288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read_u16()을 부를 때마다 지금 값을 하나 돌려줍니다.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5차시의 PWM이 숫자를 전압처럼 내보내는 장치였다면, ADC는 반대로 전압을 숫자로 들여오는 장치입니다.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아날로그를 읽을 수 있는 핀은 세 개뿐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 핀 배치도에서 청록색으로 칠했던 그 세 핀입니다.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B7285"/>
                </a:solidFill>
                <a:latin typeface="맑은 고딕"/>
                <a:ea typeface="맑은 고딕"/>
                <a:cs typeface="맑은 고딕"/>
              </a:rPr>
              <a:t>GP26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ADC0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1272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31번 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2836" y="1965960"/>
            <a:ext cx="338328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7156" y="22128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B7285"/>
                </a:solidFill>
                <a:latin typeface="맑은 고딕"/>
                <a:ea typeface="맑은 고딕"/>
                <a:cs typeface="맑은 고딕"/>
              </a:rPr>
              <a:t>GP27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156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ADC1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7156" y="31272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32번 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965960"/>
            <a:ext cx="338328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B7285"/>
                </a:solidFill>
                <a:latin typeface="맑은 고딕"/>
                <a:ea typeface="맑은 고딕"/>
                <a:cs typeface="맑은 고딕"/>
              </a:rPr>
              <a:t>GP28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76148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ADC2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2724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34번 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023360"/>
            <a:ext cx="5285232" cy="1783080"/>
          </a:xfrm>
          <a:prstGeom prst="roundRect">
            <a:avLst>
              <a:gd name="adj" fmla="val 4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2245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1차시 비교표에서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7200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아날로그 채널 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5720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UNO 6개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57200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Pico 3개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023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해상도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10235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UNO 10비트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10235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Pico 12비트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023360"/>
            <a:ext cx="5285232" cy="1783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2452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채널은 적고 해상도는 높다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5371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1차시에 아날로그 채널 수는 UNO가 더 많다고 했죠. 대신 Pico는 한 채널을 더 잘게 나눠 읽습니다. 오늘 그 차이를 확인합니다.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COMPONENT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가변저항 — 돌리면 전압이 나뉜다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다리가 세 개입니다. 양 끝에 전원을 걸고, 가운데에서 값을 읽습니다.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029200" cy="3337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48840" y="2212848"/>
            <a:ext cx="1188720" cy="384048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2212848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3V3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0592" y="2596896"/>
            <a:ext cx="585216" cy="1737360"/>
          </a:xfrm>
          <a:prstGeom prst="rect">
            <a:avLst/>
          </a:prstGeom>
          <a:solidFill>
            <a:srgbClr val="E3C9A0"/>
          </a:solidFill>
          <a:ln w="12700">
            <a:solidFill>
              <a:srgbClr val="C0A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2596896"/>
            <a:ext cx="585216" cy="658368"/>
          </a:xfrm>
          <a:prstGeom prst="rect">
            <a:avLst/>
          </a:prstGeom>
          <a:solidFill>
            <a:srgbClr val="D9B98A"/>
          </a:solidFill>
          <a:ln w="12700">
            <a:solidFill>
              <a:srgbClr val="C0A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4334256"/>
            <a:ext cx="1188720" cy="384048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334256"/>
            <a:ext cx="11887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35808" y="3236976"/>
            <a:ext cx="7772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13048" y="3054096"/>
            <a:ext cx="1097280" cy="402336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3054096"/>
            <a:ext cx="109728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GP26</a:t>
            </a:r>
          </a:p>
        </p:txBody>
      </p:sp>
      <p:sp>
        <p:nvSpPr>
          <p:cNvPr id="15" name="Oval 14"/>
          <p:cNvSpPr/>
          <p:nvPr/>
        </p:nvSpPr>
        <p:spPr>
          <a:xfrm>
            <a:off x="2962656" y="3182112"/>
            <a:ext cx="146304" cy="146304"/>
          </a:xfrm>
          <a:prstGeom prst="ellipse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108960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와이퍼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46704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가운데 다리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84632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손잡이를 돌리면 와이퍼가 위아래로 움직입니다</a:t>
            </a:r>
          </a:p>
        </p:txBody>
      </p:sp>
      <p:sp>
        <p:nvSpPr>
          <p:cNvPr id="19" name="Oval 18"/>
          <p:cNvSpPr/>
          <p:nvPr/>
        </p:nvSpPr>
        <p:spPr>
          <a:xfrm>
            <a:off x="59893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7568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양 끝은 전원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42316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한쪽은 3V3, 다른 쪽은 GND에 연결합니다. 방향은 바꿔도 됩니다.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598932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7296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가운데가 읽는 자리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52044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와이퍼라고 부릅니다. 여기를 GP26에 연결해 값을 읽습니다.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59893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70248"/>
            <a:ext cx="5010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돌리면 비율이 바뀐다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617720"/>
            <a:ext cx="50109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와이퍼가 GND 쪽이면 0V에 가깝고, 3V3 쪽이면 3.3V에 가까워집니다.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이렇게 전압을 비율로 나누는 것을 전압 분배라고 합니다. 손잡이가 그 비율을 정하는 것입니다.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RGB LED는 그대로 두고, 빈자리에 가변저항만 추가합니다.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51760" y="2212848"/>
            <a:ext cx="1051560" cy="402336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212848"/>
            <a:ext cx="105156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3V3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834640"/>
            <a:ext cx="1051560" cy="402336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834640"/>
            <a:ext cx="1051560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395728"/>
            <a:ext cx="5029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017520"/>
            <a:ext cx="5029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212848"/>
            <a:ext cx="1417320" cy="1024128"/>
          </a:xfrm>
          <a:prstGeom prst="roundRect">
            <a:avLst>
              <a:gd name="adj" fmla="val 10000"/>
            </a:avLst>
          </a:prstGeom>
          <a:solidFill>
            <a:srgbClr val="E3C9A0"/>
          </a:solidFill>
          <a:ln w="12700">
            <a:solidFill>
              <a:srgbClr val="C0A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212848"/>
            <a:ext cx="1417320" cy="10241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7A5A28"/>
                </a:solidFill>
                <a:latin typeface="맑은 고딕"/>
                <a:ea typeface="맑은 고딕"/>
                <a:cs typeface="맑은 고딕"/>
              </a:rPr>
              <a:t>가변저항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60" y="2706624"/>
            <a:ext cx="5486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2505456"/>
            <a:ext cx="1188720" cy="420624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505456"/>
            <a:ext cx="1188720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9992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31번 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1975104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36번 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29184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33번 핀 (AGND)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23113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RGB LED는 그대로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2542032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GP13·GP14·GP15와 공통 다리 배선은 지난 시간 그대로 두세요. 오늘은 손대지 않습니다.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033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70332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한쪽 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70332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다른 쪽 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005072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8680" y="4114800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114800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142232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151376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3V3 (36번 핀)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160520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51376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가변저항 한쪽 끝 다리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572000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4681728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68172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470916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71830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가변저항 가운데 다리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727448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71830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GP26 (31번 핀)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138928"/>
            <a:ext cx="10817352" cy="49377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68680" y="5248656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248656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527608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28523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가변저항 반대쪽 끝 다리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294376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528523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(33번 핀 · AGND)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GND는 23번을 써도 되지만, 33번 AGND를 쓰면 값이 조금 더 안정적입니다. 아날로그 전용 GND입니다.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부품 하나, 점퍼선 세 개. 오늘 배선은 가장 간단합니다.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 케이블을 뽑습니다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30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RGB LED 회로는 건드리지 말고 그대로 둡니다.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가변저항을 꽂습니다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62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다리 세 개가 각각 다른 세로줄에 들어가게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양 끝 다리를 연결합니다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한쪽은 3V3(36번), 반대쪽은 GND(33번)로.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가운데 다리를 연결합니다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25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와이퍼를 GP26(31번)에 연결합니다.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확인한 뒤 USB를 연결합니다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56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가운데 다리가 GP26으로 갔는지 한 번 더 봅니다.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가운데 다리를 반드시 확인하세요.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끝 다리를 GP26에 연결하면 손잡이를 돌려도 값이 변하지 않습니다.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잘 읽히는지 먼저 확인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4차시 버튼 때와 같습니다. LED는 나중에 붙이고, 값부터 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5669280" cy="27889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knob_test.py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ADC,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1119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240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knob = ADC(Pin(26))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53612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14216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v = knob.read_u16()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74820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35424"/>
            <a:ext cx="52120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0574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4행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ADC로 감싸기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PWM처럼 Pin을 ADC로 한 번 감쌉니다.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78892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7행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2788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값을 읽는다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3063239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read_u16()은 0~65535 사이의 숫자를 돌려줍니다.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52044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8행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5204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화면에 찍기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79476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셸 창에 숫자가 계속 나타납니다.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25196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돌려 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42519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손잡이를 천천히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526280"/>
            <a:ext cx="3685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한쪽 끝은 0, 반대쪽 끝은 65535 근처가 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029200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3036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이렇게 나와야 정상입니다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2297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6B45"/>
                </a:solidFill>
                <a:latin typeface="Consolas"/>
                <a:ea typeface="Consolas"/>
                <a:cs typeface="Consolas"/>
              </a:rPr>
              <a:t>왼쪽 끝 0 근처</a:t>
            </a: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     가운데쯤 </a:t>
            </a:r>
            <a:r>
              <a:rPr sz="130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32000 근처</a:t>
            </a: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     오른쪽 끝 </a:t>
            </a:r>
            <a:r>
              <a:rPr sz="13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65535 근처</a:t>
            </a: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     값이 몇씩 흔들리는 것은 정상입니다.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0~65535인데 실제 단계는 4096개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1차시에 '12비트'라고 적어 둔 것의 의미입니다. 숫자 범위와 실제 정밀도는 다릅니다.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27889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값이 변하는 모습을 확대하면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420852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8206" y="408736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64208" y="4071365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23694" y="3950207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9696" y="393420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99182" y="381304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15184" y="379704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74670" y="3675887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90672" y="365988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0158" y="353872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352272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5646" y="340156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41648" y="338556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1134" y="326440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7136" y="324840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76622" y="312724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92624" y="311124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52109" y="2990088"/>
            <a:ext cx="32004" cy="137160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68112" y="2974086"/>
            <a:ext cx="475488" cy="32004"/>
          </a:xfrm>
          <a:prstGeom prst="rect">
            <a:avLst/>
          </a:prstGeom>
          <a:solidFill>
            <a:srgbClr val="990011"/>
          </a:solidFill>
          <a:ln w="508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389120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손잡이를 아주 조금씩 돌리면 값이 계단처럼 뜁니다.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075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12비트로 잰다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423160"/>
            <a:ext cx="4279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ADC가 실제로 구분하는 단계는 2의 12제곱, 4096개입니다.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0632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0632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8152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16비트로 보여 준다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429000"/>
            <a:ext cx="4279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read_u16()이 그 값을 0~65535 범위로 늘려서 돌려줍니다.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0690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0690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08736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그래서 16씩 뛴다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434840"/>
            <a:ext cx="427939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65536 나누기 4096은 16. 값이 16 단위로 움직입니다.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074920"/>
            <a:ext cx="10817352" cy="91440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35838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값이 가만히 있어도 조금씩 흔들리는 것은 고장이 아닙니다.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아주 작은 전기 잡음까지 잡아내기 때문입니다. 정밀하게 재려면 여러 번 읽어 평균을 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읽은 값을 쓸모 있게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0~65535는 사람이 읽기 불편합니다. 필요한 단위로 바꿔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4884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전압으로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3.3V 중 몇 볼트인지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185415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85415"/>
            <a:ext cx="420624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volt = v * 3.3 / 65535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167128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v 가 32768 이면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459736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1.65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36391"/>
            <a:ext cx="10817352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퍼센트로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85031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0~100 사이의 정수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355848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3355848"/>
            <a:ext cx="420624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pct = v * 100 // 65535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33375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v 가 32768 이면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630168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06824"/>
            <a:ext cx="10817352" cy="1005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48970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색 값으로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85546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6차시 set_color에 바로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52628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4526280"/>
            <a:ext cx="420624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 = v * 255 // 65535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507992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v 가 32768 이면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800600"/>
            <a:ext cx="3291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127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53212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7698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// 는 나눗셈 후 소수점을 버립니다.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duty_u16이나 set_color에는 정수만 넣을 수 있으므로 / 대신 // 를 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손잡이로 LED 밝기 조절하기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읽은 값을 그대로 넣기만 하면 됩니다. 범위가 똑같기 때문입니다.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0175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knob_led.py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ADC, Pin, PWM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1119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3240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knob = ADC(Pin(26))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led  = PWM(Pin(13), freq=1000)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1421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748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v = knob.read_u16()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3542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    led.duty_u16(v)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960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sleep(0.05)</a:t>
            </a:r>
          </a:p>
        </p:txBody>
      </p:sp>
      <p:sp>
        <p:nvSpPr>
          <p:cNvPr id="15" name="Oval 14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1671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읽은 값을 그대로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96312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read_u16()도 0~65535, duty_u16()도 0~65535. 변환이 필요 없습니다.</a:t>
            </a:r>
          </a:p>
        </p:txBody>
      </p:sp>
      <p:sp>
        <p:nvSpPr>
          <p:cNvPr id="19" name="Oval 18"/>
          <p:cNvSpPr/>
          <p:nvPr/>
        </p:nvSpPr>
        <p:spPr>
          <a:xfrm>
            <a:off x="708660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17296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GP13은 빨강 채널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02152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 RGB LED의 R 다리입니다. 새로 배선할 것이 없습니다.</a:t>
            </a:r>
          </a:p>
        </p:txBody>
      </p:sp>
      <p:sp>
        <p:nvSpPr>
          <p:cNvPr id="23" name="Oval 22"/>
          <p:cNvSpPr/>
          <p:nvPr/>
        </p:nvSpPr>
        <p:spPr>
          <a:xfrm>
            <a:off x="7086600" y="41605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1605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17880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sleep(0.05)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507992"/>
            <a:ext cx="391363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0.05초마다 읽습니다. 너무 자주 읽을 필요는 없습니다.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입력과 출력이 드디어 손으로 이어졌습니다.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손잡이를 돌리면 LED가 즉시 반응합니다. 4차시의 버튼과 5차시의 PWM이 만난 것입니다.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아날로그 입력에서 지켜야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1차시의 3.3V 규칙이 여기에도 그대로 적용됩니다.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양 끝은 3V3과 GND에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가운데 다리를 GP26·27·28 중 하나에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값이 조금 흔들리는 것은 그대로 두기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정밀하게 재려면 여러 번 읽어 평균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VBUS(5V)를 가변저항에 연결하기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ADC 핀에 3.3V 넘는 전압 넣기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GP26~28 외의 핀으로 아날로그 읽기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끝 다리를 GP26에 연결하기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ADC 핀도 GPIO입니다. 3.3V를 넘는 전압이 들어가면 칩이 손상되고 되돌릴 수 없습니다.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세 가지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 RGB LED가 그대로 있으니 색까지 조절할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손잡이로 흰색 밝기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310128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 = knob.read_u16()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534156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red.duty_u16(v)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758184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green.duty_u16(v)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982212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blue.duty_u16(v)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세 채널에 같은 값을 넣으면 흰색 밝기가 조절됩니다.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77156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6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6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손잡이로 색 바꾸기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7156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1748" y="3310128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 = knob.read_u16()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1748" y="3534156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c = v * 255 // 65535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1748" y="3982212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set_color(255 - c, c, 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7156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빨강에서 초록으로 손잡이를 따라 색이 바뀝니다.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94192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값에 따라 경고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94192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58784" y="3310128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v &gt; 45000: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58784" y="3534156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3758184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elif v &gt; 20000: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3982212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255, 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58784" y="4206240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4430268"/>
            <a:ext cx="26517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255, 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94192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구간에 따라 초록·노랑·빨강으로 바뀌는 신호등을 만들어 보세요.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뜻대로 안 나올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오늘은 가운데 다리와 양 끝 연결, 두 가지가 대부분입니다.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돌려도 값이 안 변한다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끝 다리를 GP26에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가운데 다리로 옮깁니다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0에서 안 올라간다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3V3 쪽 점퍼선이 빠짐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36번 핀 연결을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돌리는 방향과 반대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3V3과 GND가 바뀜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양 끝 점퍼선을 서로 바꿔 끼웁니다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심하게 튄다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다리가 헐겁게 꽂힘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끝까지 눌러 꽂고 AGND를 씁니다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ADC 오류가 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GP26~28이 아닌 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세 핀 중 하나로 옮깁니다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LED가 이상하면 print(v)로 값부터 확인하세요. 값이 정상이면 회로가 아니라 코드 문제입니다.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입력이 드디어 '정도'를 갖게 되었습니다.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아날로그를 읽었다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0과 1이 아니라 그 사이의 값을 그대로 읽는 법을 배웠습니다.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범위를 이어 붙였다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read_u16과 duty_u16의 범위가 같아 변환 없이 이었습니다.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값을 바꿔 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전압·퍼센트·색 값으로 바꾸는 방법을 익혔습니다.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아날로그는 GP26·27·28, 가운데 다리로 읽는다.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온습도 센서와 I2C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손잡이 대신 진짜 센서를 붙입니다. 그리고 선 두 개로 대화하는 법을 배웁니다.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진짜 센서를 붙인다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온도와 습도를 재는 센서로 교실의 실제 값을 읽습니다.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I2C 통신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 두 개만으로 여러 센서를 줄줄이 연결하는 방법입니다.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주소라는 개념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선을 같이 쓰기 때문에 장치마다 주소가 필요합니다.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8차시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I2C, Pin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7121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i2c = I2C(0, sda=Pin(20),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2724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scl=Pin(21))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56432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print(i2c.scan())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1363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1차시에 예고한 I2C입니다. SDA·SCL 한 쌍만 쓰는 통신 방식입니다.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(온습도 센서는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