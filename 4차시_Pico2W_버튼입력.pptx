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[2분] 표지 — 버튼으로 입력 받기</a:t>
            </a:r>
          </a:p>
          <a:p/>
          <a:p>
            <a:r>
              <a:t>[지시] 지난 시간에 만든 LED 회로를 그대로 꺼내게 한다. 택트 스위치와 10kΩ 저항을 배부한다.</a:t>
            </a:r>
          </a:p>
          <a:p/>
          <a:p>
            <a:r>
              <a:t>지난 시간까지 우리가 한 건 전부 '내보내기'였습니다. 코드가 시키면 LED가 켜졌죠. 보드는 말만 하고 듣지는 않았습니다.</a:t>
            </a:r>
          </a:p>
          <a:p/>
          <a:p>
            <a:r>
              <a:t>오늘은 듣기 시작합니다. 여러분이 버튼을 누르면 보드가 그걸 알아챕니다.</a:t>
            </a:r>
          </a:p>
          <a:p/>
          <a:p>
            <a:r>
              <a:t>1차시에 배운 입력, 처리, 출력 기억나시죠. 지금까지 출력만 했어요. 오늘 드디어 입력이 들어옵니다. 이 둘이 만나야 비로소 '기계'가 됩니다.</a:t>
            </a:r>
          </a:p>
          <a:p/>
          <a:p>
            <a:r>
              <a:t>오늘 중간에 조금 어려운 개념이 하나 나옵니다. 풀다운 저항이라는 건데, 왜 필요한지부터 차근차근 갈 테니 겁먹지 마세요.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[2분] 오늘 배울 것</a:t>
            </a:r>
          </a:p>
          <a:p/>
          <a:p>
            <a:r>
              <a:t>다섯 가지입니다.</a:t>
            </a:r>
          </a:p>
          <a:p/>
          <a:p>
            <a:r>
              <a:t>첫째, 출력과 입력의 차이. 코드에서는 단어 하나 차이인데 의미는 완전히 반대입니다.</a:t>
            </a:r>
          </a:p>
          <a:p/>
          <a:p>
            <a:r>
              <a:t>둘째, 택트 스위치. 다리가 네 개인데 왜 네 개인지, 어디에 꽂아야 하는지 배웁니다.</a:t>
            </a:r>
          </a:p>
          <a:p/>
          <a:p>
            <a:r>
              <a:t>셋째와 넷째가 오늘의 고비입니다. 플로팅이라는 문제와 그 해결책인 풀다운 저항이요. 처음 듣는 말일 텐데, 순서대로 가면 어렵지 않습니다.</a:t>
            </a:r>
          </a:p>
          <a:p/>
          <a:p>
            <a:r>
              <a:t>다섯째, 버튼으로 LED를 켭니다. 지난 시간 회로를 그대로 쓰고 버튼만 추가합니다.</a:t>
            </a:r>
          </a:p>
          <a:p/>
          <a:p>
            <a:r>
              <a:t>오늘 딱 하나만 기억한다면 세 번째와 네 번째입니다. 버튼은 저항 없이 못 씁니다. 왜인지를 오늘 이해하고 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[2분] 지난 시간 요약</a:t>
            </a:r>
          </a:p>
          <a:p/>
          <a:p>
            <a:r>
              <a:t>지난 시간 것 네 가지만 짚습니다.</a:t>
            </a:r>
          </a:p>
          <a:p/>
          <a:p>
            <a:r>
              <a:t>브레드보드는 세로 5칸이 한 묶음. LED는 긴 다리가 플러스. LED 앞에는 220옴 저항. 외부 부품은 핀 번호로 부른다.</a:t>
            </a:r>
          </a:p>
          <a:p/>
          <a:p>
            <a:r>
              <a:t>[지시] 지난 시간 회로가 그대로 남아 있는 학생은 확인만 하고, 뽑아 온 학생은 지금 다시 만들게 한다. 3분 정도.</a:t>
            </a:r>
          </a:p>
          <a:p/>
          <a:p>
            <a:r>
              <a:t>그리고 아래 박스. 오늘 저항이 하나 더 나옵니다. 10킬로옴이에요. 220옴하고는 색깔부터 다릅니다. 갈색, 검정, 주황입니다.</a:t>
            </a:r>
          </a:p>
          <a:p/>
          <a:p>
            <a:r>
              <a:t>[발문] 220옴은 무슨 색이었죠? (답: 빨강 빨강 갈색)</a:t>
            </a:r>
          </a:p>
          <a:p/>
          <a:p>
            <a:r>
              <a:t>두 개를 섞으면 오늘 회로가 이상하게 동작합니다. 지금 책상 위에서 따로 놓아 두세요. 역할도 완전히 다릅니다. 220옴은 LED를 지키는 거고, 10킬로옴은 값을 붙잡아 두는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출력에서 입력으로</a:t>
            </a:r>
          </a:p>
          <a:p/>
          <a:p>
            <a:r>
              <a:t>1차시에 GPIO는 입력으로도 출력으로도 쓸 수 있다고 했죠. 그게 오늘 얘기입니다. General Purpose Input Output, 범용 입출력이라는 이름 그대로예요.</a:t>
            </a:r>
          </a:p>
          <a:p/>
          <a:p>
            <a:r>
              <a:t>표를 왼쪽부터 봅시다.</a:t>
            </a:r>
          </a:p>
          <a:p/>
          <a:p>
            <a:r>
              <a:t>설정할 때 Pin.OUT이라고 쓰면 출력, Pin.IN이라고 쓰면 입력입니다. 단어 하나 차이입니다.</a:t>
            </a:r>
          </a:p>
          <a:p/>
          <a:p>
            <a:r>
              <a:t>하는 일이 반대예요. 출력은 핀에 값을 씁니다. 입력은 핀의 값을 읽습니다.</a:t>
            </a:r>
          </a:p>
          <a:p/>
          <a:p>
            <a:r>
              <a:t>전기 흐름도 반대입니다. 출력은 보드에서 바깥으로 나가고, 입력은 바깥에서 보드로 들어옵니다.</a:t>
            </a:r>
          </a:p>
          <a:p/>
          <a:p>
            <a:r>
              <a:t>명령도 다릅니다. 출력은 led.on() 처럼 시키는 명령이고, 입력은 btn.value() 처럼 물어보는 명령입니다. value는 값이라는 뜻이죠. '지금 값이 뭐야?' 하고 물어보는 겁니다.</a:t>
            </a:r>
          </a:p>
          <a:p/>
          <a:p>
            <a:r>
              <a:t>[지시] 하단 문장을 짚으며 1차시를 회수한다.</a:t>
            </a:r>
          </a:p>
          <a:p/>
          <a:p>
            <a:r>
              <a:t>1차시 세 번째 장에서 임베디드는 입력, 처리, 출력의 반복이라고 했습니다. 지금까지 출력만 했어요. 오늘 입력이 들어오면 세 단계가 다 갖춰집니다.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택트 스위치 — 다리가 왜 네 개일까</a:t>
            </a:r>
          </a:p>
          <a:p/>
          <a:p>
            <a:r>
              <a:t>[지시] 스위치를 하나씩 꺼내 들어 보게 한다. 눌러서 딸깍 소리를 들어 보게 한다.</a:t>
            </a:r>
          </a:p>
          <a:p/>
          <a:p>
            <a:r>
              <a:t>이게 택트 스위치입니다. 눌렀다 떼면 원래대로 돌아오는 버튼이에요. 딸깍 소리 나죠.</a:t>
            </a:r>
          </a:p>
          <a:p/>
          <a:p>
            <a:r>
              <a:t>[발문] 스위치는 켜고 끄는 것 하나인데, 다리는 왜 네 개일까요?</a:t>
            </a:r>
          </a:p>
          <a:p/>
          <a:p>
            <a:r>
              <a:t>이유는 이렇습니다. 화면 왼쪽 그림 보세요. 같은 편에 있는 두 다리는 안쪽에서 이미 서로 붙어 있습니다. 빨간 선하고 파란 선으로 표시한 부분이요. 그러니까 실제 접점은 왼쪽 하나, 오른쪽 하나. 둘뿐입니다.</a:t>
            </a:r>
          </a:p>
          <a:p/>
          <a:p>
            <a:r>
              <a:t>다리를 네 개 만든 이유는 브레드보드나 기판에 꽂았을 때 흔들리지 않게 고정하려고요. 구조적인 이유입니다.</a:t>
            </a:r>
          </a:p>
          <a:p/>
          <a:p>
            <a:r>
              <a:t>버튼을 누르면 왼쪽 편과 오른쪽 편이 이어집니다. 떼면 끊어지고요.</a:t>
            </a:r>
          </a:p>
          <a:p/>
          <a:p>
            <a:r>
              <a:t>[지시] 세 번째 항목이 실전에서 가장 중요하다. 강조한다.</a:t>
            </a:r>
          </a:p>
          <a:p/>
          <a:p>
            <a:r>
              <a:t>실전 팁 하나. 브레드보드 중앙 홈에 걸쳐서 꽂으세요. 그러면 이미 연결된 쌍이 홈 한쪽에 모여서, 누르기 전에는 절대 연결되지 않습니다. 그리고 대각선으로 마주 보는 두 다리만 쓰면 헷갈릴 일이 없습니다.</a:t>
            </a:r>
          </a:p>
          <a:p/>
          <a:p>
            <a:r>
              <a:t>혹시 반대로 꽂으면 어떻게 되냐면, 버튼을 안 눌러도 계속 연결된 것처럼 보입니다. 이따 이상하면 스위치를 90도 돌려서 다시 꽂아 보세요.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핀의 값을 읽는다는 것</a:t>
            </a:r>
          </a:p>
          <a:p/>
          <a:p>
            <a:r>
              <a:t>입력이 실제로 어떻게 생겼는지 셸에서 먼저 봅시다.</a:t>
            </a:r>
          </a:p>
          <a:p/>
          <a:p>
            <a:r>
              <a:t>[지시] 아직 버튼을 안 꽂았으므로 이 장은 시연으로만 보여 준다. 실습은 배선 후에 한다.</a:t>
            </a:r>
          </a:p>
          <a:p/>
          <a:p>
            <a:r>
              <a:t>Pin(16, Pin.IN). 16번 핀을 입력으로 쓰겠다는 선언입니다.</a:t>
            </a:r>
          </a:p>
          <a:p/>
          <a:p>
            <a:r>
              <a:t>그다음 btn.value() 라고 치면 숫자가 하나 나옵니다. 0 아니면 1이에요.</a:t>
            </a:r>
          </a:p>
          <a:p/>
          <a:p>
            <a:r>
              <a:t>1은 HIGH입니다. 그 핀에 3.3볼트가 걸려 있다는 뜻이에요. 0은 LOW, 0볼트라는 뜻입니다.</a:t>
            </a:r>
          </a:p>
          <a:p/>
          <a:p>
            <a:r>
              <a:t>[발문] 1.5볼트 같은 중간값이 들어오면 뭐가 나올까요?</a:t>
            </a:r>
          </a:p>
          <a:p/>
          <a:p>
            <a:r>
              <a:t>디지털 입력에는 중간이 없습니다. 어느 쪽에 가까운지로 0이나 1로 판정해 버려요. 1차시에서 디지털은 두 상태뿐이라고 했던 그 얘기입니다. 아날로그 값을 제대로 읽는 건 7차시에 배웁니다.</a:t>
            </a:r>
          </a:p>
          <a:p/>
          <a:p>
            <a:r>
              <a:t>그러니까 오늘 우리가 할 일은 이겁니다. 버튼을 눌렀을 때 3.3볼트가 걸리게 만들고, 안 눌렀을 때는 0볼트가 되게 만드는 것. 그런데 여기서 문제가 하나 생깁니다. 다음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아무것도 연결하지 않으면 값이 흔들린다</a:t>
            </a:r>
          </a:p>
          <a:p/>
          <a:p>
            <a:r>
              <a:t>[지시] 가능하면 교사 보드로 실제 시연한다. 점퍼선 한쪽만 GP16에 꽂고 반대쪽은 공중에 둔 채 값을 출력하면 실제로 값이 튄다.</a:t>
            </a:r>
          </a:p>
          <a:p/>
          <a:p>
            <a:r>
              <a:t>여기가 오늘의 고비입니다. 천천히 갑니다.</a:t>
            </a:r>
          </a:p>
          <a:p/>
          <a:p>
            <a:r>
              <a:t>버튼을 이렇게 연결했다고 해 봅시다. 버튼 한쪽은 3.3볼트에, 다른 쪽은 GP16에요.</a:t>
            </a:r>
          </a:p>
          <a:p/>
          <a:p>
            <a:r>
              <a:t>버튼을 누르면 3.3볼트가 GP16에 들어옵니다. 값은 1. 여기까지는 문제없어요.</a:t>
            </a:r>
          </a:p>
          <a:p/>
          <a:p>
            <a:r>
              <a:t>[발문] 그럼 버튼을 안 누르면 GP16은 몇 볼트일까요?</a:t>
            </a:r>
          </a:p>
          <a:p/>
          <a:p>
            <a:r>
              <a:t>여기가 함정입니다. 0볼트가 아니에요. 아무것도 아닙니다. 어디에도 연결이 안 된 상태예요. 공중에 떠 있는 겁니다.</a:t>
            </a:r>
          </a:p>
          <a:p/>
          <a:p>
            <a:r>
              <a:t>이런 핀은 주변의 아주 약한 전기 잡음에 반응해서 값이 제멋대로 바뀝니다. 화면 왼쪽처럼요. 누르지도 않았는데 0과 1이 왔다 갔다 합니다. 심하면 손을 근처에 가져가기만 해도 값이 바뀝니다.</a:t>
            </a:r>
          </a:p>
          <a:p/>
          <a:p>
            <a:r>
              <a:t>이 상태를 플로팅이라고 부릅니다. 떠 있다는 뜻이에요.</a:t>
            </a:r>
          </a:p>
          <a:p/>
          <a:p>
            <a:r>
              <a:t>그럼 어떻게 해결하냐. 간단합니다. 안 눌렀을 때도 핀이 어딘가에 확실히 붙어 있게 만들면 됩니다. 그 역할을 하는 게 다음 장의 저항입니다.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풀다운 저항 — 평소에는 0으로 붙잡아 둔다</a:t>
            </a:r>
          </a:p>
          <a:p/>
          <a:p>
            <a:r>
              <a:t>해결책입니다. 화면 왼쪽 그림을 보세요.</a:t>
            </a:r>
          </a:p>
          <a:p/>
          <a:p>
            <a:r>
              <a:t>버튼은 아까랑 똑같이 3.3볼트와 GP16 사이에 있습니다. 여기에 하나를 추가했어요. GP16에서 10킬로옴 저항을 거쳐 GND로 가는 길이요.</a:t>
            </a:r>
          </a:p>
          <a:p/>
          <a:p>
            <a:r>
              <a:t>이제 두 경우를 따져 봅시다.</a:t>
            </a:r>
          </a:p>
          <a:p/>
          <a:p>
            <a:r>
              <a:t>안 누르면, 버튼 쪽 길은 끊겨 있으니까 GP16은 저항을 통해 GND에만 이어져 있습니다. 그러니까 0볼트, 값은 0. 더 이상 흔들리지 않습니다.</a:t>
            </a:r>
          </a:p>
          <a:p/>
          <a:p>
            <a:r>
              <a:t>누르면, 3.3볼트가 GP16에 곧바로 들어옵니다. 값은 1이 되고요.</a:t>
            </a:r>
          </a:p>
          <a:p/>
          <a:p>
            <a:r>
              <a:t>[발문] 그럼 누를 때 3.3볼트가 저항을 통해 GND로도 빠져나가지 않나요?</a:t>
            </a:r>
          </a:p>
          <a:p/>
          <a:p>
            <a:r>
              <a:t>빠져나가긴 합니다. 그런데 10킬로옴이라 아주 조금이에요. 0.3밀리암페어 정도. 무시해도 되는 양입니다. 저항 값을 크게 잡은 이유가 이겁니다.</a:t>
            </a:r>
          </a:p>
          <a:p/>
          <a:p>
            <a:r>
              <a:t>이렇게 핀을 평소에 0 쪽으로 끌어내려 두는 걸 풀다운이라고 합니다. 반대로 3.3볼트 쪽으로 끌어올리면 풀업이고요. 풀업으로 하면 값이 뒤집힙니다. 안 누르면 1, 누르면 0이에요. 인터넷 예제 중에 풀업이 많으니 알아 두세요.</a:t>
            </a:r>
          </a:p>
          <a:p/>
          <a:p>
            <a:r>
              <a:t>[지시] 맨 아래 줄을 강조한다.</a:t>
            </a:r>
          </a:p>
          <a:p/>
          <a:p>
            <a:r>
              <a:t>그리고 저항이 하나 더 하는 일이 있습니다. 저항이 없이 3.3볼트랑 GND를 버튼으로 바로 이으면 그게 합선이에요. 저항이 그것도 막아 줍니다.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사실 저항 없이도 됩니다</a:t>
            </a:r>
          </a:p>
          <a:p/>
          <a:p>
            <a:r>
              <a:t>여기서 조금 김빠지는 얘기를 하나 하겠습니다.</a:t>
            </a:r>
          </a:p>
          <a:p/>
          <a:p>
            <a:r>
              <a:t>방금 배운 풀다운 저항, 사실 Pico 칩 안에 이미 들어 있습니다. 코드에서 켜기만 하면 돼요.</a:t>
            </a:r>
          </a:p>
          <a:p/>
          <a:p>
            <a:r>
              <a:t>오른쪽 보세요. Pin(16, Pin.IN, Pin.PULL_DOWN). 뒤에 단어 하나 붙인 게 전부입니다. 이러면 10킬로옴 저항을 안 꽂아도 똑같이 동작합니다.</a:t>
            </a:r>
          </a:p>
          <a:p/>
          <a:p>
            <a:r>
              <a:t>[발문] 그럼 아까 배운 건 뭐였죠? 쓸데없는 거였나요?</a:t>
            </a:r>
          </a:p>
          <a:p/>
          <a:p>
            <a:r>
              <a:t>아닙니다. 두 가지 이유가 있어요.</a:t>
            </a:r>
          </a:p>
          <a:p/>
          <a:p>
            <a:r>
              <a:t>첫째, 안에서 무슨 일이 일어나는지 알아야 문제가 생겼을 때 고칠 수 있습니다. 코드 한 줄만 외우면 안 될 때 손을 못 씁니다.</a:t>
            </a:r>
          </a:p>
          <a:p/>
          <a:p>
            <a:r>
              <a:t>둘째, 모든 칩에 내장 저항이 있는 건 아닙니다. 나중에 다른 부품을 쓸 때는 직접 달아야 해요.</a:t>
            </a:r>
          </a:p>
          <a:p/>
          <a:p>
            <a:r>
              <a:t>그래서 오늘은 순서를 이렇게 갑니다. 먼저 저항을 꽂아서 눈으로 보고, 실습 시간에 저항을 빼고 코드로 바꿔 봅니다. 같은 결과가 나오는 걸 직접 확인하면 확실히 이해됩니다.</a:t>
            </a:r>
          </a:p>
          <a:p/>
          <a:p>
            <a:r>
              <a:t>아래 세 가지 중 PULL_UP은 값이 뒤집힌다는 것만 기억하세요. 인터넷 예제 대부분이 이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오늘 만들 회로</a:t>
            </a:r>
          </a:p>
          <a:p/>
          <a:p>
            <a:r>
              <a:t>지난 시간 LED 회로는 손대지 마세요. 그대로 두고 버튼 회로를 옆에 새로 만듭니다.</a:t>
            </a:r>
          </a:p>
          <a:p/>
          <a:p>
            <a:r>
              <a:t>위쪽 그림이 앞 장에서 본 그 회로입니다. 이제 실제 핀 번호를 확인합시다.</a:t>
            </a:r>
          </a:p>
          <a:p/>
          <a:p>
            <a:r>
              <a:t>GP16은 물리적으로 21번 핀입니다. 지난 시간에 쓴 GP15가 20번이었죠. 그 바로 옆, 반대편 열의 맨 아래입니다. 3V3은 36번 핀, GND는 23번 핀을 쓰겠습니다.</a:t>
            </a:r>
          </a:p>
          <a:p/>
          <a:p>
            <a:r>
              <a:t>[지시] 핀아웃 인쇄물에서 21번, 36번, 23번을 짚게 한다. 실물에서도 확인시킨다.</a:t>
            </a:r>
          </a:p>
          <a:p/>
          <a:p>
            <a:r>
              <a:t>아래 표가 배선 다섯 줄입니다.</a:t>
            </a:r>
          </a:p>
          <a:p/>
          <a:p>
            <a:r>
              <a:t>2번 줄을 주의하세요. 스위치는 중앙 홈을 가로질러 꽂습니다. 그리고 대각선 두 다리만 씁니다.</a:t>
            </a:r>
          </a:p>
          <a:p/>
          <a:p>
            <a:r>
              <a:t>4번과 5번이 아까 배운 풀다운입니다. 버튼 오른쪽 편, 그러니까 GP16이 연결된 그 줄에서 저항을 통해 GND로 내려가는 길이에요.</a:t>
            </a:r>
          </a:p>
          <a:p/>
          <a:p>
            <a:r>
              <a:t>[발문] 3번의 GP16과 4번의 저항이 왜 같은 세로줄에서 시작할까요? (답: GP16을 저항으로 GND에 묶어 두어야 하니까)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배선하는 순서</a:t>
            </a:r>
          </a:p>
          <a:p/>
          <a:p>
            <a:r>
              <a:t>[지시] 다 같이 한 단계씩 진행한다. 단계마다 손을 들게 해서 속도를 맞춘다.</a:t>
            </a:r>
          </a:p>
          <a:p/>
          <a:p>
            <a:r>
              <a:t>1번. 케이블을 뽑습니다. LED 회로는 건드리지 말고 그대로 두세요.</a:t>
            </a:r>
          </a:p>
          <a:p/>
          <a:p>
            <a:r>
              <a:t>2번. 스위치를 중앙 홈에 걸쳐 꽂습니다. 다리가 네 개라 뻑뻑할 겁니다. 네 다리가 다 들어가도록 꾹 눌러 주세요. 한두 개만 들어가면 접촉이 안 됩니다.</a:t>
            </a:r>
          </a:p>
          <a:p/>
          <a:p>
            <a:r>
              <a:t>3번. 10킬로옴 저항입니다. 갈색 검정 주황이에요. 220옴하고 헷갈리지 마세요.</a:t>
            </a:r>
          </a:p>
          <a:p/>
          <a:p>
            <a:r>
              <a:t>4번. 점퍼선 세 개입니다. 3.3볼트에서 버튼 왼쪽 편으로 하나, 버튼 오른쪽 편에서 GP16으로 하나, 저항 끝에서 GND로 하나.</a:t>
            </a:r>
          </a:p>
          <a:p/>
          <a:p>
            <a:r>
              <a:t>5번. 확인하고 USB를 꽂습니다.</a:t>
            </a:r>
          </a:p>
          <a:p/>
          <a:p>
            <a:r>
              <a:t>[지시] 순회하며 스위치 방향을 확인한다. 홈을 가로지르지 않고 세로로 꽂은 학생이 반드시 있다. 이 경우 버튼이 항상 눌린 것처럼 동작한다.</a:t>
            </a:r>
          </a:p>
          <a:p/>
          <a:p>
            <a:r>
              <a:t>[발문] 다 된 사람 손 들어 보세요.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먼저 값이 잘 읽히는지 확인합니다</a:t>
            </a:r>
          </a:p>
          <a:p/>
          <a:p>
            <a:r>
              <a:t>배선이 끝났으면 바로 LED를 붙이지 말고, 값부터 확인합시다. 이게 좋은 습관입니다. 한 번에 다 만들면 어디가 틀렸는지 찾기 어렵거든요.</a:t>
            </a:r>
          </a:p>
          <a:p/>
          <a:p>
            <a:r>
              <a:t>코드는 여섯 줄입니다.</a:t>
            </a:r>
          </a:p>
          <a:p/>
          <a:p>
            <a:r>
              <a:t>4행이 핵심이에요. Pin.OUT이 아니라 Pin.IN입니다. 이거 틀리는 사람 꼭 있습니다.</a:t>
            </a:r>
          </a:p>
          <a:p/>
          <a:p>
            <a:r>
              <a:t>7행 print(btn.value()). 값을 셸에 찍는 겁니다.</a:t>
            </a:r>
          </a:p>
          <a:p/>
          <a:p>
            <a:r>
              <a:t>8행 sleep은 꼭 넣으세요. 없으면 초당 수만 번 찍혀서 아무것도 안 보입니다.</a:t>
            </a:r>
          </a:p>
          <a:p/>
          <a:p>
            <a:r>
              <a:t>[지시] 실행시키고 버튼을 눌렀다 뗐다 하게 한다.</a:t>
            </a:r>
          </a:p>
          <a:p/>
          <a:p>
            <a:r>
              <a:t>실행하고 버튼을 눌러 보세요. 안 누르면 0이 쭉 나오고, 누르고 있으면 1이 쭉 나와야 합니다.</a:t>
            </a:r>
          </a:p>
          <a:p/>
          <a:p>
            <a:r>
              <a:t>[발문] 안 눌렀는데 1이 섞여 나오는 사람 있나요?</a:t>
            </a:r>
          </a:p>
          <a:p/>
          <a:p>
            <a:r>
              <a:t>그건 풀다운이 제대로 안 된 겁니다. 저항이 빠졌거나 엉뚱한 줄에 꽂혀 있어요. 아까 배운 플로팅 상태인 겁니다.</a:t>
            </a:r>
          </a:p>
          <a:p/>
          <a:p>
            <a:r>
              <a:t>계속 1만 나오는 사람은 스위치 방향을 의심하세요. 90도 돌려서 다시 꽂아 보세요.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[4분] 버튼으로 LED 켜기</a:t>
            </a:r>
          </a:p>
          <a:p/>
          <a:p>
            <a:r>
              <a:t>값이 잘 읽혔으면 이제 LED를 붙입니다. 지난 시간 회로 그대로 GP15에 있죠.</a:t>
            </a:r>
          </a:p>
          <a:p/>
          <a:p>
            <a:r>
              <a:t>2행과 3행을 보세요. GP15는 OUT, GP16은 IN입니다. 한 프로그램에서 출력과 입력을 같이 쓰는 겁니다.</a:t>
            </a:r>
          </a:p>
          <a:p/>
          <a:p>
            <a:r>
              <a:t>6행. if btn.value() == 1. 등호가 두 개인 거 주의하세요. 하나면 '넣어라'는 뜻이고, 두 개면 '같은가?'를 묻는 겁니다. 여기서는 묻는 거니까 두 개입니다.</a:t>
            </a:r>
          </a:p>
          <a:p/>
          <a:p>
            <a:r>
              <a:t>7행은 8칸 들여쓰기입니다. while 안의 if 안이니까 두 단계 들어간 거예요.</a:t>
            </a:r>
          </a:p>
          <a:p/>
          <a:p>
            <a:r>
              <a:t>8행 else는 '그렇지 않으면'입니다. 값이 1이 아닌 모든 경우, 그러니까 0일 때죠. 그때는 끕니다.</a:t>
            </a:r>
          </a:p>
          <a:p/>
          <a:p>
            <a:r>
              <a:t>[지시] 실행시키고 버튼을 눌러 보게 한다. 성공하면 잠깐 멈추고 의미를 짚는다.</a:t>
            </a:r>
          </a:p>
          <a:p/>
          <a:p>
            <a:r>
              <a:t>[발문] 눌렀을 때 켜지는 사람 손 들어 보세요.</a:t>
            </a:r>
          </a:p>
          <a:p/>
          <a:p>
            <a:r>
              <a:t>축하합니다. 여러분 방금 뭘 만든 건지 아세요? 1차시 네 번째 장에서 임베디드 시스템은 입력, 처리, 출력이라고 했죠. 지금 이 아홉 줄에 세 개가 다 들어 있습니다. 버튼을 읽고, 조건을 따지고, LED를 켭니다.</a:t>
            </a:r>
          </a:p>
          <a:p/>
          <a:p>
            <a:r>
              <a:t>여기서부터는 부품만 바뀔 뿐 구조는 똑같습니다. 센서를 읽고, 판단하고, 뭔가를 움직인다. 학기 끝까지 이 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한 번 눌렀는데 여러 번 눌린 것처럼</a:t>
            </a:r>
          </a:p>
          <a:p/>
          <a:p>
            <a:r>
              <a:t>지금 만든 코드는 잘 동작합니다. 그런데 곧 만날 문제 하나를 미리 알려 드릴게요.</a:t>
            </a:r>
          </a:p>
          <a:p/>
          <a:p>
            <a:r>
              <a:t>버튼은 금속 접점이 붙는 방식이잖아요. 그런데 접점이 붙는 순간 아주 짧게 여러 번 튕깁니다. 몇 밀리초 사이에요.</a:t>
            </a:r>
          </a:p>
          <a:p/>
          <a:p>
            <a:r>
              <a:t>사람 손으로는 한 번 누른 게 분명한데, 보드는 그 사이에 1, 0, 1, 1, 0, 1 이렇게 여러 번 바뀐 걸로 읽습니다. 이걸 채터링, 또는 바운싱이라고 합니다.</a:t>
            </a:r>
          </a:p>
          <a:p/>
          <a:p>
            <a:r>
              <a:t>[발문] 그런데 아까 코드는 왜 멀쩡했을까요?</a:t>
            </a:r>
          </a:p>
          <a:p/>
          <a:p>
            <a:r>
              <a:t>켜고 끄기만 할 때는 티가 안 나기 때문입니다. 눌린 동안 계속 켜져 있으니까 중간에 몇 번 튕겨도 결과가 같아요.</a:t>
            </a:r>
          </a:p>
          <a:p/>
          <a:p>
            <a:r>
              <a:t>문제는 횟수를 셀 때 생깁니다. 한 번 눌렀는데 세 번 센다든가, 상태를 뒤집는데 세 번 뒤집혀서 결과가 이상해진다든가.</a:t>
            </a:r>
          </a:p>
          <a:p/>
          <a:p>
            <a:r>
              <a:t>해결은 간단합니다. 값을 읽은 다음에 잠깐 쉬면 돼요. sleep(0.3) 한 줄이면 수업에서는 충분합니다. 튕기는 시간이 지나갈 때까지 기다리는 거죠.</a:t>
            </a:r>
          </a:p>
          <a:p/>
          <a:p>
            <a:r>
              <a:t>제대로 하는 방법은 따로 있는데, 지금은 이 정도로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[5분] 실습 — 세 가지 도전</a:t>
            </a:r>
          </a:p>
          <a:p/>
          <a:p>
            <a:r>
              <a:t>세 가지 준비했습니다. 순서대로 하세요.</a:t>
            </a:r>
          </a:p>
          <a:p/>
          <a:p>
            <a:r>
              <a:t>첫째, 아까 예고한 겁니다. 10킬로옴 저항을 뽑아 버리고 코드를 바꾸는 거예요. Pin.PULL_DOWN을 추가하면 됩니다. 저항이 없는데도 똑같이 동작하면 성공입니다.</a:t>
            </a:r>
          </a:p>
          <a:p/>
          <a:p>
            <a:r>
              <a:t>[지시] 여기서 반드시 저항을 실제로 뽑게 한다. 저항을 꽂은 채로는 배운 것이 확인되지 않는다.</a:t>
            </a:r>
          </a:p>
          <a:p/>
          <a:p>
            <a:r>
              <a:t>저항을 뽑고 코드를 안 고치면 어떻게 되는지도 한번 보세요. 플로팅으로 돌아갑니다. 값이 흔들려요. 그걸 봐야 확실히 이해됩니다.</a:t>
            </a:r>
          </a:p>
          <a:p/>
          <a:p>
            <a:r>
              <a:t>둘째, 토글입니다. 지금은 누르고 있는 동안만 켜지죠. 이걸 누를 때마다 켜졌다 꺼졌다 바뀌게 만드는 겁니다. led.toggle()을 쓰면 되고, 아까 배운 sleep(0.3)이 꼭 있어야 합니다.</a:t>
            </a:r>
          </a:p>
          <a:p/>
          <a:p>
            <a:r>
              <a:t>[발문] sleep을 빼면 어떻게 될까요? (답: 누르고 있는 동안 계속 뒤집혀서 깜빡거린다)</a:t>
            </a:r>
          </a:p>
          <a:p/>
          <a:p>
            <a:r>
              <a:t>셋째는 도전입니다. 누른 횟수를 세는 거예요. 변수를 하나 만들어서 누를 때마다 1씩 더하면 됩니다. 여기서 채터링이 제대로 보일 겁니다. sleep이 없으면 한 번 눌렀는데 숫자가 확 올라가요.</a:t>
            </a:r>
          </a:p>
          <a:p/>
          <a:p>
            <a:r>
              <a:t>[지시] 4분 실습. 순회하며 == 와 = 혼동, 들여쓰기를 확인한다. 빨리 끝낸 조는 LED 두 개를 버튼 하나로 번갈아 켜 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버튼이 말을 안 들을 때</a:t>
            </a:r>
          </a:p>
          <a:p/>
          <a:p>
            <a:r>
              <a:t>오늘 나오는 문제도 거의 정해져 있습니다. 다섯 개예요.</a:t>
            </a:r>
          </a:p>
          <a:p/>
          <a:p>
            <a:r>
              <a:t>1위는 스위치 방향입니다. 세로로 꽂으면 이미 연결된 두 다리가 같은 줄에 들어가서, 안 눌러도 계속 이어진 것처럼 보입니다. 90도 돌리세요.</a:t>
            </a:r>
          </a:p>
          <a:p/>
          <a:p>
            <a:r>
              <a:t>둘째, 값이 제멋대로 바뀌면 풀다운 문제입니다. 저항이 빠졌거나 PULL_DOWN을 안 썼거나.</a:t>
            </a:r>
          </a:p>
          <a:p/>
          <a:p>
            <a:r>
              <a:t>셋째, 계속 0만 나오면 3.3볼트 쪽이 안 연결된 겁니다. 36번 핀 확인하세요.</a:t>
            </a:r>
          </a:p>
          <a:p/>
          <a:p>
            <a:r>
              <a:t>넷째, 값은 잘 나오는데 LED가 안 켜진다면 코드입니다. if 문에서 등호를 하나만 쓴 경우가 많아요.</a:t>
            </a:r>
          </a:p>
          <a:p/>
          <a:p>
            <a:r>
              <a:t>다섯째는 아까 배운 채터링입니다.</a:t>
            </a:r>
          </a:p>
          <a:p/>
          <a:p>
            <a:r>
              <a:t>[지시] 맨 아래 줄을 강조한다. 문제 분해가 오늘의 진짜 교훈이다.</a:t>
            </a:r>
          </a:p>
          <a:p/>
          <a:p>
            <a:r>
              <a:t>그리고 방법 하나 알려 드릴게요. 뭐가 문제인지 모르겠으면, LED를 떼고 버튼 값만 찍어 보세요. 값이 정상이면 회로는 맞는 거고 코드 문제입니다. 값이 이상하면 회로 문제고요. 문제를 반으로 쪼개는 겁니다. 이게 고장을 찾는 가장 빠른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[2분] 오늘 한 일 정리</a:t>
            </a:r>
          </a:p>
          <a:p/>
          <a:p>
            <a:r>
              <a:t>세 문장입니다.</a:t>
            </a:r>
          </a:p>
          <a:p/>
          <a:p>
            <a:r>
              <a:t>첫째, 입력을 배웠습니다. Pin.IN으로 설정하고 value()로 읽었죠.</a:t>
            </a:r>
          </a:p>
          <a:p/>
          <a:p>
            <a:r>
              <a:t>둘째, 플로팅이라는 문제를 만나고 해결했습니다. 저항으로 한 번, 코드로 한 번. 두 방법 모두 결과가 같다는 걸 직접 확인했습니다.</a:t>
            </a:r>
          </a:p>
          <a:p/>
          <a:p>
            <a:r>
              <a:t>셋째, 이게 오늘의 진짜 성과인데, 입력과 출력을 하나로 이었습니다. 1차시에 배운 그 세 단계가 드디어 다 갖춰졌어요.</a:t>
            </a:r>
          </a:p>
          <a:p/>
          <a:p>
            <a:r>
              <a:t>[지시] 하단 붉은 박스를 짚으며 마무리한다.</a:t>
            </a:r>
          </a:p>
          <a:p/>
          <a:p>
            <a:r>
              <a:t>오늘 딱 하나. 입력 핀은 반드시 어느 한쪽에 묶어 둔다. 저항으로 묶든 코드로 묶든 상관없습니다. 그냥 두면 안 됩니다. 앞으로 센서를 붙일 때도 계속 나오는 얘기입니다.</a:t>
            </a:r>
          </a:p>
          <a:p/>
          <a:p>
            <a:r>
              <a:t>[지시] 부품을 정리하되, LED와 버튼 회로는 브레드보드에 그대로 두고 보관하게 한다. 5차시에 그대로 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[2분] 다음 시간 — LED 밝기 조절 (PWM)</a:t>
            </a:r>
          </a:p>
          <a:p/>
          <a:p>
            <a:r>
              <a:t>지금까지 LED는 켜지거나 꺼지거나 둘뿐이었습니다. 1차시에 디지털은 중간이 없다고 했죠.</a:t>
            </a:r>
          </a:p>
          <a:p/>
          <a:p>
            <a:r>
              <a:t>[발문] 그런데 휴대폰 화면 밝기는 조절되잖아요. 어떻게 하는 걸까요?</a:t>
            </a:r>
          </a:p>
          <a:p/>
          <a:p>
            <a:r>
              <a:t>방법이 있습니다. PWM이라는 건데, 아주 빠르게 켰다 껐다를 반복하는 거예요. 1초에 천 번쯤 깜빡이면 사람 눈에는 그냥 좀 어두운 불빛으로 보입니다. 켜 있는 시간의 비율을 바꾸면 밝기가 조절되는 거죠.</a:t>
            </a:r>
          </a:p>
          <a:p/>
          <a:p>
            <a:r>
              <a:t>1차시 열두 번째 장에서 예고했던 그겁니다. 드디어 다음 시간에 합니다.</a:t>
            </a:r>
          </a:p>
          <a:p/>
          <a:p>
            <a:r>
              <a:t>오른쪽 코드 보세요. Pin 옆에 PWM이 하나 더 들어왔고, duty_u16이라는 게 밝기 값입니다. 0부터 65535까지 줄 수 있어요.</a:t>
            </a:r>
          </a:p>
          <a:p/>
          <a:p>
            <a:r>
              <a:t>[마무리] 준비물 공지 — 새로 필요한 부품은 없습니다. 오늘 만든 회로 그대로 가져오세요. 브레드보드에 꽂힌 채로 보관할 수 있으면 그렇게 하시고, 어려우면 다음 시간에 5분 안에 다시 만들 수 있습니다.</a:t>
            </a:r>
          </a:p>
          <a:p/>
          <a:p>
            <a:r>
              <a:t>[지시] 보드와 키트를 걷거나 각자 보관하게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E000A"/>
        </a:solidFill>
        <a:effectLst/>
      </p:bgPr>
    </p:bg>
    <p:spTree>
      <p:nvGrpSpPr>
        <p:cNvPr id="1" name=""/>
        <p:cNvGrpSpPr/>
        <p:nvPr/>
      </p:nvGrpSpPr>
      <p:grpSpPr/>
      <p:sp>
        <p:nvSpPr>
          <p:cNvPr id="2" name="TextBox 1"/>
          <p:cNvSpPr txBox="1"/>
          <p:nvPr/>
        </p:nvSpPr>
        <p:spPr>
          <a:xfrm>
            <a:off x="685800" y="1417320"/>
            <a:ext cx="6766560" cy="292608"/>
          </a:xfrm>
          <a:prstGeom prst="rect">
            <a:avLst/>
          </a:prstGeom>
          <a:noFill/>
        </p:spPr>
        <p:txBody>
          <a:bodyPr wrap="square" lIns="0" rIns="0" tIns="0" bIns="0" anchor="t">
            <a:spAutoFit/>
          </a:bodyPr>
          <a:lstStyle/>
          <a:p>
            <a:pPr algn="l">
              <a:spcAft>
                <a:spcPts val="0"/>
              </a:spcAft>
            </a:pPr>
            <a:r>
              <a:rPr sz="1500" b="1">
                <a:solidFill>
                  <a:srgbClr val="F0A9AE"/>
                </a:solidFill>
                <a:latin typeface="맑은 고딕"/>
                <a:ea typeface="맑은 고딕"/>
                <a:cs typeface="맑은 고딕"/>
              </a:rPr>
              <a:t>임베디드 랩  ·  4차시</a:t>
            </a:r>
          </a:p>
        </p:txBody>
      </p:sp>
      <p:sp>
        <p:nvSpPr>
          <p:cNvPr id="3" name="TextBox 2"/>
          <p:cNvSpPr txBox="1"/>
          <p:nvPr/>
        </p:nvSpPr>
        <p:spPr>
          <a:xfrm>
            <a:off x="685800" y="1847088"/>
            <a:ext cx="6766560" cy="1737360"/>
          </a:xfrm>
          <a:prstGeom prst="rect">
            <a:avLst/>
          </a:prstGeom>
          <a:noFill/>
        </p:spPr>
        <p:txBody>
          <a:bodyPr wrap="square" lIns="0" rIns="0" tIns="0" bIns="0" anchor="t">
            <a:spAutoFit/>
          </a:bodyPr>
          <a:lstStyle/>
          <a:p>
            <a:pPr algn="l">
              <a:lnSpc>
                <a:spcPct val="115000"/>
              </a:lnSpc>
              <a:spcAft>
                <a:spcPts val="0"/>
              </a:spcAft>
            </a:pPr>
            <a:r>
              <a:rPr sz="4600" b="1">
                <a:solidFill>
                  <a:srgbClr val="FFFFFF"/>
                </a:solidFill>
                <a:latin typeface="맑은 고딕"/>
                <a:ea typeface="맑은 고딕"/>
                <a:cs typeface="맑은 고딕"/>
              </a:rPr>
              <a:t>버튼으로</a:t>
            </a:r>
          </a:p>
          <a:p>
            <a:pPr algn="l">
              <a:lnSpc>
                <a:spcPct val="115000"/>
              </a:lnSpc>
              <a:spcAft>
                <a:spcPts val="0"/>
              </a:spcAft>
            </a:pPr>
            <a:r>
              <a:rPr sz="4600" b="1">
                <a:solidFill>
                  <a:srgbClr val="FFFFFF"/>
                </a:solidFill>
                <a:latin typeface="맑은 고딕"/>
                <a:ea typeface="맑은 고딕"/>
                <a:cs typeface="맑은 고딕"/>
              </a:rPr>
              <a:t>입력 받기</a:t>
            </a:r>
          </a:p>
        </p:txBody>
      </p:sp>
      <p:sp>
        <p:nvSpPr>
          <p:cNvPr id="4" name="TextBox 3"/>
          <p:cNvSpPr txBox="1"/>
          <p:nvPr/>
        </p:nvSpPr>
        <p:spPr>
          <a:xfrm>
            <a:off x="685800" y="3767328"/>
            <a:ext cx="6766560" cy="365760"/>
          </a:xfrm>
          <a:prstGeom prst="rect">
            <a:avLst/>
          </a:prstGeom>
          <a:noFill/>
        </p:spPr>
        <p:txBody>
          <a:bodyPr wrap="square" lIns="0" rIns="0" tIns="0" bIns="0" anchor="t">
            <a:spAutoFit/>
          </a:bodyPr>
          <a:lstStyle/>
          <a:p>
            <a:pPr algn="l">
              <a:spcAft>
                <a:spcPts val="0"/>
              </a:spcAft>
            </a:pPr>
            <a:r>
              <a:rPr sz="1600" b="0">
                <a:solidFill>
                  <a:srgbClr val="E8CDD0"/>
                </a:solidFill>
                <a:latin typeface="맑은 고딕"/>
                <a:ea typeface="맑은 고딕"/>
                <a:cs typeface="맑은 고딕"/>
              </a:rPr>
              <a:t>바깥에서 들어오는 신호를 보드가 읽습니다</a:t>
            </a:r>
          </a:p>
        </p:txBody>
      </p:sp>
      <p:sp>
        <p:nvSpPr>
          <p:cNvPr id="5" name="Rectangle 4"/>
          <p:cNvSpPr/>
          <p:nvPr/>
        </p:nvSpPr>
        <p:spPr>
          <a:xfrm>
            <a:off x="685800" y="4343400"/>
            <a:ext cx="2011680" cy="0"/>
          </a:xfrm>
          <a:prstGeom prst="rect">
            <a:avLst/>
          </a:prstGeom>
          <a:noFill/>
          <a:ln w="25400">
            <a:solidFill>
              <a:srgbClr val="C0505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685800" y="4572000"/>
            <a:ext cx="6766560" cy="310896"/>
          </a:xfrm>
          <a:prstGeom prst="rect">
            <a:avLst/>
          </a:prstGeom>
          <a:noFill/>
        </p:spPr>
        <p:txBody>
          <a:bodyPr wrap="square" lIns="0" rIns="0" tIns="0" bIns="0" anchor="t">
            <a:spAutoFit/>
          </a:bodyPr>
          <a:lstStyle/>
          <a:p>
            <a:pPr algn="l">
              <a:spcAft>
                <a:spcPts val="0"/>
              </a:spcAft>
            </a:pPr>
            <a:r>
              <a:rPr sz="1300" b="0">
                <a:solidFill>
                  <a:srgbClr val="D9A7AC"/>
                </a:solidFill>
                <a:latin typeface="맑은 고딕"/>
                <a:ea typeface="맑은 고딕"/>
                <a:cs typeface="맑은 고딕"/>
              </a:rPr>
              <a:t>택트 스위치  ·  디지털 입력  ·  풀다운 저항  ·  GP16</a:t>
            </a:r>
          </a:p>
        </p:txBody>
      </p:sp>
      <p:sp>
        <p:nvSpPr>
          <p:cNvPr id="7" name="Rounded Rectangle 6"/>
          <p:cNvSpPr/>
          <p:nvPr/>
        </p:nvSpPr>
        <p:spPr>
          <a:xfrm>
            <a:off x="7818120" y="2148840"/>
            <a:ext cx="3749039" cy="2148840"/>
          </a:xfrm>
          <a:prstGeom prst="roundRect">
            <a:avLst>
              <a:gd name="adj" fmla="val 5000"/>
            </a:avLst>
          </a:prstGeom>
          <a:solidFill>
            <a:srgbClr val="23272B"/>
          </a:solidFill>
          <a:ln w="12700">
            <a:solidFill>
              <a:srgbClr val="0E111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7818120" y="3127248"/>
            <a:ext cx="3749039" cy="164592"/>
          </a:xfrm>
          <a:prstGeom prst="rect">
            <a:avLst/>
          </a:prstGeom>
          <a:solidFill>
            <a:srgbClr val="15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Oval 8"/>
          <p:cNvSpPr/>
          <p:nvPr/>
        </p:nvSpPr>
        <p:spPr>
          <a:xfrm>
            <a:off x="8028431"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8284463"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8540496"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8796528"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Oval 12"/>
          <p:cNvSpPr/>
          <p:nvPr/>
        </p:nvSpPr>
        <p:spPr>
          <a:xfrm>
            <a:off x="9052559"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Oval 13"/>
          <p:cNvSpPr/>
          <p:nvPr/>
        </p:nvSpPr>
        <p:spPr>
          <a:xfrm>
            <a:off x="9308592"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Oval 14"/>
          <p:cNvSpPr/>
          <p:nvPr/>
        </p:nvSpPr>
        <p:spPr>
          <a:xfrm>
            <a:off x="9564624"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9820656"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Oval 16"/>
          <p:cNvSpPr/>
          <p:nvPr/>
        </p:nvSpPr>
        <p:spPr>
          <a:xfrm>
            <a:off x="10076688"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Oval 17"/>
          <p:cNvSpPr/>
          <p:nvPr/>
        </p:nvSpPr>
        <p:spPr>
          <a:xfrm>
            <a:off x="10332720"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Oval 18"/>
          <p:cNvSpPr/>
          <p:nvPr/>
        </p:nvSpPr>
        <p:spPr>
          <a:xfrm>
            <a:off x="10588752"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10844784"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Oval 20"/>
          <p:cNvSpPr/>
          <p:nvPr/>
        </p:nvSpPr>
        <p:spPr>
          <a:xfrm>
            <a:off x="11100816" y="245059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Oval 21"/>
          <p:cNvSpPr/>
          <p:nvPr/>
        </p:nvSpPr>
        <p:spPr>
          <a:xfrm>
            <a:off x="8028431"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Oval 22"/>
          <p:cNvSpPr/>
          <p:nvPr/>
        </p:nvSpPr>
        <p:spPr>
          <a:xfrm>
            <a:off x="8284463"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Oval 23"/>
          <p:cNvSpPr/>
          <p:nvPr/>
        </p:nvSpPr>
        <p:spPr>
          <a:xfrm>
            <a:off x="8540496"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Oval 24"/>
          <p:cNvSpPr/>
          <p:nvPr/>
        </p:nvSpPr>
        <p:spPr>
          <a:xfrm>
            <a:off x="8796528"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Oval 25"/>
          <p:cNvSpPr/>
          <p:nvPr/>
        </p:nvSpPr>
        <p:spPr>
          <a:xfrm>
            <a:off x="9052559"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Oval 26"/>
          <p:cNvSpPr/>
          <p:nvPr/>
        </p:nvSpPr>
        <p:spPr>
          <a:xfrm>
            <a:off x="9308592"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Oval 27"/>
          <p:cNvSpPr/>
          <p:nvPr/>
        </p:nvSpPr>
        <p:spPr>
          <a:xfrm>
            <a:off x="9564624"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Oval 28"/>
          <p:cNvSpPr/>
          <p:nvPr/>
        </p:nvSpPr>
        <p:spPr>
          <a:xfrm>
            <a:off x="9820656"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Oval 29"/>
          <p:cNvSpPr/>
          <p:nvPr/>
        </p:nvSpPr>
        <p:spPr>
          <a:xfrm>
            <a:off x="10076688"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Oval 30"/>
          <p:cNvSpPr/>
          <p:nvPr/>
        </p:nvSpPr>
        <p:spPr>
          <a:xfrm>
            <a:off x="10332720"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Oval 31"/>
          <p:cNvSpPr/>
          <p:nvPr/>
        </p:nvSpPr>
        <p:spPr>
          <a:xfrm>
            <a:off x="10588752"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Oval 32"/>
          <p:cNvSpPr/>
          <p:nvPr/>
        </p:nvSpPr>
        <p:spPr>
          <a:xfrm>
            <a:off x="10844784"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Oval 33"/>
          <p:cNvSpPr/>
          <p:nvPr/>
        </p:nvSpPr>
        <p:spPr>
          <a:xfrm>
            <a:off x="11100816" y="2706624"/>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Oval 34"/>
          <p:cNvSpPr/>
          <p:nvPr/>
        </p:nvSpPr>
        <p:spPr>
          <a:xfrm>
            <a:off x="8028431"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Oval 35"/>
          <p:cNvSpPr/>
          <p:nvPr/>
        </p:nvSpPr>
        <p:spPr>
          <a:xfrm>
            <a:off x="8284463"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Oval 36"/>
          <p:cNvSpPr/>
          <p:nvPr/>
        </p:nvSpPr>
        <p:spPr>
          <a:xfrm>
            <a:off x="8540496"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Oval 37"/>
          <p:cNvSpPr/>
          <p:nvPr/>
        </p:nvSpPr>
        <p:spPr>
          <a:xfrm>
            <a:off x="8796528"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Oval 38"/>
          <p:cNvSpPr/>
          <p:nvPr/>
        </p:nvSpPr>
        <p:spPr>
          <a:xfrm>
            <a:off x="9052559"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Oval 39"/>
          <p:cNvSpPr/>
          <p:nvPr/>
        </p:nvSpPr>
        <p:spPr>
          <a:xfrm>
            <a:off x="9308592"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Oval 40"/>
          <p:cNvSpPr/>
          <p:nvPr/>
        </p:nvSpPr>
        <p:spPr>
          <a:xfrm>
            <a:off x="9564624"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Oval 41"/>
          <p:cNvSpPr/>
          <p:nvPr/>
        </p:nvSpPr>
        <p:spPr>
          <a:xfrm>
            <a:off x="9820656"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Oval 42"/>
          <p:cNvSpPr/>
          <p:nvPr/>
        </p:nvSpPr>
        <p:spPr>
          <a:xfrm>
            <a:off x="10076688"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Oval 43"/>
          <p:cNvSpPr/>
          <p:nvPr/>
        </p:nvSpPr>
        <p:spPr>
          <a:xfrm>
            <a:off x="10332720"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Oval 44"/>
          <p:cNvSpPr/>
          <p:nvPr/>
        </p:nvSpPr>
        <p:spPr>
          <a:xfrm>
            <a:off x="10588752"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Oval 45"/>
          <p:cNvSpPr/>
          <p:nvPr/>
        </p:nvSpPr>
        <p:spPr>
          <a:xfrm>
            <a:off x="10844784"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Oval 46"/>
          <p:cNvSpPr/>
          <p:nvPr/>
        </p:nvSpPr>
        <p:spPr>
          <a:xfrm>
            <a:off x="11100816" y="2962656"/>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8" name="Oval 47"/>
          <p:cNvSpPr/>
          <p:nvPr/>
        </p:nvSpPr>
        <p:spPr>
          <a:xfrm>
            <a:off x="8028431"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9" name="Oval 48"/>
          <p:cNvSpPr/>
          <p:nvPr/>
        </p:nvSpPr>
        <p:spPr>
          <a:xfrm>
            <a:off x="8284463"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Oval 49"/>
          <p:cNvSpPr/>
          <p:nvPr/>
        </p:nvSpPr>
        <p:spPr>
          <a:xfrm>
            <a:off x="8540496"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Oval 50"/>
          <p:cNvSpPr/>
          <p:nvPr/>
        </p:nvSpPr>
        <p:spPr>
          <a:xfrm>
            <a:off x="8796528"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Oval 51"/>
          <p:cNvSpPr/>
          <p:nvPr/>
        </p:nvSpPr>
        <p:spPr>
          <a:xfrm>
            <a:off x="9052559"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3" name="Oval 52"/>
          <p:cNvSpPr/>
          <p:nvPr/>
        </p:nvSpPr>
        <p:spPr>
          <a:xfrm>
            <a:off x="9308592"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Oval 53"/>
          <p:cNvSpPr/>
          <p:nvPr/>
        </p:nvSpPr>
        <p:spPr>
          <a:xfrm>
            <a:off x="9564624"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Oval 54"/>
          <p:cNvSpPr/>
          <p:nvPr/>
        </p:nvSpPr>
        <p:spPr>
          <a:xfrm>
            <a:off x="9820656"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Oval 55"/>
          <p:cNvSpPr/>
          <p:nvPr/>
        </p:nvSpPr>
        <p:spPr>
          <a:xfrm>
            <a:off x="10076688"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Oval 56"/>
          <p:cNvSpPr/>
          <p:nvPr/>
        </p:nvSpPr>
        <p:spPr>
          <a:xfrm>
            <a:off x="10332720"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Oval 57"/>
          <p:cNvSpPr/>
          <p:nvPr/>
        </p:nvSpPr>
        <p:spPr>
          <a:xfrm>
            <a:off x="10588752"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9" name="Oval 58"/>
          <p:cNvSpPr/>
          <p:nvPr/>
        </p:nvSpPr>
        <p:spPr>
          <a:xfrm>
            <a:off x="10844784"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Oval 59"/>
          <p:cNvSpPr/>
          <p:nvPr/>
        </p:nvSpPr>
        <p:spPr>
          <a:xfrm>
            <a:off x="11100816" y="3401568"/>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1" name="Oval 60"/>
          <p:cNvSpPr/>
          <p:nvPr/>
        </p:nvSpPr>
        <p:spPr>
          <a:xfrm>
            <a:off x="8028431"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2" name="Oval 61"/>
          <p:cNvSpPr/>
          <p:nvPr/>
        </p:nvSpPr>
        <p:spPr>
          <a:xfrm>
            <a:off x="8284463"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3" name="Oval 62"/>
          <p:cNvSpPr/>
          <p:nvPr/>
        </p:nvSpPr>
        <p:spPr>
          <a:xfrm>
            <a:off x="8540496"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4" name="Oval 63"/>
          <p:cNvSpPr/>
          <p:nvPr/>
        </p:nvSpPr>
        <p:spPr>
          <a:xfrm>
            <a:off x="8796528"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Oval 64"/>
          <p:cNvSpPr/>
          <p:nvPr/>
        </p:nvSpPr>
        <p:spPr>
          <a:xfrm>
            <a:off x="9052559"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6" name="Oval 65"/>
          <p:cNvSpPr/>
          <p:nvPr/>
        </p:nvSpPr>
        <p:spPr>
          <a:xfrm>
            <a:off x="9308592"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Oval 66"/>
          <p:cNvSpPr/>
          <p:nvPr/>
        </p:nvSpPr>
        <p:spPr>
          <a:xfrm>
            <a:off x="9564624"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8" name="Oval 67"/>
          <p:cNvSpPr/>
          <p:nvPr/>
        </p:nvSpPr>
        <p:spPr>
          <a:xfrm>
            <a:off x="9820656"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Oval 68"/>
          <p:cNvSpPr/>
          <p:nvPr/>
        </p:nvSpPr>
        <p:spPr>
          <a:xfrm>
            <a:off x="10076688"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0" name="Oval 69"/>
          <p:cNvSpPr/>
          <p:nvPr/>
        </p:nvSpPr>
        <p:spPr>
          <a:xfrm>
            <a:off x="10332720"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1" name="Oval 70"/>
          <p:cNvSpPr/>
          <p:nvPr/>
        </p:nvSpPr>
        <p:spPr>
          <a:xfrm>
            <a:off x="10588752"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2" name="Oval 71"/>
          <p:cNvSpPr/>
          <p:nvPr/>
        </p:nvSpPr>
        <p:spPr>
          <a:xfrm>
            <a:off x="10844784"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3" name="Oval 72"/>
          <p:cNvSpPr/>
          <p:nvPr/>
        </p:nvSpPr>
        <p:spPr>
          <a:xfrm>
            <a:off x="11100816" y="3657600"/>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4" name="Oval 73"/>
          <p:cNvSpPr/>
          <p:nvPr/>
        </p:nvSpPr>
        <p:spPr>
          <a:xfrm>
            <a:off x="8028431"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5" name="Oval 74"/>
          <p:cNvSpPr/>
          <p:nvPr/>
        </p:nvSpPr>
        <p:spPr>
          <a:xfrm>
            <a:off x="8284463"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6" name="Oval 75"/>
          <p:cNvSpPr/>
          <p:nvPr/>
        </p:nvSpPr>
        <p:spPr>
          <a:xfrm>
            <a:off x="8540496"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7" name="Oval 76"/>
          <p:cNvSpPr/>
          <p:nvPr/>
        </p:nvSpPr>
        <p:spPr>
          <a:xfrm>
            <a:off x="8796528"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8" name="Oval 77"/>
          <p:cNvSpPr/>
          <p:nvPr/>
        </p:nvSpPr>
        <p:spPr>
          <a:xfrm>
            <a:off x="9052559"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9" name="Oval 78"/>
          <p:cNvSpPr/>
          <p:nvPr/>
        </p:nvSpPr>
        <p:spPr>
          <a:xfrm>
            <a:off x="9308592"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0" name="Oval 79"/>
          <p:cNvSpPr/>
          <p:nvPr/>
        </p:nvSpPr>
        <p:spPr>
          <a:xfrm>
            <a:off x="9564624"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1" name="Oval 80"/>
          <p:cNvSpPr/>
          <p:nvPr/>
        </p:nvSpPr>
        <p:spPr>
          <a:xfrm>
            <a:off x="9820656"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2" name="Oval 81"/>
          <p:cNvSpPr/>
          <p:nvPr/>
        </p:nvSpPr>
        <p:spPr>
          <a:xfrm>
            <a:off x="10076688"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3" name="Oval 82"/>
          <p:cNvSpPr/>
          <p:nvPr/>
        </p:nvSpPr>
        <p:spPr>
          <a:xfrm>
            <a:off x="10332720"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4" name="Oval 83"/>
          <p:cNvSpPr/>
          <p:nvPr/>
        </p:nvSpPr>
        <p:spPr>
          <a:xfrm>
            <a:off x="10588752"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5" name="Oval 84"/>
          <p:cNvSpPr/>
          <p:nvPr/>
        </p:nvSpPr>
        <p:spPr>
          <a:xfrm>
            <a:off x="10844784"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6" name="Oval 85"/>
          <p:cNvSpPr/>
          <p:nvPr/>
        </p:nvSpPr>
        <p:spPr>
          <a:xfrm>
            <a:off x="11100816" y="3913632"/>
            <a:ext cx="73152" cy="73152"/>
          </a:xfrm>
          <a:prstGeom prst="ellipse">
            <a:avLst/>
          </a:prstGeom>
          <a:solidFill>
            <a:srgbClr val="444A52"/>
          </a:solidFill>
          <a:ln w="5080">
            <a:solidFill>
              <a:srgbClr val="444A52"/>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7" name="Rectangle 86"/>
          <p:cNvSpPr/>
          <p:nvPr/>
        </p:nvSpPr>
        <p:spPr>
          <a:xfrm>
            <a:off x="7589520" y="2935224"/>
            <a:ext cx="502920" cy="64008"/>
          </a:xfrm>
          <a:prstGeom prst="rect">
            <a:avLst/>
          </a:prstGeom>
          <a:solidFill>
            <a:srgbClr val="C0505C"/>
          </a:solidFill>
          <a:ln w="6350">
            <a:solidFill>
              <a:srgbClr val="C0505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8" name="Rectangle 87"/>
          <p:cNvSpPr/>
          <p:nvPr/>
        </p:nvSpPr>
        <p:spPr>
          <a:xfrm>
            <a:off x="7589520" y="3648456"/>
            <a:ext cx="502920" cy="64008"/>
          </a:xfrm>
          <a:prstGeom prst="rect">
            <a:avLst/>
          </a:prstGeom>
          <a:solidFill>
            <a:srgbClr val="6B7280"/>
          </a:solidFill>
          <a:ln w="63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9" name="Rectangle 88"/>
          <p:cNvSpPr/>
          <p:nvPr/>
        </p:nvSpPr>
        <p:spPr>
          <a:xfrm>
            <a:off x="8101583" y="2688336"/>
            <a:ext cx="219456"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0" name="Rounded Rectangle 89"/>
          <p:cNvSpPr/>
          <p:nvPr/>
        </p:nvSpPr>
        <p:spPr>
          <a:xfrm>
            <a:off x="8321040" y="2633472"/>
            <a:ext cx="566928" cy="146304"/>
          </a:xfrm>
          <a:prstGeom prst="roundRect">
            <a:avLst>
              <a:gd name="adj" fmla="val 35000"/>
            </a:avLst>
          </a:prstGeom>
          <a:solidFill>
            <a:srgbClr val="D8BE95"/>
          </a:solidFill>
          <a:ln w="7620">
            <a:solidFill>
              <a:srgbClr val="8A72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1" name="Rectangle 90"/>
          <p:cNvSpPr/>
          <p:nvPr/>
        </p:nvSpPr>
        <p:spPr>
          <a:xfrm>
            <a:off x="8403336" y="2651760"/>
            <a:ext cx="45720" cy="109728"/>
          </a:xfrm>
          <a:prstGeom prst="rect">
            <a:avLst/>
          </a:prstGeom>
          <a:solidFill>
            <a:srgbClr val="C0392B"/>
          </a:solidFill>
          <a:ln w="508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2" name="Rectangle 91"/>
          <p:cNvSpPr/>
          <p:nvPr/>
        </p:nvSpPr>
        <p:spPr>
          <a:xfrm>
            <a:off x="8485632" y="2651760"/>
            <a:ext cx="45720" cy="109728"/>
          </a:xfrm>
          <a:prstGeom prst="rect">
            <a:avLst/>
          </a:prstGeom>
          <a:solidFill>
            <a:srgbClr val="C0392B"/>
          </a:solidFill>
          <a:ln w="508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3" name="Rectangle 92"/>
          <p:cNvSpPr/>
          <p:nvPr/>
        </p:nvSpPr>
        <p:spPr>
          <a:xfrm>
            <a:off x="8567928" y="2651760"/>
            <a:ext cx="45720" cy="109728"/>
          </a:xfrm>
          <a:prstGeom prst="rect">
            <a:avLst/>
          </a:prstGeom>
          <a:solidFill>
            <a:srgbClr val="8A5A2B"/>
          </a:solidFill>
          <a:ln w="5080">
            <a:solidFill>
              <a:srgbClr val="8A5A2B"/>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4" name="Rectangle 93"/>
          <p:cNvSpPr/>
          <p:nvPr/>
        </p:nvSpPr>
        <p:spPr>
          <a:xfrm>
            <a:off x="8778240" y="2651760"/>
            <a:ext cx="45720" cy="109728"/>
          </a:xfrm>
          <a:prstGeom prst="rect">
            <a:avLst/>
          </a:prstGeom>
          <a:solidFill>
            <a:srgbClr val="C8A24A"/>
          </a:solidFill>
          <a:ln w="5080">
            <a:solidFill>
              <a:srgbClr val="C8A2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5" name="Rectangle 94"/>
          <p:cNvSpPr/>
          <p:nvPr/>
        </p:nvSpPr>
        <p:spPr>
          <a:xfrm>
            <a:off x="8887968" y="2688336"/>
            <a:ext cx="219456"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6" name="Oval 95"/>
          <p:cNvSpPr/>
          <p:nvPr/>
        </p:nvSpPr>
        <p:spPr>
          <a:xfrm>
            <a:off x="9098280" y="2487168"/>
            <a:ext cx="420624" cy="420624"/>
          </a:xfrm>
          <a:prstGeom prst="ellipse">
            <a:avLst/>
          </a:prstGeom>
          <a:noFill/>
          <a:ln w="9525">
            <a:solidFill>
              <a:srgbClr val="FF5A64"/>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7" name="Oval 96"/>
          <p:cNvSpPr/>
          <p:nvPr/>
        </p:nvSpPr>
        <p:spPr>
          <a:xfrm>
            <a:off x="9180576" y="2569464"/>
            <a:ext cx="256032" cy="256032"/>
          </a:xfrm>
          <a:prstGeom prst="ellipse">
            <a:avLst/>
          </a:prstGeom>
          <a:solidFill>
            <a:srgbClr val="FF5A64"/>
          </a:solidFill>
          <a:ln w="9525">
            <a:solidFill>
              <a:srgbClr val="FF8A9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8" name="Rectangle 97"/>
          <p:cNvSpPr/>
          <p:nvPr/>
        </p:nvSpPr>
        <p:spPr>
          <a:xfrm>
            <a:off x="9244584" y="2816352"/>
            <a:ext cx="45720" cy="237744"/>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9" name="Rectangle 98"/>
          <p:cNvSpPr/>
          <p:nvPr/>
        </p:nvSpPr>
        <p:spPr>
          <a:xfrm>
            <a:off x="9345168" y="2816352"/>
            <a:ext cx="45720" cy="164592"/>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0" name="Oval 99"/>
          <p:cNvSpPr/>
          <p:nvPr/>
        </p:nvSpPr>
        <p:spPr>
          <a:xfrm>
            <a:off x="10222992" y="2798064"/>
            <a:ext cx="822960" cy="822960"/>
          </a:xfrm>
          <a:prstGeom prst="ellipse">
            <a:avLst/>
          </a:prstGeom>
          <a:noFill/>
          <a:ln w="9525">
            <a:solidFill>
              <a:srgbClr val="F0A9A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1" name="Rounded Rectangle 100"/>
          <p:cNvSpPr/>
          <p:nvPr/>
        </p:nvSpPr>
        <p:spPr>
          <a:xfrm>
            <a:off x="10332720" y="2907792"/>
            <a:ext cx="603504" cy="603504"/>
          </a:xfrm>
          <a:prstGeom prst="roundRect">
            <a:avLst>
              <a:gd name="adj" fmla="val 14000"/>
            </a:avLst>
          </a:prstGeom>
          <a:solidFill>
            <a:srgbClr val="3A4046"/>
          </a:solidFill>
          <a:ln w="9525">
            <a:solidFill>
              <a:srgbClr val="0E111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2" name="Oval 101"/>
          <p:cNvSpPr/>
          <p:nvPr/>
        </p:nvSpPr>
        <p:spPr>
          <a:xfrm>
            <a:off x="10506456" y="3081528"/>
            <a:ext cx="256032" cy="256032"/>
          </a:xfrm>
          <a:prstGeom prst="ellipse">
            <a:avLst/>
          </a:prstGeom>
          <a:solidFill>
            <a:srgbClr val="8A9097"/>
          </a:solidFill>
          <a:ln w="6350">
            <a:solidFill>
              <a:srgbClr val="B9BEC4"/>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3" name="Rectangle 102"/>
          <p:cNvSpPr/>
          <p:nvPr/>
        </p:nvSpPr>
        <p:spPr>
          <a:xfrm>
            <a:off x="10195560" y="3017520"/>
            <a:ext cx="137160"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4" name="Rectangle 103"/>
          <p:cNvSpPr/>
          <p:nvPr/>
        </p:nvSpPr>
        <p:spPr>
          <a:xfrm>
            <a:off x="10195560" y="3355848"/>
            <a:ext cx="137160"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5" name="Rectangle 104"/>
          <p:cNvSpPr/>
          <p:nvPr/>
        </p:nvSpPr>
        <p:spPr>
          <a:xfrm>
            <a:off x="10936224" y="3017520"/>
            <a:ext cx="137160"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6" name="Rectangle 105"/>
          <p:cNvSpPr/>
          <p:nvPr/>
        </p:nvSpPr>
        <p:spPr>
          <a:xfrm>
            <a:off x="10936224" y="3355848"/>
            <a:ext cx="137160" cy="45720"/>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LEARNING OBJECTIVES</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오늘 배울 것</a:t>
            </a:r>
          </a:p>
        </p:txBody>
      </p:sp>
      <p:sp>
        <p:nvSpPr>
          <p:cNvPr id="4" name="Rounded Rectangle 3"/>
          <p:cNvSpPr/>
          <p:nvPr/>
        </p:nvSpPr>
        <p:spPr>
          <a:xfrm>
            <a:off x="685800" y="1481328"/>
            <a:ext cx="10817352" cy="841248"/>
          </a:xfrm>
          <a:prstGeom prst="roundRect">
            <a:avLst>
              <a:gd name="adj" fmla="val 6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Oval 4"/>
          <p:cNvSpPr/>
          <p:nvPr/>
        </p:nvSpPr>
        <p:spPr>
          <a:xfrm>
            <a:off x="960120" y="1700784"/>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1700784"/>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01</a:t>
            </a:r>
          </a:p>
        </p:txBody>
      </p:sp>
      <p:sp>
        <p:nvSpPr>
          <p:cNvPr id="7" name="TextBox 6"/>
          <p:cNvSpPr txBox="1"/>
          <p:nvPr/>
        </p:nvSpPr>
        <p:spPr>
          <a:xfrm>
            <a:off x="1554480" y="1627632"/>
            <a:ext cx="42062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출력에서 입력으로</a:t>
            </a:r>
          </a:p>
        </p:txBody>
      </p:sp>
      <p:sp>
        <p:nvSpPr>
          <p:cNvPr id="8" name="TextBox 7"/>
          <p:cNvSpPr txBox="1"/>
          <p:nvPr/>
        </p:nvSpPr>
        <p:spPr>
          <a:xfrm>
            <a:off x="1554480" y="1956816"/>
            <a:ext cx="77724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Pin.OUT과 Pin.IN이 무엇이 다른지 이해한다</a:t>
            </a:r>
          </a:p>
        </p:txBody>
      </p:sp>
      <p:sp>
        <p:nvSpPr>
          <p:cNvPr id="9" name="Rounded Rectangle 8"/>
          <p:cNvSpPr/>
          <p:nvPr/>
        </p:nvSpPr>
        <p:spPr>
          <a:xfrm>
            <a:off x="685800" y="2432304"/>
            <a:ext cx="10817352" cy="841248"/>
          </a:xfrm>
          <a:prstGeom prst="roundRect">
            <a:avLst>
              <a:gd name="adj" fmla="val 6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960120" y="2651760"/>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960120" y="2651760"/>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02</a:t>
            </a:r>
          </a:p>
        </p:txBody>
      </p:sp>
      <p:sp>
        <p:nvSpPr>
          <p:cNvPr id="12" name="TextBox 11"/>
          <p:cNvSpPr txBox="1"/>
          <p:nvPr/>
        </p:nvSpPr>
        <p:spPr>
          <a:xfrm>
            <a:off x="1554480" y="2578608"/>
            <a:ext cx="42062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택트 스위치 읽기</a:t>
            </a:r>
          </a:p>
        </p:txBody>
      </p:sp>
      <p:sp>
        <p:nvSpPr>
          <p:cNvPr id="13" name="TextBox 12"/>
          <p:cNvSpPr txBox="1"/>
          <p:nvPr/>
        </p:nvSpPr>
        <p:spPr>
          <a:xfrm>
            <a:off x="1554480" y="2907792"/>
            <a:ext cx="77724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다리 네 개 중 어느 것이 이미 연결되어 있는지 안다</a:t>
            </a:r>
          </a:p>
        </p:txBody>
      </p:sp>
      <p:sp>
        <p:nvSpPr>
          <p:cNvPr id="14" name="Rounded Rectangle 13"/>
          <p:cNvSpPr/>
          <p:nvPr/>
        </p:nvSpPr>
        <p:spPr>
          <a:xfrm>
            <a:off x="685800" y="3383280"/>
            <a:ext cx="10817352" cy="841248"/>
          </a:xfrm>
          <a:prstGeom prst="roundRect">
            <a:avLst>
              <a:gd name="adj" fmla="val 6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Oval 14"/>
          <p:cNvSpPr/>
          <p:nvPr/>
        </p:nvSpPr>
        <p:spPr>
          <a:xfrm>
            <a:off x="960120" y="3602736"/>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60120" y="3602736"/>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03</a:t>
            </a:r>
          </a:p>
        </p:txBody>
      </p:sp>
      <p:sp>
        <p:nvSpPr>
          <p:cNvPr id="17" name="TextBox 16"/>
          <p:cNvSpPr txBox="1"/>
          <p:nvPr/>
        </p:nvSpPr>
        <p:spPr>
          <a:xfrm>
            <a:off x="1554480" y="3529584"/>
            <a:ext cx="42062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플로팅 문제</a:t>
            </a:r>
          </a:p>
        </p:txBody>
      </p:sp>
      <p:sp>
        <p:nvSpPr>
          <p:cNvPr id="18" name="TextBox 17"/>
          <p:cNvSpPr txBox="1"/>
          <p:nvPr/>
        </p:nvSpPr>
        <p:spPr>
          <a:xfrm>
            <a:off x="1554480" y="3858768"/>
            <a:ext cx="77724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아무것도 연결하지 않은 핀의 값이 왜 흔들리는지 안다</a:t>
            </a:r>
          </a:p>
        </p:txBody>
      </p:sp>
      <p:sp>
        <p:nvSpPr>
          <p:cNvPr id="19" name="Rounded Rectangle 18"/>
          <p:cNvSpPr/>
          <p:nvPr/>
        </p:nvSpPr>
        <p:spPr>
          <a:xfrm>
            <a:off x="685800" y="4334256"/>
            <a:ext cx="10817352" cy="841248"/>
          </a:xfrm>
          <a:prstGeom prst="roundRect">
            <a:avLst>
              <a:gd name="adj" fmla="val 6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960120" y="4553712"/>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960120" y="4553712"/>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04</a:t>
            </a:r>
          </a:p>
        </p:txBody>
      </p:sp>
      <p:sp>
        <p:nvSpPr>
          <p:cNvPr id="22" name="TextBox 21"/>
          <p:cNvSpPr txBox="1"/>
          <p:nvPr/>
        </p:nvSpPr>
        <p:spPr>
          <a:xfrm>
            <a:off x="1554480" y="4480560"/>
            <a:ext cx="42062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풀다운 저항</a:t>
            </a:r>
          </a:p>
        </p:txBody>
      </p:sp>
      <p:sp>
        <p:nvSpPr>
          <p:cNvPr id="23" name="TextBox 22"/>
          <p:cNvSpPr txBox="1"/>
          <p:nvPr/>
        </p:nvSpPr>
        <p:spPr>
          <a:xfrm>
            <a:off x="1554480" y="4809744"/>
            <a:ext cx="77724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10kΩ으로, 또는 코드 한 줄로 값을 안정시킨다</a:t>
            </a:r>
          </a:p>
        </p:txBody>
      </p:sp>
      <p:sp>
        <p:nvSpPr>
          <p:cNvPr id="24" name="Rounded Rectangle 23"/>
          <p:cNvSpPr/>
          <p:nvPr/>
        </p:nvSpPr>
        <p:spPr>
          <a:xfrm>
            <a:off x="685800" y="5285232"/>
            <a:ext cx="10817352" cy="841248"/>
          </a:xfrm>
          <a:prstGeom prst="roundRect">
            <a:avLst>
              <a:gd name="adj" fmla="val 6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Oval 24"/>
          <p:cNvSpPr/>
          <p:nvPr/>
        </p:nvSpPr>
        <p:spPr>
          <a:xfrm>
            <a:off x="960120" y="5504688"/>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960120" y="5504688"/>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05</a:t>
            </a:r>
          </a:p>
        </p:txBody>
      </p:sp>
      <p:sp>
        <p:nvSpPr>
          <p:cNvPr id="27" name="TextBox 26"/>
          <p:cNvSpPr txBox="1"/>
          <p:nvPr/>
        </p:nvSpPr>
        <p:spPr>
          <a:xfrm>
            <a:off x="1554480" y="5431536"/>
            <a:ext cx="42062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버튼으로 LED 켜기</a:t>
            </a:r>
          </a:p>
        </p:txBody>
      </p:sp>
      <p:sp>
        <p:nvSpPr>
          <p:cNvPr id="28" name="TextBox 27"/>
          <p:cNvSpPr txBox="1"/>
          <p:nvPr/>
        </p:nvSpPr>
        <p:spPr>
          <a:xfrm>
            <a:off x="1554480" y="5760720"/>
            <a:ext cx="77724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입력을 읽어 출력을 바꾸는 첫 프로그램을 만든다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RECAP</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지난 시간 요약</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3차시에는 회로를 만들어 LED를 켰습니다. 오늘은 그 회로에 버튼을 더합니다.</a:t>
            </a:r>
          </a:p>
        </p:txBody>
      </p:sp>
      <p:sp>
        <p:nvSpPr>
          <p:cNvPr id="5" name="Rounded Rectangle 4"/>
          <p:cNvSpPr/>
          <p:nvPr/>
        </p:nvSpPr>
        <p:spPr>
          <a:xfrm>
            <a:off x="685800" y="1920240"/>
            <a:ext cx="2496312" cy="2423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41832" y="2267712"/>
            <a:ext cx="2103120" cy="457200"/>
          </a:xfrm>
          <a:prstGeom prst="rect">
            <a:avLst/>
          </a:prstGeom>
          <a:noFill/>
        </p:spPr>
        <p:txBody>
          <a:bodyPr wrap="none" lIns="0" rIns="0" tIns="0" bIns="0" anchor="t">
            <a:spAutoFit/>
          </a:bodyPr>
          <a:lstStyle/>
          <a:p>
            <a:pPr algn="l">
              <a:spcAft>
                <a:spcPts val="0"/>
              </a:spcAft>
            </a:pPr>
            <a:r>
              <a:rPr sz="2200" b="1">
                <a:solidFill>
                  <a:srgbClr val="990011"/>
                </a:solidFill>
                <a:latin typeface="맑은 고딕"/>
                <a:ea typeface="맑은 고딕"/>
                <a:cs typeface="맑은 고딕"/>
              </a:rPr>
              <a:t>세로 5칸</a:t>
            </a:r>
          </a:p>
        </p:txBody>
      </p:sp>
      <p:sp>
        <p:nvSpPr>
          <p:cNvPr id="7" name="TextBox 6"/>
          <p:cNvSpPr txBox="1"/>
          <p:nvPr/>
        </p:nvSpPr>
        <p:spPr>
          <a:xfrm>
            <a:off x="941832" y="2816352"/>
            <a:ext cx="210312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브레드보드 규칙</a:t>
            </a:r>
          </a:p>
        </p:txBody>
      </p:sp>
      <p:sp>
        <p:nvSpPr>
          <p:cNvPr id="8" name="TextBox 7"/>
          <p:cNvSpPr txBox="1"/>
          <p:nvPr/>
        </p:nvSpPr>
        <p:spPr>
          <a:xfrm>
            <a:off x="941832" y="3182112"/>
            <a:ext cx="2011680" cy="914400"/>
          </a:xfrm>
          <a:prstGeom prst="rect">
            <a:avLst/>
          </a:prstGeom>
          <a:noFill/>
        </p:spPr>
        <p:txBody>
          <a:bodyPr wrap="square" lIns="0" rIns="0" tIns="0" bIns="0" anchor="t">
            <a:spAutoFit/>
          </a:bodyPr>
          <a:lstStyle/>
          <a:p>
            <a:pPr algn="l">
              <a:lnSpc>
                <a:spcPct val="135000"/>
              </a:lnSpc>
              <a:spcAft>
                <a:spcPts val="0"/>
              </a:spcAft>
            </a:pPr>
            <a:r>
              <a:rPr sz="1200" b="0">
                <a:solidFill>
                  <a:srgbClr val="6B7280"/>
                </a:solidFill>
                <a:latin typeface="맑은 고딕"/>
                <a:ea typeface="맑은 고딕"/>
                <a:cs typeface="맑은 고딕"/>
              </a:rPr>
              <a:t>같은 세로줄은 서로 연결되어 있습니다.</a:t>
            </a:r>
          </a:p>
        </p:txBody>
      </p:sp>
      <p:sp>
        <p:nvSpPr>
          <p:cNvPr id="9" name="Rounded Rectangle 8"/>
          <p:cNvSpPr/>
          <p:nvPr/>
        </p:nvSpPr>
        <p:spPr>
          <a:xfrm>
            <a:off x="3459175" y="1920240"/>
            <a:ext cx="2496312" cy="2423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3715207" y="2267712"/>
            <a:ext cx="2103120" cy="457200"/>
          </a:xfrm>
          <a:prstGeom prst="rect">
            <a:avLst/>
          </a:prstGeom>
          <a:noFill/>
        </p:spPr>
        <p:txBody>
          <a:bodyPr wrap="none" lIns="0" rIns="0" tIns="0" bIns="0" anchor="t">
            <a:spAutoFit/>
          </a:bodyPr>
          <a:lstStyle/>
          <a:p>
            <a:pPr algn="l">
              <a:spcAft>
                <a:spcPts val="0"/>
              </a:spcAft>
            </a:pPr>
            <a:r>
              <a:rPr sz="2200" b="1">
                <a:solidFill>
                  <a:srgbClr val="990011"/>
                </a:solidFill>
                <a:latin typeface="맑은 고딕"/>
                <a:ea typeface="맑은 고딕"/>
                <a:cs typeface="맑은 고딕"/>
              </a:rPr>
              <a:t>긴 다리</a:t>
            </a:r>
          </a:p>
        </p:txBody>
      </p:sp>
      <p:sp>
        <p:nvSpPr>
          <p:cNvPr id="11" name="TextBox 10"/>
          <p:cNvSpPr txBox="1"/>
          <p:nvPr/>
        </p:nvSpPr>
        <p:spPr>
          <a:xfrm>
            <a:off x="3715207" y="2816352"/>
            <a:ext cx="210312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LED 극성</a:t>
            </a:r>
          </a:p>
        </p:txBody>
      </p:sp>
      <p:sp>
        <p:nvSpPr>
          <p:cNvPr id="12" name="TextBox 11"/>
          <p:cNvSpPr txBox="1"/>
          <p:nvPr/>
        </p:nvSpPr>
        <p:spPr>
          <a:xfrm>
            <a:off x="3715207" y="3182112"/>
            <a:ext cx="2011680" cy="914400"/>
          </a:xfrm>
          <a:prstGeom prst="rect">
            <a:avLst/>
          </a:prstGeom>
          <a:noFill/>
        </p:spPr>
        <p:txBody>
          <a:bodyPr wrap="square" lIns="0" rIns="0" tIns="0" bIns="0" anchor="t">
            <a:spAutoFit/>
          </a:bodyPr>
          <a:lstStyle/>
          <a:p>
            <a:pPr algn="l">
              <a:lnSpc>
                <a:spcPct val="135000"/>
              </a:lnSpc>
              <a:spcAft>
                <a:spcPts val="0"/>
              </a:spcAft>
            </a:pPr>
            <a:r>
              <a:rPr sz="1200" b="0">
                <a:solidFill>
                  <a:srgbClr val="6B7280"/>
                </a:solidFill>
                <a:latin typeface="맑은 고딕"/>
                <a:ea typeface="맑은 고딕"/>
                <a:cs typeface="맑은 고딕"/>
              </a:rPr>
              <a:t>긴 쪽이 +, 짧은 쪽이 − 입니다.</a:t>
            </a:r>
          </a:p>
        </p:txBody>
      </p:sp>
      <p:sp>
        <p:nvSpPr>
          <p:cNvPr id="13" name="Rounded Rectangle 12"/>
          <p:cNvSpPr/>
          <p:nvPr/>
        </p:nvSpPr>
        <p:spPr>
          <a:xfrm>
            <a:off x="6232550" y="1920240"/>
            <a:ext cx="2496312" cy="2423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488582" y="2267712"/>
            <a:ext cx="2103120" cy="457200"/>
          </a:xfrm>
          <a:prstGeom prst="rect">
            <a:avLst/>
          </a:prstGeom>
          <a:noFill/>
        </p:spPr>
        <p:txBody>
          <a:bodyPr wrap="none" lIns="0" rIns="0" tIns="0" bIns="0" anchor="t">
            <a:spAutoFit/>
          </a:bodyPr>
          <a:lstStyle/>
          <a:p>
            <a:pPr algn="l">
              <a:spcAft>
                <a:spcPts val="0"/>
              </a:spcAft>
            </a:pPr>
            <a:r>
              <a:rPr sz="2200" b="1">
                <a:solidFill>
                  <a:srgbClr val="990011"/>
                </a:solidFill>
                <a:latin typeface="맑은 고딕"/>
                <a:ea typeface="맑은 고딕"/>
                <a:cs typeface="맑은 고딕"/>
              </a:rPr>
              <a:t>220Ω</a:t>
            </a:r>
          </a:p>
        </p:txBody>
      </p:sp>
      <p:sp>
        <p:nvSpPr>
          <p:cNvPr id="15" name="TextBox 14"/>
          <p:cNvSpPr txBox="1"/>
          <p:nvPr/>
        </p:nvSpPr>
        <p:spPr>
          <a:xfrm>
            <a:off x="6488582" y="2816352"/>
            <a:ext cx="210312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LED용 저항</a:t>
            </a:r>
          </a:p>
        </p:txBody>
      </p:sp>
      <p:sp>
        <p:nvSpPr>
          <p:cNvPr id="16" name="TextBox 15"/>
          <p:cNvSpPr txBox="1"/>
          <p:nvPr/>
        </p:nvSpPr>
        <p:spPr>
          <a:xfrm>
            <a:off x="6488582" y="3182112"/>
            <a:ext cx="2011680" cy="914400"/>
          </a:xfrm>
          <a:prstGeom prst="rect">
            <a:avLst/>
          </a:prstGeom>
          <a:noFill/>
        </p:spPr>
        <p:txBody>
          <a:bodyPr wrap="square" lIns="0" rIns="0" tIns="0" bIns="0" anchor="t">
            <a:spAutoFit/>
          </a:bodyPr>
          <a:lstStyle/>
          <a:p>
            <a:pPr algn="l">
              <a:lnSpc>
                <a:spcPct val="135000"/>
              </a:lnSpc>
              <a:spcAft>
                <a:spcPts val="0"/>
              </a:spcAft>
            </a:pPr>
            <a:r>
              <a:rPr sz="1200" b="0">
                <a:solidFill>
                  <a:srgbClr val="6B7280"/>
                </a:solidFill>
                <a:latin typeface="맑은 고딕"/>
                <a:ea typeface="맑은 고딕"/>
                <a:cs typeface="맑은 고딕"/>
              </a:rPr>
              <a:t>LED 앞에는 언제나 저항을 넣습니다.</a:t>
            </a:r>
          </a:p>
        </p:txBody>
      </p:sp>
      <p:sp>
        <p:nvSpPr>
          <p:cNvPr id="17" name="Rounded Rectangle 16"/>
          <p:cNvSpPr/>
          <p:nvPr/>
        </p:nvSpPr>
        <p:spPr>
          <a:xfrm>
            <a:off x="9005925" y="1920240"/>
            <a:ext cx="2496312" cy="2423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9261957" y="2267712"/>
            <a:ext cx="2103120" cy="457200"/>
          </a:xfrm>
          <a:prstGeom prst="rect">
            <a:avLst/>
          </a:prstGeom>
          <a:noFill/>
        </p:spPr>
        <p:txBody>
          <a:bodyPr wrap="none" lIns="0" rIns="0" tIns="0" bIns="0" anchor="t">
            <a:spAutoFit/>
          </a:bodyPr>
          <a:lstStyle/>
          <a:p>
            <a:pPr algn="l">
              <a:spcAft>
                <a:spcPts val="0"/>
              </a:spcAft>
            </a:pPr>
            <a:r>
              <a:rPr sz="2200" b="1">
                <a:solidFill>
                  <a:srgbClr val="990011"/>
                </a:solidFill>
                <a:latin typeface="맑은 고딕"/>
                <a:ea typeface="맑은 고딕"/>
                <a:cs typeface="맑은 고딕"/>
              </a:rPr>
              <a:t>Pin(15)</a:t>
            </a:r>
          </a:p>
        </p:txBody>
      </p:sp>
      <p:sp>
        <p:nvSpPr>
          <p:cNvPr id="19" name="TextBox 18"/>
          <p:cNvSpPr txBox="1"/>
          <p:nvPr/>
        </p:nvSpPr>
        <p:spPr>
          <a:xfrm>
            <a:off x="9261957" y="2816352"/>
            <a:ext cx="210312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핀 번호 제어</a:t>
            </a:r>
          </a:p>
        </p:txBody>
      </p:sp>
      <p:sp>
        <p:nvSpPr>
          <p:cNvPr id="20" name="TextBox 19"/>
          <p:cNvSpPr txBox="1"/>
          <p:nvPr/>
        </p:nvSpPr>
        <p:spPr>
          <a:xfrm>
            <a:off x="9261957" y="3182112"/>
            <a:ext cx="2011680" cy="914400"/>
          </a:xfrm>
          <a:prstGeom prst="rect">
            <a:avLst/>
          </a:prstGeom>
          <a:noFill/>
        </p:spPr>
        <p:txBody>
          <a:bodyPr wrap="square" lIns="0" rIns="0" tIns="0" bIns="0" anchor="t">
            <a:spAutoFit/>
          </a:bodyPr>
          <a:lstStyle/>
          <a:p>
            <a:pPr algn="l">
              <a:lnSpc>
                <a:spcPct val="135000"/>
              </a:lnSpc>
              <a:spcAft>
                <a:spcPts val="0"/>
              </a:spcAft>
            </a:pPr>
            <a:r>
              <a:rPr sz="1200" b="0">
                <a:solidFill>
                  <a:srgbClr val="6B7280"/>
                </a:solidFill>
                <a:latin typeface="맑은 고딕"/>
                <a:ea typeface="맑은 고딕"/>
                <a:cs typeface="맑은 고딕"/>
              </a:rPr>
              <a:t>외부 부품은 이름 대신 번호로 부릅니다.</a:t>
            </a:r>
          </a:p>
        </p:txBody>
      </p:sp>
      <p:sp>
        <p:nvSpPr>
          <p:cNvPr id="21" name="Rounded Rectangle 20"/>
          <p:cNvSpPr/>
          <p:nvPr/>
        </p:nvSpPr>
        <p:spPr>
          <a:xfrm>
            <a:off x="685800" y="4800600"/>
            <a:ext cx="10817352" cy="822960"/>
          </a:xfrm>
          <a:prstGeom prst="roundRect">
            <a:avLst>
              <a:gd name="adj" fmla="val 6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1051560" y="5056632"/>
            <a:ext cx="10058400" cy="365760"/>
          </a:xfrm>
          <a:prstGeom prst="rect">
            <a:avLst/>
          </a:prstGeom>
          <a:noFill/>
        </p:spPr>
        <p:txBody>
          <a:bodyPr wrap="square" lIns="0" rIns="0" tIns="0" bIns="0">
            <a:spAutoFit/>
          </a:bodyPr>
          <a:lstStyle/>
          <a:p>
            <a:pPr algn="l"/>
            <a:r>
              <a:rPr sz="1350" b="1">
                <a:solidFill>
                  <a:srgbClr val="990011"/>
                </a:solidFill>
                <a:latin typeface="맑은 고딕"/>
                <a:ea typeface="맑은 고딕"/>
                <a:cs typeface="맑은 고딕"/>
              </a:rPr>
              <a:t>오늘 새로 쓰는 저항은 10kΩ입니다. </a:t>
            </a:r>
            <a:r>
              <a:rPr sz="1350" b="0">
                <a:solidFill>
                  <a:srgbClr val="4B5563"/>
                </a:solidFill>
                <a:latin typeface="맑은 고딕"/>
                <a:ea typeface="맑은 고딕"/>
                <a:cs typeface="맑은 고딕"/>
              </a:rPr>
              <a:t>LED용 220Ω과 역할이 완전히 다르니 섞이지 않게 따로 두세요. 색띠는 갈색·검정·주황입니다.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DIRECTION</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출력에서 입력으로</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같은 GPIO 핀을 반대 방향으로 씁니다. 코드에서는 단어 하나 차이입니다.</a:t>
            </a:r>
          </a:p>
        </p:txBody>
      </p:sp>
      <p:sp>
        <p:nvSpPr>
          <p:cNvPr id="5" name="Rounded Rectangle 4"/>
          <p:cNvSpPr/>
          <p:nvPr/>
        </p:nvSpPr>
        <p:spPr>
          <a:xfrm>
            <a:off x="685800" y="1920240"/>
            <a:ext cx="5285232" cy="3291840"/>
          </a:xfrm>
          <a:prstGeom prst="roundRect">
            <a:avLst>
              <a:gd name="adj" fmla="val 3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ounded Rectangle 5"/>
          <p:cNvSpPr/>
          <p:nvPr/>
        </p:nvSpPr>
        <p:spPr>
          <a:xfrm>
            <a:off x="6217920" y="1920240"/>
            <a:ext cx="5285232" cy="3291840"/>
          </a:xfrm>
          <a:prstGeom prst="roundRect">
            <a:avLst>
              <a:gd name="adj" fmla="val 3000"/>
            </a:avLst>
          </a:prstGeom>
          <a:solidFill>
            <a:srgbClr val="FFFFFF"/>
          </a:solidFill>
          <a:ln w="1905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1051560" y="2212848"/>
            <a:ext cx="4572000" cy="411480"/>
          </a:xfrm>
          <a:prstGeom prst="rect">
            <a:avLst/>
          </a:prstGeom>
          <a:noFill/>
        </p:spPr>
        <p:txBody>
          <a:bodyPr wrap="square" lIns="0" rIns="0" tIns="0" bIns="0" anchor="t">
            <a:spAutoFit/>
          </a:bodyPr>
          <a:lstStyle/>
          <a:p>
            <a:pPr algn="l">
              <a:spcAft>
                <a:spcPts val="0"/>
              </a:spcAft>
            </a:pPr>
            <a:r>
              <a:rPr sz="2000" b="1">
                <a:solidFill>
                  <a:srgbClr val="4B5563"/>
                </a:solidFill>
                <a:latin typeface="맑은 고딕"/>
                <a:ea typeface="맑은 고딕"/>
                <a:cs typeface="맑은 고딕"/>
              </a:rPr>
              <a:t>출력 · OUTPUT</a:t>
            </a:r>
          </a:p>
        </p:txBody>
      </p:sp>
      <p:sp>
        <p:nvSpPr>
          <p:cNvPr id="8" name="TextBox 7"/>
          <p:cNvSpPr txBox="1"/>
          <p:nvPr/>
        </p:nvSpPr>
        <p:spPr>
          <a:xfrm>
            <a:off x="1051560" y="2651760"/>
            <a:ext cx="45720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1~3차시에 해 온 것</a:t>
            </a:r>
          </a:p>
        </p:txBody>
      </p:sp>
      <p:sp>
        <p:nvSpPr>
          <p:cNvPr id="9" name="TextBox 8"/>
          <p:cNvSpPr txBox="1"/>
          <p:nvPr/>
        </p:nvSpPr>
        <p:spPr>
          <a:xfrm>
            <a:off x="6583680" y="2212848"/>
            <a:ext cx="4572000" cy="411480"/>
          </a:xfrm>
          <a:prstGeom prst="rect">
            <a:avLst/>
          </a:prstGeom>
          <a:noFill/>
        </p:spPr>
        <p:txBody>
          <a:bodyPr wrap="square" lIns="0" rIns="0" tIns="0" bIns="0" anchor="t">
            <a:spAutoFit/>
          </a:bodyPr>
          <a:lstStyle/>
          <a:p>
            <a:pPr algn="l">
              <a:spcAft>
                <a:spcPts val="0"/>
              </a:spcAft>
            </a:pPr>
            <a:r>
              <a:rPr sz="2000" b="1">
                <a:solidFill>
                  <a:srgbClr val="990011"/>
                </a:solidFill>
                <a:latin typeface="맑은 고딕"/>
                <a:ea typeface="맑은 고딕"/>
                <a:cs typeface="맑은 고딕"/>
              </a:rPr>
              <a:t>입력 · INPUT</a:t>
            </a:r>
          </a:p>
        </p:txBody>
      </p:sp>
      <p:sp>
        <p:nvSpPr>
          <p:cNvPr id="10" name="TextBox 9"/>
          <p:cNvSpPr txBox="1"/>
          <p:nvPr/>
        </p:nvSpPr>
        <p:spPr>
          <a:xfrm>
            <a:off x="6583680" y="2651760"/>
            <a:ext cx="4572000" cy="274320"/>
          </a:xfrm>
          <a:prstGeom prst="rect">
            <a:avLst/>
          </a:prstGeom>
          <a:noFill/>
        </p:spPr>
        <p:txBody>
          <a:bodyPr wrap="square" lIns="0" rIns="0" tIns="0" bIns="0" anchor="t">
            <a:spAutoFit/>
          </a:bodyPr>
          <a:lstStyle/>
          <a:p>
            <a:pPr algn="l">
              <a:spcAft>
                <a:spcPts val="0"/>
              </a:spcAft>
            </a:pPr>
            <a:r>
              <a:rPr sz="1250" b="0">
                <a:solidFill>
                  <a:srgbClr val="6B7280"/>
                </a:solidFill>
                <a:latin typeface="맑은 고딕"/>
                <a:ea typeface="맑은 고딕"/>
                <a:cs typeface="맑은 고딕"/>
              </a:rPr>
              <a:t>오늘 새로 배우는 것</a:t>
            </a:r>
          </a:p>
        </p:txBody>
      </p:sp>
      <p:sp>
        <p:nvSpPr>
          <p:cNvPr id="11" name="TextBox 10"/>
          <p:cNvSpPr txBox="1"/>
          <p:nvPr/>
        </p:nvSpPr>
        <p:spPr>
          <a:xfrm>
            <a:off x="1051560" y="3127248"/>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설정</a:t>
            </a:r>
          </a:p>
        </p:txBody>
      </p:sp>
      <p:sp>
        <p:nvSpPr>
          <p:cNvPr id="12" name="TextBox 11"/>
          <p:cNvSpPr txBox="1"/>
          <p:nvPr/>
        </p:nvSpPr>
        <p:spPr>
          <a:xfrm>
            <a:off x="2377440" y="3127248"/>
            <a:ext cx="3383280" cy="256032"/>
          </a:xfrm>
          <a:prstGeom prst="rect">
            <a:avLst/>
          </a:prstGeom>
          <a:noFill/>
        </p:spPr>
        <p:txBody>
          <a:bodyPr wrap="square" lIns="0" rIns="0" tIns="0" bIns="0" anchor="t">
            <a:spAutoFit/>
          </a:bodyPr>
          <a:lstStyle/>
          <a:p>
            <a:pPr algn="l">
              <a:spcAft>
                <a:spcPts val="0"/>
              </a:spcAft>
            </a:pPr>
            <a:r>
              <a:rPr sz="1250" b="0">
                <a:solidFill>
                  <a:srgbClr val="4B5563"/>
                </a:solidFill>
                <a:latin typeface="Consolas"/>
                <a:ea typeface="Consolas"/>
                <a:cs typeface="Consolas"/>
              </a:rPr>
              <a:t>Pin(15, Pin.OUT)</a:t>
            </a:r>
          </a:p>
        </p:txBody>
      </p:sp>
      <p:sp>
        <p:nvSpPr>
          <p:cNvPr id="13" name="TextBox 12"/>
          <p:cNvSpPr txBox="1"/>
          <p:nvPr/>
        </p:nvSpPr>
        <p:spPr>
          <a:xfrm>
            <a:off x="6583680" y="3127248"/>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설정</a:t>
            </a:r>
          </a:p>
        </p:txBody>
      </p:sp>
      <p:sp>
        <p:nvSpPr>
          <p:cNvPr id="14" name="TextBox 13"/>
          <p:cNvSpPr txBox="1"/>
          <p:nvPr/>
        </p:nvSpPr>
        <p:spPr>
          <a:xfrm>
            <a:off x="7909560" y="3127248"/>
            <a:ext cx="3383280" cy="256032"/>
          </a:xfrm>
          <a:prstGeom prst="rect">
            <a:avLst/>
          </a:prstGeom>
          <a:noFill/>
        </p:spPr>
        <p:txBody>
          <a:bodyPr wrap="square" lIns="0" rIns="0" tIns="0" bIns="0" anchor="t">
            <a:spAutoFit/>
          </a:bodyPr>
          <a:lstStyle/>
          <a:p>
            <a:pPr algn="l">
              <a:spcAft>
                <a:spcPts val="0"/>
              </a:spcAft>
            </a:pPr>
            <a:r>
              <a:rPr sz="1250" b="1">
                <a:solidFill>
                  <a:srgbClr val="990011"/>
                </a:solidFill>
                <a:latin typeface="Consolas"/>
                <a:ea typeface="Consolas"/>
                <a:cs typeface="Consolas"/>
              </a:rPr>
              <a:t>Pin(16, Pin.IN)</a:t>
            </a:r>
          </a:p>
        </p:txBody>
      </p:sp>
      <p:sp>
        <p:nvSpPr>
          <p:cNvPr id="15" name="TextBox 14"/>
          <p:cNvSpPr txBox="1"/>
          <p:nvPr/>
        </p:nvSpPr>
        <p:spPr>
          <a:xfrm>
            <a:off x="1051560" y="3657600"/>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하는 일</a:t>
            </a:r>
          </a:p>
        </p:txBody>
      </p:sp>
      <p:sp>
        <p:nvSpPr>
          <p:cNvPr id="16" name="TextBox 15"/>
          <p:cNvSpPr txBox="1"/>
          <p:nvPr/>
        </p:nvSpPr>
        <p:spPr>
          <a:xfrm>
            <a:off x="2377440" y="3657600"/>
            <a:ext cx="3383280" cy="256032"/>
          </a:xfrm>
          <a:prstGeom prst="rect">
            <a:avLst/>
          </a:prstGeom>
          <a:noFill/>
        </p:spPr>
        <p:txBody>
          <a:bodyPr wrap="square" lIns="0" rIns="0" tIns="0" bIns="0" anchor="t">
            <a:spAutoFit/>
          </a:bodyPr>
          <a:lstStyle/>
          <a:p>
            <a:pPr algn="l">
              <a:spcAft>
                <a:spcPts val="0"/>
              </a:spcAft>
            </a:pPr>
            <a:r>
              <a:rPr sz="1300" b="0">
                <a:solidFill>
                  <a:srgbClr val="4B5563"/>
                </a:solidFill>
                <a:latin typeface="맑은 고딕"/>
                <a:ea typeface="맑은 고딕"/>
                <a:cs typeface="맑은 고딕"/>
              </a:rPr>
              <a:t>핀에 값을 씁니다</a:t>
            </a:r>
          </a:p>
        </p:txBody>
      </p:sp>
      <p:sp>
        <p:nvSpPr>
          <p:cNvPr id="17" name="TextBox 16"/>
          <p:cNvSpPr txBox="1"/>
          <p:nvPr/>
        </p:nvSpPr>
        <p:spPr>
          <a:xfrm>
            <a:off x="6583680" y="3657600"/>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하는 일</a:t>
            </a:r>
          </a:p>
        </p:txBody>
      </p:sp>
      <p:sp>
        <p:nvSpPr>
          <p:cNvPr id="18" name="TextBox 17"/>
          <p:cNvSpPr txBox="1"/>
          <p:nvPr/>
        </p:nvSpPr>
        <p:spPr>
          <a:xfrm>
            <a:off x="7909560" y="3657600"/>
            <a:ext cx="3383280" cy="256032"/>
          </a:xfrm>
          <a:prstGeom prst="rect">
            <a:avLst/>
          </a:prstGeom>
          <a:noFill/>
        </p:spPr>
        <p:txBody>
          <a:bodyPr wrap="square" lIns="0" rIns="0" tIns="0" bIns="0" anchor="t">
            <a:spAutoFit/>
          </a:bodyPr>
          <a:lstStyle/>
          <a:p>
            <a:pPr algn="l">
              <a:spcAft>
                <a:spcPts val="0"/>
              </a:spcAft>
            </a:pPr>
            <a:r>
              <a:rPr sz="1300" b="0">
                <a:solidFill>
                  <a:srgbClr val="1F2328"/>
                </a:solidFill>
                <a:latin typeface="맑은 고딕"/>
                <a:ea typeface="맑은 고딕"/>
                <a:cs typeface="맑은 고딕"/>
              </a:rPr>
              <a:t>핀의 값을 읽습니다</a:t>
            </a:r>
          </a:p>
        </p:txBody>
      </p:sp>
      <p:sp>
        <p:nvSpPr>
          <p:cNvPr id="19" name="TextBox 18"/>
          <p:cNvSpPr txBox="1"/>
          <p:nvPr/>
        </p:nvSpPr>
        <p:spPr>
          <a:xfrm>
            <a:off x="1051560" y="4187952"/>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전기 흐름</a:t>
            </a:r>
          </a:p>
        </p:txBody>
      </p:sp>
      <p:sp>
        <p:nvSpPr>
          <p:cNvPr id="20" name="TextBox 19"/>
          <p:cNvSpPr txBox="1"/>
          <p:nvPr/>
        </p:nvSpPr>
        <p:spPr>
          <a:xfrm>
            <a:off x="2377440" y="4187952"/>
            <a:ext cx="3383280" cy="256032"/>
          </a:xfrm>
          <a:prstGeom prst="rect">
            <a:avLst/>
          </a:prstGeom>
          <a:noFill/>
        </p:spPr>
        <p:txBody>
          <a:bodyPr wrap="square" lIns="0" rIns="0" tIns="0" bIns="0" anchor="t">
            <a:spAutoFit/>
          </a:bodyPr>
          <a:lstStyle/>
          <a:p>
            <a:pPr algn="l">
              <a:spcAft>
                <a:spcPts val="0"/>
              </a:spcAft>
            </a:pPr>
            <a:r>
              <a:rPr sz="1300" b="0">
                <a:solidFill>
                  <a:srgbClr val="4B5563"/>
                </a:solidFill>
                <a:latin typeface="맑은 고딕"/>
                <a:ea typeface="맑은 고딕"/>
                <a:cs typeface="맑은 고딕"/>
              </a:rPr>
              <a:t>보드에서 바깥으로</a:t>
            </a:r>
          </a:p>
        </p:txBody>
      </p:sp>
      <p:sp>
        <p:nvSpPr>
          <p:cNvPr id="21" name="TextBox 20"/>
          <p:cNvSpPr txBox="1"/>
          <p:nvPr/>
        </p:nvSpPr>
        <p:spPr>
          <a:xfrm>
            <a:off x="6583680" y="4187952"/>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전기 흐름</a:t>
            </a:r>
          </a:p>
        </p:txBody>
      </p:sp>
      <p:sp>
        <p:nvSpPr>
          <p:cNvPr id="22" name="TextBox 21"/>
          <p:cNvSpPr txBox="1"/>
          <p:nvPr/>
        </p:nvSpPr>
        <p:spPr>
          <a:xfrm>
            <a:off x="7909560" y="4187952"/>
            <a:ext cx="3383280" cy="256032"/>
          </a:xfrm>
          <a:prstGeom prst="rect">
            <a:avLst/>
          </a:prstGeom>
          <a:noFill/>
        </p:spPr>
        <p:txBody>
          <a:bodyPr wrap="square" lIns="0" rIns="0" tIns="0" bIns="0" anchor="t">
            <a:spAutoFit/>
          </a:bodyPr>
          <a:lstStyle/>
          <a:p>
            <a:pPr algn="l">
              <a:spcAft>
                <a:spcPts val="0"/>
              </a:spcAft>
            </a:pPr>
            <a:r>
              <a:rPr sz="1300" b="0">
                <a:solidFill>
                  <a:srgbClr val="1F2328"/>
                </a:solidFill>
                <a:latin typeface="맑은 고딕"/>
                <a:ea typeface="맑은 고딕"/>
                <a:cs typeface="맑은 고딕"/>
              </a:rPr>
              <a:t>바깥에서 보드로</a:t>
            </a:r>
          </a:p>
        </p:txBody>
      </p:sp>
      <p:sp>
        <p:nvSpPr>
          <p:cNvPr id="23" name="TextBox 22"/>
          <p:cNvSpPr txBox="1"/>
          <p:nvPr/>
        </p:nvSpPr>
        <p:spPr>
          <a:xfrm>
            <a:off x="1051560" y="4718304"/>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명령</a:t>
            </a:r>
          </a:p>
        </p:txBody>
      </p:sp>
      <p:sp>
        <p:nvSpPr>
          <p:cNvPr id="24" name="TextBox 23"/>
          <p:cNvSpPr txBox="1"/>
          <p:nvPr/>
        </p:nvSpPr>
        <p:spPr>
          <a:xfrm>
            <a:off x="2377440" y="4718304"/>
            <a:ext cx="3383280" cy="256032"/>
          </a:xfrm>
          <a:prstGeom prst="rect">
            <a:avLst/>
          </a:prstGeom>
          <a:noFill/>
        </p:spPr>
        <p:txBody>
          <a:bodyPr wrap="square" lIns="0" rIns="0" tIns="0" bIns="0" anchor="t">
            <a:spAutoFit/>
          </a:bodyPr>
          <a:lstStyle/>
          <a:p>
            <a:pPr algn="l">
              <a:spcAft>
                <a:spcPts val="0"/>
              </a:spcAft>
            </a:pPr>
            <a:r>
              <a:rPr sz="1250" b="0">
                <a:solidFill>
                  <a:srgbClr val="4B5563"/>
                </a:solidFill>
                <a:latin typeface="Consolas"/>
                <a:ea typeface="Consolas"/>
                <a:cs typeface="Consolas"/>
              </a:rPr>
              <a:t>led.on() · led.toggle()</a:t>
            </a:r>
          </a:p>
        </p:txBody>
      </p:sp>
      <p:sp>
        <p:nvSpPr>
          <p:cNvPr id="25" name="TextBox 24"/>
          <p:cNvSpPr txBox="1"/>
          <p:nvPr/>
        </p:nvSpPr>
        <p:spPr>
          <a:xfrm>
            <a:off x="6583680" y="4718304"/>
            <a:ext cx="1188720" cy="256032"/>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명령</a:t>
            </a:r>
          </a:p>
        </p:txBody>
      </p:sp>
      <p:sp>
        <p:nvSpPr>
          <p:cNvPr id="26" name="TextBox 25"/>
          <p:cNvSpPr txBox="1"/>
          <p:nvPr/>
        </p:nvSpPr>
        <p:spPr>
          <a:xfrm>
            <a:off x="7909560" y="4718304"/>
            <a:ext cx="3383280" cy="256032"/>
          </a:xfrm>
          <a:prstGeom prst="rect">
            <a:avLst/>
          </a:prstGeom>
          <a:noFill/>
        </p:spPr>
        <p:txBody>
          <a:bodyPr wrap="square" lIns="0" rIns="0" tIns="0" bIns="0" anchor="t">
            <a:spAutoFit/>
          </a:bodyPr>
          <a:lstStyle/>
          <a:p>
            <a:pPr algn="l">
              <a:spcAft>
                <a:spcPts val="0"/>
              </a:spcAft>
            </a:pPr>
            <a:r>
              <a:rPr sz="1250" b="0">
                <a:solidFill>
                  <a:srgbClr val="1F2328"/>
                </a:solidFill>
                <a:latin typeface="Consolas"/>
                <a:ea typeface="Consolas"/>
                <a:cs typeface="Consolas"/>
              </a:rPr>
              <a:t>btn.value()</a:t>
            </a:r>
          </a:p>
        </p:txBody>
      </p:sp>
      <p:sp>
        <p:nvSpPr>
          <p:cNvPr id="27" name="TextBox 26"/>
          <p:cNvSpPr txBox="1"/>
          <p:nvPr/>
        </p:nvSpPr>
        <p:spPr>
          <a:xfrm>
            <a:off x="685800" y="5486400"/>
            <a:ext cx="10789920" cy="365760"/>
          </a:xfrm>
          <a:prstGeom prst="rect">
            <a:avLst/>
          </a:prstGeom>
          <a:noFill/>
        </p:spPr>
        <p:txBody>
          <a:bodyPr wrap="square" lIns="0" rIns="0" tIns="0" bIns="0">
            <a:spAutoFit/>
          </a:bodyPr>
          <a:lstStyle/>
          <a:p>
            <a:pPr algn="l"/>
            <a:r>
              <a:rPr sz="1300" b="1">
                <a:solidFill>
                  <a:srgbClr val="990011"/>
                </a:solidFill>
                <a:latin typeface="맑은 고딕"/>
                <a:ea typeface="맑은 고딕"/>
                <a:cs typeface="맑은 고딕"/>
              </a:rPr>
              <a:t>1차시의 입력 → 처리 → 출력 기억나시죠. </a:t>
            </a:r>
            <a:r>
              <a:rPr sz="1300" b="0">
                <a:solidFill>
                  <a:srgbClr val="6B7280"/>
                </a:solidFill>
                <a:latin typeface="맑은 고딕"/>
                <a:ea typeface="맑은 고딕"/>
                <a:cs typeface="맑은 고딕"/>
              </a:rPr>
              <a:t>지금까지는 출력만 했습니다. 오늘 드디어 '입력'이 들어오고, 세 단계가 모두 갖춰집니다.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COMPONENT</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택트 스위치 — 다리가 왜 네 개일까</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스위치는 하나인데 다리는 네 개입니다. 이유를 알면 어디에 꽂아야 할지도 알게 됩니다.</a:t>
            </a:r>
          </a:p>
        </p:txBody>
      </p:sp>
      <p:sp>
        <p:nvSpPr>
          <p:cNvPr id="5" name="Rounded Rectangle 4"/>
          <p:cNvSpPr/>
          <p:nvPr/>
        </p:nvSpPr>
        <p:spPr>
          <a:xfrm>
            <a:off x="685800" y="1965960"/>
            <a:ext cx="5029200" cy="315468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ounded Rectangle 5"/>
          <p:cNvSpPr/>
          <p:nvPr/>
        </p:nvSpPr>
        <p:spPr>
          <a:xfrm>
            <a:off x="2240280" y="2651760"/>
            <a:ext cx="1188720" cy="1188720"/>
          </a:xfrm>
          <a:prstGeom prst="roundRect">
            <a:avLst>
              <a:gd name="adj" fmla="val 10000"/>
            </a:avLst>
          </a:prstGeom>
          <a:solidFill>
            <a:srgbClr val="3A4046"/>
          </a:solidFill>
          <a:ln w="12700">
            <a:solidFill>
              <a:srgbClr val="23272B"/>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2606040" y="3017520"/>
            <a:ext cx="457200" cy="457200"/>
          </a:xfrm>
          <a:prstGeom prst="ellipse">
            <a:avLst/>
          </a:prstGeom>
          <a:solidFill>
            <a:srgbClr val="8A9097"/>
          </a:solidFill>
          <a:ln w="9525">
            <a:solidFill>
              <a:srgbClr val="B9BEC4"/>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1874519" y="2834640"/>
            <a:ext cx="384048" cy="64008"/>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ectangle 8"/>
          <p:cNvSpPr/>
          <p:nvPr/>
        </p:nvSpPr>
        <p:spPr>
          <a:xfrm>
            <a:off x="1874519" y="3566160"/>
            <a:ext cx="384048" cy="64008"/>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3429000" y="2834640"/>
            <a:ext cx="384048" cy="64008"/>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3429000" y="3566160"/>
            <a:ext cx="384048" cy="64008"/>
          </a:xfrm>
          <a:prstGeom prst="rect">
            <a:avLst/>
          </a:prstGeom>
          <a:solidFill>
            <a:srgbClr val="9AA0A6"/>
          </a:solidFill>
          <a:ln w="5080">
            <a:solidFill>
              <a:srgbClr val="9AA0A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1901952" y="2862072"/>
            <a:ext cx="54864" cy="740664"/>
          </a:xfrm>
          <a:prstGeom prst="rect">
            <a:avLst/>
          </a:prstGeom>
          <a:solidFill>
            <a:srgbClr val="990011"/>
          </a:solidFill>
          <a:ln w="635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3758184" y="2862072"/>
            <a:ext cx="54864" cy="740664"/>
          </a:xfrm>
          <a:prstGeom prst="rect">
            <a:avLst/>
          </a:prstGeom>
          <a:solidFill>
            <a:srgbClr val="2F3C7E"/>
          </a:solidFill>
          <a:ln w="6350">
            <a:solidFill>
              <a:srgbClr val="2F3C7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960120" y="3108960"/>
            <a:ext cx="868680" cy="256032"/>
          </a:xfrm>
          <a:prstGeom prst="rect">
            <a:avLst/>
          </a:prstGeom>
          <a:noFill/>
        </p:spPr>
        <p:txBody>
          <a:bodyPr wrap="none" lIns="0" rIns="0" tIns="0" bIns="0" anchor="t">
            <a:spAutoFit/>
          </a:bodyPr>
          <a:lstStyle/>
          <a:p>
            <a:pPr algn="r">
              <a:spcAft>
                <a:spcPts val="0"/>
              </a:spcAft>
            </a:pPr>
            <a:r>
              <a:rPr sz="1050" b="1">
                <a:solidFill>
                  <a:srgbClr val="990011"/>
                </a:solidFill>
                <a:latin typeface="맑은 고딕"/>
                <a:ea typeface="맑은 고딕"/>
                <a:cs typeface="맑은 고딕"/>
              </a:rPr>
              <a:t>항상 연결</a:t>
            </a:r>
          </a:p>
        </p:txBody>
      </p:sp>
      <p:sp>
        <p:nvSpPr>
          <p:cNvPr id="15" name="TextBox 14"/>
          <p:cNvSpPr txBox="1"/>
          <p:nvPr/>
        </p:nvSpPr>
        <p:spPr>
          <a:xfrm>
            <a:off x="3931920" y="3108960"/>
            <a:ext cx="1188720" cy="256032"/>
          </a:xfrm>
          <a:prstGeom prst="rect">
            <a:avLst/>
          </a:prstGeom>
          <a:noFill/>
        </p:spPr>
        <p:txBody>
          <a:bodyPr wrap="none" lIns="0" rIns="0" tIns="0" bIns="0" anchor="t">
            <a:spAutoFit/>
          </a:bodyPr>
          <a:lstStyle/>
          <a:p>
            <a:pPr algn="l">
              <a:spcAft>
                <a:spcPts val="0"/>
              </a:spcAft>
            </a:pPr>
            <a:r>
              <a:rPr sz="1050" b="1">
                <a:solidFill>
                  <a:srgbClr val="2F3C7E"/>
                </a:solidFill>
                <a:latin typeface="맑은 고딕"/>
                <a:ea typeface="맑은 고딕"/>
                <a:cs typeface="맑은 고딕"/>
              </a:rPr>
              <a:t>항상 연결</a:t>
            </a:r>
          </a:p>
        </p:txBody>
      </p:sp>
      <p:sp>
        <p:nvSpPr>
          <p:cNvPr id="16" name="TextBox 15"/>
          <p:cNvSpPr txBox="1"/>
          <p:nvPr/>
        </p:nvSpPr>
        <p:spPr>
          <a:xfrm>
            <a:off x="1051560" y="4160520"/>
            <a:ext cx="4297680" cy="274320"/>
          </a:xfrm>
          <a:prstGeom prst="rect">
            <a:avLst/>
          </a:prstGeom>
          <a:noFill/>
        </p:spPr>
        <p:txBody>
          <a:bodyPr wrap="square" lIns="0" rIns="0" tIns="0" bIns="0" anchor="t">
            <a:spAutoFit/>
          </a:bodyPr>
          <a:lstStyle/>
          <a:p>
            <a:pPr algn="ctr">
              <a:spcAft>
                <a:spcPts val="0"/>
              </a:spcAft>
            </a:pPr>
            <a:r>
              <a:rPr sz="1300" b="1">
                <a:solidFill>
                  <a:srgbClr val="1F2328"/>
                </a:solidFill>
                <a:latin typeface="맑은 고딕"/>
                <a:ea typeface="맑은 고딕"/>
                <a:cs typeface="맑은 고딕"/>
              </a:rPr>
              <a:t>누르면 왼쪽과 오른쪽이 이어집니다</a:t>
            </a:r>
          </a:p>
        </p:txBody>
      </p:sp>
      <p:sp>
        <p:nvSpPr>
          <p:cNvPr id="17" name="TextBox 16"/>
          <p:cNvSpPr txBox="1"/>
          <p:nvPr/>
        </p:nvSpPr>
        <p:spPr>
          <a:xfrm>
            <a:off x="1051560" y="4498848"/>
            <a:ext cx="4297680" cy="274320"/>
          </a:xfrm>
          <a:prstGeom prst="rect">
            <a:avLst/>
          </a:prstGeom>
          <a:noFill/>
        </p:spPr>
        <p:txBody>
          <a:bodyPr wrap="square" lIns="0" rIns="0" tIns="0" bIns="0" anchor="t">
            <a:spAutoFit/>
          </a:bodyPr>
          <a:lstStyle/>
          <a:p>
            <a:pPr algn="ctr">
              <a:spcAft>
                <a:spcPts val="0"/>
              </a:spcAft>
            </a:pPr>
            <a:r>
              <a:rPr sz="1200" b="0">
                <a:solidFill>
                  <a:srgbClr val="6B7280"/>
                </a:solidFill>
                <a:latin typeface="맑은 고딕"/>
                <a:ea typeface="맑은 고딕"/>
                <a:cs typeface="맑은 고딕"/>
              </a:rPr>
              <a:t>떼면 다시 끊어집니다</a:t>
            </a:r>
          </a:p>
        </p:txBody>
      </p:sp>
      <p:sp>
        <p:nvSpPr>
          <p:cNvPr id="18" name="Oval 17"/>
          <p:cNvSpPr/>
          <p:nvPr/>
        </p:nvSpPr>
        <p:spPr>
          <a:xfrm>
            <a:off x="5989320" y="205740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5989320" y="205740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20" name="TextBox 19"/>
          <p:cNvSpPr txBox="1"/>
          <p:nvPr/>
        </p:nvSpPr>
        <p:spPr>
          <a:xfrm>
            <a:off x="6492240" y="2075688"/>
            <a:ext cx="501091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다리는 넷, 스위치는 하나</a:t>
            </a:r>
          </a:p>
        </p:txBody>
      </p:sp>
      <p:sp>
        <p:nvSpPr>
          <p:cNvPr id="21" name="TextBox 20"/>
          <p:cNvSpPr txBox="1"/>
          <p:nvPr/>
        </p:nvSpPr>
        <p:spPr>
          <a:xfrm>
            <a:off x="6492240" y="2423160"/>
            <a:ext cx="501091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같은 편에 있는 두 다리는 안쪽에서 이미 이어져 있습니다. 실제 접점은 왼쪽 편과 오른쪽 편, 둘뿐입니다.</a:t>
            </a:r>
          </a:p>
        </p:txBody>
      </p:sp>
      <p:sp>
        <p:nvSpPr>
          <p:cNvPr id="22" name="Oval 21"/>
          <p:cNvSpPr/>
          <p:nvPr/>
        </p:nvSpPr>
        <p:spPr>
          <a:xfrm>
            <a:off x="5989320" y="310896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5989320" y="310896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24" name="TextBox 23"/>
          <p:cNvSpPr txBox="1"/>
          <p:nvPr/>
        </p:nvSpPr>
        <p:spPr>
          <a:xfrm>
            <a:off x="6492240" y="3127248"/>
            <a:ext cx="501091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누를 때만 이어짐</a:t>
            </a:r>
          </a:p>
        </p:txBody>
      </p:sp>
      <p:sp>
        <p:nvSpPr>
          <p:cNvPr id="25" name="TextBox 24"/>
          <p:cNvSpPr txBox="1"/>
          <p:nvPr/>
        </p:nvSpPr>
        <p:spPr>
          <a:xfrm>
            <a:off x="6492240" y="3474720"/>
            <a:ext cx="501091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누르는 순간 왼쪽 편과 오른쪽 편이 연결되고, 손을 떼면 다시 끊어집니다.</a:t>
            </a:r>
          </a:p>
        </p:txBody>
      </p:sp>
      <p:sp>
        <p:nvSpPr>
          <p:cNvPr id="26" name="Oval 25"/>
          <p:cNvSpPr/>
          <p:nvPr/>
        </p:nvSpPr>
        <p:spPr>
          <a:xfrm>
            <a:off x="5989320" y="416052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5989320" y="416052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28" name="TextBox 27"/>
          <p:cNvSpPr txBox="1"/>
          <p:nvPr/>
        </p:nvSpPr>
        <p:spPr>
          <a:xfrm>
            <a:off x="6492240" y="4178807"/>
            <a:ext cx="501091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중앙 홈을 가로질러 꽂기</a:t>
            </a:r>
          </a:p>
        </p:txBody>
      </p:sp>
      <p:sp>
        <p:nvSpPr>
          <p:cNvPr id="29" name="TextBox 28"/>
          <p:cNvSpPr txBox="1"/>
          <p:nvPr/>
        </p:nvSpPr>
        <p:spPr>
          <a:xfrm>
            <a:off x="6492240" y="4526280"/>
            <a:ext cx="501091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브레드보드 중앙 홈에 걸쳐 꽂고 대각선 두 다리를 쓰면, 누르기 전에는 절대 연결되지 않습니다.</a:t>
            </a:r>
          </a:p>
        </p:txBody>
      </p:sp>
      <p:sp>
        <p:nvSpPr>
          <p:cNvPr id="30" name="TextBox 29"/>
          <p:cNvSpPr txBox="1"/>
          <p:nvPr/>
        </p:nvSpPr>
        <p:spPr>
          <a:xfrm>
            <a:off x="685800" y="5349240"/>
            <a:ext cx="10789920" cy="365760"/>
          </a:xfrm>
          <a:prstGeom prst="rect">
            <a:avLst/>
          </a:prstGeom>
          <a:noFill/>
        </p:spPr>
        <p:txBody>
          <a:bodyPr wrap="square" lIns="0" rIns="0" tIns="0" bIns="0" anchor="t">
            <a:spAutoFit/>
          </a:bodyPr>
          <a:lstStyle/>
          <a:p>
            <a:pPr algn="l">
              <a:spcAft>
                <a:spcPts val="0"/>
              </a:spcAft>
            </a:pPr>
            <a:r>
              <a:rPr sz="1350" b="1">
                <a:solidFill>
                  <a:srgbClr val="990011"/>
                </a:solidFill>
                <a:latin typeface="맑은 고딕"/>
                <a:ea typeface="맑은 고딕"/>
                <a:cs typeface="맑은 고딕"/>
              </a:rPr>
              <a:t>네 다리를 다 쓰지 않습니다. 대각선으로 마주 보는 두 다리만 쓰면 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DIGITAL INPUT</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핀의 값을 읽는다는 것</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value()를 부르면 그 핀이 지금 HIGH인지 LOW인지 0 또는 1로 알려 줍니다.</a:t>
            </a:r>
          </a:p>
        </p:txBody>
      </p:sp>
      <p:sp>
        <p:nvSpPr>
          <p:cNvPr id="5" name="Rounded Rectangle 4"/>
          <p:cNvSpPr/>
          <p:nvPr/>
        </p:nvSpPr>
        <p:spPr>
          <a:xfrm>
            <a:off x="685800" y="1965960"/>
            <a:ext cx="5760720" cy="2926080"/>
          </a:xfrm>
          <a:prstGeom prst="roundRect">
            <a:avLst>
              <a:gd name="adj" fmla="val 2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2121408"/>
            <a:ext cx="3657600" cy="237744"/>
          </a:xfrm>
          <a:prstGeom prst="rect">
            <a:avLst/>
          </a:prstGeom>
          <a:noFill/>
        </p:spPr>
        <p:txBody>
          <a:bodyPr wrap="square" lIns="0" rIns="0" tIns="0" bIns="0" anchor="t">
            <a:spAutoFit/>
          </a:bodyPr>
          <a:lstStyle/>
          <a:p>
            <a:pPr algn="l">
              <a:spcAft>
                <a:spcPts val="0"/>
              </a:spcAft>
            </a:pPr>
            <a:r>
              <a:rPr sz="1000" b="0">
                <a:solidFill>
                  <a:srgbClr val="7A828A"/>
                </a:solidFill>
                <a:latin typeface="Consolas"/>
                <a:ea typeface="Consolas"/>
                <a:cs typeface="Consolas"/>
              </a:rPr>
              <a:t>Shell</a:t>
            </a:r>
          </a:p>
        </p:txBody>
      </p:sp>
      <p:sp>
        <p:nvSpPr>
          <p:cNvPr id="7" name="TextBox 6"/>
          <p:cNvSpPr txBox="1"/>
          <p:nvPr/>
        </p:nvSpPr>
        <p:spPr>
          <a:xfrm>
            <a:off x="960120" y="2450592"/>
            <a:ext cx="5486400" cy="256032"/>
          </a:xfrm>
          <a:prstGeom prst="rect">
            <a:avLst/>
          </a:prstGeom>
          <a:noFill/>
        </p:spPr>
        <p:txBody>
          <a:bodyPr wrap="none" lIns="0" rIns="0" tIns="0" bIns="0" anchor="t">
            <a:spAutoFit/>
          </a:bodyPr>
          <a:lstStyle/>
          <a:p>
            <a:pPr algn="l">
              <a:spcAft>
                <a:spcPts val="0"/>
              </a:spcAft>
            </a:pPr>
            <a:r>
              <a:rPr sz="1300" b="0">
                <a:solidFill>
                  <a:srgbClr val="F0A9AE"/>
                </a:solidFill>
                <a:latin typeface="Consolas"/>
                <a:ea typeface="Consolas"/>
                <a:cs typeface="Consolas"/>
              </a:rPr>
              <a:t>&gt;&gt;&gt; from machine import Pin</a:t>
            </a:r>
          </a:p>
        </p:txBody>
      </p:sp>
      <p:sp>
        <p:nvSpPr>
          <p:cNvPr id="8" name="TextBox 7"/>
          <p:cNvSpPr txBox="1"/>
          <p:nvPr/>
        </p:nvSpPr>
        <p:spPr>
          <a:xfrm>
            <a:off x="960120" y="2752344"/>
            <a:ext cx="5486400" cy="256032"/>
          </a:xfrm>
          <a:prstGeom prst="rect">
            <a:avLst/>
          </a:prstGeom>
          <a:noFill/>
        </p:spPr>
        <p:txBody>
          <a:bodyPr wrap="none" lIns="0" rIns="0" tIns="0" bIns="0" anchor="t">
            <a:spAutoFit/>
          </a:bodyPr>
          <a:lstStyle/>
          <a:p>
            <a:pPr algn="l">
              <a:spcAft>
                <a:spcPts val="0"/>
              </a:spcAft>
            </a:pPr>
            <a:r>
              <a:rPr sz="1300" b="0">
                <a:solidFill>
                  <a:srgbClr val="FFFFFF"/>
                </a:solidFill>
                <a:latin typeface="Consolas"/>
                <a:ea typeface="Consolas"/>
                <a:cs typeface="Consolas"/>
              </a:rPr>
              <a:t>&gt;&gt;&gt; btn = Pin(16, Pin.IN)</a:t>
            </a:r>
          </a:p>
        </p:txBody>
      </p:sp>
      <p:sp>
        <p:nvSpPr>
          <p:cNvPr id="9" name="TextBox 8"/>
          <p:cNvSpPr txBox="1"/>
          <p:nvPr/>
        </p:nvSpPr>
        <p:spPr>
          <a:xfrm>
            <a:off x="960120" y="3054096"/>
            <a:ext cx="5486400" cy="256032"/>
          </a:xfrm>
          <a:prstGeom prst="rect">
            <a:avLst/>
          </a:prstGeom>
          <a:noFill/>
        </p:spPr>
        <p:txBody>
          <a:bodyPr wrap="none" lIns="0" rIns="0" tIns="0" bIns="0" anchor="t">
            <a:spAutoFit/>
          </a:bodyPr>
          <a:lstStyle/>
          <a:p>
            <a:pPr algn="l">
              <a:spcAft>
                <a:spcPts val="0"/>
              </a:spcAft>
            </a:pPr>
            <a:r>
              <a:rPr sz="1300" b="0">
                <a:solidFill>
                  <a:srgbClr val="FFFFFF"/>
                </a:solidFill>
                <a:latin typeface="Consolas"/>
                <a:ea typeface="Consolas"/>
                <a:cs typeface="Consolas"/>
              </a:rPr>
              <a:t>&gt;&gt;&gt; btn.value()</a:t>
            </a:r>
          </a:p>
        </p:txBody>
      </p:sp>
      <p:sp>
        <p:nvSpPr>
          <p:cNvPr id="10" name="TextBox 9"/>
          <p:cNvSpPr txBox="1"/>
          <p:nvPr/>
        </p:nvSpPr>
        <p:spPr>
          <a:xfrm>
            <a:off x="960120" y="3355848"/>
            <a:ext cx="5486400" cy="256032"/>
          </a:xfrm>
          <a:prstGeom prst="rect">
            <a:avLst/>
          </a:prstGeom>
          <a:noFill/>
        </p:spPr>
        <p:txBody>
          <a:bodyPr wrap="none" lIns="0" rIns="0" tIns="0" bIns="0" anchor="t">
            <a:spAutoFit/>
          </a:bodyPr>
          <a:lstStyle/>
          <a:p>
            <a:pPr algn="l">
              <a:spcAft>
                <a:spcPts val="0"/>
              </a:spcAft>
            </a:pPr>
            <a:r>
              <a:rPr sz="1300" b="0">
                <a:solidFill>
                  <a:srgbClr val="5BC47E"/>
                </a:solidFill>
                <a:latin typeface="Consolas"/>
                <a:ea typeface="Consolas"/>
                <a:cs typeface="Consolas"/>
              </a:rPr>
              <a:t>0</a:t>
            </a:r>
          </a:p>
        </p:txBody>
      </p:sp>
      <p:sp>
        <p:nvSpPr>
          <p:cNvPr id="11" name="TextBox 10"/>
          <p:cNvSpPr txBox="1"/>
          <p:nvPr/>
        </p:nvSpPr>
        <p:spPr>
          <a:xfrm>
            <a:off x="960120" y="3657600"/>
            <a:ext cx="5486400" cy="256032"/>
          </a:xfrm>
          <a:prstGeom prst="rect">
            <a:avLst/>
          </a:prstGeom>
          <a:noFill/>
        </p:spPr>
        <p:txBody>
          <a:bodyPr wrap="none" lIns="0" rIns="0" tIns="0" bIns="0" anchor="t">
            <a:spAutoFit/>
          </a:bodyPr>
          <a:lstStyle/>
          <a:p>
            <a:pPr algn="l">
              <a:spcAft>
                <a:spcPts val="0"/>
              </a:spcAft>
            </a:pPr>
            <a:r>
              <a:rPr sz="1300" b="0">
                <a:solidFill>
                  <a:srgbClr val="FFFFFF"/>
                </a:solidFill>
                <a:latin typeface="Consolas"/>
                <a:ea typeface="Consolas"/>
                <a:cs typeface="Consolas"/>
              </a:rPr>
              <a:t>&gt;&gt;&gt; btn.value()</a:t>
            </a:r>
          </a:p>
        </p:txBody>
      </p:sp>
      <p:sp>
        <p:nvSpPr>
          <p:cNvPr id="12" name="TextBox 11"/>
          <p:cNvSpPr txBox="1"/>
          <p:nvPr/>
        </p:nvSpPr>
        <p:spPr>
          <a:xfrm>
            <a:off x="960120" y="3959352"/>
            <a:ext cx="5486400" cy="256032"/>
          </a:xfrm>
          <a:prstGeom prst="rect">
            <a:avLst/>
          </a:prstGeom>
          <a:noFill/>
        </p:spPr>
        <p:txBody>
          <a:bodyPr wrap="none" lIns="0" rIns="0" tIns="0" bIns="0" anchor="t">
            <a:spAutoFit/>
          </a:bodyPr>
          <a:lstStyle/>
          <a:p>
            <a:pPr algn="l">
              <a:spcAft>
                <a:spcPts val="0"/>
              </a:spcAft>
            </a:pPr>
            <a:r>
              <a:rPr sz="1300" b="0">
                <a:solidFill>
                  <a:srgbClr val="5BC47E"/>
                </a:solidFill>
                <a:latin typeface="Consolas"/>
                <a:ea typeface="Consolas"/>
                <a:cs typeface="Consolas"/>
              </a:rPr>
              <a:t>1</a:t>
            </a:r>
          </a:p>
        </p:txBody>
      </p:sp>
      <p:sp>
        <p:nvSpPr>
          <p:cNvPr id="13" name="TextBox 12"/>
          <p:cNvSpPr txBox="1"/>
          <p:nvPr/>
        </p:nvSpPr>
        <p:spPr>
          <a:xfrm>
            <a:off x="960120" y="4343400"/>
            <a:ext cx="5303520" cy="274320"/>
          </a:xfrm>
          <a:prstGeom prst="rect">
            <a:avLst/>
          </a:prstGeom>
          <a:noFill/>
        </p:spPr>
        <p:txBody>
          <a:bodyPr wrap="square" lIns="0" rIns="0" tIns="0" bIns="0" anchor="t">
            <a:spAutoFit/>
          </a:bodyPr>
          <a:lstStyle/>
          <a:p>
            <a:pPr algn="l">
              <a:spcAft>
                <a:spcPts val="0"/>
              </a:spcAft>
            </a:pPr>
            <a:r>
              <a:rPr sz="1100" b="0">
                <a:solidFill>
                  <a:srgbClr val="7A828A"/>
                </a:solidFill>
                <a:latin typeface="맑은 고딕"/>
                <a:ea typeface="맑은 고딕"/>
                <a:cs typeface="맑은 고딕"/>
              </a:rPr>
              <a:t>두 번째는 버튼을 누른 채로 실행한 결과입니다.</a:t>
            </a:r>
          </a:p>
        </p:txBody>
      </p:sp>
      <p:sp>
        <p:nvSpPr>
          <p:cNvPr id="14" name="Oval 13"/>
          <p:cNvSpPr/>
          <p:nvPr/>
        </p:nvSpPr>
        <p:spPr>
          <a:xfrm>
            <a:off x="6720840" y="205740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720840" y="205740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16" name="TextBox 15"/>
          <p:cNvSpPr txBox="1"/>
          <p:nvPr/>
        </p:nvSpPr>
        <p:spPr>
          <a:xfrm>
            <a:off x="7223760" y="2075688"/>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돌아오는 값은 0 또는 1</a:t>
            </a:r>
          </a:p>
        </p:txBody>
      </p:sp>
      <p:sp>
        <p:nvSpPr>
          <p:cNvPr id="17" name="TextBox 16"/>
          <p:cNvSpPr txBox="1"/>
          <p:nvPr/>
        </p:nvSpPr>
        <p:spPr>
          <a:xfrm>
            <a:off x="7223760" y="2423160"/>
            <a:ext cx="4279392" cy="54864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value()는 숫자 하나를 돌려줍니다. 다른 값은 없습니다.</a:t>
            </a:r>
          </a:p>
        </p:txBody>
      </p:sp>
      <p:sp>
        <p:nvSpPr>
          <p:cNvPr id="18" name="Oval 17"/>
          <p:cNvSpPr/>
          <p:nvPr/>
        </p:nvSpPr>
        <p:spPr>
          <a:xfrm>
            <a:off x="6720840" y="301752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6720840" y="301752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20" name="TextBox 19"/>
          <p:cNvSpPr txBox="1"/>
          <p:nvPr/>
        </p:nvSpPr>
        <p:spPr>
          <a:xfrm>
            <a:off x="7223760" y="3035808"/>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1 = HIGH = 3.3V</a:t>
            </a:r>
          </a:p>
        </p:txBody>
      </p:sp>
      <p:sp>
        <p:nvSpPr>
          <p:cNvPr id="21" name="TextBox 20"/>
          <p:cNvSpPr txBox="1"/>
          <p:nvPr/>
        </p:nvSpPr>
        <p:spPr>
          <a:xfrm>
            <a:off x="7223760" y="3383279"/>
            <a:ext cx="4279392" cy="54864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핀에 3.3V가 걸려 있다는 뜻입니다.</a:t>
            </a:r>
          </a:p>
        </p:txBody>
      </p:sp>
      <p:sp>
        <p:nvSpPr>
          <p:cNvPr id="22" name="Oval 21"/>
          <p:cNvSpPr/>
          <p:nvPr/>
        </p:nvSpPr>
        <p:spPr>
          <a:xfrm>
            <a:off x="6720840" y="3977639"/>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720840" y="3977639"/>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24" name="TextBox 23"/>
          <p:cNvSpPr txBox="1"/>
          <p:nvPr/>
        </p:nvSpPr>
        <p:spPr>
          <a:xfrm>
            <a:off x="7223760" y="3995927"/>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0 = LOW = 0V</a:t>
            </a:r>
          </a:p>
        </p:txBody>
      </p:sp>
      <p:sp>
        <p:nvSpPr>
          <p:cNvPr id="25" name="TextBox 24"/>
          <p:cNvSpPr txBox="1"/>
          <p:nvPr/>
        </p:nvSpPr>
        <p:spPr>
          <a:xfrm>
            <a:off x="7223760" y="4343400"/>
            <a:ext cx="4279392" cy="54864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핀이 GND에 이어져 있다는 뜻입니다. 중간값은 없습니다.</a:t>
            </a:r>
          </a:p>
        </p:txBody>
      </p:sp>
      <p:sp>
        <p:nvSpPr>
          <p:cNvPr id="26" name="Rounded Rectangle 25"/>
          <p:cNvSpPr/>
          <p:nvPr/>
        </p:nvSpPr>
        <p:spPr>
          <a:xfrm>
            <a:off x="685800" y="5166360"/>
            <a:ext cx="10817352" cy="777240"/>
          </a:xfrm>
          <a:prstGeom prst="roundRect">
            <a:avLst>
              <a:gd name="adj" fmla="val 6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051560" y="5404104"/>
            <a:ext cx="10058400" cy="365760"/>
          </a:xfrm>
          <a:prstGeom prst="rect">
            <a:avLst/>
          </a:prstGeom>
          <a:noFill/>
        </p:spPr>
        <p:txBody>
          <a:bodyPr wrap="square" lIns="0" rIns="0" tIns="0" bIns="0">
            <a:spAutoFit/>
          </a:bodyPr>
          <a:lstStyle/>
          <a:p>
            <a:pPr algn="l"/>
            <a:r>
              <a:rPr sz="1350" b="1">
                <a:solidFill>
                  <a:srgbClr val="990011"/>
                </a:solidFill>
                <a:latin typeface="맑은 고딕"/>
                <a:ea typeface="맑은 고딕"/>
                <a:cs typeface="맑은 고딕"/>
              </a:rPr>
              <a:t>1차시에서 디지털 신호는 두 상태뿐이라고 했죠. </a:t>
            </a:r>
            <a:r>
              <a:rPr sz="1350" b="0">
                <a:solidFill>
                  <a:srgbClr val="4B5563"/>
                </a:solidFill>
                <a:latin typeface="맑은 고딕"/>
                <a:ea typeface="맑은 고딕"/>
                <a:cs typeface="맑은 고딕"/>
              </a:rPr>
              <a:t>출력에서도 HIGH·LOW였고, 입력에서도 똑같이 HIGH·LOW입니다.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THE PROBLEM</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아무것도 연결하지 않으면 값이 흔들린다</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버튼을 누르지 않았을 때 핀이 어디에도 이어지지 않으면, 값이 제멋대로 튑니다.</a:t>
            </a:r>
          </a:p>
        </p:txBody>
      </p:sp>
      <p:sp>
        <p:nvSpPr>
          <p:cNvPr id="5" name="Rounded Rectangle 4"/>
          <p:cNvSpPr/>
          <p:nvPr/>
        </p:nvSpPr>
        <p:spPr>
          <a:xfrm>
            <a:off x="685800" y="1965960"/>
            <a:ext cx="5760720" cy="3017520"/>
          </a:xfrm>
          <a:prstGeom prst="roundRect">
            <a:avLst>
              <a:gd name="adj" fmla="val 2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2121408"/>
            <a:ext cx="4114800" cy="237744"/>
          </a:xfrm>
          <a:prstGeom prst="rect">
            <a:avLst/>
          </a:prstGeom>
          <a:noFill/>
        </p:spPr>
        <p:txBody>
          <a:bodyPr wrap="square" lIns="0" rIns="0" tIns="0" bIns="0" anchor="t">
            <a:spAutoFit/>
          </a:bodyPr>
          <a:lstStyle/>
          <a:p>
            <a:pPr algn="l">
              <a:spcAft>
                <a:spcPts val="0"/>
              </a:spcAft>
            </a:pPr>
            <a:r>
              <a:rPr sz="1000" b="0">
                <a:solidFill>
                  <a:srgbClr val="7A828A"/>
                </a:solidFill>
                <a:latin typeface="Consolas"/>
                <a:ea typeface="Consolas"/>
                <a:cs typeface="Consolas"/>
              </a:rPr>
              <a:t>Shell  —  버튼을 누르지 않은 상태</a:t>
            </a:r>
          </a:p>
        </p:txBody>
      </p:sp>
      <p:sp>
        <p:nvSpPr>
          <p:cNvPr id="7" name="TextBox 6"/>
          <p:cNvSpPr txBox="1"/>
          <p:nvPr/>
        </p:nvSpPr>
        <p:spPr>
          <a:xfrm>
            <a:off x="960120" y="2450592"/>
            <a:ext cx="5486400" cy="256032"/>
          </a:xfrm>
          <a:prstGeom prst="rect">
            <a:avLst/>
          </a:prstGeom>
          <a:noFill/>
        </p:spPr>
        <p:txBody>
          <a:bodyPr wrap="none" lIns="0" rIns="0" tIns="0" bIns="0" anchor="t">
            <a:spAutoFit/>
          </a:bodyPr>
          <a:lstStyle/>
          <a:p>
            <a:pPr algn="l">
              <a:spcAft>
                <a:spcPts val="0"/>
              </a:spcAft>
            </a:pPr>
            <a:r>
              <a:rPr sz="1300" b="0">
                <a:solidFill>
                  <a:srgbClr val="8FD3E8"/>
                </a:solidFill>
                <a:latin typeface="Consolas"/>
                <a:ea typeface="Consolas"/>
                <a:cs typeface="Consolas"/>
              </a:rPr>
              <a:t>&gt;&gt;&gt; while True:</a:t>
            </a:r>
          </a:p>
        </p:txBody>
      </p:sp>
      <p:sp>
        <p:nvSpPr>
          <p:cNvPr id="8" name="TextBox 7"/>
          <p:cNvSpPr txBox="1"/>
          <p:nvPr/>
        </p:nvSpPr>
        <p:spPr>
          <a:xfrm>
            <a:off x="960120" y="2752344"/>
            <a:ext cx="5486400" cy="256032"/>
          </a:xfrm>
          <a:prstGeom prst="rect">
            <a:avLst/>
          </a:prstGeom>
          <a:noFill/>
        </p:spPr>
        <p:txBody>
          <a:bodyPr wrap="none" lIns="0" rIns="0" tIns="0" bIns="0" anchor="t">
            <a:spAutoFit/>
          </a:bodyPr>
          <a:lstStyle/>
          <a:p>
            <a:pPr algn="l">
              <a:spcAft>
                <a:spcPts val="0"/>
              </a:spcAft>
            </a:pPr>
            <a:r>
              <a:rPr sz="1300" b="0">
                <a:solidFill>
                  <a:srgbClr val="FFFFFF"/>
                </a:solidFill>
                <a:latin typeface="Consolas"/>
                <a:ea typeface="Consolas"/>
                <a:cs typeface="Consolas"/>
              </a:rPr>
              <a:t>...     print(btn.value())</a:t>
            </a:r>
          </a:p>
        </p:txBody>
      </p:sp>
      <p:sp>
        <p:nvSpPr>
          <p:cNvPr id="9" name="TextBox 8"/>
          <p:cNvSpPr txBox="1"/>
          <p:nvPr/>
        </p:nvSpPr>
        <p:spPr>
          <a:xfrm>
            <a:off x="960120" y="3127248"/>
            <a:ext cx="914400" cy="256032"/>
          </a:xfrm>
          <a:prstGeom prst="rect">
            <a:avLst/>
          </a:prstGeom>
          <a:noFill/>
        </p:spPr>
        <p:txBody>
          <a:bodyPr wrap="none" lIns="0" rIns="0" tIns="0" bIns="0" anchor="t">
            <a:spAutoFit/>
          </a:bodyPr>
          <a:lstStyle/>
          <a:p>
            <a:pPr algn="l">
              <a:spcAft>
                <a:spcPts val="0"/>
              </a:spcAft>
            </a:pPr>
            <a:r>
              <a:rPr sz="1300" b="0">
                <a:solidFill>
                  <a:srgbClr val="5BC47E"/>
                </a:solidFill>
                <a:latin typeface="Consolas"/>
                <a:ea typeface="Consolas"/>
                <a:cs typeface="Consolas"/>
              </a:rPr>
              <a:t>0</a:t>
            </a:r>
          </a:p>
        </p:txBody>
      </p:sp>
      <p:sp>
        <p:nvSpPr>
          <p:cNvPr id="10" name="TextBox 9"/>
          <p:cNvSpPr txBox="1"/>
          <p:nvPr/>
        </p:nvSpPr>
        <p:spPr>
          <a:xfrm>
            <a:off x="960120" y="3401568"/>
            <a:ext cx="914400" cy="256032"/>
          </a:xfrm>
          <a:prstGeom prst="rect">
            <a:avLst/>
          </a:prstGeom>
          <a:noFill/>
        </p:spPr>
        <p:txBody>
          <a:bodyPr wrap="none" lIns="0" rIns="0" tIns="0" bIns="0" anchor="t">
            <a:spAutoFit/>
          </a:bodyPr>
          <a:lstStyle/>
          <a:p>
            <a:pPr algn="l">
              <a:spcAft>
                <a:spcPts val="0"/>
              </a:spcAft>
            </a:pPr>
            <a:r>
              <a:rPr sz="1300" b="0">
                <a:solidFill>
                  <a:srgbClr val="F06A75"/>
                </a:solidFill>
                <a:latin typeface="Consolas"/>
                <a:ea typeface="Consolas"/>
                <a:cs typeface="Consolas"/>
              </a:rPr>
              <a:t>1</a:t>
            </a:r>
          </a:p>
        </p:txBody>
      </p:sp>
      <p:sp>
        <p:nvSpPr>
          <p:cNvPr id="11" name="TextBox 10"/>
          <p:cNvSpPr txBox="1"/>
          <p:nvPr/>
        </p:nvSpPr>
        <p:spPr>
          <a:xfrm>
            <a:off x="960120" y="3675887"/>
            <a:ext cx="914400" cy="256032"/>
          </a:xfrm>
          <a:prstGeom prst="rect">
            <a:avLst/>
          </a:prstGeom>
          <a:noFill/>
        </p:spPr>
        <p:txBody>
          <a:bodyPr wrap="none" lIns="0" rIns="0" tIns="0" bIns="0" anchor="t">
            <a:spAutoFit/>
          </a:bodyPr>
          <a:lstStyle/>
          <a:p>
            <a:pPr algn="l">
              <a:spcAft>
                <a:spcPts val="0"/>
              </a:spcAft>
            </a:pPr>
            <a:r>
              <a:rPr sz="1300" b="0">
                <a:solidFill>
                  <a:srgbClr val="F06A75"/>
                </a:solidFill>
                <a:latin typeface="Consolas"/>
                <a:ea typeface="Consolas"/>
                <a:cs typeface="Consolas"/>
              </a:rPr>
              <a:t>1</a:t>
            </a:r>
          </a:p>
        </p:txBody>
      </p:sp>
      <p:sp>
        <p:nvSpPr>
          <p:cNvPr id="12" name="TextBox 11"/>
          <p:cNvSpPr txBox="1"/>
          <p:nvPr/>
        </p:nvSpPr>
        <p:spPr>
          <a:xfrm>
            <a:off x="960120" y="3950208"/>
            <a:ext cx="914400" cy="256032"/>
          </a:xfrm>
          <a:prstGeom prst="rect">
            <a:avLst/>
          </a:prstGeom>
          <a:noFill/>
        </p:spPr>
        <p:txBody>
          <a:bodyPr wrap="none" lIns="0" rIns="0" tIns="0" bIns="0" anchor="t">
            <a:spAutoFit/>
          </a:bodyPr>
          <a:lstStyle/>
          <a:p>
            <a:pPr algn="l">
              <a:spcAft>
                <a:spcPts val="0"/>
              </a:spcAft>
            </a:pPr>
            <a:r>
              <a:rPr sz="1300" b="0">
                <a:solidFill>
                  <a:srgbClr val="5BC47E"/>
                </a:solidFill>
                <a:latin typeface="Consolas"/>
                <a:ea typeface="Consolas"/>
                <a:cs typeface="Consolas"/>
              </a:rPr>
              <a:t>0</a:t>
            </a:r>
          </a:p>
        </p:txBody>
      </p:sp>
      <p:sp>
        <p:nvSpPr>
          <p:cNvPr id="13" name="TextBox 12"/>
          <p:cNvSpPr txBox="1"/>
          <p:nvPr/>
        </p:nvSpPr>
        <p:spPr>
          <a:xfrm>
            <a:off x="960120" y="4224528"/>
            <a:ext cx="914400" cy="256032"/>
          </a:xfrm>
          <a:prstGeom prst="rect">
            <a:avLst/>
          </a:prstGeom>
          <a:noFill/>
        </p:spPr>
        <p:txBody>
          <a:bodyPr wrap="none" lIns="0" rIns="0" tIns="0" bIns="0" anchor="t">
            <a:spAutoFit/>
          </a:bodyPr>
          <a:lstStyle/>
          <a:p>
            <a:pPr algn="l">
              <a:spcAft>
                <a:spcPts val="0"/>
              </a:spcAft>
            </a:pPr>
            <a:r>
              <a:rPr sz="1300" b="0">
                <a:solidFill>
                  <a:srgbClr val="F06A75"/>
                </a:solidFill>
                <a:latin typeface="Consolas"/>
                <a:ea typeface="Consolas"/>
                <a:cs typeface="Consolas"/>
              </a:rPr>
              <a:t>1</a:t>
            </a:r>
          </a:p>
        </p:txBody>
      </p:sp>
      <p:sp>
        <p:nvSpPr>
          <p:cNvPr id="14" name="TextBox 13"/>
          <p:cNvSpPr txBox="1"/>
          <p:nvPr/>
        </p:nvSpPr>
        <p:spPr>
          <a:xfrm>
            <a:off x="960120" y="4498848"/>
            <a:ext cx="914400" cy="256032"/>
          </a:xfrm>
          <a:prstGeom prst="rect">
            <a:avLst/>
          </a:prstGeom>
          <a:noFill/>
        </p:spPr>
        <p:txBody>
          <a:bodyPr wrap="none" lIns="0" rIns="0" tIns="0" bIns="0" anchor="t">
            <a:spAutoFit/>
          </a:bodyPr>
          <a:lstStyle/>
          <a:p>
            <a:pPr algn="l">
              <a:spcAft>
                <a:spcPts val="0"/>
              </a:spcAft>
            </a:pPr>
            <a:r>
              <a:rPr sz="1300" b="0">
                <a:solidFill>
                  <a:srgbClr val="5BC47E"/>
                </a:solidFill>
                <a:latin typeface="Consolas"/>
                <a:ea typeface="Consolas"/>
                <a:cs typeface="Consolas"/>
              </a:rPr>
              <a:t>0</a:t>
            </a:r>
          </a:p>
        </p:txBody>
      </p:sp>
      <p:sp>
        <p:nvSpPr>
          <p:cNvPr id="15" name="TextBox 14"/>
          <p:cNvSpPr txBox="1"/>
          <p:nvPr/>
        </p:nvSpPr>
        <p:spPr>
          <a:xfrm>
            <a:off x="2011680" y="3291840"/>
            <a:ext cx="4023360" cy="822960"/>
          </a:xfrm>
          <a:prstGeom prst="rect">
            <a:avLst/>
          </a:prstGeom>
          <a:noFill/>
        </p:spPr>
        <p:txBody>
          <a:bodyPr wrap="square" lIns="0" rIns="0" tIns="0" bIns="0" anchor="t">
            <a:spAutoFit/>
          </a:bodyPr>
          <a:lstStyle/>
          <a:p>
            <a:pPr algn="l">
              <a:lnSpc>
                <a:spcPct val="140000"/>
              </a:lnSpc>
              <a:spcAft>
                <a:spcPts val="0"/>
              </a:spcAft>
            </a:pPr>
            <a:r>
              <a:rPr sz="1300" b="0">
                <a:solidFill>
                  <a:srgbClr val="A9B0B8"/>
                </a:solidFill>
                <a:latin typeface="맑은 고딕"/>
                <a:ea typeface="맑은 고딕"/>
                <a:cs typeface="맑은 고딕"/>
              </a:rPr>
              <a:t>누르지도 않았는데</a:t>
            </a:r>
          </a:p>
          <a:p>
            <a:pPr algn="l">
              <a:lnSpc>
                <a:spcPct val="140000"/>
              </a:lnSpc>
              <a:spcAft>
                <a:spcPts val="0"/>
              </a:spcAft>
            </a:pPr>
            <a:r>
              <a:rPr sz="1300" b="0">
                <a:solidFill>
                  <a:srgbClr val="A9B0B8"/>
                </a:solidFill>
                <a:latin typeface="맑은 고딕"/>
                <a:ea typeface="맑은 고딕"/>
                <a:cs typeface="맑은 고딕"/>
              </a:rPr>
              <a:t>0과 1이 계속 바뀝니다</a:t>
            </a:r>
          </a:p>
        </p:txBody>
      </p:sp>
      <p:sp>
        <p:nvSpPr>
          <p:cNvPr id="16" name="Oval 15"/>
          <p:cNvSpPr/>
          <p:nvPr/>
        </p:nvSpPr>
        <p:spPr>
          <a:xfrm>
            <a:off x="6720840" y="205740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720840" y="205740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18" name="TextBox 17"/>
          <p:cNvSpPr txBox="1"/>
          <p:nvPr/>
        </p:nvSpPr>
        <p:spPr>
          <a:xfrm>
            <a:off x="7223760" y="2075688"/>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왜 이런가</a:t>
            </a:r>
          </a:p>
        </p:txBody>
      </p:sp>
      <p:sp>
        <p:nvSpPr>
          <p:cNvPr id="19" name="TextBox 18"/>
          <p:cNvSpPr txBox="1"/>
          <p:nvPr/>
        </p:nvSpPr>
        <p:spPr>
          <a:xfrm>
            <a:off x="7223760" y="2423160"/>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연결되지 않은 핀은 공중에 뜬 상태입니다. 주변 전기 잡음에 따라 값이 이리저리 흔들립니다.</a:t>
            </a:r>
          </a:p>
        </p:txBody>
      </p:sp>
      <p:sp>
        <p:nvSpPr>
          <p:cNvPr id="20" name="Oval 19"/>
          <p:cNvSpPr/>
          <p:nvPr/>
        </p:nvSpPr>
        <p:spPr>
          <a:xfrm>
            <a:off x="6720840" y="3081528"/>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720840" y="3081528"/>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22" name="TextBox 21"/>
          <p:cNvSpPr txBox="1"/>
          <p:nvPr/>
        </p:nvSpPr>
        <p:spPr>
          <a:xfrm>
            <a:off x="7223760" y="3099816"/>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이 상태를 플로팅이라 부른다</a:t>
            </a:r>
          </a:p>
        </p:txBody>
      </p:sp>
      <p:sp>
        <p:nvSpPr>
          <p:cNvPr id="23" name="TextBox 22"/>
          <p:cNvSpPr txBox="1"/>
          <p:nvPr/>
        </p:nvSpPr>
        <p:spPr>
          <a:xfrm>
            <a:off x="7223760" y="3447288"/>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floating, 즉 떠 있다는 뜻입니다. 입력 회로에서 반드시 없애야 하는 상태입니다.</a:t>
            </a:r>
          </a:p>
        </p:txBody>
      </p:sp>
      <p:sp>
        <p:nvSpPr>
          <p:cNvPr id="24" name="Oval 23"/>
          <p:cNvSpPr/>
          <p:nvPr/>
        </p:nvSpPr>
        <p:spPr>
          <a:xfrm>
            <a:off x="6720840" y="4105656"/>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720840" y="4105656"/>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26" name="TextBox 25"/>
          <p:cNvSpPr txBox="1"/>
          <p:nvPr/>
        </p:nvSpPr>
        <p:spPr>
          <a:xfrm>
            <a:off x="7223760" y="4123944"/>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해결 방법은 하나</a:t>
            </a:r>
          </a:p>
        </p:txBody>
      </p:sp>
      <p:sp>
        <p:nvSpPr>
          <p:cNvPr id="27" name="TextBox 26"/>
          <p:cNvSpPr txBox="1"/>
          <p:nvPr/>
        </p:nvSpPr>
        <p:spPr>
          <a:xfrm>
            <a:off x="7223760" y="4471416"/>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누르지 않았을 때 핀을 어느 한쪽에 확실히 묶어 두면 됩니다. 그 역할을 저항이 합니다.</a:t>
            </a:r>
          </a:p>
        </p:txBody>
      </p:sp>
      <p:sp>
        <p:nvSpPr>
          <p:cNvPr id="28" name="TextBox 27"/>
          <p:cNvSpPr txBox="1"/>
          <p:nvPr/>
        </p:nvSpPr>
        <p:spPr>
          <a:xfrm>
            <a:off x="685800" y="5257800"/>
            <a:ext cx="10789920" cy="365760"/>
          </a:xfrm>
          <a:prstGeom prst="rect">
            <a:avLst/>
          </a:prstGeom>
          <a:noFill/>
        </p:spPr>
        <p:txBody>
          <a:bodyPr wrap="square" lIns="0" rIns="0" tIns="0" bIns="0" anchor="t">
            <a:spAutoFit/>
          </a:bodyPr>
          <a:lstStyle/>
          <a:p>
            <a:pPr algn="l">
              <a:spcAft>
                <a:spcPts val="0"/>
              </a:spcAft>
            </a:pPr>
            <a:r>
              <a:rPr sz="1350" b="1">
                <a:solidFill>
                  <a:srgbClr val="990011"/>
                </a:solidFill>
                <a:latin typeface="맑은 고딕"/>
                <a:ea typeface="맑은 고딕"/>
                <a:cs typeface="맑은 고딕"/>
              </a:rPr>
              <a:t>버튼을 눌렀을 때는 문제가 없습니다. 문제는 누르지 않았을 때입니다.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THE SOLUTION</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풀다운 저항 — 평소에는 0으로 붙잡아 둔다</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10kΩ 저항으로 핀을 GND에 살짝 묶어 두면, 누르지 않았을 때 값이 0으로 고정됩니다.</a:t>
            </a:r>
          </a:p>
        </p:txBody>
      </p:sp>
      <p:sp>
        <p:nvSpPr>
          <p:cNvPr id="5" name="Rounded Rectangle 4"/>
          <p:cNvSpPr/>
          <p:nvPr/>
        </p:nvSpPr>
        <p:spPr>
          <a:xfrm>
            <a:off x="685800" y="1965960"/>
            <a:ext cx="5760720" cy="324612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ounded Rectangle 5"/>
          <p:cNvSpPr/>
          <p:nvPr/>
        </p:nvSpPr>
        <p:spPr>
          <a:xfrm>
            <a:off x="1051560" y="2331720"/>
            <a:ext cx="914400" cy="457200"/>
          </a:xfrm>
          <a:prstGeom prst="roundRect">
            <a:avLst>
              <a:gd name="adj" fmla="val 14000"/>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1051560" y="2331720"/>
            <a:ext cx="914400" cy="457200"/>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3V3</a:t>
            </a:r>
          </a:p>
        </p:txBody>
      </p:sp>
      <p:sp>
        <p:nvSpPr>
          <p:cNvPr id="8" name="Rectangle 7"/>
          <p:cNvSpPr/>
          <p:nvPr/>
        </p:nvSpPr>
        <p:spPr>
          <a:xfrm>
            <a:off x="1965960" y="2542032"/>
            <a:ext cx="45720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ounded Rectangle 8"/>
          <p:cNvSpPr/>
          <p:nvPr/>
        </p:nvSpPr>
        <p:spPr>
          <a:xfrm>
            <a:off x="2423160" y="2331720"/>
            <a:ext cx="1097280" cy="457200"/>
          </a:xfrm>
          <a:prstGeom prst="roundRect">
            <a:avLst>
              <a:gd name="adj" fmla="val 14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2423160" y="2331720"/>
            <a:ext cx="1097280" cy="457200"/>
          </a:xfrm>
          <a:prstGeom prst="rect">
            <a:avLst/>
          </a:prstGeom>
          <a:noFill/>
        </p:spPr>
        <p:txBody>
          <a:bodyPr wrap="none" lIns="0" rIns="0" tIns="0" bIns="0" anchor="ctr">
            <a:spAutoFit/>
          </a:bodyPr>
          <a:lstStyle/>
          <a:p>
            <a:pPr algn="ctr">
              <a:spcAft>
                <a:spcPts val="0"/>
              </a:spcAft>
            </a:pPr>
            <a:r>
              <a:rPr sz="1400" b="1">
                <a:solidFill>
                  <a:srgbClr val="1F2328"/>
                </a:solidFill>
                <a:latin typeface="맑은 고딕"/>
                <a:ea typeface="맑은 고딕"/>
                <a:cs typeface="맑은 고딕"/>
              </a:rPr>
              <a:t>버튼</a:t>
            </a:r>
          </a:p>
        </p:txBody>
      </p:sp>
      <p:sp>
        <p:nvSpPr>
          <p:cNvPr id="11" name="Rectangle 10"/>
          <p:cNvSpPr/>
          <p:nvPr/>
        </p:nvSpPr>
        <p:spPr>
          <a:xfrm>
            <a:off x="3520440" y="2542032"/>
            <a:ext cx="50292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3950208" y="2487168"/>
            <a:ext cx="118872" cy="118872"/>
          </a:xfrm>
          <a:prstGeom prst="ellipse">
            <a:avLst/>
          </a:prstGeom>
          <a:solidFill>
            <a:srgbClr val="4B5563"/>
          </a:solidFill>
          <a:ln w="6350">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4069080" y="2542032"/>
            <a:ext cx="45720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ounded Rectangle 13"/>
          <p:cNvSpPr/>
          <p:nvPr/>
        </p:nvSpPr>
        <p:spPr>
          <a:xfrm>
            <a:off x="4526280" y="2331720"/>
            <a:ext cx="1097280" cy="457200"/>
          </a:xfrm>
          <a:prstGeom prst="roundRect">
            <a:avLst>
              <a:gd name="adj" fmla="val 14000"/>
            </a:avLst>
          </a:prstGeom>
          <a:solidFill>
            <a:srgbClr val="2F3C7E"/>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526280" y="2331720"/>
            <a:ext cx="1097280" cy="457200"/>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GP16</a:t>
            </a:r>
          </a:p>
        </p:txBody>
      </p:sp>
      <p:sp>
        <p:nvSpPr>
          <p:cNvPr id="16" name="Rectangle 15"/>
          <p:cNvSpPr/>
          <p:nvPr/>
        </p:nvSpPr>
        <p:spPr>
          <a:xfrm>
            <a:off x="3986784" y="2606040"/>
            <a:ext cx="45720" cy="5029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ounded Rectangle 16"/>
          <p:cNvSpPr/>
          <p:nvPr/>
        </p:nvSpPr>
        <p:spPr>
          <a:xfrm>
            <a:off x="3483864" y="3108960"/>
            <a:ext cx="1051560" cy="438912"/>
          </a:xfrm>
          <a:prstGeom prst="roundRect">
            <a:avLst>
              <a:gd name="adj" fmla="val 14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3483864" y="3108960"/>
            <a:ext cx="1051560" cy="438912"/>
          </a:xfrm>
          <a:prstGeom prst="rect">
            <a:avLst/>
          </a:prstGeom>
          <a:noFill/>
        </p:spPr>
        <p:txBody>
          <a:bodyPr wrap="none" lIns="0" rIns="0" tIns="0" bIns="0" anchor="ctr">
            <a:spAutoFit/>
          </a:bodyPr>
          <a:lstStyle/>
          <a:p>
            <a:pPr algn="ctr">
              <a:spcAft>
                <a:spcPts val="0"/>
              </a:spcAft>
            </a:pPr>
            <a:r>
              <a:rPr sz="1300" b="1">
                <a:solidFill>
                  <a:srgbClr val="1F2328"/>
                </a:solidFill>
                <a:latin typeface="맑은 고딕"/>
                <a:ea typeface="맑은 고딕"/>
                <a:cs typeface="맑은 고딕"/>
              </a:rPr>
              <a:t>10kΩ</a:t>
            </a:r>
          </a:p>
        </p:txBody>
      </p:sp>
      <p:sp>
        <p:nvSpPr>
          <p:cNvPr id="19" name="Rectangle 18"/>
          <p:cNvSpPr/>
          <p:nvPr/>
        </p:nvSpPr>
        <p:spPr>
          <a:xfrm>
            <a:off x="3986784" y="3547872"/>
            <a:ext cx="45720" cy="45720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ounded Rectangle 19"/>
          <p:cNvSpPr/>
          <p:nvPr/>
        </p:nvSpPr>
        <p:spPr>
          <a:xfrm>
            <a:off x="3506724" y="4005072"/>
            <a:ext cx="1005840" cy="457200"/>
          </a:xfrm>
          <a:prstGeom prst="roundRect">
            <a:avLst>
              <a:gd name="adj" fmla="val 14000"/>
            </a:avLst>
          </a:prstGeom>
          <a:solidFill>
            <a:srgbClr val="4B5563"/>
          </a:solidFill>
          <a:ln w="12700">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3506724" y="4005072"/>
            <a:ext cx="1005840" cy="457200"/>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GND</a:t>
            </a:r>
          </a:p>
        </p:txBody>
      </p:sp>
      <p:sp>
        <p:nvSpPr>
          <p:cNvPr id="22" name="Rectangle 21"/>
          <p:cNvSpPr/>
          <p:nvPr/>
        </p:nvSpPr>
        <p:spPr>
          <a:xfrm>
            <a:off x="1051560" y="4553712"/>
            <a:ext cx="5029200" cy="18288"/>
          </a:xfrm>
          <a:prstGeom prst="rect">
            <a:avLst/>
          </a:prstGeom>
          <a:solidFill>
            <a:srgbClr val="DCD6D6"/>
          </a:solidFill>
          <a:ln w="508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051560" y="4663440"/>
            <a:ext cx="5029200" cy="256032"/>
          </a:xfrm>
          <a:prstGeom prst="rect">
            <a:avLst/>
          </a:prstGeom>
          <a:noFill/>
        </p:spPr>
        <p:txBody>
          <a:bodyPr wrap="square" lIns="0" rIns="0" tIns="0" bIns="0">
            <a:spAutoFit/>
          </a:bodyPr>
          <a:lstStyle/>
          <a:p>
            <a:pPr algn="l"/>
            <a:r>
              <a:rPr sz="1200" b="1">
                <a:solidFill>
                  <a:srgbClr val="4B5563"/>
                </a:solidFill>
                <a:latin typeface="맑은 고딕"/>
                <a:ea typeface="맑은 고딕"/>
                <a:cs typeface="맑은 고딕"/>
              </a:rPr>
              <a:t>안 누르면  </a:t>
            </a:r>
            <a:r>
              <a:rPr sz="1200" b="0">
                <a:solidFill>
                  <a:srgbClr val="6B7280"/>
                </a:solidFill>
                <a:latin typeface="맑은 고딕"/>
                <a:ea typeface="맑은 고딕"/>
                <a:cs typeface="맑은 고딕"/>
              </a:rPr>
              <a:t>GP16 → 10kΩ → GND 로 이어져  </a:t>
            </a:r>
            <a:r>
              <a:rPr sz="1300" b="1">
                <a:solidFill>
                  <a:srgbClr val="2E6B45"/>
                </a:solidFill>
                <a:latin typeface="맑은 고딕"/>
                <a:ea typeface="맑은 고딕"/>
                <a:cs typeface="맑은 고딕"/>
              </a:rPr>
              <a:t>0</a:t>
            </a:r>
          </a:p>
        </p:txBody>
      </p:sp>
      <p:sp>
        <p:nvSpPr>
          <p:cNvPr id="24" name="TextBox 23"/>
          <p:cNvSpPr txBox="1"/>
          <p:nvPr/>
        </p:nvSpPr>
        <p:spPr>
          <a:xfrm>
            <a:off x="1051560" y="4919472"/>
            <a:ext cx="5029200" cy="256032"/>
          </a:xfrm>
          <a:prstGeom prst="rect">
            <a:avLst/>
          </a:prstGeom>
          <a:noFill/>
        </p:spPr>
        <p:txBody>
          <a:bodyPr wrap="square" lIns="0" rIns="0" tIns="0" bIns="0">
            <a:spAutoFit/>
          </a:bodyPr>
          <a:lstStyle/>
          <a:p>
            <a:pPr algn="l"/>
            <a:r>
              <a:rPr sz="1200" b="1">
                <a:solidFill>
                  <a:srgbClr val="4B5563"/>
                </a:solidFill>
                <a:latin typeface="맑은 고딕"/>
                <a:ea typeface="맑은 고딕"/>
                <a:cs typeface="맑은 고딕"/>
              </a:rPr>
              <a:t>누르면  </a:t>
            </a:r>
            <a:r>
              <a:rPr sz="1200" b="0">
                <a:solidFill>
                  <a:srgbClr val="6B7280"/>
                </a:solidFill>
                <a:latin typeface="맑은 고딕"/>
                <a:ea typeface="맑은 고딕"/>
                <a:cs typeface="맑은 고딕"/>
              </a:rPr>
              <a:t>3V3이 GP16에 곧바로 이어져  </a:t>
            </a:r>
            <a:r>
              <a:rPr sz="1300" b="1">
                <a:solidFill>
                  <a:srgbClr val="990011"/>
                </a:solidFill>
                <a:latin typeface="맑은 고딕"/>
                <a:ea typeface="맑은 고딕"/>
                <a:cs typeface="맑은 고딕"/>
              </a:rPr>
              <a:t>1</a:t>
            </a:r>
          </a:p>
        </p:txBody>
      </p:sp>
      <p:sp>
        <p:nvSpPr>
          <p:cNvPr id="25" name="Oval 24"/>
          <p:cNvSpPr/>
          <p:nvPr/>
        </p:nvSpPr>
        <p:spPr>
          <a:xfrm>
            <a:off x="6720840" y="205740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6720840" y="205740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27" name="TextBox 26"/>
          <p:cNvSpPr txBox="1"/>
          <p:nvPr/>
        </p:nvSpPr>
        <p:spPr>
          <a:xfrm>
            <a:off x="7223760" y="2075688"/>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아래로 끌어내린다</a:t>
            </a:r>
          </a:p>
        </p:txBody>
      </p:sp>
      <p:sp>
        <p:nvSpPr>
          <p:cNvPr id="28" name="TextBox 27"/>
          <p:cNvSpPr txBox="1"/>
          <p:nvPr/>
        </p:nvSpPr>
        <p:spPr>
          <a:xfrm>
            <a:off x="7223760" y="2423160"/>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pull down. 평소에 핀을 GND 쪽(0)으로 끌어내려 둔다는 뜻입니다.</a:t>
            </a:r>
          </a:p>
        </p:txBody>
      </p:sp>
      <p:sp>
        <p:nvSpPr>
          <p:cNvPr id="29" name="Oval 28"/>
          <p:cNvSpPr/>
          <p:nvPr/>
        </p:nvSpPr>
        <p:spPr>
          <a:xfrm>
            <a:off x="6720840" y="310896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6720840" y="310896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31" name="TextBox 30"/>
          <p:cNvSpPr txBox="1"/>
          <p:nvPr/>
        </p:nvSpPr>
        <p:spPr>
          <a:xfrm>
            <a:off x="7223760" y="3127248"/>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왜 10kΩ인가</a:t>
            </a:r>
          </a:p>
        </p:txBody>
      </p:sp>
      <p:sp>
        <p:nvSpPr>
          <p:cNvPr id="32" name="TextBox 31"/>
          <p:cNvSpPr txBox="1"/>
          <p:nvPr/>
        </p:nvSpPr>
        <p:spPr>
          <a:xfrm>
            <a:off x="7223760" y="3474720"/>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값이 크면 전기가 거의 흐르지 않아 전력 낭비가 없습니다. 값을 붙잡는 데는 이 정도면 충분합니다.</a:t>
            </a:r>
          </a:p>
        </p:txBody>
      </p:sp>
      <p:sp>
        <p:nvSpPr>
          <p:cNvPr id="33" name="Oval 32"/>
          <p:cNvSpPr/>
          <p:nvPr/>
        </p:nvSpPr>
        <p:spPr>
          <a:xfrm>
            <a:off x="6720840" y="416052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6720840" y="416052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35" name="TextBox 34"/>
          <p:cNvSpPr txBox="1"/>
          <p:nvPr/>
        </p:nvSpPr>
        <p:spPr>
          <a:xfrm>
            <a:off x="7223760" y="4178807"/>
            <a:ext cx="4279392"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반대 방식도 있다</a:t>
            </a:r>
          </a:p>
        </p:txBody>
      </p:sp>
      <p:sp>
        <p:nvSpPr>
          <p:cNvPr id="36" name="TextBox 35"/>
          <p:cNvSpPr txBox="1"/>
          <p:nvPr/>
        </p:nvSpPr>
        <p:spPr>
          <a:xfrm>
            <a:off x="7223760" y="4526280"/>
            <a:ext cx="4279392" cy="658368"/>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3V3 쪽으로 끌어올리면 풀업입니다. 이때는 누르면 0, 안 누르면 1로 값이 뒤집힙니다.</a:t>
            </a:r>
          </a:p>
        </p:txBody>
      </p:sp>
      <p:sp>
        <p:nvSpPr>
          <p:cNvPr id="37" name="TextBox 36"/>
          <p:cNvSpPr txBox="1"/>
          <p:nvPr/>
        </p:nvSpPr>
        <p:spPr>
          <a:xfrm>
            <a:off x="685800" y="5394960"/>
            <a:ext cx="10789920" cy="365760"/>
          </a:xfrm>
          <a:prstGeom prst="rect">
            <a:avLst/>
          </a:prstGeom>
          <a:noFill/>
        </p:spPr>
        <p:txBody>
          <a:bodyPr wrap="square" lIns="0" rIns="0" tIns="0" bIns="0" anchor="t">
            <a:spAutoFit/>
          </a:bodyPr>
          <a:lstStyle/>
          <a:p>
            <a:pPr algn="l">
              <a:spcAft>
                <a:spcPts val="0"/>
              </a:spcAft>
            </a:pPr>
            <a:r>
              <a:rPr sz="1300" b="1">
                <a:solidFill>
                  <a:srgbClr val="990011"/>
                </a:solidFill>
                <a:latin typeface="맑은 고딕"/>
                <a:ea typeface="맑은 고딕"/>
                <a:cs typeface="맑은 고딕"/>
              </a:rPr>
              <a:t>저항이 없으면 버튼을 눌렀을 때 3V3과 GND가 곧바로 이어져 합선이 됩니다. 저항은 그것도 막아 줍니다.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SHORTCUT</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사실 저항 없이도 됩니다</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Pico 안에는 풀업·풀다운 저항이 이미 들어 있습니다. 코드에서 켜기만 하면 됩니다.</a:t>
            </a:r>
          </a:p>
        </p:txBody>
      </p:sp>
      <p:sp>
        <p:nvSpPr>
          <p:cNvPr id="5" name="Rounded Rectangle 4"/>
          <p:cNvSpPr/>
          <p:nvPr/>
        </p:nvSpPr>
        <p:spPr>
          <a:xfrm>
            <a:off x="685800" y="1965960"/>
            <a:ext cx="5285232" cy="2194560"/>
          </a:xfrm>
          <a:prstGeom prst="roundRect">
            <a:avLst>
              <a:gd name="adj" fmla="val 3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1051560" y="2194560"/>
            <a:ext cx="4572000" cy="274320"/>
          </a:xfrm>
          <a:prstGeom prst="rect">
            <a:avLst/>
          </a:prstGeom>
          <a:noFill/>
        </p:spPr>
        <p:txBody>
          <a:bodyPr wrap="square" lIns="0" rIns="0" tIns="0" bIns="0" anchor="t">
            <a:spAutoFit/>
          </a:bodyPr>
          <a:lstStyle/>
          <a:p>
            <a:pPr algn="l">
              <a:spcAft>
                <a:spcPts val="0"/>
              </a:spcAft>
            </a:pPr>
            <a:r>
              <a:rPr sz="1200" b="1">
                <a:solidFill>
                  <a:srgbClr val="9CA3AF"/>
                </a:solidFill>
                <a:latin typeface="맑은 고딕"/>
                <a:ea typeface="맑은 고딕"/>
                <a:cs typeface="맑은 고딕"/>
              </a:rPr>
              <a:t>외부 저항 방식</a:t>
            </a:r>
          </a:p>
        </p:txBody>
      </p:sp>
      <p:sp>
        <p:nvSpPr>
          <p:cNvPr id="7" name="TextBox 6"/>
          <p:cNvSpPr txBox="1"/>
          <p:nvPr/>
        </p:nvSpPr>
        <p:spPr>
          <a:xfrm>
            <a:off x="1051560" y="2542032"/>
            <a:ext cx="4754880" cy="292608"/>
          </a:xfrm>
          <a:prstGeom prst="rect">
            <a:avLst/>
          </a:prstGeom>
          <a:noFill/>
        </p:spPr>
        <p:txBody>
          <a:bodyPr wrap="none" lIns="0" rIns="0" tIns="0" bIns="0" anchor="t">
            <a:spAutoFit/>
          </a:bodyPr>
          <a:lstStyle/>
          <a:p>
            <a:pPr algn="l">
              <a:spcAft>
                <a:spcPts val="0"/>
              </a:spcAft>
            </a:pPr>
            <a:r>
              <a:rPr sz="1400" b="0">
                <a:solidFill>
                  <a:srgbClr val="4B5563"/>
                </a:solidFill>
                <a:latin typeface="Consolas"/>
                <a:ea typeface="Consolas"/>
                <a:cs typeface="Consolas"/>
              </a:rPr>
              <a:t>btn = Pin(16, Pin.IN)</a:t>
            </a:r>
          </a:p>
        </p:txBody>
      </p:sp>
      <p:sp>
        <p:nvSpPr>
          <p:cNvPr id="8" name="TextBox 7"/>
          <p:cNvSpPr txBox="1"/>
          <p:nvPr/>
        </p:nvSpPr>
        <p:spPr>
          <a:xfrm>
            <a:off x="1051560" y="2971800"/>
            <a:ext cx="4572000" cy="822960"/>
          </a:xfrm>
          <a:prstGeom prst="rect">
            <a:avLst/>
          </a:prstGeom>
          <a:noFill/>
        </p:spPr>
        <p:txBody>
          <a:bodyPr wrap="square" lIns="0" rIns="0" tIns="0" bIns="0" anchor="t">
            <a:spAutoFit/>
          </a:bodyPr>
          <a:lstStyle/>
          <a:p>
            <a:pPr algn="l">
              <a:lnSpc>
                <a:spcPct val="140000"/>
              </a:lnSpc>
              <a:spcAft>
                <a:spcPts val="400"/>
              </a:spcAft>
            </a:pPr>
            <a:r>
              <a:rPr sz="1250" b="0">
                <a:solidFill>
                  <a:srgbClr val="6B7280"/>
                </a:solidFill>
                <a:latin typeface="맑은 고딕"/>
                <a:ea typeface="맑은 고딕"/>
                <a:cs typeface="맑은 고딕"/>
              </a:rPr>
              <a:t>10kΩ 저항을 직접 연결해야 합니다.</a:t>
            </a:r>
          </a:p>
          <a:p>
            <a:pPr algn="l">
              <a:lnSpc>
                <a:spcPct val="140000"/>
              </a:lnSpc>
              <a:spcAft>
                <a:spcPts val="400"/>
              </a:spcAft>
            </a:pPr>
            <a:r>
              <a:rPr sz="1250" b="0">
                <a:solidFill>
                  <a:srgbClr val="6B7280"/>
                </a:solidFill>
                <a:latin typeface="맑은 고딕"/>
                <a:ea typeface="맑은 고딕"/>
                <a:cs typeface="맑은 고딕"/>
              </a:rPr>
              <a:t>회로가 눈에 보여 이해하기 좋습니다.</a:t>
            </a:r>
          </a:p>
        </p:txBody>
      </p:sp>
      <p:sp>
        <p:nvSpPr>
          <p:cNvPr id="9" name="Rounded Rectangle 8"/>
          <p:cNvSpPr/>
          <p:nvPr/>
        </p:nvSpPr>
        <p:spPr>
          <a:xfrm>
            <a:off x="6217920" y="1965960"/>
            <a:ext cx="5285232" cy="2194560"/>
          </a:xfrm>
          <a:prstGeom prst="roundRect">
            <a:avLst>
              <a:gd name="adj" fmla="val 3000"/>
            </a:avLst>
          </a:prstGeom>
          <a:solidFill>
            <a:srgbClr val="FFFFFF"/>
          </a:solidFill>
          <a:ln w="1905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583680" y="2194560"/>
            <a:ext cx="4572000" cy="274320"/>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내장 저항 방식</a:t>
            </a:r>
          </a:p>
        </p:txBody>
      </p:sp>
      <p:sp>
        <p:nvSpPr>
          <p:cNvPr id="11" name="TextBox 10"/>
          <p:cNvSpPr txBox="1"/>
          <p:nvPr/>
        </p:nvSpPr>
        <p:spPr>
          <a:xfrm>
            <a:off x="6583680" y="2542032"/>
            <a:ext cx="4846320" cy="292608"/>
          </a:xfrm>
          <a:prstGeom prst="rect">
            <a:avLst/>
          </a:prstGeom>
          <a:noFill/>
        </p:spPr>
        <p:txBody>
          <a:bodyPr wrap="none" lIns="0" rIns="0" tIns="0" bIns="0" anchor="t">
            <a:spAutoFit/>
          </a:bodyPr>
          <a:lstStyle/>
          <a:p>
            <a:pPr algn="l">
              <a:spcAft>
                <a:spcPts val="0"/>
              </a:spcAft>
            </a:pPr>
            <a:r>
              <a:rPr sz="1400" b="1">
                <a:solidFill>
                  <a:srgbClr val="1F2328"/>
                </a:solidFill>
                <a:latin typeface="Consolas"/>
                <a:ea typeface="Consolas"/>
                <a:cs typeface="Consolas"/>
              </a:rPr>
              <a:t>btn = Pin(16, Pin.IN, Pin.PULL_DOWN)</a:t>
            </a:r>
          </a:p>
        </p:txBody>
      </p:sp>
      <p:sp>
        <p:nvSpPr>
          <p:cNvPr id="12" name="TextBox 11"/>
          <p:cNvSpPr txBox="1"/>
          <p:nvPr/>
        </p:nvSpPr>
        <p:spPr>
          <a:xfrm>
            <a:off x="6583680" y="2971800"/>
            <a:ext cx="4572000" cy="822960"/>
          </a:xfrm>
          <a:prstGeom prst="rect">
            <a:avLst/>
          </a:prstGeom>
          <a:noFill/>
        </p:spPr>
        <p:txBody>
          <a:bodyPr wrap="square" lIns="0" rIns="0" tIns="0" bIns="0" anchor="t">
            <a:spAutoFit/>
          </a:bodyPr>
          <a:lstStyle/>
          <a:p>
            <a:pPr algn="l">
              <a:lnSpc>
                <a:spcPct val="140000"/>
              </a:lnSpc>
              <a:spcAft>
                <a:spcPts val="400"/>
              </a:spcAft>
            </a:pPr>
            <a:r>
              <a:rPr sz="1250" b="0">
                <a:solidFill>
                  <a:srgbClr val="4B5563"/>
                </a:solidFill>
                <a:latin typeface="맑은 고딕"/>
                <a:ea typeface="맑은 고딕"/>
                <a:cs typeface="맑은 고딕"/>
              </a:rPr>
              <a:t>저항을 꽂지 않아도 됩니다.</a:t>
            </a:r>
          </a:p>
          <a:p>
            <a:pPr algn="l">
              <a:lnSpc>
                <a:spcPct val="140000"/>
              </a:lnSpc>
              <a:spcAft>
                <a:spcPts val="400"/>
              </a:spcAft>
            </a:pPr>
            <a:r>
              <a:rPr sz="1250" b="0">
                <a:solidFill>
                  <a:srgbClr val="4B5563"/>
                </a:solidFill>
                <a:latin typeface="맑은 고딕"/>
                <a:ea typeface="맑은 고딕"/>
                <a:cs typeface="맑은 고딕"/>
              </a:rPr>
              <a:t>칩 안의 저항이 같은 일을 합니다.</a:t>
            </a:r>
          </a:p>
        </p:txBody>
      </p:sp>
      <p:sp>
        <p:nvSpPr>
          <p:cNvPr id="13" name="Rounded Rectangle 12"/>
          <p:cNvSpPr/>
          <p:nvPr/>
        </p:nvSpPr>
        <p:spPr>
          <a:xfrm>
            <a:off x="685800" y="4389120"/>
            <a:ext cx="10817352" cy="1188720"/>
          </a:xfrm>
          <a:prstGeom prst="roundRect">
            <a:avLst>
              <a:gd name="adj" fmla="val 45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051560" y="4590288"/>
            <a:ext cx="10058400" cy="256032"/>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쓸 수 있는 세 가지</a:t>
            </a:r>
          </a:p>
        </p:txBody>
      </p:sp>
      <p:sp>
        <p:nvSpPr>
          <p:cNvPr id="15" name="TextBox 14"/>
          <p:cNvSpPr txBox="1"/>
          <p:nvPr/>
        </p:nvSpPr>
        <p:spPr>
          <a:xfrm>
            <a:off x="1051560" y="4901184"/>
            <a:ext cx="3200400" cy="256032"/>
          </a:xfrm>
          <a:prstGeom prst="rect">
            <a:avLst/>
          </a:prstGeom>
          <a:noFill/>
        </p:spPr>
        <p:txBody>
          <a:bodyPr wrap="none" lIns="0" rIns="0" tIns="0" bIns="0" anchor="t">
            <a:spAutoFit/>
          </a:bodyPr>
          <a:lstStyle/>
          <a:p>
            <a:pPr algn="l">
              <a:spcAft>
                <a:spcPts val="0"/>
              </a:spcAft>
            </a:pPr>
            <a:r>
              <a:rPr sz="1250" b="1">
                <a:solidFill>
                  <a:srgbClr val="990011"/>
                </a:solidFill>
                <a:latin typeface="Consolas"/>
                <a:ea typeface="Consolas"/>
                <a:cs typeface="Consolas"/>
              </a:rPr>
              <a:t>Pin.PULL_DOWN</a:t>
            </a:r>
          </a:p>
        </p:txBody>
      </p:sp>
      <p:sp>
        <p:nvSpPr>
          <p:cNvPr id="16" name="TextBox 15"/>
          <p:cNvSpPr txBox="1"/>
          <p:nvPr/>
        </p:nvSpPr>
        <p:spPr>
          <a:xfrm>
            <a:off x="1051560" y="5175504"/>
            <a:ext cx="3200400" cy="237744"/>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평소 0, 누르면 1  ·  버튼 반대쪽을 3V3에</a:t>
            </a:r>
          </a:p>
        </p:txBody>
      </p:sp>
      <p:sp>
        <p:nvSpPr>
          <p:cNvPr id="17" name="TextBox 16"/>
          <p:cNvSpPr txBox="1"/>
          <p:nvPr/>
        </p:nvSpPr>
        <p:spPr>
          <a:xfrm>
            <a:off x="4480560" y="4901184"/>
            <a:ext cx="3200400" cy="256032"/>
          </a:xfrm>
          <a:prstGeom prst="rect">
            <a:avLst/>
          </a:prstGeom>
          <a:noFill/>
        </p:spPr>
        <p:txBody>
          <a:bodyPr wrap="none" lIns="0" rIns="0" tIns="0" bIns="0" anchor="t">
            <a:spAutoFit/>
          </a:bodyPr>
          <a:lstStyle/>
          <a:p>
            <a:pPr algn="l">
              <a:spcAft>
                <a:spcPts val="0"/>
              </a:spcAft>
            </a:pPr>
            <a:r>
              <a:rPr sz="1250" b="1">
                <a:solidFill>
                  <a:srgbClr val="990011"/>
                </a:solidFill>
                <a:latin typeface="Consolas"/>
                <a:ea typeface="Consolas"/>
                <a:cs typeface="Consolas"/>
              </a:rPr>
              <a:t>Pin.PULL_UP</a:t>
            </a:r>
          </a:p>
        </p:txBody>
      </p:sp>
      <p:sp>
        <p:nvSpPr>
          <p:cNvPr id="18" name="TextBox 17"/>
          <p:cNvSpPr txBox="1"/>
          <p:nvPr/>
        </p:nvSpPr>
        <p:spPr>
          <a:xfrm>
            <a:off x="4480560" y="5175504"/>
            <a:ext cx="3200400" cy="237744"/>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평소 1, 누르면 0  ·  버튼 반대쪽을 GND에</a:t>
            </a:r>
          </a:p>
        </p:txBody>
      </p:sp>
      <p:sp>
        <p:nvSpPr>
          <p:cNvPr id="19" name="TextBox 18"/>
          <p:cNvSpPr txBox="1"/>
          <p:nvPr/>
        </p:nvSpPr>
        <p:spPr>
          <a:xfrm>
            <a:off x="7909560" y="4901184"/>
            <a:ext cx="3200400" cy="256032"/>
          </a:xfrm>
          <a:prstGeom prst="rect">
            <a:avLst/>
          </a:prstGeom>
          <a:noFill/>
        </p:spPr>
        <p:txBody>
          <a:bodyPr wrap="none" lIns="0" rIns="0" tIns="0" bIns="0" anchor="t">
            <a:spAutoFit/>
          </a:bodyPr>
          <a:lstStyle/>
          <a:p>
            <a:pPr algn="l">
              <a:spcAft>
                <a:spcPts val="0"/>
              </a:spcAft>
            </a:pPr>
            <a:r>
              <a:rPr sz="1250" b="1">
                <a:solidFill>
                  <a:srgbClr val="9CA3AF"/>
                </a:solidFill>
                <a:latin typeface="Consolas"/>
                <a:ea typeface="Consolas"/>
                <a:cs typeface="Consolas"/>
              </a:rPr>
              <a:t>(생략)</a:t>
            </a:r>
          </a:p>
        </p:txBody>
      </p:sp>
      <p:sp>
        <p:nvSpPr>
          <p:cNvPr id="20" name="TextBox 19"/>
          <p:cNvSpPr txBox="1"/>
          <p:nvPr/>
        </p:nvSpPr>
        <p:spPr>
          <a:xfrm>
            <a:off x="7909560" y="5175504"/>
            <a:ext cx="3200400" cy="237744"/>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플로팅 — 쓰지 않음  ·  외부 저항이 있을 때만</a:t>
            </a:r>
          </a:p>
        </p:txBody>
      </p:sp>
      <p:sp>
        <p:nvSpPr>
          <p:cNvPr id="21" name="TextBox 20"/>
          <p:cNvSpPr txBox="1"/>
          <p:nvPr/>
        </p:nvSpPr>
        <p:spPr>
          <a:xfrm>
            <a:off x="685800" y="5760720"/>
            <a:ext cx="10789920" cy="365760"/>
          </a:xfrm>
          <a:prstGeom prst="rect">
            <a:avLst/>
          </a:prstGeom>
          <a:noFill/>
        </p:spPr>
        <p:txBody>
          <a:bodyPr wrap="square" lIns="0" rIns="0" tIns="0" bIns="0" anchor="t">
            <a:spAutoFit/>
          </a:bodyPr>
          <a:lstStyle/>
          <a:p>
            <a:pPr algn="l">
              <a:spcAft>
                <a:spcPts val="0"/>
              </a:spcAft>
            </a:pPr>
            <a:r>
              <a:rPr sz="1300" b="1">
                <a:solidFill>
                  <a:srgbClr val="990011"/>
                </a:solidFill>
                <a:latin typeface="맑은 고딕"/>
                <a:ea typeface="맑은 고딕"/>
                <a:cs typeface="맑은 고딕"/>
              </a:rPr>
              <a:t>오늘은 이해를 위해 외부 저항으로 먼저 만들고, 실습에서 내장 저항으로 바꿔 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WIRING</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오늘 만들 회로</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지난 시간 LED 회로는 그대로 두고, 버튼 회로를 옆에 새로 만듭니다.</a:t>
            </a:r>
          </a:p>
        </p:txBody>
      </p:sp>
      <p:sp>
        <p:nvSpPr>
          <p:cNvPr id="5" name="Rounded Rectangle 4"/>
          <p:cNvSpPr/>
          <p:nvPr/>
        </p:nvSpPr>
        <p:spPr>
          <a:xfrm>
            <a:off x="685800" y="1920240"/>
            <a:ext cx="10817352" cy="160020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ounded Rectangle 5"/>
          <p:cNvSpPr/>
          <p:nvPr/>
        </p:nvSpPr>
        <p:spPr>
          <a:xfrm>
            <a:off x="2926080" y="2286000"/>
            <a:ext cx="914400" cy="457200"/>
          </a:xfrm>
          <a:prstGeom prst="roundRect">
            <a:avLst>
              <a:gd name="adj" fmla="val 14000"/>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2926080" y="2286000"/>
            <a:ext cx="914400" cy="457200"/>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3V3</a:t>
            </a:r>
          </a:p>
        </p:txBody>
      </p:sp>
      <p:sp>
        <p:nvSpPr>
          <p:cNvPr id="8" name="Rectangle 7"/>
          <p:cNvSpPr/>
          <p:nvPr/>
        </p:nvSpPr>
        <p:spPr>
          <a:xfrm>
            <a:off x="3840480" y="2496312"/>
            <a:ext cx="54864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ounded Rectangle 8"/>
          <p:cNvSpPr/>
          <p:nvPr/>
        </p:nvSpPr>
        <p:spPr>
          <a:xfrm>
            <a:off x="4389120" y="2286000"/>
            <a:ext cx="1188720" cy="457200"/>
          </a:xfrm>
          <a:prstGeom prst="roundRect">
            <a:avLst>
              <a:gd name="adj" fmla="val 14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389120" y="2286000"/>
            <a:ext cx="1188720" cy="457200"/>
          </a:xfrm>
          <a:prstGeom prst="rect">
            <a:avLst/>
          </a:prstGeom>
          <a:noFill/>
        </p:spPr>
        <p:txBody>
          <a:bodyPr wrap="none" lIns="0" rIns="0" tIns="0" bIns="0" anchor="ctr">
            <a:spAutoFit/>
          </a:bodyPr>
          <a:lstStyle/>
          <a:p>
            <a:pPr algn="ctr">
              <a:spcAft>
                <a:spcPts val="0"/>
              </a:spcAft>
            </a:pPr>
            <a:r>
              <a:rPr sz="1400" b="1">
                <a:solidFill>
                  <a:srgbClr val="1F2328"/>
                </a:solidFill>
                <a:latin typeface="맑은 고딕"/>
                <a:ea typeface="맑은 고딕"/>
                <a:cs typeface="맑은 고딕"/>
              </a:rPr>
              <a:t>버튼</a:t>
            </a:r>
          </a:p>
        </p:txBody>
      </p:sp>
      <p:sp>
        <p:nvSpPr>
          <p:cNvPr id="11" name="Rectangle 10"/>
          <p:cNvSpPr/>
          <p:nvPr/>
        </p:nvSpPr>
        <p:spPr>
          <a:xfrm>
            <a:off x="5577840" y="2496312"/>
            <a:ext cx="54864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6071616" y="2441448"/>
            <a:ext cx="118872" cy="118872"/>
          </a:xfrm>
          <a:prstGeom prst="ellipse">
            <a:avLst/>
          </a:prstGeom>
          <a:solidFill>
            <a:srgbClr val="4B5563"/>
          </a:solidFill>
          <a:ln w="6350">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190488" y="2496312"/>
            <a:ext cx="54864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ounded Rectangle 13"/>
          <p:cNvSpPr/>
          <p:nvPr/>
        </p:nvSpPr>
        <p:spPr>
          <a:xfrm>
            <a:off x="6739128" y="2286000"/>
            <a:ext cx="1188720" cy="457200"/>
          </a:xfrm>
          <a:prstGeom prst="roundRect">
            <a:avLst>
              <a:gd name="adj" fmla="val 14000"/>
            </a:avLst>
          </a:prstGeom>
          <a:solidFill>
            <a:srgbClr val="2F3C7E"/>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739128" y="2286000"/>
            <a:ext cx="1188720" cy="457200"/>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GP16</a:t>
            </a:r>
          </a:p>
        </p:txBody>
      </p:sp>
      <p:sp>
        <p:nvSpPr>
          <p:cNvPr id="16" name="Rectangle 15"/>
          <p:cNvSpPr/>
          <p:nvPr/>
        </p:nvSpPr>
        <p:spPr>
          <a:xfrm>
            <a:off x="6108192" y="2560320"/>
            <a:ext cx="45720" cy="384048"/>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ounded Rectangle 16"/>
          <p:cNvSpPr/>
          <p:nvPr/>
        </p:nvSpPr>
        <p:spPr>
          <a:xfrm>
            <a:off x="5623560" y="2944368"/>
            <a:ext cx="1051560" cy="411480"/>
          </a:xfrm>
          <a:prstGeom prst="roundRect">
            <a:avLst>
              <a:gd name="adj" fmla="val 14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623560" y="2944368"/>
            <a:ext cx="1051560" cy="411480"/>
          </a:xfrm>
          <a:prstGeom prst="rect">
            <a:avLst/>
          </a:prstGeom>
          <a:noFill/>
        </p:spPr>
        <p:txBody>
          <a:bodyPr wrap="none" lIns="0" rIns="0" tIns="0" bIns="0" anchor="ctr">
            <a:spAutoFit/>
          </a:bodyPr>
          <a:lstStyle/>
          <a:p>
            <a:pPr algn="ctr">
              <a:spcAft>
                <a:spcPts val="0"/>
              </a:spcAft>
            </a:pPr>
            <a:r>
              <a:rPr sz="1300" b="1">
                <a:solidFill>
                  <a:srgbClr val="1F2328"/>
                </a:solidFill>
                <a:latin typeface="맑은 고딕"/>
                <a:ea typeface="맑은 고딕"/>
                <a:cs typeface="맑은 고딕"/>
              </a:rPr>
              <a:t>10kΩ</a:t>
            </a:r>
          </a:p>
        </p:txBody>
      </p:sp>
      <p:sp>
        <p:nvSpPr>
          <p:cNvPr id="19" name="Rectangle 18"/>
          <p:cNvSpPr/>
          <p:nvPr/>
        </p:nvSpPr>
        <p:spPr>
          <a:xfrm>
            <a:off x="6675120" y="3127248"/>
            <a:ext cx="502920" cy="45720"/>
          </a:xfrm>
          <a:prstGeom prst="rect">
            <a:avLst/>
          </a:prstGeom>
          <a:solidFill>
            <a:srgbClr val="9CA3AF"/>
          </a:solidFill>
          <a:ln w="63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ounded Rectangle 19"/>
          <p:cNvSpPr/>
          <p:nvPr/>
        </p:nvSpPr>
        <p:spPr>
          <a:xfrm>
            <a:off x="7178040" y="2926080"/>
            <a:ext cx="1005840" cy="438912"/>
          </a:xfrm>
          <a:prstGeom prst="roundRect">
            <a:avLst>
              <a:gd name="adj" fmla="val 14000"/>
            </a:avLst>
          </a:prstGeom>
          <a:solidFill>
            <a:srgbClr val="4B5563"/>
          </a:solidFill>
          <a:ln w="12700">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7178040" y="2926080"/>
            <a:ext cx="1005840" cy="438912"/>
          </a:xfrm>
          <a:prstGeom prst="rect">
            <a:avLst/>
          </a:prstGeom>
          <a:noFill/>
        </p:spPr>
        <p:txBody>
          <a:bodyPr wrap="none" lIns="0" rIns="0" tIns="0" bIns="0" anchor="ctr">
            <a:spAutoFit/>
          </a:bodyPr>
          <a:lstStyle/>
          <a:p>
            <a:pPr algn="ctr">
              <a:spcAft>
                <a:spcPts val="0"/>
              </a:spcAft>
            </a:pPr>
            <a:r>
              <a:rPr sz="1400" b="1">
                <a:solidFill>
                  <a:srgbClr val="FFFFFF"/>
                </a:solidFill>
                <a:latin typeface="맑은 고딕"/>
                <a:ea typeface="맑은 고딕"/>
                <a:cs typeface="맑은 고딕"/>
              </a:rPr>
              <a:t>GND</a:t>
            </a:r>
          </a:p>
        </p:txBody>
      </p:sp>
      <p:sp>
        <p:nvSpPr>
          <p:cNvPr id="22" name="TextBox 21"/>
          <p:cNvSpPr txBox="1"/>
          <p:nvPr/>
        </p:nvSpPr>
        <p:spPr>
          <a:xfrm>
            <a:off x="8503920" y="2231136"/>
            <a:ext cx="2834640" cy="256032"/>
          </a:xfrm>
          <a:prstGeom prst="rect">
            <a:avLst/>
          </a:prstGeom>
          <a:noFill/>
        </p:spPr>
        <p:txBody>
          <a:bodyPr wrap="square" lIns="0" rIns="0" tIns="0" bIns="0" anchor="t">
            <a:spAutoFit/>
          </a:bodyPr>
          <a:lstStyle/>
          <a:p>
            <a:pPr algn="l">
              <a:spcAft>
                <a:spcPts val="0"/>
              </a:spcAft>
            </a:pPr>
            <a:r>
              <a:rPr sz="1000" b="0">
                <a:solidFill>
                  <a:srgbClr val="6B7280"/>
                </a:solidFill>
                <a:latin typeface="맑은 고딕"/>
                <a:ea typeface="맑은 고딕"/>
                <a:cs typeface="맑은 고딕"/>
              </a:rPr>
              <a:t>16번 핀</a:t>
            </a:r>
          </a:p>
        </p:txBody>
      </p:sp>
      <p:sp>
        <p:nvSpPr>
          <p:cNvPr id="23" name="TextBox 22"/>
          <p:cNvSpPr txBox="1"/>
          <p:nvPr/>
        </p:nvSpPr>
        <p:spPr>
          <a:xfrm>
            <a:off x="8503920" y="2523744"/>
            <a:ext cx="2834640" cy="256032"/>
          </a:xfrm>
          <a:prstGeom prst="rect">
            <a:avLst/>
          </a:prstGeom>
          <a:noFill/>
        </p:spPr>
        <p:txBody>
          <a:bodyPr wrap="square" lIns="0" rIns="0" tIns="0" bIns="0" anchor="t">
            <a:spAutoFit/>
          </a:bodyPr>
          <a:lstStyle/>
          <a:p>
            <a:pPr algn="l">
              <a:spcAft>
                <a:spcPts val="0"/>
              </a:spcAft>
            </a:pPr>
            <a:r>
              <a:rPr sz="1150" b="1">
                <a:solidFill>
                  <a:srgbClr val="1F2328"/>
                </a:solidFill>
                <a:latin typeface="맑은 고딕"/>
                <a:ea typeface="맑은 고딕"/>
                <a:cs typeface="맑은 고딕"/>
              </a:rPr>
              <a:t>GP16 = 물리 21번 핀</a:t>
            </a:r>
          </a:p>
        </p:txBody>
      </p:sp>
      <p:sp>
        <p:nvSpPr>
          <p:cNvPr id="24" name="TextBox 23"/>
          <p:cNvSpPr txBox="1"/>
          <p:nvPr/>
        </p:nvSpPr>
        <p:spPr>
          <a:xfrm>
            <a:off x="8503920" y="2852928"/>
            <a:ext cx="2834640" cy="256032"/>
          </a:xfrm>
          <a:prstGeom prst="rect">
            <a:avLst/>
          </a:prstGeom>
          <a:noFill/>
        </p:spPr>
        <p:txBody>
          <a:bodyPr wrap="square" lIns="0" rIns="0" tIns="0" bIns="0" anchor="t">
            <a:spAutoFit/>
          </a:bodyPr>
          <a:lstStyle/>
          <a:p>
            <a:pPr algn="l">
              <a:spcAft>
                <a:spcPts val="0"/>
              </a:spcAft>
            </a:pPr>
            <a:r>
              <a:rPr sz="1150" b="1">
                <a:solidFill>
                  <a:srgbClr val="1F2328"/>
                </a:solidFill>
                <a:latin typeface="맑은 고딕"/>
                <a:ea typeface="맑은 고딕"/>
                <a:cs typeface="맑은 고딕"/>
              </a:rPr>
              <a:t>3V3 = 36번 · GND = 23번</a:t>
            </a:r>
          </a:p>
        </p:txBody>
      </p:sp>
      <p:sp>
        <p:nvSpPr>
          <p:cNvPr id="25" name="TextBox 24"/>
          <p:cNvSpPr txBox="1"/>
          <p:nvPr/>
        </p:nvSpPr>
        <p:spPr>
          <a:xfrm>
            <a:off x="1097280" y="3703320"/>
            <a:ext cx="182880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부품</a:t>
            </a:r>
          </a:p>
        </p:txBody>
      </p:sp>
      <p:sp>
        <p:nvSpPr>
          <p:cNvPr id="26" name="TextBox 25"/>
          <p:cNvSpPr txBox="1"/>
          <p:nvPr/>
        </p:nvSpPr>
        <p:spPr>
          <a:xfrm>
            <a:off x="3291840" y="3703320"/>
            <a:ext cx="320040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한쪽 끝</a:t>
            </a:r>
          </a:p>
        </p:txBody>
      </p:sp>
      <p:sp>
        <p:nvSpPr>
          <p:cNvPr id="27" name="TextBox 26"/>
          <p:cNvSpPr txBox="1"/>
          <p:nvPr/>
        </p:nvSpPr>
        <p:spPr>
          <a:xfrm>
            <a:off x="7315200" y="3703320"/>
            <a:ext cx="402336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다른 쪽 끝</a:t>
            </a:r>
          </a:p>
        </p:txBody>
      </p:sp>
      <p:sp>
        <p:nvSpPr>
          <p:cNvPr id="28" name="Rounded Rectangle 27"/>
          <p:cNvSpPr/>
          <p:nvPr/>
        </p:nvSpPr>
        <p:spPr>
          <a:xfrm>
            <a:off x="685800" y="3977639"/>
            <a:ext cx="10817352" cy="438912"/>
          </a:xfrm>
          <a:prstGeom prst="roundRect">
            <a:avLst>
              <a:gd name="adj" fmla="val 10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Oval 28"/>
          <p:cNvSpPr/>
          <p:nvPr/>
        </p:nvSpPr>
        <p:spPr>
          <a:xfrm>
            <a:off x="868680" y="4059935"/>
            <a:ext cx="274320" cy="27432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868680" y="4059935"/>
            <a:ext cx="274320" cy="274320"/>
          </a:xfrm>
          <a:prstGeom prst="rect">
            <a:avLst/>
          </a:prstGeom>
          <a:noFill/>
        </p:spPr>
        <p:txBody>
          <a:bodyPr wrap="none" lIns="0" rIns="0" tIns="0" bIns="0" anchor="ctr">
            <a:spAutoFit/>
          </a:bodyPr>
          <a:lstStyle/>
          <a:p>
            <a:pPr algn="ctr">
              <a:spcAft>
                <a:spcPts val="0"/>
              </a:spcAft>
            </a:pPr>
            <a:r>
              <a:rPr sz="1000" b="1">
                <a:solidFill>
                  <a:srgbClr val="FFFFFF"/>
                </a:solidFill>
                <a:latin typeface="맑은 고딕"/>
                <a:ea typeface="맑은 고딕"/>
                <a:cs typeface="맑은 고딕"/>
              </a:rPr>
              <a:t>1</a:t>
            </a:r>
          </a:p>
        </p:txBody>
      </p:sp>
      <p:sp>
        <p:nvSpPr>
          <p:cNvPr id="31" name="TextBox 30"/>
          <p:cNvSpPr txBox="1"/>
          <p:nvPr/>
        </p:nvSpPr>
        <p:spPr>
          <a:xfrm>
            <a:off x="1298448" y="4087368"/>
            <a:ext cx="1920240" cy="237744"/>
          </a:xfrm>
          <a:prstGeom prst="rect">
            <a:avLst/>
          </a:prstGeom>
          <a:noFill/>
        </p:spPr>
        <p:txBody>
          <a:bodyPr wrap="square" lIns="0" rIns="0" tIns="0" bIns="0" anchor="t">
            <a:spAutoFit/>
          </a:bodyPr>
          <a:lstStyle/>
          <a:p>
            <a:pPr algn="l">
              <a:spcAft>
                <a:spcPts val="0"/>
              </a:spcAft>
            </a:pPr>
            <a:r>
              <a:rPr sz="1250" b="1">
                <a:solidFill>
                  <a:srgbClr val="1F2328"/>
                </a:solidFill>
                <a:latin typeface="맑은 고딕"/>
                <a:ea typeface="맑은 고딕"/>
                <a:cs typeface="맑은 고딕"/>
              </a:rPr>
              <a:t>점퍼선</a:t>
            </a:r>
          </a:p>
        </p:txBody>
      </p:sp>
      <p:sp>
        <p:nvSpPr>
          <p:cNvPr id="32" name="TextBox 31"/>
          <p:cNvSpPr txBox="1"/>
          <p:nvPr/>
        </p:nvSpPr>
        <p:spPr>
          <a:xfrm>
            <a:off x="3291840" y="4096511"/>
            <a:ext cx="338328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3V3 (36번 핀)</a:t>
            </a:r>
          </a:p>
        </p:txBody>
      </p:sp>
      <p:sp>
        <p:nvSpPr>
          <p:cNvPr id="33" name="TextBox 32"/>
          <p:cNvSpPr txBox="1"/>
          <p:nvPr/>
        </p:nvSpPr>
        <p:spPr>
          <a:xfrm>
            <a:off x="6949440" y="4105655"/>
            <a:ext cx="365760" cy="237744"/>
          </a:xfrm>
          <a:prstGeom prst="rect">
            <a:avLst/>
          </a:prstGeom>
          <a:noFill/>
        </p:spPr>
        <p:txBody>
          <a:bodyPr wrap="none" lIns="0" rIns="0" tIns="0" bIns="0" anchor="t">
            <a:spAutoFit/>
          </a:bodyPr>
          <a:lstStyle/>
          <a:p>
            <a:pPr algn="l">
              <a:spcAft>
                <a:spcPts val="0"/>
              </a:spcAft>
            </a:pPr>
            <a:r>
              <a:rPr sz="1200" b="0">
                <a:solidFill>
                  <a:srgbClr val="9CA3AF"/>
                </a:solidFill>
                <a:latin typeface="맑은 고딕"/>
                <a:ea typeface="맑은 고딕"/>
                <a:cs typeface="맑은 고딕"/>
              </a:rPr>
              <a:t>→</a:t>
            </a:r>
          </a:p>
        </p:txBody>
      </p:sp>
      <p:sp>
        <p:nvSpPr>
          <p:cNvPr id="34" name="TextBox 33"/>
          <p:cNvSpPr txBox="1"/>
          <p:nvPr/>
        </p:nvSpPr>
        <p:spPr>
          <a:xfrm>
            <a:off x="7315200" y="4096511"/>
            <a:ext cx="402336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버튼 왼쪽 편 세로줄</a:t>
            </a:r>
          </a:p>
        </p:txBody>
      </p:sp>
      <p:sp>
        <p:nvSpPr>
          <p:cNvPr id="35" name="Rounded Rectangle 34"/>
          <p:cNvSpPr/>
          <p:nvPr/>
        </p:nvSpPr>
        <p:spPr>
          <a:xfrm>
            <a:off x="685800" y="4489704"/>
            <a:ext cx="10817352" cy="438912"/>
          </a:xfrm>
          <a:prstGeom prst="roundRect">
            <a:avLst>
              <a:gd name="adj" fmla="val 10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Oval 35"/>
          <p:cNvSpPr/>
          <p:nvPr/>
        </p:nvSpPr>
        <p:spPr>
          <a:xfrm>
            <a:off x="868680" y="4572000"/>
            <a:ext cx="274320" cy="27432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868680" y="4572000"/>
            <a:ext cx="274320" cy="274320"/>
          </a:xfrm>
          <a:prstGeom prst="rect">
            <a:avLst/>
          </a:prstGeom>
          <a:noFill/>
        </p:spPr>
        <p:txBody>
          <a:bodyPr wrap="none" lIns="0" rIns="0" tIns="0" bIns="0" anchor="ctr">
            <a:spAutoFit/>
          </a:bodyPr>
          <a:lstStyle/>
          <a:p>
            <a:pPr algn="ctr">
              <a:spcAft>
                <a:spcPts val="0"/>
              </a:spcAft>
            </a:pPr>
            <a:r>
              <a:rPr sz="1000" b="1">
                <a:solidFill>
                  <a:srgbClr val="FFFFFF"/>
                </a:solidFill>
                <a:latin typeface="맑은 고딕"/>
                <a:ea typeface="맑은 고딕"/>
                <a:cs typeface="맑은 고딕"/>
              </a:rPr>
              <a:t>2</a:t>
            </a:r>
          </a:p>
        </p:txBody>
      </p:sp>
      <p:sp>
        <p:nvSpPr>
          <p:cNvPr id="38" name="TextBox 37"/>
          <p:cNvSpPr txBox="1"/>
          <p:nvPr/>
        </p:nvSpPr>
        <p:spPr>
          <a:xfrm>
            <a:off x="1298448" y="4599432"/>
            <a:ext cx="1920240" cy="237744"/>
          </a:xfrm>
          <a:prstGeom prst="rect">
            <a:avLst/>
          </a:prstGeom>
          <a:noFill/>
        </p:spPr>
        <p:txBody>
          <a:bodyPr wrap="square" lIns="0" rIns="0" tIns="0" bIns="0" anchor="t">
            <a:spAutoFit/>
          </a:bodyPr>
          <a:lstStyle/>
          <a:p>
            <a:pPr algn="l">
              <a:spcAft>
                <a:spcPts val="0"/>
              </a:spcAft>
            </a:pPr>
            <a:r>
              <a:rPr sz="1250" b="1">
                <a:solidFill>
                  <a:srgbClr val="1F2328"/>
                </a:solidFill>
                <a:latin typeface="맑은 고딕"/>
                <a:ea typeface="맑은 고딕"/>
                <a:cs typeface="맑은 고딕"/>
              </a:rPr>
              <a:t>택트 스위치</a:t>
            </a:r>
          </a:p>
        </p:txBody>
      </p:sp>
      <p:sp>
        <p:nvSpPr>
          <p:cNvPr id="39" name="TextBox 38"/>
          <p:cNvSpPr txBox="1"/>
          <p:nvPr/>
        </p:nvSpPr>
        <p:spPr>
          <a:xfrm>
            <a:off x="3291840" y="4608576"/>
            <a:ext cx="338328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중앙 홈을 가로질러 꽂기</a:t>
            </a:r>
          </a:p>
        </p:txBody>
      </p:sp>
      <p:sp>
        <p:nvSpPr>
          <p:cNvPr id="40" name="TextBox 39"/>
          <p:cNvSpPr txBox="1"/>
          <p:nvPr/>
        </p:nvSpPr>
        <p:spPr>
          <a:xfrm>
            <a:off x="6949440" y="4617720"/>
            <a:ext cx="365760" cy="237744"/>
          </a:xfrm>
          <a:prstGeom prst="rect">
            <a:avLst/>
          </a:prstGeom>
          <a:noFill/>
        </p:spPr>
        <p:txBody>
          <a:bodyPr wrap="none" lIns="0" rIns="0" tIns="0" bIns="0" anchor="t">
            <a:spAutoFit/>
          </a:bodyPr>
          <a:lstStyle/>
          <a:p>
            <a:pPr algn="l">
              <a:spcAft>
                <a:spcPts val="0"/>
              </a:spcAft>
            </a:pPr>
            <a:r>
              <a:rPr sz="1200" b="0">
                <a:solidFill>
                  <a:srgbClr val="9CA3AF"/>
                </a:solidFill>
                <a:latin typeface="맑은 고딕"/>
                <a:ea typeface="맑은 고딕"/>
                <a:cs typeface="맑은 고딕"/>
              </a:rPr>
              <a:t>→</a:t>
            </a:r>
          </a:p>
        </p:txBody>
      </p:sp>
      <p:sp>
        <p:nvSpPr>
          <p:cNvPr id="41" name="TextBox 40"/>
          <p:cNvSpPr txBox="1"/>
          <p:nvPr/>
        </p:nvSpPr>
        <p:spPr>
          <a:xfrm>
            <a:off x="7315200" y="4608576"/>
            <a:ext cx="402336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대각선 두 다리만 사용</a:t>
            </a:r>
          </a:p>
        </p:txBody>
      </p:sp>
      <p:sp>
        <p:nvSpPr>
          <p:cNvPr id="42" name="Rounded Rectangle 41"/>
          <p:cNvSpPr/>
          <p:nvPr/>
        </p:nvSpPr>
        <p:spPr>
          <a:xfrm>
            <a:off x="685800" y="5001768"/>
            <a:ext cx="10817352" cy="438912"/>
          </a:xfrm>
          <a:prstGeom prst="roundRect">
            <a:avLst>
              <a:gd name="adj" fmla="val 10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Oval 42"/>
          <p:cNvSpPr/>
          <p:nvPr/>
        </p:nvSpPr>
        <p:spPr>
          <a:xfrm>
            <a:off x="868680" y="5084064"/>
            <a:ext cx="274320" cy="27432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868680" y="5084064"/>
            <a:ext cx="274320" cy="274320"/>
          </a:xfrm>
          <a:prstGeom prst="rect">
            <a:avLst/>
          </a:prstGeom>
          <a:noFill/>
        </p:spPr>
        <p:txBody>
          <a:bodyPr wrap="none" lIns="0" rIns="0" tIns="0" bIns="0" anchor="ctr">
            <a:spAutoFit/>
          </a:bodyPr>
          <a:lstStyle/>
          <a:p>
            <a:pPr algn="ctr">
              <a:spcAft>
                <a:spcPts val="0"/>
              </a:spcAft>
            </a:pPr>
            <a:r>
              <a:rPr sz="1000" b="1">
                <a:solidFill>
                  <a:srgbClr val="FFFFFF"/>
                </a:solidFill>
                <a:latin typeface="맑은 고딕"/>
                <a:ea typeface="맑은 고딕"/>
                <a:cs typeface="맑은 고딕"/>
              </a:rPr>
              <a:t>3</a:t>
            </a:r>
          </a:p>
        </p:txBody>
      </p:sp>
      <p:sp>
        <p:nvSpPr>
          <p:cNvPr id="45" name="TextBox 44"/>
          <p:cNvSpPr txBox="1"/>
          <p:nvPr/>
        </p:nvSpPr>
        <p:spPr>
          <a:xfrm>
            <a:off x="1298448" y="5111496"/>
            <a:ext cx="1920240" cy="237744"/>
          </a:xfrm>
          <a:prstGeom prst="rect">
            <a:avLst/>
          </a:prstGeom>
          <a:noFill/>
        </p:spPr>
        <p:txBody>
          <a:bodyPr wrap="square" lIns="0" rIns="0" tIns="0" bIns="0" anchor="t">
            <a:spAutoFit/>
          </a:bodyPr>
          <a:lstStyle/>
          <a:p>
            <a:pPr algn="l">
              <a:spcAft>
                <a:spcPts val="0"/>
              </a:spcAft>
            </a:pPr>
            <a:r>
              <a:rPr sz="1250" b="1">
                <a:solidFill>
                  <a:srgbClr val="1F2328"/>
                </a:solidFill>
                <a:latin typeface="맑은 고딕"/>
                <a:ea typeface="맑은 고딕"/>
                <a:cs typeface="맑은 고딕"/>
              </a:rPr>
              <a:t>점퍼선</a:t>
            </a:r>
          </a:p>
        </p:txBody>
      </p:sp>
      <p:sp>
        <p:nvSpPr>
          <p:cNvPr id="46" name="TextBox 45"/>
          <p:cNvSpPr txBox="1"/>
          <p:nvPr/>
        </p:nvSpPr>
        <p:spPr>
          <a:xfrm>
            <a:off x="3291840" y="5120640"/>
            <a:ext cx="338328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버튼 오른쪽 편 세로줄</a:t>
            </a:r>
          </a:p>
        </p:txBody>
      </p:sp>
      <p:sp>
        <p:nvSpPr>
          <p:cNvPr id="47" name="TextBox 46"/>
          <p:cNvSpPr txBox="1"/>
          <p:nvPr/>
        </p:nvSpPr>
        <p:spPr>
          <a:xfrm>
            <a:off x="6949440" y="5129783"/>
            <a:ext cx="365760" cy="237744"/>
          </a:xfrm>
          <a:prstGeom prst="rect">
            <a:avLst/>
          </a:prstGeom>
          <a:noFill/>
        </p:spPr>
        <p:txBody>
          <a:bodyPr wrap="none" lIns="0" rIns="0" tIns="0" bIns="0" anchor="t">
            <a:spAutoFit/>
          </a:bodyPr>
          <a:lstStyle/>
          <a:p>
            <a:pPr algn="l">
              <a:spcAft>
                <a:spcPts val="0"/>
              </a:spcAft>
            </a:pPr>
            <a:r>
              <a:rPr sz="1200" b="0">
                <a:solidFill>
                  <a:srgbClr val="9CA3AF"/>
                </a:solidFill>
                <a:latin typeface="맑은 고딕"/>
                <a:ea typeface="맑은 고딕"/>
                <a:cs typeface="맑은 고딕"/>
              </a:rPr>
              <a:t>→</a:t>
            </a:r>
          </a:p>
        </p:txBody>
      </p:sp>
      <p:sp>
        <p:nvSpPr>
          <p:cNvPr id="48" name="TextBox 47"/>
          <p:cNvSpPr txBox="1"/>
          <p:nvPr/>
        </p:nvSpPr>
        <p:spPr>
          <a:xfrm>
            <a:off x="7315200" y="5120640"/>
            <a:ext cx="402336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GP16 (21번 핀)</a:t>
            </a:r>
          </a:p>
        </p:txBody>
      </p:sp>
      <p:sp>
        <p:nvSpPr>
          <p:cNvPr id="49" name="Rounded Rectangle 48"/>
          <p:cNvSpPr/>
          <p:nvPr/>
        </p:nvSpPr>
        <p:spPr>
          <a:xfrm>
            <a:off x="685800" y="5513831"/>
            <a:ext cx="10817352" cy="438912"/>
          </a:xfrm>
          <a:prstGeom prst="roundRect">
            <a:avLst>
              <a:gd name="adj" fmla="val 10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Oval 49"/>
          <p:cNvSpPr/>
          <p:nvPr/>
        </p:nvSpPr>
        <p:spPr>
          <a:xfrm>
            <a:off x="868680" y="5596127"/>
            <a:ext cx="274320" cy="27432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TextBox 50"/>
          <p:cNvSpPr txBox="1"/>
          <p:nvPr/>
        </p:nvSpPr>
        <p:spPr>
          <a:xfrm>
            <a:off x="868680" y="5596127"/>
            <a:ext cx="274320" cy="274320"/>
          </a:xfrm>
          <a:prstGeom prst="rect">
            <a:avLst/>
          </a:prstGeom>
          <a:noFill/>
        </p:spPr>
        <p:txBody>
          <a:bodyPr wrap="none" lIns="0" rIns="0" tIns="0" bIns="0" anchor="ctr">
            <a:spAutoFit/>
          </a:bodyPr>
          <a:lstStyle/>
          <a:p>
            <a:pPr algn="ctr">
              <a:spcAft>
                <a:spcPts val="0"/>
              </a:spcAft>
            </a:pPr>
            <a:r>
              <a:rPr sz="1000" b="1">
                <a:solidFill>
                  <a:srgbClr val="FFFFFF"/>
                </a:solidFill>
                <a:latin typeface="맑은 고딕"/>
                <a:ea typeface="맑은 고딕"/>
                <a:cs typeface="맑은 고딕"/>
              </a:rPr>
              <a:t>4</a:t>
            </a:r>
          </a:p>
        </p:txBody>
      </p:sp>
      <p:sp>
        <p:nvSpPr>
          <p:cNvPr id="52" name="TextBox 51"/>
          <p:cNvSpPr txBox="1"/>
          <p:nvPr/>
        </p:nvSpPr>
        <p:spPr>
          <a:xfrm>
            <a:off x="1298448" y="5623559"/>
            <a:ext cx="1920240" cy="237744"/>
          </a:xfrm>
          <a:prstGeom prst="rect">
            <a:avLst/>
          </a:prstGeom>
          <a:noFill/>
        </p:spPr>
        <p:txBody>
          <a:bodyPr wrap="square" lIns="0" rIns="0" tIns="0" bIns="0" anchor="t">
            <a:spAutoFit/>
          </a:bodyPr>
          <a:lstStyle/>
          <a:p>
            <a:pPr algn="l">
              <a:spcAft>
                <a:spcPts val="0"/>
              </a:spcAft>
            </a:pPr>
            <a:r>
              <a:rPr sz="1250" b="1">
                <a:solidFill>
                  <a:srgbClr val="1F2328"/>
                </a:solidFill>
                <a:latin typeface="맑은 고딕"/>
                <a:ea typeface="맑은 고딕"/>
                <a:cs typeface="맑은 고딕"/>
              </a:rPr>
              <a:t>저항 10kΩ</a:t>
            </a:r>
          </a:p>
        </p:txBody>
      </p:sp>
      <p:sp>
        <p:nvSpPr>
          <p:cNvPr id="53" name="TextBox 52"/>
          <p:cNvSpPr txBox="1"/>
          <p:nvPr/>
        </p:nvSpPr>
        <p:spPr>
          <a:xfrm>
            <a:off x="3291840" y="5632703"/>
            <a:ext cx="338328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버튼 오른쪽 편 세로줄</a:t>
            </a:r>
          </a:p>
        </p:txBody>
      </p:sp>
      <p:sp>
        <p:nvSpPr>
          <p:cNvPr id="54" name="TextBox 53"/>
          <p:cNvSpPr txBox="1"/>
          <p:nvPr/>
        </p:nvSpPr>
        <p:spPr>
          <a:xfrm>
            <a:off x="6949440" y="5641847"/>
            <a:ext cx="365760" cy="237744"/>
          </a:xfrm>
          <a:prstGeom prst="rect">
            <a:avLst/>
          </a:prstGeom>
          <a:noFill/>
        </p:spPr>
        <p:txBody>
          <a:bodyPr wrap="none" lIns="0" rIns="0" tIns="0" bIns="0" anchor="t">
            <a:spAutoFit/>
          </a:bodyPr>
          <a:lstStyle/>
          <a:p>
            <a:pPr algn="l">
              <a:spcAft>
                <a:spcPts val="0"/>
              </a:spcAft>
            </a:pPr>
            <a:r>
              <a:rPr sz="1200" b="0">
                <a:solidFill>
                  <a:srgbClr val="9CA3AF"/>
                </a:solidFill>
                <a:latin typeface="맑은 고딕"/>
                <a:ea typeface="맑은 고딕"/>
                <a:cs typeface="맑은 고딕"/>
              </a:rPr>
              <a:t>→</a:t>
            </a:r>
          </a:p>
        </p:txBody>
      </p:sp>
      <p:sp>
        <p:nvSpPr>
          <p:cNvPr id="55" name="TextBox 54"/>
          <p:cNvSpPr txBox="1"/>
          <p:nvPr/>
        </p:nvSpPr>
        <p:spPr>
          <a:xfrm>
            <a:off x="7315200" y="5632703"/>
            <a:ext cx="402336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GND 로 가는 세로줄</a:t>
            </a:r>
          </a:p>
        </p:txBody>
      </p:sp>
      <p:sp>
        <p:nvSpPr>
          <p:cNvPr id="56" name="Rounded Rectangle 55"/>
          <p:cNvSpPr/>
          <p:nvPr/>
        </p:nvSpPr>
        <p:spPr>
          <a:xfrm>
            <a:off x="685800" y="6025896"/>
            <a:ext cx="10817352" cy="438912"/>
          </a:xfrm>
          <a:prstGeom prst="roundRect">
            <a:avLst>
              <a:gd name="adj" fmla="val 10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Oval 56"/>
          <p:cNvSpPr/>
          <p:nvPr/>
        </p:nvSpPr>
        <p:spPr>
          <a:xfrm>
            <a:off x="868680" y="6108192"/>
            <a:ext cx="274320" cy="27432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8" name="TextBox 57"/>
          <p:cNvSpPr txBox="1"/>
          <p:nvPr/>
        </p:nvSpPr>
        <p:spPr>
          <a:xfrm>
            <a:off x="868680" y="6108192"/>
            <a:ext cx="274320" cy="274320"/>
          </a:xfrm>
          <a:prstGeom prst="rect">
            <a:avLst/>
          </a:prstGeom>
          <a:noFill/>
        </p:spPr>
        <p:txBody>
          <a:bodyPr wrap="none" lIns="0" rIns="0" tIns="0" bIns="0" anchor="ctr">
            <a:spAutoFit/>
          </a:bodyPr>
          <a:lstStyle/>
          <a:p>
            <a:pPr algn="ctr">
              <a:spcAft>
                <a:spcPts val="0"/>
              </a:spcAft>
            </a:pPr>
            <a:r>
              <a:rPr sz="1000" b="1">
                <a:solidFill>
                  <a:srgbClr val="FFFFFF"/>
                </a:solidFill>
                <a:latin typeface="맑은 고딕"/>
                <a:ea typeface="맑은 고딕"/>
                <a:cs typeface="맑은 고딕"/>
              </a:rPr>
              <a:t>5</a:t>
            </a:r>
          </a:p>
        </p:txBody>
      </p:sp>
      <p:sp>
        <p:nvSpPr>
          <p:cNvPr id="59" name="TextBox 58"/>
          <p:cNvSpPr txBox="1"/>
          <p:nvPr/>
        </p:nvSpPr>
        <p:spPr>
          <a:xfrm>
            <a:off x="1298448" y="6135624"/>
            <a:ext cx="1920240" cy="237744"/>
          </a:xfrm>
          <a:prstGeom prst="rect">
            <a:avLst/>
          </a:prstGeom>
          <a:noFill/>
        </p:spPr>
        <p:txBody>
          <a:bodyPr wrap="square" lIns="0" rIns="0" tIns="0" bIns="0" anchor="t">
            <a:spAutoFit/>
          </a:bodyPr>
          <a:lstStyle/>
          <a:p>
            <a:pPr algn="l">
              <a:spcAft>
                <a:spcPts val="0"/>
              </a:spcAft>
            </a:pPr>
            <a:r>
              <a:rPr sz="1250" b="1">
                <a:solidFill>
                  <a:srgbClr val="1F2328"/>
                </a:solidFill>
                <a:latin typeface="맑은 고딕"/>
                <a:ea typeface="맑은 고딕"/>
                <a:cs typeface="맑은 고딕"/>
              </a:rPr>
              <a:t>점퍼선</a:t>
            </a:r>
          </a:p>
        </p:txBody>
      </p:sp>
      <p:sp>
        <p:nvSpPr>
          <p:cNvPr id="60" name="TextBox 59"/>
          <p:cNvSpPr txBox="1"/>
          <p:nvPr/>
        </p:nvSpPr>
        <p:spPr>
          <a:xfrm>
            <a:off x="3291840" y="6144768"/>
            <a:ext cx="338328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저항 끝 세로줄</a:t>
            </a:r>
          </a:p>
        </p:txBody>
      </p:sp>
      <p:sp>
        <p:nvSpPr>
          <p:cNvPr id="61" name="TextBox 60"/>
          <p:cNvSpPr txBox="1"/>
          <p:nvPr/>
        </p:nvSpPr>
        <p:spPr>
          <a:xfrm>
            <a:off x="6949440" y="6153912"/>
            <a:ext cx="365760" cy="237744"/>
          </a:xfrm>
          <a:prstGeom prst="rect">
            <a:avLst/>
          </a:prstGeom>
          <a:noFill/>
        </p:spPr>
        <p:txBody>
          <a:bodyPr wrap="none" lIns="0" rIns="0" tIns="0" bIns="0" anchor="t">
            <a:spAutoFit/>
          </a:bodyPr>
          <a:lstStyle/>
          <a:p>
            <a:pPr algn="l">
              <a:spcAft>
                <a:spcPts val="0"/>
              </a:spcAft>
            </a:pPr>
            <a:r>
              <a:rPr sz="1200" b="0">
                <a:solidFill>
                  <a:srgbClr val="9CA3AF"/>
                </a:solidFill>
                <a:latin typeface="맑은 고딕"/>
                <a:ea typeface="맑은 고딕"/>
                <a:cs typeface="맑은 고딕"/>
              </a:rPr>
              <a:t>→</a:t>
            </a:r>
          </a:p>
        </p:txBody>
      </p:sp>
      <p:sp>
        <p:nvSpPr>
          <p:cNvPr id="62" name="TextBox 61"/>
          <p:cNvSpPr txBox="1"/>
          <p:nvPr/>
        </p:nvSpPr>
        <p:spPr>
          <a:xfrm>
            <a:off x="7315200" y="6144768"/>
            <a:ext cx="4023360" cy="237744"/>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GND (23번 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STEP BY STEP</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배선하는 순서</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지난 시간과 같습니다. 전원을 뽑고 시작해 마지막에 연결합니다.</a:t>
            </a:r>
          </a:p>
        </p:txBody>
      </p:sp>
      <p:sp>
        <p:nvSpPr>
          <p:cNvPr id="5" name="Rounded Rectangle 4"/>
          <p:cNvSpPr/>
          <p:nvPr/>
        </p:nvSpPr>
        <p:spPr>
          <a:xfrm>
            <a:off x="685800" y="1920240"/>
            <a:ext cx="10817352" cy="640080"/>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Oval 5"/>
          <p:cNvSpPr/>
          <p:nvPr/>
        </p:nvSpPr>
        <p:spPr>
          <a:xfrm>
            <a:off x="960120" y="205740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0120" y="205740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8" name="TextBox 7"/>
          <p:cNvSpPr txBox="1"/>
          <p:nvPr/>
        </p:nvSpPr>
        <p:spPr>
          <a:xfrm>
            <a:off x="1508760" y="2112264"/>
            <a:ext cx="457200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USB 케이블을 뽑습니다</a:t>
            </a:r>
          </a:p>
        </p:txBody>
      </p:sp>
      <p:sp>
        <p:nvSpPr>
          <p:cNvPr id="9" name="TextBox 8"/>
          <p:cNvSpPr txBox="1"/>
          <p:nvPr/>
        </p:nvSpPr>
        <p:spPr>
          <a:xfrm>
            <a:off x="6217920" y="2130552"/>
            <a:ext cx="5029200" cy="274320"/>
          </a:xfrm>
          <a:prstGeom prst="rect">
            <a:avLst/>
          </a:prstGeom>
          <a:noFill/>
        </p:spPr>
        <p:txBody>
          <a:bodyPr wrap="square" lIns="0" rIns="0" tIns="0" bIns="0" anchor="t">
            <a:spAutoFit/>
          </a:bodyPr>
          <a:lstStyle/>
          <a:p>
            <a:pPr algn="l">
              <a:spcAft>
                <a:spcPts val="0"/>
              </a:spcAft>
            </a:pPr>
            <a:r>
              <a:rPr sz="1200" b="0">
                <a:solidFill>
                  <a:srgbClr val="6B7280"/>
                </a:solidFill>
                <a:latin typeface="맑은 고딕"/>
                <a:ea typeface="맑은 고딕"/>
                <a:cs typeface="맑은 고딕"/>
              </a:rPr>
              <a:t>LED 회로가 붙어 있어도 그대로 두고 전원만 뺍니다.</a:t>
            </a:r>
          </a:p>
        </p:txBody>
      </p:sp>
      <p:sp>
        <p:nvSpPr>
          <p:cNvPr id="10" name="Rounded Rectangle 9"/>
          <p:cNvSpPr/>
          <p:nvPr/>
        </p:nvSpPr>
        <p:spPr>
          <a:xfrm>
            <a:off x="685800" y="2651760"/>
            <a:ext cx="10817352" cy="640080"/>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960120" y="278892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960120" y="278892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13" name="TextBox 12"/>
          <p:cNvSpPr txBox="1"/>
          <p:nvPr/>
        </p:nvSpPr>
        <p:spPr>
          <a:xfrm>
            <a:off x="1508760" y="2843784"/>
            <a:ext cx="457200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스위치를 중앙 홈에 걸쳐 꽂습니다</a:t>
            </a:r>
          </a:p>
        </p:txBody>
      </p:sp>
      <p:sp>
        <p:nvSpPr>
          <p:cNvPr id="14" name="TextBox 13"/>
          <p:cNvSpPr txBox="1"/>
          <p:nvPr/>
        </p:nvSpPr>
        <p:spPr>
          <a:xfrm>
            <a:off x="6217920" y="2862072"/>
            <a:ext cx="5029200" cy="274320"/>
          </a:xfrm>
          <a:prstGeom prst="rect">
            <a:avLst/>
          </a:prstGeom>
          <a:noFill/>
        </p:spPr>
        <p:txBody>
          <a:bodyPr wrap="square" lIns="0" rIns="0" tIns="0" bIns="0" anchor="t">
            <a:spAutoFit/>
          </a:bodyPr>
          <a:lstStyle/>
          <a:p>
            <a:pPr algn="l">
              <a:spcAft>
                <a:spcPts val="0"/>
              </a:spcAft>
            </a:pPr>
            <a:r>
              <a:rPr sz="1200" b="0">
                <a:solidFill>
                  <a:srgbClr val="6B7280"/>
                </a:solidFill>
                <a:latin typeface="맑은 고딕"/>
                <a:ea typeface="맑은 고딕"/>
                <a:cs typeface="맑은 고딕"/>
              </a:rPr>
              <a:t>네 다리가 모두 들어가도록 끝까지 눌러 꽂습니다.</a:t>
            </a:r>
          </a:p>
        </p:txBody>
      </p:sp>
      <p:sp>
        <p:nvSpPr>
          <p:cNvPr id="15" name="Rounded Rectangle 14"/>
          <p:cNvSpPr/>
          <p:nvPr/>
        </p:nvSpPr>
        <p:spPr>
          <a:xfrm>
            <a:off x="685800" y="3383280"/>
            <a:ext cx="10817352" cy="640080"/>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960120" y="352044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60120" y="352044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18" name="TextBox 17"/>
          <p:cNvSpPr txBox="1"/>
          <p:nvPr/>
        </p:nvSpPr>
        <p:spPr>
          <a:xfrm>
            <a:off x="1508760" y="3575304"/>
            <a:ext cx="457200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10kΩ 저항을 꽂습니다</a:t>
            </a:r>
          </a:p>
        </p:txBody>
      </p:sp>
      <p:sp>
        <p:nvSpPr>
          <p:cNvPr id="19" name="TextBox 18"/>
          <p:cNvSpPr txBox="1"/>
          <p:nvPr/>
        </p:nvSpPr>
        <p:spPr>
          <a:xfrm>
            <a:off x="6217920" y="3593592"/>
            <a:ext cx="5029200" cy="274320"/>
          </a:xfrm>
          <a:prstGeom prst="rect">
            <a:avLst/>
          </a:prstGeom>
          <a:noFill/>
        </p:spPr>
        <p:txBody>
          <a:bodyPr wrap="square" lIns="0" rIns="0" tIns="0" bIns="0" anchor="t">
            <a:spAutoFit/>
          </a:bodyPr>
          <a:lstStyle/>
          <a:p>
            <a:pPr algn="l">
              <a:spcAft>
                <a:spcPts val="0"/>
              </a:spcAft>
            </a:pPr>
            <a:r>
              <a:rPr sz="1200" b="0">
                <a:solidFill>
                  <a:srgbClr val="6B7280"/>
                </a:solidFill>
                <a:latin typeface="맑은 고딕"/>
                <a:ea typeface="맑은 고딕"/>
                <a:cs typeface="맑은 고딕"/>
              </a:rPr>
              <a:t>GP16이 들어갈 줄과 GND로 갈 줄에 걸쳐 꽂습니다.</a:t>
            </a:r>
          </a:p>
        </p:txBody>
      </p:sp>
      <p:sp>
        <p:nvSpPr>
          <p:cNvPr id="20" name="Rounded Rectangle 19"/>
          <p:cNvSpPr/>
          <p:nvPr/>
        </p:nvSpPr>
        <p:spPr>
          <a:xfrm>
            <a:off x="685800" y="4114800"/>
            <a:ext cx="10817352" cy="640080"/>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Oval 20"/>
          <p:cNvSpPr/>
          <p:nvPr/>
        </p:nvSpPr>
        <p:spPr>
          <a:xfrm>
            <a:off x="960120" y="425196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960120" y="425196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4</a:t>
            </a:r>
          </a:p>
        </p:txBody>
      </p:sp>
      <p:sp>
        <p:nvSpPr>
          <p:cNvPr id="23" name="TextBox 22"/>
          <p:cNvSpPr txBox="1"/>
          <p:nvPr/>
        </p:nvSpPr>
        <p:spPr>
          <a:xfrm>
            <a:off x="1508760" y="4306824"/>
            <a:ext cx="457200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점퍼선 세 개를 연결합니다</a:t>
            </a:r>
          </a:p>
        </p:txBody>
      </p:sp>
      <p:sp>
        <p:nvSpPr>
          <p:cNvPr id="24" name="TextBox 23"/>
          <p:cNvSpPr txBox="1"/>
          <p:nvPr/>
        </p:nvSpPr>
        <p:spPr>
          <a:xfrm>
            <a:off x="6217920" y="4325112"/>
            <a:ext cx="5029200" cy="274320"/>
          </a:xfrm>
          <a:prstGeom prst="rect">
            <a:avLst/>
          </a:prstGeom>
          <a:noFill/>
        </p:spPr>
        <p:txBody>
          <a:bodyPr wrap="square" lIns="0" rIns="0" tIns="0" bIns="0" anchor="t">
            <a:spAutoFit/>
          </a:bodyPr>
          <a:lstStyle/>
          <a:p>
            <a:pPr algn="l">
              <a:spcAft>
                <a:spcPts val="0"/>
              </a:spcAft>
            </a:pPr>
            <a:r>
              <a:rPr sz="1200" b="0">
                <a:solidFill>
                  <a:srgbClr val="6B7280"/>
                </a:solidFill>
                <a:latin typeface="맑은 고딕"/>
                <a:ea typeface="맑은 고딕"/>
                <a:cs typeface="맑은 고딕"/>
              </a:rPr>
              <a:t>3V3 → 버튼 왼쪽, 버튼 오른쪽 → GP16, 저항 끝 → GND.</a:t>
            </a:r>
          </a:p>
        </p:txBody>
      </p:sp>
      <p:sp>
        <p:nvSpPr>
          <p:cNvPr id="25" name="Rounded Rectangle 24"/>
          <p:cNvSpPr/>
          <p:nvPr/>
        </p:nvSpPr>
        <p:spPr>
          <a:xfrm>
            <a:off x="685800" y="4846320"/>
            <a:ext cx="10817352" cy="640080"/>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Oval 25"/>
          <p:cNvSpPr/>
          <p:nvPr/>
        </p:nvSpPr>
        <p:spPr>
          <a:xfrm>
            <a:off x="960120" y="498348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960120" y="498348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5</a:t>
            </a:r>
          </a:p>
        </p:txBody>
      </p:sp>
      <p:sp>
        <p:nvSpPr>
          <p:cNvPr id="28" name="TextBox 27"/>
          <p:cNvSpPr txBox="1"/>
          <p:nvPr/>
        </p:nvSpPr>
        <p:spPr>
          <a:xfrm>
            <a:off x="1508760" y="5038344"/>
            <a:ext cx="4572000" cy="274320"/>
          </a:xfrm>
          <a:prstGeom prst="rect">
            <a:avLst/>
          </a:prstGeom>
          <a:noFill/>
        </p:spPr>
        <p:txBody>
          <a:bodyPr wrap="square" lIns="0" rIns="0" tIns="0" bIns="0" anchor="t">
            <a:spAutoFit/>
          </a:bodyPr>
          <a:lstStyle/>
          <a:p>
            <a:pPr algn="l">
              <a:spcAft>
                <a:spcPts val="0"/>
              </a:spcAft>
            </a:pPr>
            <a:r>
              <a:rPr sz="1400" b="1">
                <a:solidFill>
                  <a:srgbClr val="1F2328"/>
                </a:solidFill>
                <a:latin typeface="맑은 고딕"/>
                <a:ea typeface="맑은 고딕"/>
                <a:cs typeface="맑은 고딕"/>
              </a:rPr>
              <a:t>확인한 뒤 USB를 연결합니다</a:t>
            </a:r>
          </a:p>
        </p:txBody>
      </p:sp>
      <p:sp>
        <p:nvSpPr>
          <p:cNvPr id="29" name="TextBox 28"/>
          <p:cNvSpPr txBox="1"/>
          <p:nvPr/>
        </p:nvSpPr>
        <p:spPr>
          <a:xfrm>
            <a:off x="6217920" y="5056632"/>
            <a:ext cx="5029200" cy="274320"/>
          </a:xfrm>
          <a:prstGeom prst="rect">
            <a:avLst/>
          </a:prstGeom>
          <a:noFill/>
        </p:spPr>
        <p:txBody>
          <a:bodyPr wrap="square" lIns="0" rIns="0" tIns="0" bIns="0" anchor="t">
            <a:spAutoFit/>
          </a:bodyPr>
          <a:lstStyle/>
          <a:p>
            <a:pPr algn="l">
              <a:spcAft>
                <a:spcPts val="0"/>
              </a:spcAft>
            </a:pPr>
            <a:r>
              <a:rPr sz="1200" b="0">
                <a:solidFill>
                  <a:srgbClr val="6B7280"/>
                </a:solidFill>
                <a:latin typeface="맑은 고딕"/>
                <a:ea typeface="맑은 고딕"/>
                <a:cs typeface="맑은 고딕"/>
              </a:rPr>
              <a:t>220Ω과 10kΩ을 바꿔 꽂지 않았는지 색띠로 확인합니다.</a:t>
            </a:r>
          </a:p>
        </p:txBody>
      </p:sp>
      <p:sp>
        <p:nvSpPr>
          <p:cNvPr id="30" name="Rounded Rectangle 29"/>
          <p:cNvSpPr/>
          <p:nvPr/>
        </p:nvSpPr>
        <p:spPr>
          <a:xfrm>
            <a:off x="685800" y="5715000"/>
            <a:ext cx="10817352" cy="685800"/>
          </a:xfrm>
          <a:prstGeom prst="roundRect">
            <a:avLst>
              <a:gd name="adj" fmla="val 7000"/>
            </a:avLst>
          </a:prstGeom>
          <a:solidFill>
            <a:srgbClr val="FDF3F4"/>
          </a:solidFill>
          <a:ln w="12700">
            <a:solidFill>
              <a:srgbClr val="F0A9A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051560" y="5916168"/>
            <a:ext cx="10058400" cy="365760"/>
          </a:xfrm>
          <a:prstGeom prst="rect">
            <a:avLst/>
          </a:prstGeom>
          <a:noFill/>
        </p:spPr>
        <p:txBody>
          <a:bodyPr wrap="square" lIns="0" rIns="0" tIns="0" bIns="0">
            <a:spAutoFit/>
          </a:bodyPr>
          <a:lstStyle/>
          <a:p>
            <a:pPr algn="l"/>
            <a:r>
              <a:rPr sz="1300" b="1">
                <a:solidFill>
                  <a:srgbClr val="990011"/>
                </a:solidFill>
                <a:latin typeface="맑은 고딕"/>
                <a:ea typeface="맑은 고딕"/>
                <a:cs typeface="맑은 고딕"/>
              </a:rPr>
              <a:t>저항 두 개를 헷갈리지 마세요.  </a:t>
            </a:r>
            <a:r>
              <a:rPr sz="1300" b="0">
                <a:solidFill>
                  <a:srgbClr val="4B5563"/>
                </a:solidFill>
                <a:latin typeface="맑은 고딕"/>
                <a:ea typeface="맑은 고딕"/>
                <a:cs typeface="맑은 고딕"/>
              </a:rPr>
              <a:t>220Ω은 빨강·빨강·갈색, 10kΩ은 갈색·검정·주황입니다. 바꿔 꽂으면 버튼이 동작하지 않습니다.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CODE 1</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먼저 값이 잘 읽히는지 확인합니다</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LED는 아직 건드리지 않습니다. 버튼 값만 화면에 찍어 봅니다.</a:t>
            </a:r>
          </a:p>
        </p:txBody>
      </p:sp>
      <p:sp>
        <p:nvSpPr>
          <p:cNvPr id="5" name="Rounded Rectangle 4"/>
          <p:cNvSpPr/>
          <p:nvPr/>
        </p:nvSpPr>
        <p:spPr>
          <a:xfrm>
            <a:off x="685800" y="2011680"/>
            <a:ext cx="5669280" cy="2788920"/>
          </a:xfrm>
          <a:prstGeom prst="roundRect">
            <a:avLst>
              <a:gd name="adj" fmla="val 1799"/>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2148840"/>
            <a:ext cx="3200400" cy="256032"/>
          </a:xfrm>
          <a:prstGeom prst="rect">
            <a:avLst/>
          </a:prstGeom>
          <a:noFill/>
        </p:spPr>
        <p:txBody>
          <a:bodyPr wrap="square" lIns="0" rIns="0" tIns="0" bIns="0" anchor="t">
            <a:spAutoFit/>
          </a:bodyPr>
          <a:lstStyle/>
          <a:p>
            <a:pPr algn="l">
              <a:spcAft>
                <a:spcPts val="0"/>
              </a:spcAft>
            </a:pPr>
            <a:r>
              <a:rPr sz="1000" b="0">
                <a:solidFill>
                  <a:srgbClr val="7A828A"/>
                </a:solidFill>
                <a:latin typeface="Consolas"/>
                <a:ea typeface="Consolas"/>
                <a:cs typeface="Consolas"/>
              </a:rPr>
              <a:t>button_test.py</a:t>
            </a:r>
          </a:p>
        </p:txBody>
      </p:sp>
      <p:sp>
        <p:nvSpPr>
          <p:cNvPr id="7" name="TextBox 6"/>
          <p:cNvSpPr txBox="1"/>
          <p:nvPr/>
        </p:nvSpPr>
        <p:spPr>
          <a:xfrm>
            <a:off x="960120" y="2487168"/>
            <a:ext cx="5120640" cy="274320"/>
          </a:xfrm>
          <a:prstGeom prst="rect">
            <a:avLst/>
          </a:prstGeom>
          <a:noFill/>
        </p:spPr>
        <p:txBody>
          <a:bodyPr wrap="none" lIns="0" rIns="0" tIns="0" bIns="0" anchor="t">
            <a:spAutoFit/>
          </a:bodyPr>
          <a:lstStyle/>
          <a:p>
            <a:pPr algn="l">
              <a:spcAft>
                <a:spcPts val="0"/>
              </a:spcAft>
            </a:pPr>
            <a:r>
              <a:rPr sz="1400" b="0">
                <a:solidFill>
                  <a:srgbClr val="F0A9AE"/>
                </a:solidFill>
                <a:latin typeface="Consolas"/>
                <a:ea typeface="Consolas"/>
                <a:cs typeface="Consolas"/>
              </a:rPr>
              <a:t>from machine import Pin</a:t>
            </a:r>
          </a:p>
        </p:txBody>
      </p:sp>
      <p:sp>
        <p:nvSpPr>
          <p:cNvPr id="8" name="TextBox 7"/>
          <p:cNvSpPr txBox="1"/>
          <p:nvPr/>
        </p:nvSpPr>
        <p:spPr>
          <a:xfrm>
            <a:off x="960120" y="2798064"/>
            <a:ext cx="5120640" cy="274320"/>
          </a:xfrm>
          <a:prstGeom prst="rect">
            <a:avLst/>
          </a:prstGeom>
          <a:noFill/>
        </p:spPr>
        <p:txBody>
          <a:bodyPr wrap="none" lIns="0" rIns="0" tIns="0" bIns="0" anchor="t">
            <a:spAutoFit/>
          </a:bodyPr>
          <a:lstStyle/>
          <a:p>
            <a:pPr algn="l">
              <a:spcAft>
                <a:spcPts val="0"/>
              </a:spcAft>
            </a:pPr>
            <a:r>
              <a:rPr sz="1400" b="0">
                <a:solidFill>
                  <a:srgbClr val="F0A9AE"/>
                </a:solidFill>
                <a:latin typeface="Consolas"/>
                <a:ea typeface="Consolas"/>
                <a:cs typeface="Consolas"/>
              </a:rPr>
              <a:t>from time import sleep</a:t>
            </a:r>
          </a:p>
        </p:txBody>
      </p:sp>
      <p:sp>
        <p:nvSpPr>
          <p:cNvPr id="9" name="TextBox 8"/>
          <p:cNvSpPr txBox="1"/>
          <p:nvPr/>
        </p:nvSpPr>
        <p:spPr>
          <a:xfrm>
            <a:off x="960120" y="3291840"/>
            <a:ext cx="5120640" cy="274320"/>
          </a:xfrm>
          <a:prstGeom prst="rect">
            <a:avLst/>
          </a:prstGeom>
          <a:noFill/>
        </p:spPr>
        <p:txBody>
          <a:bodyPr wrap="none" lIns="0" rIns="0" tIns="0" bIns="0" anchor="t">
            <a:spAutoFit/>
          </a:bodyPr>
          <a:lstStyle/>
          <a:p>
            <a:pPr algn="l">
              <a:spcAft>
                <a:spcPts val="0"/>
              </a:spcAft>
            </a:pPr>
            <a:r>
              <a:rPr sz="1400" b="0">
                <a:solidFill>
                  <a:srgbClr val="FFFFFF"/>
                </a:solidFill>
                <a:latin typeface="Consolas"/>
                <a:ea typeface="Consolas"/>
                <a:cs typeface="Consolas"/>
              </a:rPr>
              <a:t>btn = Pin(16, Pin.IN)</a:t>
            </a:r>
          </a:p>
        </p:txBody>
      </p:sp>
      <p:sp>
        <p:nvSpPr>
          <p:cNvPr id="10" name="TextBox 9"/>
          <p:cNvSpPr txBox="1"/>
          <p:nvPr/>
        </p:nvSpPr>
        <p:spPr>
          <a:xfrm>
            <a:off x="960120" y="3785615"/>
            <a:ext cx="5120640" cy="274320"/>
          </a:xfrm>
          <a:prstGeom prst="rect">
            <a:avLst/>
          </a:prstGeom>
          <a:noFill/>
        </p:spPr>
        <p:txBody>
          <a:bodyPr wrap="none" lIns="0" rIns="0" tIns="0" bIns="0" anchor="t">
            <a:spAutoFit/>
          </a:bodyPr>
          <a:lstStyle/>
          <a:p>
            <a:pPr algn="l">
              <a:spcAft>
                <a:spcPts val="0"/>
              </a:spcAft>
            </a:pPr>
            <a:r>
              <a:rPr sz="1400" b="0">
                <a:solidFill>
                  <a:srgbClr val="8FD3E8"/>
                </a:solidFill>
                <a:latin typeface="Consolas"/>
                <a:ea typeface="Consolas"/>
                <a:cs typeface="Consolas"/>
              </a:rPr>
              <a:t>while True:</a:t>
            </a:r>
          </a:p>
        </p:txBody>
      </p:sp>
      <p:sp>
        <p:nvSpPr>
          <p:cNvPr id="11" name="TextBox 10"/>
          <p:cNvSpPr txBox="1"/>
          <p:nvPr/>
        </p:nvSpPr>
        <p:spPr>
          <a:xfrm>
            <a:off x="960120" y="4096512"/>
            <a:ext cx="5120640" cy="274320"/>
          </a:xfrm>
          <a:prstGeom prst="rect">
            <a:avLst/>
          </a:prstGeom>
          <a:noFill/>
        </p:spPr>
        <p:txBody>
          <a:bodyPr wrap="none" lIns="0" rIns="0" tIns="0" bIns="0" anchor="t">
            <a:spAutoFit/>
          </a:bodyPr>
          <a:lstStyle/>
          <a:p>
            <a:pPr algn="l">
              <a:spcAft>
                <a:spcPts val="0"/>
              </a:spcAft>
            </a:pPr>
            <a:r>
              <a:rPr sz="1400" b="0">
                <a:solidFill>
                  <a:srgbClr val="FFFFFF"/>
                </a:solidFill>
                <a:latin typeface="Consolas"/>
                <a:ea typeface="Consolas"/>
                <a:cs typeface="Consolas"/>
              </a:rPr>
              <a:t>    print(btn.value())</a:t>
            </a:r>
          </a:p>
        </p:txBody>
      </p:sp>
      <p:sp>
        <p:nvSpPr>
          <p:cNvPr id="12" name="TextBox 11"/>
          <p:cNvSpPr txBox="1"/>
          <p:nvPr/>
        </p:nvSpPr>
        <p:spPr>
          <a:xfrm>
            <a:off x="960120" y="4407408"/>
            <a:ext cx="5120640" cy="274320"/>
          </a:xfrm>
          <a:prstGeom prst="rect">
            <a:avLst/>
          </a:prstGeom>
          <a:noFill/>
        </p:spPr>
        <p:txBody>
          <a:bodyPr wrap="none" lIns="0" rIns="0" tIns="0" bIns="0" anchor="t">
            <a:spAutoFit/>
          </a:bodyPr>
          <a:lstStyle/>
          <a:p>
            <a:pPr algn="l">
              <a:spcAft>
                <a:spcPts val="0"/>
              </a:spcAft>
            </a:pPr>
            <a:r>
              <a:rPr sz="1400" b="0">
                <a:solidFill>
                  <a:srgbClr val="FFFFFF"/>
                </a:solidFill>
                <a:latin typeface="Consolas"/>
                <a:ea typeface="Consolas"/>
                <a:cs typeface="Consolas"/>
              </a:rPr>
              <a:t>    sleep(0.3)</a:t>
            </a:r>
          </a:p>
        </p:txBody>
      </p:sp>
      <p:sp>
        <p:nvSpPr>
          <p:cNvPr id="13" name="TextBox 12"/>
          <p:cNvSpPr txBox="1"/>
          <p:nvPr/>
        </p:nvSpPr>
        <p:spPr>
          <a:xfrm>
            <a:off x="6629400" y="2057400"/>
            <a:ext cx="86868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4행</a:t>
            </a:r>
          </a:p>
        </p:txBody>
      </p:sp>
      <p:sp>
        <p:nvSpPr>
          <p:cNvPr id="14" name="TextBox 13"/>
          <p:cNvSpPr txBox="1"/>
          <p:nvPr/>
        </p:nvSpPr>
        <p:spPr>
          <a:xfrm>
            <a:off x="7543800" y="2057400"/>
            <a:ext cx="393192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16번 핀을 입력으로</a:t>
            </a:r>
          </a:p>
        </p:txBody>
      </p:sp>
      <p:sp>
        <p:nvSpPr>
          <p:cNvPr id="15" name="TextBox 14"/>
          <p:cNvSpPr txBox="1"/>
          <p:nvPr/>
        </p:nvSpPr>
        <p:spPr>
          <a:xfrm>
            <a:off x="7543800" y="2331720"/>
            <a:ext cx="3977639"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Pin.OUT이 아니라 Pin.IN 입니다.</a:t>
            </a:r>
          </a:p>
        </p:txBody>
      </p:sp>
      <p:sp>
        <p:nvSpPr>
          <p:cNvPr id="16" name="TextBox 15"/>
          <p:cNvSpPr txBox="1"/>
          <p:nvPr/>
        </p:nvSpPr>
        <p:spPr>
          <a:xfrm>
            <a:off x="6629400" y="2770632"/>
            <a:ext cx="86868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6행</a:t>
            </a:r>
          </a:p>
        </p:txBody>
      </p:sp>
      <p:sp>
        <p:nvSpPr>
          <p:cNvPr id="17" name="TextBox 16"/>
          <p:cNvSpPr txBox="1"/>
          <p:nvPr/>
        </p:nvSpPr>
        <p:spPr>
          <a:xfrm>
            <a:off x="7543800" y="2770632"/>
            <a:ext cx="393192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무한 반복</a:t>
            </a:r>
          </a:p>
        </p:txBody>
      </p:sp>
      <p:sp>
        <p:nvSpPr>
          <p:cNvPr id="18" name="TextBox 17"/>
          <p:cNvSpPr txBox="1"/>
          <p:nvPr/>
        </p:nvSpPr>
        <p:spPr>
          <a:xfrm>
            <a:off x="7543800" y="3044952"/>
            <a:ext cx="3977639"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값을 계속 확인하기 위해 반복합니다.</a:t>
            </a:r>
          </a:p>
        </p:txBody>
      </p:sp>
      <p:sp>
        <p:nvSpPr>
          <p:cNvPr id="19" name="TextBox 18"/>
          <p:cNvSpPr txBox="1"/>
          <p:nvPr/>
        </p:nvSpPr>
        <p:spPr>
          <a:xfrm>
            <a:off x="6629400" y="3483864"/>
            <a:ext cx="86868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7행</a:t>
            </a:r>
          </a:p>
        </p:txBody>
      </p:sp>
      <p:sp>
        <p:nvSpPr>
          <p:cNvPr id="20" name="TextBox 19"/>
          <p:cNvSpPr txBox="1"/>
          <p:nvPr/>
        </p:nvSpPr>
        <p:spPr>
          <a:xfrm>
            <a:off x="7543800" y="3483864"/>
            <a:ext cx="393192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값을 화면에 찍기</a:t>
            </a:r>
          </a:p>
        </p:txBody>
      </p:sp>
      <p:sp>
        <p:nvSpPr>
          <p:cNvPr id="21" name="TextBox 20"/>
          <p:cNvSpPr txBox="1"/>
          <p:nvPr/>
        </p:nvSpPr>
        <p:spPr>
          <a:xfrm>
            <a:off x="7543800" y="3758184"/>
            <a:ext cx="3977639"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셸 창에 0 또는 1이 계속 나타납니다.</a:t>
            </a:r>
          </a:p>
        </p:txBody>
      </p:sp>
      <p:sp>
        <p:nvSpPr>
          <p:cNvPr id="22" name="TextBox 21"/>
          <p:cNvSpPr txBox="1"/>
          <p:nvPr/>
        </p:nvSpPr>
        <p:spPr>
          <a:xfrm>
            <a:off x="6629400" y="4197096"/>
            <a:ext cx="86868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8행</a:t>
            </a:r>
          </a:p>
        </p:txBody>
      </p:sp>
      <p:sp>
        <p:nvSpPr>
          <p:cNvPr id="23" name="TextBox 22"/>
          <p:cNvSpPr txBox="1"/>
          <p:nvPr/>
        </p:nvSpPr>
        <p:spPr>
          <a:xfrm>
            <a:off x="7543800" y="4197096"/>
            <a:ext cx="393192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0.3초 쉬기</a:t>
            </a:r>
          </a:p>
        </p:txBody>
      </p:sp>
      <p:sp>
        <p:nvSpPr>
          <p:cNvPr id="24" name="TextBox 23"/>
          <p:cNvSpPr txBox="1"/>
          <p:nvPr/>
        </p:nvSpPr>
        <p:spPr>
          <a:xfrm>
            <a:off x="7543800" y="4471416"/>
            <a:ext cx="3977639"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이 줄이 없으면 너무 빨라 읽을 수 없습니다.</a:t>
            </a:r>
          </a:p>
        </p:txBody>
      </p:sp>
      <p:sp>
        <p:nvSpPr>
          <p:cNvPr id="25" name="Rounded Rectangle 24"/>
          <p:cNvSpPr/>
          <p:nvPr/>
        </p:nvSpPr>
        <p:spPr>
          <a:xfrm>
            <a:off x="685800" y="5029200"/>
            <a:ext cx="10817352" cy="1005840"/>
          </a:xfrm>
          <a:prstGeom prst="roundRect">
            <a:avLst>
              <a:gd name="adj" fmla="val 5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051560" y="5230368"/>
            <a:ext cx="10058400" cy="256032"/>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이렇게 나와야 정상입니다</a:t>
            </a:r>
          </a:p>
        </p:txBody>
      </p:sp>
      <p:sp>
        <p:nvSpPr>
          <p:cNvPr id="27" name="TextBox 26"/>
          <p:cNvSpPr txBox="1"/>
          <p:nvPr/>
        </p:nvSpPr>
        <p:spPr>
          <a:xfrm>
            <a:off x="1051560" y="5522976"/>
            <a:ext cx="10058400" cy="320040"/>
          </a:xfrm>
          <a:prstGeom prst="rect">
            <a:avLst/>
          </a:prstGeom>
          <a:noFill/>
        </p:spPr>
        <p:txBody>
          <a:bodyPr wrap="square" lIns="0" rIns="0" tIns="0" bIns="0">
            <a:spAutoFit/>
          </a:bodyPr>
          <a:lstStyle/>
          <a:p>
            <a:pPr algn="l"/>
            <a:r>
              <a:rPr sz="1350" b="1">
                <a:solidFill>
                  <a:srgbClr val="2E6B45"/>
                </a:solidFill>
                <a:latin typeface="Consolas"/>
                <a:ea typeface="Consolas"/>
                <a:cs typeface="Consolas"/>
              </a:rPr>
              <a:t>안 누르면 0 0 0 0</a:t>
            </a:r>
            <a:r>
              <a:rPr sz="1250" b="0">
                <a:solidFill>
                  <a:srgbClr val="4B5563"/>
                </a:solidFill>
                <a:latin typeface="맑은 고딕"/>
                <a:ea typeface="맑은 고딕"/>
                <a:cs typeface="맑은 고딕"/>
              </a:rPr>
              <a:t>     누르고 있으면 </a:t>
            </a:r>
            <a:r>
              <a:rPr sz="1350" b="1">
                <a:solidFill>
                  <a:srgbClr val="990011"/>
                </a:solidFill>
                <a:latin typeface="Consolas"/>
                <a:ea typeface="Consolas"/>
                <a:cs typeface="Consolas"/>
              </a:rPr>
              <a:t>1 1 1 1</a:t>
            </a:r>
            <a:r>
              <a:rPr sz="1250" b="0">
                <a:solidFill>
                  <a:srgbClr val="4B5563"/>
                </a:solidFill>
                <a:latin typeface="맑은 고딕"/>
                <a:ea typeface="맑은 고딕"/>
                <a:cs typeface="맑은 고딕"/>
              </a:rPr>
              <a:t>     안 눌렀는데 1이 섞여 나오면 풀다운 저항을 확인하세요.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CODE 2</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버튼으로 LED 켜기</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값을 읽는 데 성공했다면, 이제 그 값에 따라 LED를 켜고 끕니다.</a:t>
            </a:r>
          </a:p>
        </p:txBody>
      </p:sp>
      <p:sp>
        <p:nvSpPr>
          <p:cNvPr id="5" name="Rounded Rectangle 4"/>
          <p:cNvSpPr/>
          <p:nvPr/>
        </p:nvSpPr>
        <p:spPr>
          <a:xfrm>
            <a:off x="685800" y="2011680"/>
            <a:ext cx="5669280" cy="2971800"/>
          </a:xfrm>
          <a:prstGeom prst="roundRect">
            <a:avLst>
              <a:gd name="adj" fmla="val 1799"/>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2148840"/>
            <a:ext cx="3200400" cy="256032"/>
          </a:xfrm>
          <a:prstGeom prst="rect">
            <a:avLst/>
          </a:prstGeom>
          <a:noFill/>
        </p:spPr>
        <p:txBody>
          <a:bodyPr wrap="square" lIns="0" rIns="0" tIns="0" bIns="0" anchor="t">
            <a:spAutoFit/>
          </a:bodyPr>
          <a:lstStyle/>
          <a:p>
            <a:pPr algn="l">
              <a:spcAft>
                <a:spcPts val="0"/>
              </a:spcAft>
            </a:pPr>
            <a:r>
              <a:rPr sz="1000" b="0">
                <a:solidFill>
                  <a:srgbClr val="7A828A"/>
                </a:solidFill>
                <a:latin typeface="Consolas"/>
                <a:ea typeface="Consolas"/>
                <a:cs typeface="Consolas"/>
              </a:rPr>
              <a:t>button_led.py</a:t>
            </a:r>
          </a:p>
        </p:txBody>
      </p:sp>
      <p:sp>
        <p:nvSpPr>
          <p:cNvPr id="7" name="TextBox 6"/>
          <p:cNvSpPr txBox="1"/>
          <p:nvPr/>
        </p:nvSpPr>
        <p:spPr>
          <a:xfrm>
            <a:off x="960120" y="2487168"/>
            <a:ext cx="5120640" cy="274320"/>
          </a:xfrm>
          <a:prstGeom prst="rect">
            <a:avLst/>
          </a:prstGeom>
          <a:noFill/>
        </p:spPr>
        <p:txBody>
          <a:bodyPr wrap="none" lIns="0" rIns="0" tIns="0" bIns="0" anchor="t">
            <a:spAutoFit/>
          </a:bodyPr>
          <a:lstStyle/>
          <a:p>
            <a:pPr algn="l">
              <a:spcAft>
                <a:spcPts val="0"/>
              </a:spcAft>
            </a:pPr>
            <a:r>
              <a:rPr sz="1350" b="0">
                <a:solidFill>
                  <a:srgbClr val="F0A9AE"/>
                </a:solidFill>
                <a:latin typeface="Consolas"/>
                <a:ea typeface="Consolas"/>
                <a:cs typeface="Consolas"/>
              </a:rPr>
              <a:t>from machine import Pin</a:t>
            </a:r>
          </a:p>
        </p:txBody>
      </p:sp>
      <p:sp>
        <p:nvSpPr>
          <p:cNvPr id="8" name="TextBox 7"/>
          <p:cNvSpPr txBox="1"/>
          <p:nvPr/>
        </p:nvSpPr>
        <p:spPr>
          <a:xfrm>
            <a:off x="960120" y="2926080"/>
            <a:ext cx="5120640" cy="274320"/>
          </a:xfrm>
          <a:prstGeom prst="rect">
            <a:avLst/>
          </a:prstGeom>
          <a:noFill/>
        </p:spPr>
        <p:txBody>
          <a:bodyPr wrap="none" lIns="0" rIns="0" tIns="0" bIns="0" anchor="t">
            <a:spAutoFit/>
          </a:bodyPr>
          <a:lstStyle/>
          <a:p>
            <a:pPr algn="l">
              <a:spcAft>
                <a:spcPts val="0"/>
              </a:spcAft>
            </a:pPr>
            <a:r>
              <a:rPr sz="1350" b="0">
                <a:solidFill>
                  <a:srgbClr val="FFFFFF"/>
                </a:solidFill>
                <a:latin typeface="Consolas"/>
                <a:ea typeface="Consolas"/>
                <a:cs typeface="Consolas"/>
              </a:rPr>
              <a:t>led = Pin(15, Pin.OUT)</a:t>
            </a:r>
          </a:p>
        </p:txBody>
      </p:sp>
      <p:sp>
        <p:nvSpPr>
          <p:cNvPr id="9" name="TextBox 8"/>
          <p:cNvSpPr txBox="1"/>
          <p:nvPr/>
        </p:nvSpPr>
        <p:spPr>
          <a:xfrm>
            <a:off x="960120" y="3200400"/>
            <a:ext cx="5120640" cy="274320"/>
          </a:xfrm>
          <a:prstGeom prst="rect">
            <a:avLst/>
          </a:prstGeom>
          <a:noFill/>
        </p:spPr>
        <p:txBody>
          <a:bodyPr wrap="none" lIns="0" rIns="0" tIns="0" bIns="0" anchor="t">
            <a:spAutoFit/>
          </a:bodyPr>
          <a:lstStyle/>
          <a:p>
            <a:pPr algn="l">
              <a:spcAft>
                <a:spcPts val="0"/>
              </a:spcAft>
            </a:pPr>
            <a:r>
              <a:rPr sz="1350" b="0">
                <a:solidFill>
                  <a:srgbClr val="FFFFFF"/>
                </a:solidFill>
                <a:latin typeface="Consolas"/>
                <a:ea typeface="Consolas"/>
                <a:cs typeface="Consolas"/>
              </a:rPr>
              <a:t>btn = Pin(16, Pin.IN)</a:t>
            </a:r>
          </a:p>
        </p:txBody>
      </p:sp>
      <p:sp>
        <p:nvSpPr>
          <p:cNvPr id="10" name="TextBox 9"/>
          <p:cNvSpPr txBox="1"/>
          <p:nvPr/>
        </p:nvSpPr>
        <p:spPr>
          <a:xfrm>
            <a:off x="960120" y="3639312"/>
            <a:ext cx="5120640" cy="274320"/>
          </a:xfrm>
          <a:prstGeom prst="rect">
            <a:avLst/>
          </a:prstGeom>
          <a:noFill/>
        </p:spPr>
        <p:txBody>
          <a:bodyPr wrap="none" lIns="0" rIns="0" tIns="0" bIns="0" anchor="t">
            <a:spAutoFit/>
          </a:bodyPr>
          <a:lstStyle/>
          <a:p>
            <a:pPr algn="l">
              <a:spcAft>
                <a:spcPts val="0"/>
              </a:spcAft>
            </a:pPr>
            <a:r>
              <a:rPr sz="1350" b="0">
                <a:solidFill>
                  <a:srgbClr val="8FD3E8"/>
                </a:solidFill>
                <a:latin typeface="Consolas"/>
                <a:ea typeface="Consolas"/>
                <a:cs typeface="Consolas"/>
              </a:rPr>
              <a:t>while True:</a:t>
            </a:r>
          </a:p>
        </p:txBody>
      </p:sp>
      <p:sp>
        <p:nvSpPr>
          <p:cNvPr id="11" name="TextBox 10"/>
          <p:cNvSpPr txBox="1"/>
          <p:nvPr/>
        </p:nvSpPr>
        <p:spPr>
          <a:xfrm>
            <a:off x="960120" y="3913632"/>
            <a:ext cx="5120640" cy="274320"/>
          </a:xfrm>
          <a:prstGeom prst="rect">
            <a:avLst/>
          </a:prstGeom>
          <a:noFill/>
        </p:spPr>
        <p:txBody>
          <a:bodyPr wrap="none" lIns="0" rIns="0" tIns="0" bIns="0" anchor="t">
            <a:spAutoFit/>
          </a:bodyPr>
          <a:lstStyle/>
          <a:p>
            <a:pPr algn="l">
              <a:spcAft>
                <a:spcPts val="0"/>
              </a:spcAft>
            </a:pPr>
            <a:r>
              <a:rPr sz="1350" b="0">
                <a:solidFill>
                  <a:srgbClr val="8FD3E8"/>
                </a:solidFill>
                <a:latin typeface="Consolas"/>
                <a:ea typeface="Consolas"/>
                <a:cs typeface="Consolas"/>
              </a:rPr>
              <a:t>    if btn.value() == 1:</a:t>
            </a:r>
          </a:p>
        </p:txBody>
      </p:sp>
      <p:sp>
        <p:nvSpPr>
          <p:cNvPr id="12" name="TextBox 11"/>
          <p:cNvSpPr txBox="1"/>
          <p:nvPr/>
        </p:nvSpPr>
        <p:spPr>
          <a:xfrm>
            <a:off x="960120" y="4187952"/>
            <a:ext cx="5120640" cy="274320"/>
          </a:xfrm>
          <a:prstGeom prst="rect">
            <a:avLst/>
          </a:prstGeom>
          <a:noFill/>
        </p:spPr>
        <p:txBody>
          <a:bodyPr wrap="none" lIns="0" rIns="0" tIns="0" bIns="0" anchor="t">
            <a:spAutoFit/>
          </a:bodyPr>
          <a:lstStyle/>
          <a:p>
            <a:pPr algn="l">
              <a:spcAft>
                <a:spcPts val="0"/>
              </a:spcAft>
            </a:pPr>
            <a:r>
              <a:rPr sz="1350" b="0">
                <a:solidFill>
                  <a:srgbClr val="FFFFFF"/>
                </a:solidFill>
                <a:latin typeface="Consolas"/>
                <a:ea typeface="Consolas"/>
                <a:cs typeface="Consolas"/>
              </a:rPr>
              <a:t>        led.on()</a:t>
            </a:r>
          </a:p>
        </p:txBody>
      </p:sp>
      <p:sp>
        <p:nvSpPr>
          <p:cNvPr id="13" name="TextBox 12"/>
          <p:cNvSpPr txBox="1"/>
          <p:nvPr/>
        </p:nvSpPr>
        <p:spPr>
          <a:xfrm>
            <a:off x="960120" y="4462272"/>
            <a:ext cx="5120640" cy="274320"/>
          </a:xfrm>
          <a:prstGeom prst="rect">
            <a:avLst/>
          </a:prstGeom>
          <a:noFill/>
        </p:spPr>
        <p:txBody>
          <a:bodyPr wrap="none" lIns="0" rIns="0" tIns="0" bIns="0" anchor="t">
            <a:spAutoFit/>
          </a:bodyPr>
          <a:lstStyle/>
          <a:p>
            <a:pPr algn="l">
              <a:spcAft>
                <a:spcPts val="0"/>
              </a:spcAft>
            </a:pPr>
            <a:r>
              <a:rPr sz="1350" b="0">
                <a:solidFill>
                  <a:srgbClr val="8FD3E8"/>
                </a:solidFill>
                <a:latin typeface="Consolas"/>
                <a:ea typeface="Consolas"/>
                <a:cs typeface="Consolas"/>
              </a:rPr>
              <a:t>    else:</a:t>
            </a:r>
          </a:p>
        </p:txBody>
      </p:sp>
      <p:sp>
        <p:nvSpPr>
          <p:cNvPr id="14" name="TextBox 13"/>
          <p:cNvSpPr txBox="1"/>
          <p:nvPr/>
        </p:nvSpPr>
        <p:spPr>
          <a:xfrm>
            <a:off x="960120" y="4736592"/>
            <a:ext cx="5120640" cy="274320"/>
          </a:xfrm>
          <a:prstGeom prst="rect">
            <a:avLst/>
          </a:prstGeom>
          <a:noFill/>
        </p:spPr>
        <p:txBody>
          <a:bodyPr wrap="none" lIns="0" rIns="0" tIns="0" bIns="0" anchor="t">
            <a:spAutoFit/>
          </a:bodyPr>
          <a:lstStyle/>
          <a:p>
            <a:pPr algn="l">
              <a:spcAft>
                <a:spcPts val="0"/>
              </a:spcAft>
            </a:pPr>
            <a:r>
              <a:rPr sz="1350" b="0">
                <a:solidFill>
                  <a:srgbClr val="FFFFFF"/>
                </a:solidFill>
                <a:latin typeface="Consolas"/>
                <a:ea typeface="Consolas"/>
                <a:cs typeface="Consolas"/>
              </a:rPr>
              <a:t>        led.off()</a:t>
            </a:r>
          </a:p>
        </p:txBody>
      </p:sp>
      <p:sp>
        <p:nvSpPr>
          <p:cNvPr id="15" name="TextBox 14"/>
          <p:cNvSpPr txBox="1"/>
          <p:nvPr/>
        </p:nvSpPr>
        <p:spPr>
          <a:xfrm>
            <a:off x="6629400" y="2057400"/>
            <a:ext cx="96012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2~3행</a:t>
            </a:r>
          </a:p>
        </p:txBody>
      </p:sp>
      <p:sp>
        <p:nvSpPr>
          <p:cNvPr id="16" name="TextBox 15"/>
          <p:cNvSpPr txBox="1"/>
          <p:nvPr/>
        </p:nvSpPr>
        <p:spPr>
          <a:xfrm>
            <a:off x="7726679" y="2057400"/>
            <a:ext cx="3749039"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출력과 입력을 함께</a:t>
            </a:r>
          </a:p>
        </p:txBody>
      </p:sp>
      <p:sp>
        <p:nvSpPr>
          <p:cNvPr id="17" name="TextBox 16"/>
          <p:cNvSpPr txBox="1"/>
          <p:nvPr/>
        </p:nvSpPr>
        <p:spPr>
          <a:xfrm>
            <a:off x="7726679" y="2331720"/>
            <a:ext cx="3776472"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GP15는 출력(LED), GP16은 입력(버튼)입니다.</a:t>
            </a:r>
          </a:p>
        </p:txBody>
      </p:sp>
      <p:sp>
        <p:nvSpPr>
          <p:cNvPr id="18" name="TextBox 17"/>
          <p:cNvSpPr txBox="1"/>
          <p:nvPr/>
        </p:nvSpPr>
        <p:spPr>
          <a:xfrm>
            <a:off x="6629400" y="2788920"/>
            <a:ext cx="96012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6행</a:t>
            </a:r>
          </a:p>
        </p:txBody>
      </p:sp>
      <p:sp>
        <p:nvSpPr>
          <p:cNvPr id="19" name="TextBox 18"/>
          <p:cNvSpPr txBox="1"/>
          <p:nvPr/>
        </p:nvSpPr>
        <p:spPr>
          <a:xfrm>
            <a:off x="7726679" y="2788920"/>
            <a:ext cx="3749039"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값이 1이라면</a:t>
            </a:r>
          </a:p>
        </p:txBody>
      </p:sp>
      <p:sp>
        <p:nvSpPr>
          <p:cNvPr id="20" name="TextBox 19"/>
          <p:cNvSpPr txBox="1"/>
          <p:nvPr/>
        </p:nvSpPr>
        <p:spPr>
          <a:xfrm>
            <a:off x="7726679" y="3063239"/>
            <a:ext cx="3776472"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 는 '같은가?'를 묻는 기호입니다. = 두 개입니다.</a:t>
            </a:r>
          </a:p>
        </p:txBody>
      </p:sp>
      <p:sp>
        <p:nvSpPr>
          <p:cNvPr id="21" name="TextBox 20"/>
          <p:cNvSpPr txBox="1"/>
          <p:nvPr/>
        </p:nvSpPr>
        <p:spPr>
          <a:xfrm>
            <a:off x="6629400" y="3520440"/>
            <a:ext cx="96012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7행</a:t>
            </a:r>
          </a:p>
        </p:txBody>
      </p:sp>
      <p:sp>
        <p:nvSpPr>
          <p:cNvPr id="22" name="TextBox 21"/>
          <p:cNvSpPr txBox="1"/>
          <p:nvPr/>
        </p:nvSpPr>
        <p:spPr>
          <a:xfrm>
            <a:off x="7726679" y="3520440"/>
            <a:ext cx="3749039"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LED를 켠다</a:t>
            </a:r>
          </a:p>
        </p:txBody>
      </p:sp>
      <p:sp>
        <p:nvSpPr>
          <p:cNvPr id="23" name="TextBox 22"/>
          <p:cNvSpPr txBox="1"/>
          <p:nvPr/>
        </p:nvSpPr>
        <p:spPr>
          <a:xfrm>
            <a:off x="7726679" y="3794760"/>
            <a:ext cx="3776472"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if 아래 줄은 8칸 들여씁니다.</a:t>
            </a:r>
          </a:p>
        </p:txBody>
      </p:sp>
      <p:sp>
        <p:nvSpPr>
          <p:cNvPr id="24" name="TextBox 23"/>
          <p:cNvSpPr txBox="1"/>
          <p:nvPr/>
        </p:nvSpPr>
        <p:spPr>
          <a:xfrm>
            <a:off x="6629400" y="4251960"/>
            <a:ext cx="960120" cy="274320"/>
          </a:xfrm>
          <a:prstGeom prst="rect">
            <a:avLst/>
          </a:prstGeom>
          <a:noFill/>
        </p:spPr>
        <p:txBody>
          <a:bodyPr wrap="square" lIns="0" rIns="0" tIns="0" bIns="0" anchor="t">
            <a:spAutoFit/>
          </a:bodyPr>
          <a:lstStyle/>
          <a:p>
            <a:pPr algn="l">
              <a:spcAft>
                <a:spcPts val="0"/>
              </a:spcAft>
            </a:pPr>
            <a:r>
              <a:rPr sz="1150" b="1">
                <a:solidFill>
                  <a:srgbClr val="990011"/>
                </a:solidFill>
                <a:latin typeface="맑은 고딕"/>
                <a:ea typeface="맑은 고딕"/>
                <a:cs typeface="맑은 고딕"/>
              </a:rPr>
              <a:t>8~9행</a:t>
            </a:r>
          </a:p>
        </p:txBody>
      </p:sp>
      <p:sp>
        <p:nvSpPr>
          <p:cNvPr id="25" name="TextBox 24"/>
          <p:cNvSpPr txBox="1"/>
          <p:nvPr/>
        </p:nvSpPr>
        <p:spPr>
          <a:xfrm>
            <a:off x="7726679" y="4251960"/>
            <a:ext cx="3749039"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그렇지 않으면 끈다</a:t>
            </a:r>
          </a:p>
        </p:txBody>
      </p:sp>
      <p:sp>
        <p:nvSpPr>
          <p:cNvPr id="26" name="TextBox 25"/>
          <p:cNvSpPr txBox="1"/>
          <p:nvPr/>
        </p:nvSpPr>
        <p:spPr>
          <a:xfrm>
            <a:off x="7726679" y="4526280"/>
            <a:ext cx="3776472" cy="292608"/>
          </a:xfrm>
          <a:prstGeom prst="rect">
            <a:avLst/>
          </a:prstGeom>
          <a:noFill/>
        </p:spPr>
        <p:txBody>
          <a:bodyPr wrap="square" lIns="0" rIns="0" tIns="0" bIns="0" anchor="t">
            <a:spAutoFit/>
          </a:bodyPr>
          <a:lstStyle/>
          <a:p>
            <a:pPr algn="l">
              <a:spcAft>
                <a:spcPts val="0"/>
              </a:spcAft>
            </a:pPr>
            <a:r>
              <a:rPr sz="1100" b="0">
                <a:solidFill>
                  <a:srgbClr val="6B7280"/>
                </a:solidFill>
                <a:latin typeface="맑은 고딕"/>
                <a:ea typeface="맑은 고딕"/>
                <a:cs typeface="맑은 고딕"/>
              </a:rPr>
              <a:t>else는 나머지 모든 경우를 뜻합니다.</a:t>
            </a:r>
          </a:p>
        </p:txBody>
      </p:sp>
      <p:sp>
        <p:nvSpPr>
          <p:cNvPr id="27" name="Rounded Rectangle 26"/>
          <p:cNvSpPr/>
          <p:nvPr/>
        </p:nvSpPr>
        <p:spPr>
          <a:xfrm>
            <a:off x="685800" y="5212080"/>
            <a:ext cx="10817352" cy="822960"/>
          </a:xfrm>
          <a:prstGeom prst="roundRect">
            <a:avLst>
              <a:gd name="adj" fmla="val 6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051560" y="5468112"/>
            <a:ext cx="10058400" cy="365760"/>
          </a:xfrm>
          <a:prstGeom prst="rect">
            <a:avLst/>
          </a:prstGeom>
          <a:noFill/>
        </p:spPr>
        <p:txBody>
          <a:bodyPr wrap="square" lIns="0" rIns="0" tIns="0" bIns="0">
            <a:spAutoFit/>
          </a:bodyPr>
          <a:lstStyle/>
          <a:p>
            <a:pPr algn="l"/>
            <a:r>
              <a:rPr sz="1350" b="1">
                <a:solidFill>
                  <a:srgbClr val="990011"/>
                </a:solidFill>
                <a:latin typeface="맑은 고딕"/>
                <a:ea typeface="맑은 고딕"/>
                <a:cs typeface="맑은 고딕"/>
              </a:rPr>
              <a:t>드디어 입력 → 처리 → 출력이 한 프로그램에 다 들어왔습니다. </a:t>
            </a:r>
            <a:r>
              <a:rPr sz="1350" b="0">
                <a:solidFill>
                  <a:srgbClr val="4B5563"/>
                </a:solidFill>
                <a:latin typeface="맑은 고딕"/>
                <a:ea typeface="맑은 고딕"/>
                <a:cs typeface="맑은 고딕"/>
              </a:rPr>
              <a:t>버튼을 읽고(입력), 조건을 따지고(처리), LED를 켭니다(출력).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BOUNCING</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한 번 눌렀는데 여러 번 눌린 것처럼</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기계식 버튼은 접점이 붙는 순간 아주 짧게 여러 번 떨립니다. 이를 채터링이라 합니다.</a:t>
            </a:r>
          </a:p>
        </p:txBody>
      </p:sp>
      <p:sp>
        <p:nvSpPr>
          <p:cNvPr id="5" name="Rounded Rectangle 4"/>
          <p:cNvSpPr/>
          <p:nvPr/>
        </p:nvSpPr>
        <p:spPr>
          <a:xfrm>
            <a:off x="685800" y="1965960"/>
            <a:ext cx="5285232" cy="1965960"/>
          </a:xfrm>
          <a:prstGeom prst="roundRect">
            <a:avLst>
              <a:gd name="adj" fmla="val 4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1051560" y="2176272"/>
            <a:ext cx="4572000" cy="274320"/>
          </a:xfrm>
          <a:prstGeom prst="rect">
            <a:avLst/>
          </a:prstGeom>
          <a:noFill/>
        </p:spPr>
        <p:txBody>
          <a:bodyPr wrap="square" lIns="0" rIns="0" tIns="0" bIns="0" anchor="t">
            <a:spAutoFit/>
          </a:bodyPr>
          <a:lstStyle/>
          <a:p>
            <a:pPr algn="l">
              <a:spcAft>
                <a:spcPts val="0"/>
              </a:spcAft>
            </a:pPr>
            <a:r>
              <a:rPr sz="1200" b="1">
                <a:solidFill>
                  <a:srgbClr val="9CA3AF"/>
                </a:solidFill>
                <a:latin typeface="맑은 고딕"/>
                <a:ea typeface="맑은 고딕"/>
                <a:cs typeface="맑은 고딕"/>
              </a:rPr>
              <a:t>사람이 보는 것</a:t>
            </a:r>
          </a:p>
        </p:txBody>
      </p:sp>
      <p:sp>
        <p:nvSpPr>
          <p:cNvPr id="7" name="TextBox 6"/>
          <p:cNvSpPr txBox="1"/>
          <p:nvPr/>
        </p:nvSpPr>
        <p:spPr>
          <a:xfrm>
            <a:off x="1051560" y="2487168"/>
            <a:ext cx="4572000" cy="320040"/>
          </a:xfrm>
          <a:prstGeom prst="rect">
            <a:avLst/>
          </a:prstGeom>
          <a:noFill/>
        </p:spPr>
        <p:txBody>
          <a:bodyPr wrap="square" lIns="0" rIns="0" tIns="0" bIns="0" anchor="t">
            <a:spAutoFit/>
          </a:bodyPr>
          <a:lstStyle/>
          <a:p>
            <a:pPr algn="l">
              <a:spcAft>
                <a:spcPts val="0"/>
              </a:spcAft>
            </a:pPr>
            <a:r>
              <a:rPr sz="1700" b="1">
                <a:solidFill>
                  <a:srgbClr val="4B5563"/>
                </a:solidFill>
                <a:latin typeface="맑은 고딕"/>
                <a:ea typeface="맑은 고딕"/>
                <a:cs typeface="맑은 고딕"/>
              </a:rPr>
              <a:t>한 번 눌렀다</a:t>
            </a:r>
          </a:p>
        </p:txBody>
      </p:sp>
      <p:sp>
        <p:nvSpPr>
          <p:cNvPr id="8" name="TextBox 7"/>
          <p:cNvSpPr txBox="1"/>
          <p:nvPr/>
        </p:nvSpPr>
        <p:spPr>
          <a:xfrm>
            <a:off x="1051560" y="2971800"/>
            <a:ext cx="4754880" cy="640080"/>
          </a:xfrm>
          <a:prstGeom prst="rect">
            <a:avLst/>
          </a:prstGeom>
          <a:noFill/>
        </p:spPr>
        <p:txBody>
          <a:bodyPr wrap="square" lIns="0" rIns="0" tIns="0" bIns="0" anchor="t">
            <a:spAutoFit/>
          </a:bodyPr>
          <a:lstStyle/>
          <a:p>
            <a:pPr algn="l">
              <a:lnSpc>
                <a:spcPct val="140000"/>
              </a:lnSpc>
              <a:spcAft>
                <a:spcPts val="0"/>
              </a:spcAft>
            </a:pPr>
            <a:r>
              <a:rPr sz="1250" b="0">
                <a:solidFill>
                  <a:srgbClr val="6B7280"/>
                </a:solidFill>
                <a:latin typeface="맑은 고딕"/>
                <a:ea typeface="맑은 고딕"/>
                <a:cs typeface="맑은 고딕"/>
              </a:rPr>
              <a:t>손가락으로는 한 번 누른 것이 분명합니다.</a:t>
            </a:r>
          </a:p>
        </p:txBody>
      </p:sp>
      <p:sp>
        <p:nvSpPr>
          <p:cNvPr id="9" name="Rounded Rectangle 8"/>
          <p:cNvSpPr/>
          <p:nvPr/>
        </p:nvSpPr>
        <p:spPr>
          <a:xfrm>
            <a:off x="6217920" y="1965960"/>
            <a:ext cx="5285232" cy="1965960"/>
          </a:xfrm>
          <a:prstGeom prst="roundRect">
            <a:avLst>
              <a:gd name="adj" fmla="val 4000"/>
            </a:avLst>
          </a:prstGeom>
          <a:solidFill>
            <a:srgbClr val="FFFFFF"/>
          </a:solidFill>
          <a:ln w="1905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583680" y="2176272"/>
            <a:ext cx="4572000" cy="274320"/>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보드가 보는 것</a:t>
            </a:r>
          </a:p>
        </p:txBody>
      </p:sp>
      <p:sp>
        <p:nvSpPr>
          <p:cNvPr id="11" name="TextBox 10"/>
          <p:cNvSpPr txBox="1"/>
          <p:nvPr/>
        </p:nvSpPr>
        <p:spPr>
          <a:xfrm>
            <a:off x="6583680" y="2487168"/>
            <a:ext cx="4572000" cy="320040"/>
          </a:xfrm>
          <a:prstGeom prst="rect">
            <a:avLst/>
          </a:prstGeom>
          <a:noFill/>
        </p:spPr>
        <p:txBody>
          <a:bodyPr wrap="square" lIns="0" rIns="0" tIns="0" bIns="0" anchor="t">
            <a:spAutoFit/>
          </a:bodyPr>
          <a:lstStyle/>
          <a:p>
            <a:pPr algn="l">
              <a:spcAft>
                <a:spcPts val="0"/>
              </a:spcAft>
            </a:pPr>
            <a:r>
              <a:rPr sz="1700" b="1">
                <a:solidFill>
                  <a:srgbClr val="1F2328"/>
                </a:solidFill>
                <a:latin typeface="Consolas"/>
                <a:ea typeface="Consolas"/>
                <a:cs typeface="Consolas"/>
              </a:rPr>
              <a:t>1 0 1 1 0 1</a:t>
            </a:r>
          </a:p>
        </p:txBody>
      </p:sp>
      <p:sp>
        <p:nvSpPr>
          <p:cNvPr id="12" name="TextBox 11"/>
          <p:cNvSpPr txBox="1"/>
          <p:nvPr/>
        </p:nvSpPr>
        <p:spPr>
          <a:xfrm>
            <a:off x="6583680" y="2971800"/>
            <a:ext cx="4754880" cy="640080"/>
          </a:xfrm>
          <a:prstGeom prst="rect">
            <a:avLst/>
          </a:prstGeom>
          <a:noFill/>
        </p:spPr>
        <p:txBody>
          <a:bodyPr wrap="square" lIns="0" rIns="0" tIns="0" bIns="0" anchor="t">
            <a:spAutoFit/>
          </a:bodyPr>
          <a:lstStyle/>
          <a:p>
            <a:pPr algn="l">
              <a:lnSpc>
                <a:spcPct val="140000"/>
              </a:lnSpc>
              <a:spcAft>
                <a:spcPts val="0"/>
              </a:spcAft>
            </a:pPr>
            <a:r>
              <a:rPr sz="1250" b="0">
                <a:solidFill>
                  <a:srgbClr val="4B5563"/>
                </a:solidFill>
                <a:latin typeface="맑은 고딕"/>
                <a:ea typeface="맑은 고딕"/>
                <a:cs typeface="맑은 고딕"/>
              </a:rPr>
              <a:t>접점이 붙는 수 밀리초 동안 값이 여러 번 튑니다.</a:t>
            </a:r>
          </a:p>
        </p:txBody>
      </p:sp>
      <p:sp>
        <p:nvSpPr>
          <p:cNvPr id="13" name="Rounded Rectangle 12"/>
          <p:cNvSpPr/>
          <p:nvPr/>
        </p:nvSpPr>
        <p:spPr>
          <a:xfrm>
            <a:off x="685800" y="4160520"/>
            <a:ext cx="5285232" cy="1691640"/>
          </a:xfrm>
          <a:prstGeom prst="roundRect">
            <a:avLst>
              <a:gd name="adj" fmla="val 2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960120" y="4297680"/>
            <a:ext cx="3657600" cy="237744"/>
          </a:xfrm>
          <a:prstGeom prst="rect">
            <a:avLst/>
          </a:prstGeom>
          <a:noFill/>
        </p:spPr>
        <p:txBody>
          <a:bodyPr wrap="square" lIns="0" rIns="0" tIns="0" bIns="0" anchor="t">
            <a:spAutoFit/>
          </a:bodyPr>
          <a:lstStyle/>
          <a:p>
            <a:pPr algn="l">
              <a:spcAft>
                <a:spcPts val="0"/>
              </a:spcAft>
            </a:pPr>
            <a:r>
              <a:rPr sz="1000" b="0">
                <a:solidFill>
                  <a:srgbClr val="7A828A"/>
                </a:solidFill>
                <a:latin typeface="맑은 고딕"/>
                <a:ea typeface="맑은 고딕"/>
                <a:cs typeface="맑은 고딕"/>
              </a:rPr>
              <a:t>가장 간단한 해결</a:t>
            </a:r>
          </a:p>
        </p:txBody>
      </p:sp>
      <p:sp>
        <p:nvSpPr>
          <p:cNvPr id="15" name="TextBox 14"/>
          <p:cNvSpPr txBox="1"/>
          <p:nvPr/>
        </p:nvSpPr>
        <p:spPr>
          <a:xfrm>
            <a:off x="960120" y="4626864"/>
            <a:ext cx="4754880" cy="256032"/>
          </a:xfrm>
          <a:prstGeom prst="rect">
            <a:avLst/>
          </a:prstGeom>
          <a:noFill/>
        </p:spPr>
        <p:txBody>
          <a:bodyPr wrap="none" lIns="0" rIns="0" tIns="0" bIns="0" anchor="t">
            <a:spAutoFit/>
          </a:bodyPr>
          <a:lstStyle/>
          <a:p>
            <a:pPr algn="l">
              <a:spcAft>
                <a:spcPts val="0"/>
              </a:spcAft>
            </a:pPr>
            <a:r>
              <a:rPr sz="1300" b="0">
                <a:solidFill>
                  <a:srgbClr val="8FD3E8"/>
                </a:solidFill>
                <a:latin typeface="Consolas"/>
                <a:ea typeface="Consolas"/>
                <a:cs typeface="Consolas"/>
              </a:rPr>
              <a:t>if btn.value() == 1:</a:t>
            </a:r>
          </a:p>
        </p:txBody>
      </p:sp>
      <p:sp>
        <p:nvSpPr>
          <p:cNvPr id="16" name="TextBox 15"/>
          <p:cNvSpPr txBox="1"/>
          <p:nvPr/>
        </p:nvSpPr>
        <p:spPr>
          <a:xfrm>
            <a:off x="960120" y="4919472"/>
            <a:ext cx="4754880" cy="256032"/>
          </a:xfrm>
          <a:prstGeom prst="rect">
            <a:avLst/>
          </a:prstGeom>
          <a:noFill/>
        </p:spPr>
        <p:txBody>
          <a:bodyPr wrap="none" lIns="0" rIns="0" tIns="0" bIns="0" anchor="t">
            <a:spAutoFit/>
          </a:bodyPr>
          <a:lstStyle/>
          <a:p>
            <a:pPr algn="l">
              <a:spcAft>
                <a:spcPts val="0"/>
              </a:spcAft>
            </a:pPr>
            <a:r>
              <a:rPr sz="1300" b="0">
                <a:solidFill>
                  <a:srgbClr val="FFFFFF"/>
                </a:solidFill>
                <a:latin typeface="Consolas"/>
                <a:ea typeface="Consolas"/>
                <a:cs typeface="Consolas"/>
              </a:rPr>
              <a:t>    led.toggle()</a:t>
            </a:r>
          </a:p>
        </p:txBody>
      </p:sp>
      <p:sp>
        <p:nvSpPr>
          <p:cNvPr id="17" name="TextBox 16"/>
          <p:cNvSpPr txBox="1"/>
          <p:nvPr/>
        </p:nvSpPr>
        <p:spPr>
          <a:xfrm>
            <a:off x="960120" y="5212079"/>
            <a:ext cx="4754880" cy="256032"/>
          </a:xfrm>
          <a:prstGeom prst="rect">
            <a:avLst/>
          </a:prstGeom>
          <a:noFill/>
        </p:spPr>
        <p:txBody>
          <a:bodyPr wrap="none" lIns="0" rIns="0" tIns="0" bIns="0" anchor="t">
            <a:spAutoFit/>
          </a:bodyPr>
          <a:lstStyle/>
          <a:p>
            <a:pPr algn="l">
              <a:spcAft>
                <a:spcPts val="0"/>
              </a:spcAft>
            </a:pPr>
            <a:r>
              <a:rPr sz="1300" b="0">
                <a:solidFill>
                  <a:srgbClr val="F0A9AE"/>
                </a:solidFill>
                <a:latin typeface="Consolas"/>
                <a:ea typeface="Consolas"/>
                <a:cs typeface="Consolas"/>
              </a:rPr>
              <a:t>    sleep(0.3)</a:t>
            </a:r>
          </a:p>
        </p:txBody>
      </p:sp>
      <p:sp>
        <p:nvSpPr>
          <p:cNvPr id="18" name="Oval 17"/>
          <p:cNvSpPr/>
          <p:nvPr/>
        </p:nvSpPr>
        <p:spPr>
          <a:xfrm>
            <a:off x="6217920" y="4187952"/>
            <a:ext cx="310896" cy="31089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6217920" y="4187952"/>
            <a:ext cx="310896" cy="310896"/>
          </a:xfrm>
          <a:prstGeom prst="rect">
            <a:avLst/>
          </a:prstGeom>
          <a:noFill/>
        </p:spPr>
        <p:txBody>
          <a:bodyPr wrap="none" lIns="0" rIns="0" tIns="0" bIns="0" anchor="ctr">
            <a:spAutoFit/>
          </a:bodyPr>
          <a:lstStyle/>
          <a:p>
            <a:pPr algn="ctr">
              <a:spcAft>
                <a:spcPts val="0"/>
              </a:spcAft>
            </a:pPr>
            <a:r>
              <a:rPr sz="1100" b="1">
                <a:solidFill>
                  <a:srgbClr val="FFFFFF"/>
                </a:solidFill>
                <a:latin typeface="맑은 고딕"/>
                <a:ea typeface="맑은 고딕"/>
                <a:cs typeface="맑은 고딕"/>
              </a:rPr>
              <a:t>1</a:t>
            </a:r>
          </a:p>
        </p:txBody>
      </p:sp>
      <p:sp>
        <p:nvSpPr>
          <p:cNvPr id="20" name="TextBox 19"/>
          <p:cNvSpPr txBox="1"/>
          <p:nvPr/>
        </p:nvSpPr>
        <p:spPr>
          <a:xfrm>
            <a:off x="6656832" y="4178808"/>
            <a:ext cx="1737360" cy="256032"/>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왜 생기나</a:t>
            </a:r>
          </a:p>
        </p:txBody>
      </p:sp>
      <p:sp>
        <p:nvSpPr>
          <p:cNvPr id="21" name="TextBox 20"/>
          <p:cNvSpPr txBox="1"/>
          <p:nvPr/>
        </p:nvSpPr>
        <p:spPr>
          <a:xfrm>
            <a:off x="8503920" y="4197096"/>
            <a:ext cx="2999232" cy="457200"/>
          </a:xfrm>
          <a:prstGeom prst="rect">
            <a:avLst/>
          </a:prstGeom>
          <a:noFill/>
        </p:spPr>
        <p:txBody>
          <a:bodyPr wrap="square" lIns="0" rIns="0" tIns="0" bIns="0" anchor="t">
            <a:spAutoFit/>
          </a:bodyPr>
          <a:lstStyle/>
          <a:p>
            <a:pPr algn="l">
              <a:lnSpc>
                <a:spcPct val="130000"/>
              </a:lnSpc>
              <a:spcAft>
                <a:spcPts val="0"/>
              </a:spcAft>
            </a:pPr>
            <a:r>
              <a:rPr sz="1150" b="0">
                <a:solidFill>
                  <a:srgbClr val="6B7280"/>
                </a:solidFill>
                <a:latin typeface="맑은 고딕"/>
                <a:ea typeface="맑은 고딕"/>
                <a:cs typeface="맑은 고딕"/>
              </a:rPr>
              <a:t>금속 접점이 붙을 때 아주 짧게 튕깁니다. 사람 손으로는 느낄 수 없는 시간입니다.</a:t>
            </a:r>
          </a:p>
        </p:txBody>
      </p:sp>
      <p:sp>
        <p:nvSpPr>
          <p:cNvPr id="22" name="Oval 21"/>
          <p:cNvSpPr/>
          <p:nvPr/>
        </p:nvSpPr>
        <p:spPr>
          <a:xfrm>
            <a:off x="6217920" y="4791456"/>
            <a:ext cx="310896" cy="31089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217920" y="4791456"/>
            <a:ext cx="310896" cy="310896"/>
          </a:xfrm>
          <a:prstGeom prst="rect">
            <a:avLst/>
          </a:prstGeom>
          <a:noFill/>
        </p:spPr>
        <p:txBody>
          <a:bodyPr wrap="none" lIns="0" rIns="0" tIns="0" bIns="0" anchor="ctr">
            <a:spAutoFit/>
          </a:bodyPr>
          <a:lstStyle/>
          <a:p>
            <a:pPr algn="ctr">
              <a:spcAft>
                <a:spcPts val="0"/>
              </a:spcAft>
            </a:pPr>
            <a:r>
              <a:rPr sz="1100" b="1">
                <a:solidFill>
                  <a:srgbClr val="FFFFFF"/>
                </a:solidFill>
                <a:latin typeface="맑은 고딕"/>
                <a:ea typeface="맑은 고딕"/>
                <a:cs typeface="맑은 고딕"/>
              </a:rPr>
              <a:t>2</a:t>
            </a:r>
          </a:p>
        </p:txBody>
      </p:sp>
      <p:sp>
        <p:nvSpPr>
          <p:cNvPr id="24" name="TextBox 23"/>
          <p:cNvSpPr txBox="1"/>
          <p:nvPr/>
        </p:nvSpPr>
        <p:spPr>
          <a:xfrm>
            <a:off x="6656832" y="4782312"/>
            <a:ext cx="1737360" cy="256032"/>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언제 문제가 되나</a:t>
            </a:r>
          </a:p>
        </p:txBody>
      </p:sp>
      <p:sp>
        <p:nvSpPr>
          <p:cNvPr id="25" name="TextBox 24"/>
          <p:cNvSpPr txBox="1"/>
          <p:nvPr/>
        </p:nvSpPr>
        <p:spPr>
          <a:xfrm>
            <a:off x="8503920" y="4800600"/>
            <a:ext cx="2999232" cy="457200"/>
          </a:xfrm>
          <a:prstGeom prst="rect">
            <a:avLst/>
          </a:prstGeom>
          <a:noFill/>
        </p:spPr>
        <p:txBody>
          <a:bodyPr wrap="square" lIns="0" rIns="0" tIns="0" bIns="0" anchor="t">
            <a:spAutoFit/>
          </a:bodyPr>
          <a:lstStyle/>
          <a:p>
            <a:pPr algn="l">
              <a:lnSpc>
                <a:spcPct val="130000"/>
              </a:lnSpc>
              <a:spcAft>
                <a:spcPts val="0"/>
              </a:spcAft>
            </a:pPr>
            <a:r>
              <a:rPr sz="1150" b="0">
                <a:solidFill>
                  <a:srgbClr val="6B7280"/>
                </a:solidFill>
                <a:latin typeface="맑은 고딕"/>
                <a:ea typeface="맑은 고딕"/>
                <a:cs typeface="맑은 고딕"/>
              </a:rPr>
              <a:t>켜고 끄기만 할 때는 티가 안 납니다. 횟수를 세거나 상태를 뒤집을 때 문제가 됩니다.</a:t>
            </a:r>
          </a:p>
        </p:txBody>
      </p:sp>
      <p:sp>
        <p:nvSpPr>
          <p:cNvPr id="26" name="Oval 25"/>
          <p:cNvSpPr/>
          <p:nvPr/>
        </p:nvSpPr>
        <p:spPr>
          <a:xfrm>
            <a:off x="6217920" y="5394960"/>
            <a:ext cx="310896" cy="31089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217920" y="5394960"/>
            <a:ext cx="310896" cy="310896"/>
          </a:xfrm>
          <a:prstGeom prst="rect">
            <a:avLst/>
          </a:prstGeom>
          <a:noFill/>
        </p:spPr>
        <p:txBody>
          <a:bodyPr wrap="none" lIns="0" rIns="0" tIns="0" bIns="0" anchor="ctr">
            <a:spAutoFit/>
          </a:bodyPr>
          <a:lstStyle/>
          <a:p>
            <a:pPr algn="ctr">
              <a:spcAft>
                <a:spcPts val="0"/>
              </a:spcAft>
            </a:pPr>
            <a:r>
              <a:rPr sz="1100" b="1">
                <a:solidFill>
                  <a:srgbClr val="FFFFFF"/>
                </a:solidFill>
                <a:latin typeface="맑은 고딕"/>
                <a:ea typeface="맑은 고딕"/>
                <a:cs typeface="맑은 고딕"/>
              </a:rPr>
              <a:t>3</a:t>
            </a:r>
          </a:p>
        </p:txBody>
      </p:sp>
      <p:sp>
        <p:nvSpPr>
          <p:cNvPr id="28" name="TextBox 27"/>
          <p:cNvSpPr txBox="1"/>
          <p:nvPr/>
        </p:nvSpPr>
        <p:spPr>
          <a:xfrm>
            <a:off x="6656832" y="5385816"/>
            <a:ext cx="1737360" cy="256032"/>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어떻게 막나</a:t>
            </a:r>
          </a:p>
        </p:txBody>
      </p:sp>
      <p:sp>
        <p:nvSpPr>
          <p:cNvPr id="29" name="TextBox 28"/>
          <p:cNvSpPr txBox="1"/>
          <p:nvPr/>
        </p:nvSpPr>
        <p:spPr>
          <a:xfrm>
            <a:off x="8503920" y="5404104"/>
            <a:ext cx="2999232" cy="457200"/>
          </a:xfrm>
          <a:prstGeom prst="rect">
            <a:avLst/>
          </a:prstGeom>
          <a:noFill/>
        </p:spPr>
        <p:txBody>
          <a:bodyPr wrap="square" lIns="0" rIns="0" tIns="0" bIns="0" anchor="t">
            <a:spAutoFit/>
          </a:bodyPr>
          <a:lstStyle/>
          <a:p>
            <a:pPr algn="l">
              <a:lnSpc>
                <a:spcPct val="130000"/>
              </a:lnSpc>
              <a:spcAft>
                <a:spcPts val="0"/>
              </a:spcAft>
            </a:pPr>
            <a:r>
              <a:rPr sz="1150" b="0">
                <a:solidFill>
                  <a:srgbClr val="6B7280"/>
                </a:solidFill>
                <a:latin typeface="맑은 고딕"/>
                <a:ea typeface="맑은 고딕"/>
                <a:cs typeface="맑은 고딕"/>
              </a:rPr>
              <a:t>값을 읽은 뒤 잠깐 쉬면 됩니다. sleep(0.3) 한 줄이면 수업에서는 충분합니다.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PRACTICE</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실습 — 세 가지 도전</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순서대로 해 보세요. 하나씩 확인하고 넘어가야 원인을 찾기 쉽습니다.</a:t>
            </a:r>
          </a:p>
        </p:txBody>
      </p:sp>
      <p:sp>
        <p:nvSpPr>
          <p:cNvPr id="5" name="Rounded Rectangle 4"/>
          <p:cNvSpPr/>
          <p:nvPr/>
        </p:nvSpPr>
        <p:spPr>
          <a:xfrm>
            <a:off x="685800" y="1965960"/>
            <a:ext cx="3383280" cy="3566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Oval 5"/>
          <p:cNvSpPr/>
          <p:nvPr/>
        </p:nvSpPr>
        <p:spPr>
          <a:xfrm>
            <a:off x="960120" y="2240280"/>
            <a:ext cx="384048" cy="384048"/>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0120" y="2240280"/>
            <a:ext cx="384048" cy="384048"/>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8" name="TextBox 7"/>
          <p:cNvSpPr txBox="1"/>
          <p:nvPr/>
        </p:nvSpPr>
        <p:spPr>
          <a:xfrm>
            <a:off x="960120" y="2788920"/>
            <a:ext cx="28346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저항을 코드로 바꾸기</a:t>
            </a:r>
          </a:p>
        </p:txBody>
      </p:sp>
      <p:sp>
        <p:nvSpPr>
          <p:cNvPr id="9" name="Rounded Rectangle 8"/>
          <p:cNvSpPr/>
          <p:nvPr/>
        </p:nvSpPr>
        <p:spPr>
          <a:xfrm>
            <a:off x="960120" y="3200400"/>
            <a:ext cx="2834640" cy="1188720"/>
          </a:xfrm>
          <a:prstGeom prst="roundRect">
            <a:avLst>
              <a:gd name="adj" fmla="val 5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1124712" y="3346704"/>
            <a:ext cx="2651760" cy="237744"/>
          </a:xfrm>
          <a:prstGeom prst="rect">
            <a:avLst/>
          </a:prstGeom>
          <a:noFill/>
        </p:spPr>
        <p:txBody>
          <a:bodyPr wrap="none" lIns="0" rIns="0" tIns="0" bIns="0" anchor="t">
            <a:spAutoFit/>
          </a:bodyPr>
          <a:lstStyle/>
          <a:p>
            <a:pPr algn="l">
              <a:spcAft>
                <a:spcPts val="0"/>
              </a:spcAft>
            </a:pPr>
            <a:r>
              <a:rPr sz="1000" b="0">
                <a:solidFill>
                  <a:srgbClr val="FFFFFF"/>
                </a:solidFill>
                <a:latin typeface="Consolas"/>
                <a:ea typeface="Consolas"/>
                <a:cs typeface="Consolas"/>
              </a:rPr>
              <a:t>btn = Pin(16, Pin.IN,</a:t>
            </a:r>
          </a:p>
        </p:txBody>
      </p:sp>
      <p:sp>
        <p:nvSpPr>
          <p:cNvPr id="11" name="TextBox 10"/>
          <p:cNvSpPr txBox="1"/>
          <p:nvPr/>
        </p:nvSpPr>
        <p:spPr>
          <a:xfrm>
            <a:off x="1124712" y="3602736"/>
            <a:ext cx="2651760" cy="237744"/>
          </a:xfrm>
          <a:prstGeom prst="rect">
            <a:avLst/>
          </a:prstGeom>
          <a:noFill/>
        </p:spPr>
        <p:txBody>
          <a:bodyPr wrap="none" lIns="0" rIns="0" tIns="0" bIns="0" anchor="t">
            <a:spAutoFit/>
          </a:bodyPr>
          <a:lstStyle/>
          <a:p>
            <a:pPr algn="l">
              <a:spcAft>
                <a:spcPts val="0"/>
              </a:spcAft>
            </a:pPr>
            <a:r>
              <a:rPr sz="1000" b="0">
                <a:solidFill>
                  <a:srgbClr val="F0A9AE"/>
                </a:solidFill>
                <a:latin typeface="Consolas"/>
                <a:ea typeface="Consolas"/>
                <a:cs typeface="Consolas"/>
              </a:rPr>
              <a:t>          Pin.PULL_DOWN)</a:t>
            </a:r>
          </a:p>
        </p:txBody>
      </p:sp>
      <p:sp>
        <p:nvSpPr>
          <p:cNvPr id="12" name="TextBox 11"/>
          <p:cNvSpPr txBox="1"/>
          <p:nvPr/>
        </p:nvSpPr>
        <p:spPr>
          <a:xfrm>
            <a:off x="960120" y="4572000"/>
            <a:ext cx="2834640" cy="822960"/>
          </a:xfrm>
          <a:prstGeom prst="rect">
            <a:avLst/>
          </a:prstGeom>
          <a:noFill/>
        </p:spPr>
        <p:txBody>
          <a:bodyPr wrap="square" lIns="0" rIns="0" tIns="0" bIns="0" anchor="t">
            <a:spAutoFit/>
          </a:bodyPr>
          <a:lstStyle/>
          <a:p>
            <a:pPr algn="l">
              <a:lnSpc>
                <a:spcPct val="140000"/>
              </a:lnSpc>
              <a:spcAft>
                <a:spcPts val="0"/>
              </a:spcAft>
            </a:pPr>
            <a:r>
              <a:rPr sz="1200" b="0">
                <a:solidFill>
                  <a:srgbClr val="6B7280"/>
                </a:solidFill>
                <a:latin typeface="맑은 고딕"/>
                <a:ea typeface="맑은 고딕"/>
                <a:cs typeface="맑은 고딕"/>
              </a:rPr>
              <a:t>10kΩ 저항을 뽑고 코드를 이렇게 바꿔 보세요. 똑같이 동작하면 성공입니다.</a:t>
            </a:r>
          </a:p>
        </p:txBody>
      </p:sp>
      <p:sp>
        <p:nvSpPr>
          <p:cNvPr id="13" name="Rounded Rectangle 12"/>
          <p:cNvSpPr/>
          <p:nvPr/>
        </p:nvSpPr>
        <p:spPr>
          <a:xfrm>
            <a:off x="4402836" y="1965960"/>
            <a:ext cx="3383280" cy="3566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Oval 13"/>
          <p:cNvSpPr/>
          <p:nvPr/>
        </p:nvSpPr>
        <p:spPr>
          <a:xfrm>
            <a:off x="4677156" y="2240280"/>
            <a:ext cx="384048" cy="384048"/>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677156" y="2240280"/>
            <a:ext cx="384048" cy="384048"/>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16" name="TextBox 15"/>
          <p:cNvSpPr txBox="1"/>
          <p:nvPr/>
        </p:nvSpPr>
        <p:spPr>
          <a:xfrm>
            <a:off x="4677156" y="2788920"/>
            <a:ext cx="28346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누를 때마다 전환</a:t>
            </a:r>
          </a:p>
        </p:txBody>
      </p:sp>
      <p:sp>
        <p:nvSpPr>
          <p:cNvPr id="17" name="Rounded Rectangle 16"/>
          <p:cNvSpPr/>
          <p:nvPr/>
        </p:nvSpPr>
        <p:spPr>
          <a:xfrm>
            <a:off x="4677156" y="3200400"/>
            <a:ext cx="2834640" cy="1188720"/>
          </a:xfrm>
          <a:prstGeom prst="roundRect">
            <a:avLst>
              <a:gd name="adj" fmla="val 5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4841748" y="3346704"/>
            <a:ext cx="2651760" cy="237744"/>
          </a:xfrm>
          <a:prstGeom prst="rect">
            <a:avLst/>
          </a:prstGeom>
          <a:noFill/>
        </p:spPr>
        <p:txBody>
          <a:bodyPr wrap="none" lIns="0" rIns="0" tIns="0" bIns="0" anchor="t">
            <a:spAutoFit/>
          </a:bodyPr>
          <a:lstStyle/>
          <a:p>
            <a:pPr algn="l">
              <a:spcAft>
                <a:spcPts val="0"/>
              </a:spcAft>
            </a:pPr>
            <a:r>
              <a:rPr sz="1000" b="0">
                <a:solidFill>
                  <a:srgbClr val="8FD3E8"/>
                </a:solidFill>
                <a:latin typeface="Consolas"/>
                <a:ea typeface="Consolas"/>
                <a:cs typeface="Consolas"/>
              </a:rPr>
              <a:t>if btn.value() == 1:</a:t>
            </a:r>
          </a:p>
        </p:txBody>
      </p:sp>
      <p:sp>
        <p:nvSpPr>
          <p:cNvPr id="19" name="TextBox 18"/>
          <p:cNvSpPr txBox="1"/>
          <p:nvPr/>
        </p:nvSpPr>
        <p:spPr>
          <a:xfrm>
            <a:off x="4841748" y="3602736"/>
            <a:ext cx="2651760" cy="237744"/>
          </a:xfrm>
          <a:prstGeom prst="rect">
            <a:avLst/>
          </a:prstGeom>
          <a:noFill/>
        </p:spPr>
        <p:txBody>
          <a:bodyPr wrap="none" lIns="0" rIns="0" tIns="0" bIns="0" anchor="t">
            <a:spAutoFit/>
          </a:bodyPr>
          <a:lstStyle/>
          <a:p>
            <a:pPr algn="l">
              <a:spcAft>
                <a:spcPts val="0"/>
              </a:spcAft>
            </a:pPr>
            <a:r>
              <a:rPr sz="1000" b="0">
                <a:solidFill>
                  <a:srgbClr val="FFFFFF"/>
                </a:solidFill>
                <a:latin typeface="Consolas"/>
                <a:ea typeface="Consolas"/>
                <a:cs typeface="Consolas"/>
              </a:rPr>
              <a:t>    led.toggle()</a:t>
            </a:r>
          </a:p>
        </p:txBody>
      </p:sp>
      <p:sp>
        <p:nvSpPr>
          <p:cNvPr id="20" name="TextBox 19"/>
          <p:cNvSpPr txBox="1"/>
          <p:nvPr/>
        </p:nvSpPr>
        <p:spPr>
          <a:xfrm>
            <a:off x="4841748" y="3858768"/>
            <a:ext cx="2651760" cy="237744"/>
          </a:xfrm>
          <a:prstGeom prst="rect">
            <a:avLst/>
          </a:prstGeom>
          <a:noFill/>
        </p:spPr>
        <p:txBody>
          <a:bodyPr wrap="none" lIns="0" rIns="0" tIns="0" bIns="0" anchor="t">
            <a:spAutoFit/>
          </a:bodyPr>
          <a:lstStyle/>
          <a:p>
            <a:pPr algn="l">
              <a:spcAft>
                <a:spcPts val="0"/>
              </a:spcAft>
            </a:pPr>
            <a:r>
              <a:rPr sz="1000" b="0">
                <a:solidFill>
                  <a:srgbClr val="F0A9AE"/>
                </a:solidFill>
                <a:latin typeface="Consolas"/>
                <a:ea typeface="Consolas"/>
                <a:cs typeface="Consolas"/>
              </a:rPr>
              <a:t>    sleep(0.3)</a:t>
            </a:r>
          </a:p>
        </p:txBody>
      </p:sp>
      <p:sp>
        <p:nvSpPr>
          <p:cNvPr id="21" name="TextBox 20"/>
          <p:cNvSpPr txBox="1"/>
          <p:nvPr/>
        </p:nvSpPr>
        <p:spPr>
          <a:xfrm>
            <a:off x="4677156" y="4572000"/>
            <a:ext cx="2834640" cy="822960"/>
          </a:xfrm>
          <a:prstGeom prst="rect">
            <a:avLst/>
          </a:prstGeom>
          <a:noFill/>
        </p:spPr>
        <p:txBody>
          <a:bodyPr wrap="square" lIns="0" rIns="0" tIns="0" bIns="0" anchor="t">
            <a:spAutoFit/>
          </a:bodyPr>
          <a:lstStyle/>
          <a:p>
            <a:pPr algn="l">
              <a:lnSpc>
                <a:spcPct val="140000"/>
              </a:lnSpc>
              <a:spcAft>
                <a:spcPts val="0"/>
              </a:spcAft>
            </a:pPr>
            <a:r>
              <a:rPr sz="1200" b="0">
                <a:solidFill>
                  <a:srgbClr val="6B7280"/>
                </a:solidFill>
                <a:latin typeface="맑은 고딕"/>
                <a:ea typeface="맑은 고딕"/>
                <a:cs typeface="맑은 고딕"/>
              </a:rPr>
              <a:t>누르고 있는 동안이 아니라, 누를 때마다 켜짐과 꺼짐이 바뀌게 만들어 보세요.</a:t>
            </a:r>
          </a:p>
        </p:txBody>
      </p:sp>
      <p:sp>
        <p:nvSpPr>
          <p:cNvPr id="22" name="Rounded Rectangle 21"/>
          <p:cNvSpPr/>
          <p:nvPr/>
        </p:nvSpPr>
        <p:spPr>
          <a:xfrm>
            <a:off x="8119872" y="1965960"/>
            <a:ext cx="3383280" cy="356616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Oval 22"/>
          <p:cNvSpPr/>
          <p:nvPr/>
        </p:nvSpPr>
        <p:spPr>
          <a:xfrm>
            <a:off x="8394192" y="2240280"/>
            <a:ext cx="384048" cy="384048"/>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8394192" y="2240280"/>
            <a:ext cx="384048" cy="384048"/>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25" name="TextBox 24"/>
          <p:cNvSpPr txBox="1"/>
          <p:nvPr/>
        </p:nvSpPr>
        <p:spPr>
          <a:xfrm>
            <a:off x="8394192" y="2788920"/>
            <a:ext cx="2834640" cy="292608"/>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도전 — 누른 횟수 세기</a:t>
            </a:r>
          </a:p>
        </p:txBody>
      </p:sp>
      <p:sp>
        <p:nvSpPr>
          <p:cNvPr id="26" name="Rounded Rectangle 25"/>
          <p:cNvSpPr/>
          <p:nvPr/>
        </p:nvSpPr>
        <p:spPr>
          <a:xfrm>
            <a:off x="8394192" y="3200400"/>
            <a:ext cx="2834640" cy="1188720"/>
          </a:xfrm>
          <a:prstGeom prst="roundRect">
            <a:avLst>
              <a:gd name="adj" fmla="val 5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8558784" y="3346704"/>
            <a:ext cx="2651760" cy="237744"/>
          </a:xfrm>
          <a:prstGeom prst="rect">
            <a:avLst/>
          </a:prstGeom>
          <a:noFill/>
        </p:spPr>
        <p:txBody>
          <a:bodyPr wrap="none" lIns="0" rIns="0" tIns="0" bIns="0" anchor="t">
            <a:spAutoFit/>
          </a:bodyPr>
          <a:lstStyle/>
          <a:p>
            <a:pPr algn="l">
              <a:spcAft>
                <a:spcPts val="0"/>
              </a:spcAft>
            </a:pPr>
            <a:r>
              <a:rPr sz="1000" b="0">
                <a:solidFill>
                  <a:srgbClr val="FFFFFF"/>
                </a:solidFill>
                <a:latin typeface="Consolas"/>
                <a:ea typeface="Consolas"/>
                <a:cs typeface="Consolas"/>
              </a:rPr>
              <a:t>count = 0</a:t>
            </a:r>
          </a:p>
        </p:txBody>
      </p:sp>
      <p:sp>
        <p:nvSpPr>
          <p:cNvPr id="28" name="TextBox 27"/>
          <p:cNvSpPr txBox="1"/>
          <p:nvPr/>
        </p:nvSpPr>
        <p:spPr>
          <a:xfrm>
            <a:off x="8558784" y="3602736"/>
            <a:ext cx="2651760" cy="237744"/>
          </a:xfrm>
          <a:prstGeom prst="rect">
            <a:avLst/>
          </a:prstGeom>
          <a:noFill/>
        </p:spPr>
        <p:txBody>
          <a:bodyPr wrap="none" lIns="0" rIns="0" tIns="0" bIns="0" anchor="t">
            <a:spAutoFit/>
          </a:bodyPr>
          <a:lstStyle/>
          <a:p>
            <a:pPr algn="l">
              <a:spcAft>
                <a:spcPts val="0"/>
              </a:spcAft>
            </a:pPr>
            <a:r>
              <a:rPr sz="1000" b="0">
                <a:solidFill>
                  <a:srgbClr val="FFFFFF"/>
                </a:solidFill>
                <a:latin typeface="Consolas"/>
                <a:ea typeface="Consolas"/>
                <a:cs typeface="Consolas"/>
              </a:rPr>
              <a:t>count = count + 1</a:t>
            </a:r>
          </a:p>
        </p:txBody>
      </p:sp>
      <p:sp>
        <p:nvSpPr>
          <p:cNvPr id="29" name="TextBox 28"/>
          <p:cNvSpPr txBox="1"/>
          <p:nvPr/>
        </p:nvSpPr>
        <p:spPr>
          <a:xfrm>
            <a:off x="8558784" y="3858768"/>
            <a:ext cx="2651760" cy="237744"/>
          </a:xfrm>
          <a:prstGeom prst="rect">
            <a:avLst/>
          </a:prstGeom>
          <a:noFill/>
        </p:spPr>
        <p:txBody>
          <a:bodyPr wrap="none" lIns="0" rIns="0" tIns="0" bIns="0" anchor="t">
            <a:spAutoFit/>
          </a:bodyPr>
          <a:lstStyle/>
          <a:p>
            <a:pPr algn="l">
              <a:spcAft>
                <a:spcPts val="0"/>
              </a:spcAft>
            </a:pPr>
            <a:r>
              <a:rPr sz="1000" b="0">
                <a:solidFill>
                  <a:srgbClr val="FFFFFF"/>
                </a:solidFill>
                <a:latin typeface="Consolas"/>
                <a:ea typeface="Consolas"/>
                <a:cs typeface="Consolas"/>
              </a:rPr>
              <a:t>print(count)</a:t>
            </a:r>
          </a:p>
        </p:txBody>
      </p:sp>
      <p:sp>
        <p:nvSpPr>
          <p:cNvPr id="30" name="TextBox 29"/>
          <p:cNvSpPr txBox="1"/>
          <p:nvPr/>
        </p:nvSpPr>
        <p:spPr>
          <a:xfrm>
            <a:off x="8394192" y="4572000"/>
            <a:ext cx="2834640" cy="822960"/>
          </a:xfrm>
          <a:prstGeom prst="rect">
            <a:avLst/>
          </a:prstGeom>
          <a:noFill/>
        </p:spPr>
        <p:txBody>
          <a:bodyPr wrap="square" lIns="0" rIns="0" tIns="0" bIns="0" anchor="t">
            <a:spAutoFit/>
          </a:bodyPr>
          <a:lstStyle/>
          <a:p>
            <a:pPr algn="l">
              <a:lnSpc>
                <a:spcPct val="140000"/>
              </a:lnSpc>
              <a:spcAft>
                <a:spcPts val="0"/>
              </a:spcAft>
            </a:pPr>
            <a:r>
              <a:rPr sz="1200" b="0">
                <a:solidFill>
                  <a:srgbClr val="6B7280"/>
                </a:solidFill>
                <a:latin typeface="맑은 고딕"/>
                <a:ea typeface="맑은 고딕"/>
                <a:cs typeface="맑은 고딕"/>
              </a:rPr>
              <a:t>몇 번 눌렀는지 셀 수 있을까요? 채터링을 막지 않으면 숫자가 이상하게 뜁니다.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TROUBLESHOOTING</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버튼이 말을 안 들을 때</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위에서부터 순서대로 확인하세요. 오늘은 스위치 방향이 1위 원인입니다.</a:t>
            </a:r>
          </a:p>
        </p:txBody>
      </p:sp>
      <p:sp>
        <p:nvSpPr>
          <p:cNvPr id="5" name="TextBox 4"/>
          <p:cNvSpPr txBox="1"/>
          <p:nvPr/>
        </p:nvSpPr>
        <p:spPr>
          <a:xfrm>
            <a:off x="868680" y="1993392"/>
            <a:ext cx="301752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증상</a:t>
            </a:r>
          </a:p>
        </p:txBody>
      </p:sp>
      <p:sp>
        <p:nvSpPr>
          <p:cNvPr id="6" name="TextBox 5"/>
          <p:cNvSpPr txBox="1"/>
          <p:nvPr/>
        </p:nvSpPr>
        <p:spPr>
          <a:xfrm>
            <a:off x="4297680" y="1993392"/>
            <a:ext cx="320040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원인</a:t>
            </a:r>
          </a:p>
        </p:txBody>
      </p:sp>
      <p:sp>
        <p:nvSpPr>
          <p:cNvPr id="7" name="TextBox 6"/>
          <p:cNvSpPr txBox="1"/>
          <p:nvPr/>
        </p:nvSpPr>
        <p:spPr>
          <a:xfrm>
            <a:off x="7680960" y="1993392"/>
            <a:ext cx="3840480" cy="237744"/>
          </a:xfrm>
          <a:prstGeom prst="rect">
            <a:avLst/>
          </a:prstGeom>
          <a:noFill/>
        </p:spPr>
        <p:txBody>
          <a:bodyPr wrap="square" lIns="0" rIns="0" tIns="0" bIns="0" anchor="t">
            <a:spAutoFit/>
          </a:bodyPr>
          <a:lstStyle/>
          <a:p>
            <a:pPr algn="l">
              <a:spcAft>
                <a:spcPts val="0"/>
              </a:spcAft>
            </a:pPr>
            <a:r>
              <a:rPr sz="1100" b="1">
                <a:solidFill>
                  <a:srgbClr val="9CA3AF"/>
                </a:solidFill>
                <a:latin typeface="맑은 고딕"/>
                <a:ea typeface="맑은 고딕"/>
                <a:cs typeface="맑은 고딕"/>
              </a:rPr>
              <a:t>해결</a:t>
            </a:r>
          </a:p>
        </p:txBody>
      </p:sp>
      <p:sp>
        <p:nvSpPr>
          <p:cNvPr id="8" name="Rounded Rectangle 7"/>
          <p:cNvSpPr/>
          <p:nvPr/>
        </p:nvSpPr>
        <p:spPr>
          <a:xfrm>
            <a:off x="685800" y="2286000"/>
            <a:ext cx="10817352" cy="603504"/>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68680" y="2468880"/>
            <a:ext cx="329184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계속 1만 나온다</a:t>
            </a:r>
          </a:p>
        </p:txBody>
      </p:sp>
      <p:sp>
        <p:nvSpPr>
          <p:cNvPr id="10" name="TextBox 9"/>
          <p:cNvSpPr txBox="1"/>
          <p:nvPr/>
        </p:nvSpPr>
        <p:spPr>
          <a:xfrm>
            <a:off x="4297680" y="2478024"/>
            <a:ext cx="3291840" cy="274320"/>
          </a:xfrm>
          <a:prstGeom prst="rect">
            <a:avLst/>
          </a:prstGeom>
          <a:noFill/>
        </p:spPr>
        <p:txBody>
          <a:bodyPr wrap="square" lIns="0" rIns="0" tIns="0" bIns="0" anchor="t">
            <a:spAutoFit/>
          </a:bodyPr>
          <a:lstStyle/>
          <a:p>
            <a:pPr algn="l">
              <a:spcAft>
                <a:spcPts val="0"/>
              </a:spcAft>
            </a:pPr>
            <a:r>
              <a:rPr sz="1250" b="0">
                <a:solidFill>
                  <a:srgbClr val="990011"/>
                </a:solidFill>
                <a:latin typeface="맑은 고딕"/>
                <a:ea typeface="맑은 고딕"/>
                <a:cs typeface="맑은 고딕"/>
              </a:rPr>
              <a:t>스위치를 세로로 꽂았다</a:t>
            </a:r>
          </a:p>
        </p:txBody>
      </p:sp>
      <p:sp>
        <p:nvSpPr>
          <p:cNvPr id="11" name="TextBox 10"/>
          <p:cNvSpPr txBox="1"/>
          <p:nvPr/>
        </p:nvSpPr>
        <p:spPr>
          <a:xfrm>
            <a:off x="7680960" y="2478024"/>
            <a:ext cx="3657600" cy="274320"/>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90도 돌려 중앙 홈에 걸쳐 꽂습니다</a:t>
            </a:r>
          </a:p>
        </p:txBody>
      </p:sp>
      <p:sp>
        <p:nvSpPr>
          <p:cNvPr id="12" name="Rounded Rectangle 11"/>
          <p:cNvSpPr/>
          <p:nvPr/>
        </p:nvSpPr>
        <p:spPr>
          <a:xfrm>
            <a:off x="685800" y="2962656"/>
            <a:ext cx="10817352" cy="603504"/>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68680" y="3145536"/>
            <a:ext cx="329184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0과 1이 제멋대로 바뀐다</a:t>
            </a:r>
          </a:p>
        </p:txBody>
      </p:sp>
      <p:sp>
        <p:nvSpPr>
          <p:cNvPr id="14" name="TextBox 13"/>
          <p:cNvSpPr txBox="1"/>
          <p:nvPr/>
        </p:nvSpPr>
        <p:spPr>
          <a:xfrm>
            <a:off x="4297680" y="3154680"/>
            <a:ext cx="3291840" cy="274320"/>
          </a:xfrm>
          <a:prstGeom prst="rect">
            <a:avLst/>
          </a:prstGeom>
          <a:noFill/>
        </p:spPr>
        <p:txBody>
          <a:bodyPr wrap="square" lIns="0" rIns="0" tIns="0" bIns="0" anchor="t">
            <a:spAutoFit/>
          </a:bodyPr>
          <a:lstStyle/>
          <a:p>
            <a:pPr algn="l">
              <a:spcAft>
                <a:spcPts val="0"/>
              </a:spcAft>
            </a:pPr>
            <a:r>
              <a:rPr sz="1250" b="0">
                <a:solidFill>
                  <a:srgbClr val="990011"/>
                </a:solidFill>
                <a:latin typeface="맑은 고딕"/>
                <a:ea typeface="맑은 고딕"/>
                <a:cs typeface="맑은 고딕"/>
              </a:rPr>
              <a:t>풀다운이 안 되어 있다</a:t>
            </a:r>
          </a:p>
        </p:txBody>
      </p:sp>
      <p:sp>
        <p:nvSpPr>
          <p:cNvPr id="15" name="TextBox 14"/>
          <p:cNvSpPr txBox="1"/>
          <p:nvPr/>
        </p:nvSpPr>
        <p:spPr>
          <a:xfrm>
            <a:off x="7680960" y="3154680"/>
            <a:ext cx="3657600" cy="274320"/>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10kΩ 연결 또는 PULL_DOWN을 확인합니다</a:t>
            </a:r>
          </a:p>
        </p:txBody>
      </p:sp>
      <p:sp>
        <p:nvSpPr>
          <p:cNvPr id="16" name="Rounded Rectangle 15"/>
          <p:cNvSpPr/>
          <p:nvPr/>
        </p:nvSpPr>
        <p:spPr>
          <a:xfrm>
            <a:off x="685800" y="3639312"/>
            <a:ext cx="10817352" cy="603504"/>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68680" y="3822191"/>
            <a:ext cx="329184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계속 0만 나온다</a:t>
            </a:r>
          </a:p>
        </p:txBody>
      </p:sp>
      <p:sp>
        <p:nvSpPr>
          <p:cNvPr id="18" name="TextBox 17"/>
          <p:cNvSpPr txBox="1"/>
          <p:nvPr/>
        </p:nvSpPr>
        <p:spPr>
          <a:xfrm>
            <a:off x="4297680" y="3831336"/>
            <a:ext cx="3291840" cy="274320"/>
          </a:xfrm>
          <a:prstGeom prst="rect">
            <a:avLst/>
          </a:prstGeom>
          <a:noFill/>
        </p:spPr>
        <p:txBody>
          <a:bodyPr wrap="square" lIns="0" rIns="0" tIns="0" bIns="0" anchor="t">
            <a:spAutoFit/>
          </a:bodyPr>
          <a:lstStyle/>
          <a:p>
            <a:pPr algn="l">
              <a:spcAft>
                <a:spcPts val="0"/>
              </a:spcAft>
            </a:pPr>
            <a:r>
              <a:rPr sz="1250" b="0">
                <a:solidFill>
                  <a:srgbClr val="990011"/>
                </a:solidFill>
                <a:latin typeface="맑은 고딕"/>
                <a:ea typeface="맑은 고딕"/>
                <a:cs typeface="맑은 고딕"/>
              </a:rPr>
              <a:t>3V3 점퍼선이 빠졌다</a:t>
            </a:r>
          </a:p>
        </p:txBody>
      </p:sp>
      <p:sp>
        <p:nvSpPr>
          <p:cNvPr id="19" name="TextBox 18"/>
          <p:cNvSpPr txBox="1"/>
          <p:nvPr/>
        </p:nvSpPr>
        <p:spPr>
          <a:xfrm>
            <a:off x="7680960" y="3831336"/>
            <a:ext cx="3657600" cy="274320"/>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36번 핀과 버튼 쪽 줄을 확인합니다</a:t>
            </a:r>
          </a:p>
        </p:txBody>
      </p:sp>
      <p:sp>
        <p:nvSpPr>
          <p:cNvPr id="20" name="Rounded Rectangle 19"/>
          <p:cNvSpPr/>
          <p:nvPr/>
        </p:nvSpPr>
        <p:spPr>
          <a:xfrm>
            <a:off x="685800" y="4315968"/>
            <a:ext cx="10817352" cy="603504"/>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868680" y="4498848"/>
            <a:ext cx="329184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눌러도 LED가 안 켜진다</a:t>
            </a:r>
          </a:p>
        </p:txBody>
      </p:sp>
      <p:sp>
        <p:nvSpPr>
          <p:cNvPr id="22" name="TextBox 21"/>
          <p:cNvSpPr txBox="1"/>
          <p:nvPr/>
        </p:nvSpPr>
        <p:spPr>
          <a:xfrm>
            <a:off x="4297680" y="4507992"/>
            <a:ext cx="3291840" cy="274320"/>
          </a:xfrm>
          <a:prstGeom prst="rect">
            <a:avLst/>
          </a:prstGeom>
          <a:noFill/>
        </p:spPr>
        <p:txBody>
          <a:bodyPr wrap="square" lIns="0" rIns="0" tIns="0" bIns="0" anchor="t">
            <a:spAutoFit/>
          </a:bodyPr>
          <a:lstStyle/>
          <a:p>
            <a:pPr algn="l">
              <a:spcAft>
                <a:spcPts val="0"/>
              </a:spcAft>
            </a:pPr>
            <a:r>
              <a:rPr sz="1250" b="0">
                <a:solidFill>
                  <a:srgbClr val="990011"/>
                </a:solidFill>
                <a:latin typeface="맑은 고딕"/>
                <a:ea typeface="맑은 고딕"/>
                <a:cs typeface="맑은 고딕"/>
              </a:rPr>
              <a:t>== 를 = 로 썼다</a:t>
            </a:r>
          </a:p>
        </p:txBody>
      </p:sp>
      <p:sp>
        <p:nvSpPr>
          <p:cNvPr id="23" name="TextBox 22"/>
          <p:cNvSpPr txBox="1"/>
          <p:nvPr/>
        </p:nvSpPr>
        <p:spPr>
          <a:xfrm>
            <a:off x="7680960" y="4507992"/>
            <a:ext cx="3657600" cy="274320"/>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if 문의 등호가 두 개인지 확인합니다</a:t>
            </a:r>
          </a:p>
        </p:txBody>
      </p:sp>
      <p:sp>
        <p:nvSpPr>
          <p:cNvPr id="24" name="Rounded Rectangle 23"/>
          <p:cNvSpPr/>
          <p:nvPr/>
        </p:nvSpPr>
        <p:spPr>
          <a:xfrm>
            <a:off x="685800" y="4992624"/>
            <a:ext cx="10817352" cy="603504"/>
          </a:xfrm>
          <a:prstGeom prst="roundRect">
            <a:avLst>
              <a:gd name="adj" fmla="val 80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868680" y="5175504"/>
            <a:ext cx="3291840" cy="274320"/>
          </a:xfrm>
          <a:prstGeom prst="rect">
            <a:avLst/>
          </a:prstGeom>
          <a:noFill/>
        </p:spPr>
        <p:txBody>
          <a:bodyPr wrap="square" lIns="0" rIns="0" tIns="0" bIns="0" anchor="t">
            <a:spAutoFit/>
          </a:bodyPr>
          <a:lstStyle/>
          <a:p>
            <a:pPr algn="l">
              <a:spcAft>
                <a:spcPts val="0"/>
              </a:spcAft>
            </a:pPr>
            <a:r>
              <a:rPr sz="1300" b="1">
                <a:solidFill>
                  <a:srgbClr val="1F2328"/>
                </a:solidFill>
                <a:latin typeface="맑은 고딕"/>
                <a:ea typeface="맑은 고딕"/>
                <a:cs typeface="맑은 고딕"/>
              </a:rPr>
              <a:t>한 번 눌렀는데 여러 번</a:t>
            </a:r>
          </a:p>
        </p:txBody>
      </p:sp>
      <p:sp>
        <p:nvSpPr>
          <p:cNvPr id="26" name="TextBox 25"/>
          <p:cNvSpPr txBox="1"/>
          <p:nvPr/>
        </p:nvSpPr>
        <p:spPr>
          <a:xfrm>
            <a:off x="4297680" y="5184648"/>
            <a:ext cx="3291840" cy="274320"/>
          </a:xfrm>
          <a:prstGeom prst="rect">
            <a:avLst/>
          </a:prstGeom>
          <a:noFill/>
        </p:spPr>
        <p:txBody>
          <a:bodyPr wrap="square" lIns="0" rIns="0" tIns="0" bIns="0" anchor="t">
            <a:spAutoFit/>
          </a:bodyPr>
          <a:lstStyle/>
          <a:p>
            <a:pPr algn="l">
              <a:spcAft>
                <a:spcPts val="0"/>
              </a:spcAft>
            </a:pPr>
            <a:r>
              <a:rPr sz="1250" b="0">
                <a:solidFill>
                  <a:srgbClr val="990011"/>
                </a:solidFill>
                <a:latin typeface="맑은 고딕"/>
                <a:ea typeface="맑은 고딕"/>
                <a:cs typeface="맑은 고딕"/>
              </a:rPr>
              <a:t>채터링</a:t>
            </a:r>
          </a:p>
        </p:txBody>
      </p:sp>
      <p:sp>
        <p:nvSpPr>
          <p:cNvPr id="27" name="TextBox 26"/>
          <p:cNvSpPr txBox="1"/>
          <p:nvPr/>
        </p:nvSpPr>
        <p:spPr>
          <a:xfrm>
            <a:off x="7680960" y="5184648"/>
            <a:ext cx="3657600" cy="274320"/>
          </a:xfrm>
          <a:prstGeom prst="rect">
            <a:avLst/>
          </a:prstGeom>
          <a:noFill/>
        </p:spPr>
        <p:txBody>
          <a:bodyPr wrap="square" lIns="0" rIns="0" tIns="0" bIns="0" anchor="t">
            <a:spAutoFit/>
          </a:bodyPr>
          <a:lstStyle/>
          <a:p>
            <a:pPr algn="l">
              <a:spcAft>
                <a:spcPts val="0"/>
              </a:spcAft>
            </a:pPr>
            <a:r>
              <a:rPr sz="1250" b="0">
                <a:solidFill>
                  <a:srgbClr val="4B5563"/>
                </a:solidFill>
                <a:latin typeface="맑은 고딕"/>
                <a:ea typeface="맑은 고딕"/>
                <a:cs typeface="맑은 고딕"/>
              </a:rPr>
              <a:t>sleep(0.3)을 반복문 안에 넣습니다</a:t>
            </a:r>
          </a:p>
        </p:txBody>
      </p:sp>
      <p:sp>
        <p:nvSpPr>
          <p:cNvPr id="28" name="TextBox 27"/>
          <p:cNvSpPr txBox="1"/>
          <p:nvPr/>
        </p:nvSpPr>
        <p:spPr>
          <a:xfrm>
            <a:off x="685800" y="5852160"/>
            <a:ext cx="10789920" cy="365760"/>
          </a:xfrm>
          <a:prstGeom prst="rect">
            <a:avLst/>
          </a:prstGeom>
          <a:noFill/>
        </p:spPr>
        <p:txBody>
          <a:bodyPr wrap="square" lIns="0" rIns="0" tIns="0" bIns="0" anchor="t">
            <a:spAutoFit/>
          </a:bodyPr>
          <a:lstStyle/>
          <a:p>
            <a:pPr algn="l">
              <a:spcAft>
                <a:spcPts val="0"/>
              </a:spcAft>
            </a:pPr>
            <a:r>
              <a:rPr sz="1300" b="1">
                <a:solidFill>
                  <a:srgbClr val="990011"/>
                </a:solidFill>
                <a:latin typeface="맑은 고딕"/>
                <a:ea typeface="맑은 고딕"/>
                <a:cs typeface="맑은 고딕"/>
              </a:rPr>
              <a:t>값이 이상하면 LED부터 떼고 print(btn.value())로 입력만 따로 확인하세요. 문제를 반으로 줄일 수 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WRAP-UP</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오늘 한 일 정리</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입력을 배웠고, 입력과 출력을 한 프로그램에서 이었습니다.</a:t>
            </a:r>
          </a:p>
        </p:txBody>
      </p:sp>
      <p:sp>
        <p:nvSpPr>
          <p:cNvPr id="5" name="Rounded Rectangle 4"/>
          <p:cNvSpPr/>
          <p:nvPr/>
        </p:nvSpPr>
        <p:spPr>
          <a:xfrm>
            <a:off x="685800" y="1965960"/>
            <a:ext cx="3383280" cy="228600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Oval 5"/>
          <p:cNvSpPr/>
          <p:nvPr/>
        </p:nvSpPr>
        <p:spPr>
          <a:xfrm>
            <a:off x="978408" y="2267712"/>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78408" y="2267712"/>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8" name="TextBox 7"/>
          <p:cNvSpPr txBox="1"/>
          <p:nvPr/>
        </p:nvSpPr>
        <p:spPr>
          <a:xfrm>
            <a:off x="978408" y="2834640"/>
            <a:ext cx="2834640" cy="292608"/>
          </a:xfrm>
          <a:prstGeom prst="rect">
            <a:avLst/>
          </a:prstGeom>
          <a:noFill/>
        </p:spPr>
        <p:txBody>
          <a:bodyPr wrap="square" lIns="0" rIns="0" tIns="0" bIns="0" anchor="t">
            <a:spAutoFit/>
          </a:bodyPr>
          <a:lstStyle/>
          <a:p>
            <a:pPr algn="l">
              <a:spcAft>
                <a:spcPts val="0"/>
              </a:spcAft>
            </a:pPr>
            <a:r>
              <a:rPr sz="1600" b="1">
                <a:solidFill>
                  <a:srgbClr val="1F2328"/>
                </a:solidFill>
                <a:latin typeface="맑은 고딕"/>
                <a:ea typeface="맑은 고딕"/>
                <a:cs typeface="맑은 고딕"/>
              </a:rPr>
              <a:t>입력을 배웠다</a:t>
            </a:r>
          </a:p>
        </p:txBody>
      </p:sp>
      <p:sp>
        <p:nvSpPr>
          <p:cNvPr id="9" name="TextBox 8"/>
          <p:cNvSpPr txBox="1"/>
          <p:nvPr/>
        </p:nvSpPr>
        <p:spPr>
          <a:xfrm>
            <a:off x="978408" y="3273552"/>
            <a:ext cx="2834640" cy="822960"/>
          </a:xfrm>
          <a:prstGeom prst="rect">
            <a:avLst/>
          </a:prstGeom>
          <a:noFill/>
        </p:spPr>
        <p:txBody>
          <a:bodyPr wrap="square" lIns="0" rIns="0" tIns="0" bIns="0" anchor="t">
            <a:spAutoFit/>
          </a:bodyPr>
          <a:lstStyle/>
          <a:p>
            <a:pPr algn="l">
              <a:lnSpc>
                <a:spcPct val="140000"/>
              </a:lnSpc>
              <a:spcAft>
                <a:spcPts val="0"/>
              </a:spcAft>
            </a:pPr>
            <a:r>
              <a:rPr sz="1250" b="0">
                <a:solidFill>
                  <a:srgbClr val="6B7280"/>
                </a:solidFill>
                <a:latin typeface="맑은 고딕"/>
                <a:ea typeface="맑은 고딕"/>
                <a:cs typeface="맑은 고딕"/>
              </a:rPr>
              <a:t>Pin.IN과 value()로 바깥에서 들어오는 신호를 읽었습니다.</a:t>
            </a:r>
          </a:p>
        </p:txBody>
      </p:sp>
      <p:sp>
        <p:nvSpPr>
          <p:cNvPr id="10" name="Rounded Rectangle 9"/>
          <p:cNvSpPr/>
          <p:nvPr/>
        </p:nvSpPr>
        <p:spPr>
          <a:xfrm>
            <a:off x="4402836" y="1965960"/>
            <a:ext cx="3383280" cy="228600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4695444" y="2267712"/>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695444" y="2267712"/>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13" name="TextBox 12"/>
          <p:cNvSpPr txBox="1"/>
          <p:nvPr/>
        </p:nvSpPr>
        <p:spPr>
          <a:xfrm>
            <a:off x="4695444" y="2834640"/>
            <a:ext cx="2834640" cy="292608"/>
          </a:xfrm>
          <a:prstGeom prst="rect">
            <a:avLst/>
          </a:prstGeom>
          <a:noFill/>
        </p:spPr>
        <p:txBody>
          <a:bodyPr wrap="square" lIns="0" rIns="0" tIns="0" bIns="0" anchor="t">
            <a:spAutoFit/>
          </a:bodyPr>
          <a:lstStyle/>
          <a:p>
            <a:pPr algn="l">
              <a:spcAft>
                <a:spcPts val="0"/>
              </a:spcAft>
            </a:pPr>
            <a:r>
              <a:rPr sz="1600" b="1">
                <a:solidFill>
                  <a:srgbClr val="1F2328"/>
                </a:solidFill>
                <a:latin typeface="맑은 고딕"/>
                <a:ea typeface="맑은 고딕"/>
                <a:cs typeface="맑은 고딕"/>
              </a:rPr>
              <a:t>플로팅을 해결했다</a:t>
            </a:r>
          </a:p>
        </p:txBody>
      </p:sp>
      <p:sp>
        <p:nvSpPr>
          <p:cNvPr id="14" name="TextBox 13"/>
          <p:cNvSpPr txBox="1"/>
          <p:nvPr/>
        </p:nvSpPr>
        <p:spPr>
          <a:xfrm>
            <a:off x="4695444" y="3273552"/>
            <a:ext cx="2834640" cy="822960"/>
          </a:xfrm>
          <a:prstGeom prst="rect">
            <a:avLst/>
          </a:prstGeom>
          <a:noFill/>
        </p:spPr>
        <p:txBody>
          <a:bodyPr wrap="square" lIns="0" rIns="0" tIns="0" bIns="0" anchor="t">
            <a:spAutoFit/>
          </a:bodyPr>
          <a:lstStyle/>
          <a:p>
            <a:pPr algn="l">
              <a:lnSpc>
                <a:spcPct val="140000"/>
              </a:lnSpc>
              <a:spcAft>
                <a:spcPts val="0"/>
              </a:spcAft>
            </a:pPr>
            <a:r>
              <a:rPr sz="1250" b="0">
                <a:solidFill>
                  <a:srgbClr val="6B7280"/>
                </a:solidFill>
                <a:latin typeface="맑은 고딕"/>
                <a:ea typeface="맑은 고딕"/>
                <a:cs typeface="맑은 고딕"/>
              </a:rPr>
              <a:t>풀다운 저항으로, 그리고 코드 한 줄로 값을 안정시켰습니다.</a:t>
            </a:r>
          </a:p>
        </p:txBody>
      </p:sp>
      <p:sp>
        <p:nvSpPr>
          <p:cNvPr id="15" name="Rounded Rectangle 14"/>
          <p:cNvSpPr/>
          <p:nvPr/>
        </p:nvSpPr>
        <p:spPr>
          <a:xfrm>
            <a:off x="8119872" y="1965960"/>
            <a:ext cx="3383280" cy="2286000"/>
          </a:xfrm>
          <a:prstGeom prst="roundRect">
            <a:avLst>
              <a:gd name="adj" fmla="val 5500"/>
            </a:avLst>
          </a:prstGeom>
          <a:solidFill>
            <a:srgbClr val="FFFFFF"/>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8412480" y="2267712"/>
            <a:ext cx="402336" cy="402336"/>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412480" y="2267712"/>
            <a:ext cx="402336" cy="402336"/>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18" name="TextBox 17"/>
          <p:cNvSpPr txBox="1"/>
          <p:nvPr/>
        </p:nvSpPr>
        <p:spPr>
          <a:xfrm>
            <a:off x="8412480" y="2834640"/>
            <a:ext cx="2834640" cy="292608"/>
          </a:xfrm>
          <a:prstGeom prst="rect">
            <a:avLst/>
          </a:prstGeom>
          <a:noFill/>
        </p:spPr>
        <p:txBody>
          <a:bodyPr wrap="square" lIns="0" rIns="0" tIns="0" bIns="0" anchor="t">
            <a:spAutoFit/>
          </a:bodyPr>
          <a:lstStyle/>
          <a:p>
            <a:pPr algn="l">
              <a:spcAft>
                <a:spcPts val="0"/>
              </a:spcAft>
            </a:pPr>
            <a:r>
              <a:rPr sz="1600" b="1">
                <a:solidFill>
                  <a:srgbClr val="1F2328"/>
                </a:solidFill>
                <a:latin typeface="맑은 고딕"/>
                <a:ea typeface="맑은 고딕"/>
                <a:cs typeface="맑은 고딕"/>
              </a:rPr>
              <a:t>셋을 이었다</a:t>
            </a:r>
          </a:p>
        </p:txBody>
      </p:sp>
      <p:sp>
        <p:nvSpPr>
          <p:cNvPr id="19" name="TextBox 18"/>
          <p:cNvSpPr txBox="1"/>
          <p:nvPr/>
        </p:nvSpPr>
        <p:spPr>
          <a:xfrm>
            <a:off x="8412480" y="3273552"/>
            <a:ext cx="2834640" cy="822960"/>
          </a:xfrm>
          <a:prstGeom prst="rect">
            <a:avLst/>
          </a:prstGeom>
          <a:noFill/>
        </p:spPr>
        <p:txBody>
          <a:bodyPr wrap="square" lIns="0" rIns="0" tIns="0" bIns="0" anchor="t">
            <a:spAutoFit/>
          </a:bodyPr>
          <a:lstStyle/>
          <a:p>
            <a:pPr algn="l">
              <a:lnSpc>
                <a:spcPct val="140000"/>
              </a:lnSpc>
              <a:spcAft>
                <a:spcPts val="0"/>
              </a:spcAft>
            </a:pPr>
            <a:r>
              <a:rPr sz="1250" b="0">
                <a:solidFill>
                  <a:srgbClr val="6B7280"/>
                </a:solidFill>
                <a:latin typeface="맑은 고딕"/>
                <a:ea typeface="맑은 고딕"/>
                <a:cs typeface="맑은 고딕"/>
              </a:rPr>
              <a:t>입력 → 처리 → 출력이 하나의 프로그램 안에 모두 들어왔습니다.</a:t>
            </a:r>
          </a:p>
        </p:txBody>
      </p:sp>
      <p:sp>
        <p:nvSpPr>
          <p:cNvPr id="20" name="Rounded Rectangle 19"/>
          <p:cNvSpPr/>
          <p:nvPr/>
        </p:nvSpPr>
        <p:spPr>
          <a:xfrm>
            <a:off x="685800" y="4617720"/>
            <a:ext cx="10817352" cy="1051560"/>
          </a:xfrm>
          <a:prstGeom prst="roundRect">
            <a:avLst>
              <a:gd name="adj" fmla="val 6000"/>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097280" y="4846320"/>
            <a:ext cx="9966960" cy="256032"/>
          </a:xfrm>
          <a:prstGeom prst="rect">
            <a:avLst/>
          </a:prstGeom>
          <a:noFill/>
        </p:spPr>
        <p:txBody>
          <a:bodyPr wrap="square" lIns="0" rIns="0" tIns="0" bIns="0" anchor="t">
            <a:spAutoFit/>
          </a:bodyPr>
          <a:lstStyle/>
          <a:p>
            <a:pPr algn="l">
              <a:spcAft>
                <a:spcPts val="0"/>
              </a:spcAft>
            </a:pPr>
            <a:r>
              <a:rPr sz="1200" b="1">
                <a:solidFill>
                  <a:srgbClr val="F0A9AE"/>
                </a:solidFill>
                <a:latin typeface="맑은 고딕"/>
                <a:ea typeface="맑은 고딕"/>
                <a:cs typeface="맑은 고딕"/>
              </a:rPr>
              <a:t>오늘 딱 하나만 기억한다면</a:t>
            </a:r>
          </a:p>
        </p:txBody>
      </p:sp>
      <p:sp>
        <p:nvSpPr>
          <p:cNvPr id="22" name="TextBox 21"/>
          <p:cNvSpPr txBox="1"/>
          <p:nvPr/>
        </p:nvSpPr>
        <p:spPr>
          <a:xfrm>
            <a:off x="1097280" y="5138928"/>
            <a:ext cx="9966960" cy="411480"/>
          </a:xfrm>
          <a:prstGeom prst="rect">
            <a:avLst/>
          </a:prstGeom>
          <a:noFill/>
        </p:spPr>
        <p:txBody>
          <a:bodyPr wrap="square" lIns="0" rIns="0" tIns="0" bIns="0" anchor="t">
            <a:spAutoFit/>
          </a:bodyPr>
          <a:lstStyle/>
          <a:p>
            <a:pPr algn="l">
              <a:spcAft>
                <a:spcPts val="0"/>
              </a:spcAft>
            </a:pPr>
            <a:r>
              <a:rPr sz="2200" b="1">
                <a:solidFill>
                  <a:srgbClr val="FFFFFF"/>
                </a:solidFill>
                <a:latin typeface="맑은 고딕"/>
                <a:ea typeface="맑은 고딕"/>
                <a:cs typeface="맑은 고딕"/>
              </a:rPr>
              <a:t>입력 핀은 반드시 어느 한쪽에 묶어 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29184"/>
            <a:ext cx="10789920" cy="237744"/>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NEXT</a:t>
            </a:r>
          </a:p>
        </p:txBody>
      </p:sp>
      <p:sp>
        <p:nvSpPr>
          <p:cNvPr id="3" name="TextBox 2"/>
          <p:cNvSpPr txBox="1"/>
          <p:nvPr/>
        </p:nvSpPr>
        <p:spPr>
          <a:xfrm>
            <a:off x="685800" y="566928"/>
            <a:ext cx="10789920" cy="566928"/>
          </a:xfrm>
          <a:prstGeom prst="rect">
            <a:avLst/>
          </a:prstGeom>
          <a:noFill/>
        </p:spPr>
        <p:txBody>
          <a:bodyPr wrap="square" lIns="0" rIns="0" tIns="0" bIns="0" anchor="t">
            <a:spAutoFit/>
          </a:bodyPr>
          <a:lstStyle/>
          <a:p>
            <a:pPr algn="l">
              <a:spcAft>
                <a:spcPts val="0"/>
              </a:spcAft>
            </a:pPr>
            <a:r>
              <a:rPr sz="3000" b="1">
                <a:solidFill>
                  <a:srgbClr val="1F2328"/>
                </a:solidFill>
                <a:latin typeface="맑은 고딕"/>
                <a:ea typeface="맑은 고딕"/>
                <a:cs typeface="맑은 고딕"/>
              </a:rPr>
              <a:t>다음 시간 — LED 밝기 조절 (PWM)</a:t>
            </a:r>
          </a:p>
        </p:txBody>
      </p:sp>
      <p:sp>
        <p:nvSpPr>
          <p:cNvPr id="4" name="TextBox 3"/>
          <p:cNvSpPr txBox="1"/>
          <p:nvPr/>
        </p:nvSpPr>
        <p:spPr>
          <a:xfrm>
            <a:off x="685800" y="1371600"/>
            <a:ext cx="10789920" cy="365760"/>
          </a:xfrm>
          <a:prstGeom prst="rect">
            <a:avLst/>
          </a:prstGeom>
          <a:noFill/>
        </p:spPr>
        <p:txBody>
          <a:bodyPr wrap="square" lIns="0" rIns="0" tIns="0" bIns="0" anchor="t">
            <a:spAutoFit/>
          </a:bodyPr>
          <a:lstStyle/>
          <a:p>
            <a:pPr algn="l">
              <a:spcAft>
                <a:spcPts val="0"/>
              </a:spcAft>
            </a:pPr>
            <a:r>
              <a:rPr sz="1500" b="0">
                <a:solidFill>
                  <a:srgbClr val="6B7280"/>
                </a:solidFill>
                <a:latin typeface="맑은 고딕"/>
                <a:ea typeface="맑은 고딕"/>
                <a:cs typeface="맑은 고딕"/>
              </a:rPr>
              <a:t>지금까지는 켜거나 끄거나 둘뿐이었습니다. 다음 시간에는 '중간'을 만듭니다.</a:t>
            </a:r>
          </a:p>
        </p:txBody>
      </p:sp>
      <p:sp>
        <p:nvSpPr>
          <p:cNvPr id="5" name="Oval 4"/>
          <p:cNvSpPr/>
          <p:nvPr/>
        </p:nvSpPr>
        <p:spPr>
          <a:xfrm>
            <a:off x="685800" y="2011680"/>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685800" y="2011680"/>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1</a:t>
            </a:r>
          </a:p>
        </p:txBody>
      </p:sp>
      <p:sp>
        <p:nvSpPr>
          <p:cNvPr id="7" name="TextBox 6"/>
          <p:cNvSpPr txBox="1"/>
          <p:nvPr/>
        </p:nvSpPr>
        <p:spPr>
          <a:xfrm>
            <a:off x="1188720" y="2029968"/>
            <a:ext cx="5212080"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PWM이란</a:t>
            </a:r>
          </a:p>
        </p:txBody>
      </p:sp>
      <p:sp>
        <p:nvSpPr>
          <p:cNvPr id="8" name="TextBox 7"/>
          <p:cNvSpPr txBox="1"/>
          <p:nvPr/>
        </p:nvSpPr>
        <p:spPr>
          <a:xfrm>
            <a:off x="1188720" y="2359152"/>
            <a:ext cx="5212080" cy="50292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아주 빠르게 켰다 껐다 반복해 사람 눈에 중간 밝기로 보이게 합니다.</a:t>
            </a:r>
          </a:p>
        </p:txBody>
      </p:sp>
      <p:sp>
        <p:nvSpPr>
          <p:cNvPr id="9" name="Oval 8"/>
          <p:cNvSpPr/>
          <p:nvPr/>
        </p:nvSpPr>
        <p:spPr>
          <a:xfrm>
            <a:off x="685800" y="2907792"/>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85800" y="2907792"/>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2</a:t>
            </a:r>
          </a:p>
        </p:txBody>
      </p:sp>
      <p:sp>
        <p:nvSpPr>
          <p:cNvPr id="11" name="TextBox 10"/>
          <p:cNvSpPr txBox="1"/>
          <p:nvPr/>
        </p:nvSpPr>
        <p:spPr>
          <a:xfrm>
            <a:off x="1188720" y="2926080"/>
            <a:ext cx="5212080"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밝기 조절하기</a:t>
            </a:r>
          </a:p>
        </p:txBody>
      </p:sp>
      <p:sp>
        <p:nvSpPr>
          <p:cNvPr id="12" name="TextBox 11"/>
          <p:cNvSpPr txBox="1"/>
          <p:nvPr/>
        </p:nvSpPr>
        <p:spPr>
          <a:xfrm>
            <a:off x="1188720" y="3255264"/>
            <a:ext cx="5212080" cy="50292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0부터 65535까지 값을 주어 LED를 서서히 밝게, 서서히 어둡게 만듭니다.</a:t>
            </a:r>
          </a:p>
        </p:txBody>
      </p:sp>
      <p:sp>
        <p:nvSpPr>
          <p:cNvPr id="13" name="Oval 12"/>
          <p:cNvSpPr/>
          <p:nvPr/>
        </p:nvSpPr>
        <p:spPr>
          <a:xfrm>
            <a:off x="685800" y="3803904"/>
            <a:ext cx="365760" cy="365760"/>
          </a:xfrm>
          <a:prstGeom prst="ellipse">
            <a:avLst/>
          </a:prstGeom>
          <a:solidFill>
            <a:srgbClr val="990011"/>
          </a:solidFill>
          <a:ln w="12700">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85800" y="3803904"/>
            <a:ext cx="365760" cy="365760"/>
          </a:xfrm>
          <a:prstGeom prst="rect">
            <a:avLst/>
          </a:prstGeom>
          <a:noFill/>
        </p:spPr>
        <p:txBody>
          <a:bodyPr wrap="none" lIns="0" rIns="0" tIns="0" bIns="0" anchor="ctr">
            <a:spAutoFit/>
          </a:bodyPr>
          <a:lstStyle/>
          <a:p>
            <a:pPr algn="ctr">
              <a:spcAft>
                <a:spcPts val="0"/>
              </a:spcAft>
            </a:pPr>
            <a:r>
              <a:rPr sz="1200" b="1">
                <a:solidFill>
                  <a:srgbClr val="FFFFFF"/>
                </a:solidFill>
                <a:latin typeface="맑은 고딕"/>
                <a:ea typeface="맑은 고딕"/>
                <a:cs typeface="맑은 고딕"/>
              </a:rPr>
              <a:t>3</a:t>
            </a:r>
          </a:p>
        </p:txBody>
      </p:sp>
      <p:sp>
        <p:nvSpPr>
          <p:cNvPr id="15" name="TextBox 14"/>
          <p:cNvSpPr txBox="1"/>
          <p:nvPr/>
        </p:nvSpPr>
        <p:spPr>
          <a:xfrm>
            <a:off x="1188720" y="3822191"/>
            <a:ext cx="5212080" cy="274320"/>
          </a:xfrm>
          <a:prstGeom prst="rect">
            <a:avLst/>
          </a:prstGeom>
          <a:noFill/>
        </p:spPr>
        <p:txBody>
          <a:bodyPr wrap="square" lIns="0" rIns="0" tIns="0" bIns="0" anchor="t">
            <a:spAutoFit/>
          </a:bodyPr>
          <a:lstStyle/>
          <a:p>
            <a:pPr algn="l">
              <a:spcAft>
                <a:spcPts val="0"/>
              </a:spcAft>
            </a:pPr>
            <a:r>
              <a:rPr sz="1500" b="1">
                <a:solidFill>
                  <a:srgbClr val="1F2328"/>
                </a:solidFill>
                <a:latin typeface="맑은 고딕"/>
                <a:ea typeface="맑은 고딕"/>
                <a:cs typeface="맑은 고딕"/>
              </a:rPr>
              <a:t>숨쉬는 LED</a:t>
            </a:r>
          </a:p>
        </p:txBody>
      </p:sp>
      <p:sp>
        <p:nvSpPr>
          <p:cNvPr id="16" name="TextBox 15"/>
          <p:cNvSpPr txBox="1"/>
          <p:nvPr/>
        </p:nvSpPr>
        <p:spPr>
          <a:xfrm>
            <a:off x="1188720" y="4151376"/>
            <a:ext cx="5212080" cy="502920"/>
          </a:xfrm>
          <a:prstGeom prst="rect">
            <a:avLst/>
          </a:prstGeom>
          <a:noFill/>
        </p:spPr>
        <p:txBody>
          <a:bodyPr wrap="square" lIns="0" rIns="0" tIns="0" bIns="0" anchor="t">
            <a:spAutoFit/>
          </a:bodyPr>
          <a:lstStyle/>
          <a:p>
            <a:pPr algn="l">
              <a:lnSpc>
                <a:spcPct val="135000"/>
              </a:lnSpc>
              <a:spcAft>
                <a:spcPts val="0"/>
              </a:spcAft>
            </a:pPr>
            <a:r>
              <a:rPr sz="1250" b="0">
                <a:solidFill>
                  <a:srgbClr val="6B7280"/>
                </a:solidFill>
                <a:latin typeface="맑은 고딕"/>
                <a:ea typeface="맑은 고딕"/>
                <a:cs typeface="맑은 고딕"/>
              </a:rPr>
              <a:t>반복문으로 밝기를 오르내리게 해 부드럽게 호흡하는 LED를 만듭니다.</a:t>
            </a:r>
          </a:p>
        </p:txBody>
      </p:sp>
      <p:sp>
        <p:nvSpPr>
          <p:cNvPr id="17" name="Rounded Rectangle 16"/>
          <p:cNvSpPr/>
          <p:nvPr/>
        </p:nvSpPr>
        <p:spPr>
          <a:xfrm>
            <a:off x="6903720" y="2011680"/>
            <a:ext cx="4599432" cy="2606040"/>
          </a:xfrm>
          <a:prstGeom prst="roundRect">
            <a:avLst>
              <a:gd name="adj" fmla="val 2000"/>
            </a:avLst>
          </a:prstGeom>
          <a:solidFill>
            <a:srgbClr val="1A1D21"/>
          </a:solidFill>
          <a:ln w="12700">
            <a:solidFill>
              <a:srgbClr val="2E333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7178040" y="2157984"/>
            <a:ext cx="4023360" cy="237744"/>
          </a:xfrm>
          <a:prstGeom prst="rect">
            <a:avLst/>
          </a:prstGeom>
          <a:noFill/>
        </p:spPr>
        <p:txBody>
          <a:bodyPr wrap="square" lIns="0" rIns="0" tIns="0" bIns="0" anchor="t">
            <a:spAutoFit/>
          </a:bodyPr>
          <a:lstStyle/>
          <a:p>
            <a:pPr algn="l">
              <a:spcAft>
                <a:spcPts val="0"/>
              </a:spcAft>
            </a:pPr>
            <a:r>
              <a:rPr sz="1000" b="0">
                <a:solidFill>
                  <a:srgbClr val="7A828A"/>
                </a:solidFill>
                <a:latin typeface="맑은 고딕"/>
                <a:ea typeface="맑은 고딕"/>
                <a:cs typeface="맑은 고딕"/>
              </a:rPr>
              <a:t>5차시 미리보기</a:t>
            </a:r>
          </a:p>
        </p:txBody>
      </p:sp>
      <p:sp>
        <p:nvSpPr>
          <p:cNvPr id="19" name="TextBox 18"/>
          <p:cNvSpPr txBox="1"/>
          <p:nvPr/>
        </p:nvSpPr>
        <p:spPr>
          <a:xfrm>
            <a:off x="7178040" y="2487168"/>
            <a:ext cx="4023360" cy="256032"/>
          </a:xfrm>
          <a:prstGeom prst="rect">
            <a:avLst/>
          </a:prstGeom>
          <a:noFill/>
        </p:spPr>
        <p:txBody>
          <a:bodyPr wrap="none" lIns="0" rIns="0" tIns="0" bIns="0" anchor="t">
            <a:spAutoFit/>
          </a:bodyPr>
          <a:lstStyle/>
          <a:p>
            <a:pPr algn="l">
              <a:spcAft>
                <a:spcPts val="0"/>
              </a:spcAft>
            </a:pPr>
            <a:r>
              <a:rPr sz="1200" b="0">
                <a:solidFill>
                  <a:srgbClr val="F0A9AE"/>
                </a:solidFill>
                <a:latin typeface="Consolas"/>
                <a:ea typeface="Consolas"/>
                <a:cs typeface="Consolas"/>
              </a:rPr>
              <a:t>from machine import Pin, PWM</a:t>
            </a:r>
          </a:p>
        </p:txBody>
      </p:sp>
      <p:sp>
        <p:nvSpPr>
          <p:cNvPr id="20" name="TextBox 19"/>
          <p:cNvSpPr txBox="1"/>
          <p:nvPr/>
        </p:nvSpPr>
        <p:spPr>
          <a:xfrm>
            <a:off x="7178040" y="2871216"/>
            <a:ext cx="4023360" cy="256032"/>
          </a:xfrm>
          <a:prstGeom prst="rect">
            <a:avLst/>
          </a:prstGeom>
          <a:noFill/>
        </p:spPr>
        <p:txBody>
          <a:bodyPr wrap="none" lIns="0" rIns="0" tIns="0" bIns="0" anchor="t">
            <a:spAutoFit/>
          </a:bodyPr>
          <a:lstStyle/>
          <a:p>
            <a:pPr algn="l">
              <a:spcAft>
                <a:spcPts val="0"/>
              </a:spcAft>
            </a:pPr>
            <a:r>
              <a:rPr sz="1200" b="0">
                <a:solidFill>
                  <a:srgbClr val="FFFFFF"/>
                </a:solidFill>
                <a:latin typeface="Consolas"/>
                <a:ea typeface="Consolas"/>
                <a:cs typeface="Consolas"/>
              </a:rPr>
              <a:t>led = PWM(Pin(15))</a:t>
            </a:r>
          </a:p>
        </p:txBody>
      </p:sp>
      <p:sp>
        <p:nvSpPr>
          <p:cNvPr id="21" name="TextBox 20"/>
          <p:cNvSpPr txBox="1"/>
          <p:nvPr/>
        </p:nvSpPr>
        <p:spPr>
          <a:xfrm>
            <a:off x="7178040" y="3145536"/>
            <a:ext cx="4023360" cy="256032"/>
          </a:xfrm>
          <a:prstGeom prst="rect">
            <a:avLst/>
          </a:prstGeom>
          <a:noFill/>
        </p:spPr>
        <p:txBody>
          <a:bodyPr wrap="none" lIns="0" rIns="0" tIns="0" bIns="0" anchor="t">
            <a:spAutoFit/>
          </a:bodyPr>
          <a:lstStyle/>
          <a:p>
            <a:pPr algn="l">
              <a:spcAft>
                <a:spcPts val="0"/>
              </a:spcAft>
            </a:pPr>
            <a:r>
              <a:rPr sz="1200" b="0">
                <a:solidFill>
                  <a:srgbClr val="FFFFFF"/>
                </a:solidFill>
                <a:latin typeface="Consolas"/>
                <a:ea typeface="Consolas"/>
                <a:cs typeface="Consolas"/>
              </a:rPr>
              <a:t>led.freq(1000)</a:t>
            </a:r>
          </a:p>
        </p:txBody>
      </p:sp>
      <p:sp>
        <p:nvSpPr>
          <p:cNvPr id="22" name="TextBox 21"/>
          <p:cNvSpPr txBox="1"/>
          <p:nvPr/>
        </p:nvSpPr>
        <p:spPr>
          <a:xfrm>
            <a:off x="7178040" y="3419856"/>
            <a:ext cx="4023360" cy="256032"/>
          </a:xfrm>
          <a:prstGeom prst="rect">
            <a:avLst/>
          </a:prstGeom>
          <a:noFill/>
        </p:spPr>
        <p:txBody>
          <a:bodyPr wrap="none" lIns="0" rIns="0" tIns="0" bIns="0" anchor="t">
            <a:spAutoFit/>
          </a:bodyPr>
          <a:lstStyle/>
          <a:p>
            <a:pPr algn="l">
              <a:spcAft>
                <a:spcPts val="0"/>
              </a:spcAft>
            </a:pPr>
            <a:r>
              <a:rPr sz="1200" b="0">
                <a:solidFill>
                  <a:srgbClr val="8FD3E8"/>
                </a:solidFill>
                <a:latin typeface="Consolas"/>
                <a:ea typeface="Consolas"/>
                <a:cs typeface="Consolas"/>
              </a:rPr>
              <a:t>led.duty_u16(30000)</a:t>
            </a:r>
          </a:p>
        </p:txBody>
      </p:sp>
      <p:sp>
        <p:nvSpPr>
          <p:cNvPr id="23" name="TextBox 22"/>
          <p:cNvSpPr txBox="1"/>
          <p:nvPr/>
        </p:nvSpPr>
        <p:spPr>
          <a:xfrm>
            <a:off x="7178040" y="3886200"/>
            <a:ext cx="4023360" cy="457200"/>
          </a:xfrm>
          <a:prstGeom prst="rect">
            <a:avLst/>
          </a:prstGeom>
          <a:noFill/>
        </p:spPr>
        <p:txBody>
          <a:bodyPr wrap="square" lIns="0" rIns="0" tIns="0" bIns="0" anchor="t">
            <a:spAutoFit/>
          </a:bodyPr>
          <a:lstStyle/>
          <a:p>
            <a:pPr algn="l">
              <a:lnSpc>
                <a:spcPct val="135000"/>
              </a:lnSpc>
              <a:spcAft>
                <a:spcPts val="0"/>
              </a:spcAft>
            </a:pPr>
            <a:r>
              <a:rPr sz="1200" b="0">
                <a:solidFill>
                  <a:srgbClr val="F0A9AE"/>
                </a:solidFill>
                <a:latin typeface="맑은 고딕"/>
                <a:ea typeface="맑은 고딕"/>
                <a:cs typeface="맑은 고딕"/>
              </a:rPr>
              <a:t>1차시에 예고했던 그 PWM입니다. 회로는 오늘 것을 그대로 씁니다.</a:t>
            </a:r>
          </a:p>
        </p:txBody>
      </p:sp>
      <p:sp>
        <p:nvSpPr>
          <p:cNvPr id="24" name="Rounded Rectangle 23"/>
          <p:cNvSpPr/>
          <p:nvPr/>
        </p:nvSpPr>
        <p:spPr>
          <a:xfrm>
            <a:off x="685800" y="5074920"/>
            <a:ext cx="10817352" cy="960120"/>
          </a:xfrm>
          <a:prstGeom prst="roundRect">
            <a:avLst>
              <a:gd name="adj" fmla="val 5000"/>
            </a:avLst>
          </a:prstGeom>
          <a:solidFill>
            <a:srgbClr val="F7F2F2"/>
          </a:solidFill>
          <a:ln w="12700">
            <a:solidFill>
              <a:srgbClr val="DCD6D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1051560" y="5294376"/>
            <a:ext cx="10058400" cy="274320"/>
          </a:xfrm>
          <a:prstGeom prst="rect">
            <a:avLst/>
          </a:prstGeom>
          <a:noFill/>
        </p:spPr>
        <p:txBody>
          <a:bodyPr wrap="square" lIns="0" rIns="0" tIns="0" bIns="0" anchor="t">
            <a:spAutoFit/>
          </a:bodyPr>
          <a:lstStyle/>
          <a:p>
            <a:pPr algn="l">
              <a:spcAft>
                <a:spcPts val="0"/>
              </a:spcAft>
            </a:pPr>
            <a:r>
              <a:rPr sz="1200" b="1">
                <a:solidFill>
                  <a:srgbClr val="990011"/>
                </a:solidFill>
                <a:latin typeface="맑은 고딕"/>
                <a:ea typeface="맑은 고딕"/>
                <a:cs typeface="맑은 고딕"/>
              </a:rPr>
              <a:t>다음 시간 준비물</a:t>
            </a:r>
          </a:p>
        </p:txBody>
      </p:sp>
      <p:sp>
        <p:nvSpPr>
          <p:cNvPr id="26" name="TextBox 25"/>
          <p:cNvSpPr txBox="1"/>
          <p:nvPr/>
        </p:nvSpPr>
        <p:spPr>
          <a:xfrm>
            <a:off x="1051560" y="5568696"/>
            <a:ext cx="10058400" cy="320040"/>
          </a:xfrm>
          <a:prstGeom prst="rect">
            <a:avLst/>
          </a:prstGeom>
          <a:noFill/>
        </p:spPr>
        <p:txBody>
          <a:bodyPr wrap="square" lIns="0" rIns="0" tIns="0" bIns="0" anchor="t">
            <a:spAutoFit/>
          </a:bodyPr>
          <a:lstStyle/>
          <a:p>
            <a:pPr algn="l">
              <a:spcAft>
                <a:spcPts val="0"/>
              </a:spcAft>
            </a:pPr>
            <a:r>
              <a:rPr sz="1300" b="0">
                <a:solidFill>
                  <a:srgbClr val="4B5563"/>
                </a:solidFill>
                <a:latin typeface="맑은 고딕"/>
                <a:ea typeface="맑은 고딕"/>
                <a:cs typeface="맑은 고딕"/>
              </a:rPr>
              <a:t>노트북 · Pico 2 W · 데이터용 micro USB 케이블 · 오늘 만든 회로 그대로  (새로 필요한 부품은 없습니다)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