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표지 — 휴대폰으로 보드 조종하기</a:t>
            </a:r>
          </a:p>
          <a:p/>
          <a:p>
            <a:r>
              <a:t>[지시] 지난 시간에 적어 둔 IP 주소를 꺼내 놓게 한다. 휴대폰을 책상 위에 올리게 한다.</a:t>
            </a:r>
          </a:p>
          <a:p/>
          <a:p>
            <a:r>
              <a:t>마지막 차시입니다.</a:t>
            </a:r>
          </a:p>
          <a:p/>
          <a:p>
            <a:r>
              <a:t>지난 시간에 보드를 공유기에 붙이고 주소를 받았죠. 그런데 주소만 받아 놓고 아무 일도 안 했습니다.</a:t>
            </a:r>
          </a:p>
          <a:p/>
          <a:p>
            <a:r>
              <a:t>[발문] 주소가 있으면 무엇을 할 수 있을까요?</a:t>
            </a:r>
          </a:p>
          <a:p/>
          <a:p>
            <a:r>
              <a:t>누군가 찾아올 수 있습니다. 오늘 찾아오는 건 여러분 휴대폰이에요.</a:t>
            </a:r>
          </a:p>
          <a:p/>
          <a:p>
            <a:r>
              <a:t>오늘 우리는 보드 안에서 작은 웹사이트를 돌립니다. 여러분 휴대폰 브라우저로 그 주소에 들어가면 보드가 만든 화면이 뜨고, 화면의 버튼을 누르면 LED가 켜지고 모터가 돕니다.</a:t>
            </a:r>
          </a:p>
          <a:p/>
          <a:p>
            <a:r>
              <a:t>화면 오른쪽 그림을 보세요. 지난 시간과 화살표 방향이 반대죠. 지난 시간에는 보드가 바깥으로 나갔는데, 오늘은 휴대폰이 보드를 찾아옵니다.</a:t>
            </a:r>
          </a:p>
          <a:p/>
          <a:p>
            <a:r>
              <a:t>[마무리] 오늘로 1차시에 보여 드린 그림이 전부 채워진다고 예고한다.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배울 것</a:t>
            </a:r>
          </a:p>
          <a:p/>
          <a:p>
            <a:r>
              <a:t>다섯 가지입니다.</a:t>
            </a:r>
          </a:p>
          <a:p/>
          <a:p>
            <a:r>
              <a:t>첫째, 서버가 뭔지. 어려운 말 같지만 뜻은 단순합니다. 기다렸다가 답해 주는 쪽이에요.</a:t>
            </a:r>
          </a:p>
          <a:p/>
          <a:p>
            <a:r>
              <a:t>둘째, 보드에 웹 서버 열기. socket이라는 새 모듈이 나옵니다. 네 단계면 끝납니다.</a:t>
            </a:r>
          </a:p>
          <a:p/>
          <a:p>
            <a:r>
              <a:t>셋째, 휴대폰으로 접속하기. 여기서 오늘 처음으로 노트북이 아닌 기기로 우리 보드를 봅니다.</a:t>
            </a:r>
          </a:p>
          <a:p/>
          <a:p>
            <a:r>
              <a:t>넷째, 요청을 읽고 판단하기. 버튼을 누르면 브라우저가 글자를 보내는데, 그 글자를 보고 무엇을 할지 정합니다.</a:t>
            </a:r>
          </a:p>
          <a:p/>
          <a:p>
            <a:r>
              <a:t>다섯째, 지금까지 만든 걸 다 붙입니다. 센서 값은 화면에 띄우고, 버튼으로는 LED와 모터를 움직입니다.</a:t>
            </a:r>
          </a:p>
          <a:p/>
          <a:p>
            <a:r>
              <a:t>[지시] 오늘은 마지막 차시이므로 뒤쪽에 열두 차시 전체 정리가 있다고 미리 알린다.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지난 시간 요약</a:t>
            </a:r>
          </a:p>
          <a:p/>
          <a:p>
            <a:r>
              <a:t>지난 시간에 배운 걸 짚고 가겠습니다.</a:t>
            </a:r>
          </a:p>
          <a:p/>
          <a:p>
            <a:r>
              <a:t>연결은 세 단계였죠. 켜고, 요청하고, 기다린다.</a:t>
            </a:r>
          </a:p>
          <a:p/>
          <a:p>
            <a:r>
              <a:t>[발문] 기다리는 코드를 빼먹으면 주소가 어떻게 나왔죠?</a:t>
            </a:r>
          </a:p>
          <a:p/>
          <a:p>
            <a:r>
              <a:t>0.0.0.0이었습니다. 아직 못 받은 상태요.</a:t>
            </a:r>
          </a:p>
          <a:p/>
          <a:p>
            <a:r>
              <a:t>그리고 제대로 기다리면 192로 시작하는 주소를 받았습니다. 오늘 주인공이 그 숫자입니다.</a:t>
            </a:r>
          </a:p>
          <a:p/>
          <a:p>
            <a:r>
              <a:t>마지막으로 status(). 연결이 안 될 때 먼저 볼 곳이었죠. -2는 이름, -3은 비밀번호.</a:t>
            </a:r>
          </a:p>
          <a:p/>
          <a:p>
            <a:r>
              <a:t>[지시] 아래 붉은 글씨를 짚는다.</a:t>
            </a:r>
          </a:p>
          <a:p/>
          <a:p>
            <a:r>
              <a:t>각자 지난 시간에 받은 주소를 꺼내 두세요. 기억이 안 나면 지난 코드를 다시 실행하면 다시 나옵니다.</a:t>
            </a:r>
          </a:p>
          <a:p/>
          <a:p>
            <a:r>
              <a:t>[활동] connect_wifi()가 들어 있는 파일을 열어 두게 한다. 오늘 코드에서 그대로 부른다.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서버는 기다렸다가 답하는 쪽입니다</a:t>
            </a:r>
          </a:p>
          <a:p/>
          <a:p>
            <a:r>
              <a:t>서버라는 말을 많이 들어 보셨을 겁니다. 오늘 그게 우리 보드가 됩니다.</a:t>
            </a:r>
          </a:p>
          <a:p/>
          <a:p>
            <a:r>
              <a:t>[발문] 여러분이 휴대폰으로 어떤 사이트에 들어갈 때, 실제로 무슨 일이 일어날까요?</a:t>
            </a:r>
          </a:p>
          <a:p/>
          <a:p>
            <a:r>
              <a:t>휴대폰이 "이 페이지 주세요"라고 묻고, 저쪽 컴퓨터가 내용을 보내 줍니다. 그 저쪽 컴퓨터를 서버라고 부르는 거예요.</a:t>
            </a:r>
          </a:p>
          <a:p/>
          <a:p>
            <a:r>
              <a:t>화면 그림을 보세요. 위쪽 화살표가 요청, 아래쪽이 응답입니다. 오른쪽이 우리 보드고요.</a:t>
            </a:r>
          </a:p>
          <a:p/>
          <a:p>
            <a:r>
              <a:t>아래 카드 세 장이 오늘 이해할 전부입니다.</a:t>
            </a:r>
          </a:p>
          <a:p/>
          <a:p>
            <a:r>
              <a:t>첫째, 서버는 먼저 말하지 않습니다. 기다립니다. 이따 코드를 실행하면 아무 반응 없이 멈춘 것처럼 보일 텐데, 고장이 아니라 기다리는 중입니다.</a:t>
            </a:r>
          </a:p>
          <a:p/>
          <a:p>
            <a:r>
              <a:t>둘째, 요청은 짧은 글자입니다. GET 슬래시 on. 이게 전부예요.</a:t>
            </a:r>
          </a:p>
          <a:p/>
          <a:p>
            <a:r>
              <a:t>셋째, 응답도 글자입니다.</a:t>
            </a:r>
          </a:p>
          <a:p/>
          <a:p>
            <a:r>
              <a:t>[발문] 그럼 우리가 보는 알록달록한 화면은 누가 그리는 걸까요?</a:t>
            </a:r>
          </a:p>
          <a:p/>
          <a:p>
            <a:r>
              <a:t>브라우저입니다. 보드는 글자만 보내고, 그걸 보고 그림을 그리는 건 휴대폰 쪽이에요. 그래서 이 작은 보드로도 화면을 만들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서버를 여는 데 필요한 네 줄</a:t>
            </a:r>
          </a:p>
          <a:p/>
          <a:p>
            <a:r>
              <a:t>네 줄이면 서버가 열립니다. 전화기에 비유해 볼게요.</a:t>
            </a:r>
          </a:p>
          <a:p/>
          <a:p>
            <a:r>
              <a:t>1번, 만든다. socket() 한 줄로 창구를 하나 만듭니다. 전화기를 한 대 사 온 셈이에요.</a:t>
            </a:r>
          </a:p>
          <a:p/>
          <a:p>
            <a:r>
              <a:t>2번, 자리를 잡는다. bind입니다. 여기서 80이라는 숫자가 나오는데, 전화번호라고 생각하면 됩니다.</a:t>
            </a:r>
          </a:p>
          <a:p/>
          <a:p>
            <a:r>
              <a:t>[발문] 왜 하필 80번일까요?</a:t>
            </a:r>
          </a:p>
          <a:p/>
          <a:p>
            <a:r>
              <a:t>웹이 쓰기로 약속한 번호입니다. 그래서 주소창에 숫자를 따로 안 적어도 브라우저가 알아서 80번으로 찾아옵니다.</a:t>
            </a:r>
          </a:p>
          <a:p/>
          <a:p>
            <a:r>
              <a:t>3번, 기다린다. listen. 이제 전화를 받을 수 있는 상태가 됐습니다.</a:t>
            </a:r>
          </a:p>
          <a:p/>
          <a:p>
            <a:r>
              <a:t>4번, 받는다. accept. 여기서 실제로 연결이 만들어집니다.</a:t>
            </a:r>
          </a:p>
          <a:p/>
          <a:p>
            <a:r>
              <a:t>[지시] 아래 붉은 박스를 반드시 짚는다. 이걸 모르면 학생들이 고장 났다고 생각한다.</a:t>
            </a:r>
          </a:p>
          <a:p/>
          <a:p>
            <a:r>
              <a:t>중요한 게 하나 있습니다. accept를 실행하면 화면이 조용해집니다. 아무것도 안 나와요.</a:t>
            </a:r>
          </a:p>
          <a:p/>
          <a:p>
            <a:r>
              <a:t>[발문] 고장일까요?</a:t>
            </a:r>
          </a:p>
          <a:p/>
          <a:p>
            <a:r>
              <a:t>아닙니다. 기다리는 중입니다. 누가 접속하는 순간 다음 줄로 넘어갑니다. 조금 있다 직접 보게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가장 단순한 웹 서버</a:t>
            </a:r>
          </a:p>
          <a:p/>
          <a:p>
            <a:r>
              <a:t>코드를 봅시다. 열다섯 줄인데 절반은 지난 시간 것입니다.</a:t>
            </a:r>
          </a:p>
          <a:p/>
          <a:p>
            <a:r>
              <a:t>3행. connect_wifi. 지난 시간에 만든 함수 그대로예요. 이 줄이 끝나면 연결이 끝나 있습니다.</a:t>
            </a:r>
          </a:p>
          <a:p/>
          <a:p>
            <a:r>
              <a:t>4행에서 주소를 찍습니다. 이 숫자를 이따 휴대폰에 적을 거예요.</a:t>
            </a:r>
          </a:p>
          <a:p/>
          <a:p>
            <a:r>
              <a:t>6, 7, 8행이 아까 본 네 단계 중 세 개입니다. 만들고, 자리 잡고, 기다립니다.</a:t>
            </a:r>
          </a:p>
          <a:p/>
          <a:p>
            <a:r>
              <a:t>11행. accept. 여기서 프로그램이 멈춥니다. cl이라는 게 새로 나오는데, 찾아온 손님과 이야기하는 통로라고 보면 됩니다.</a:t>
            </a:r>
          </a:p>
          <a:p/>
          <a:p>
            <a:r>
              <a:t>12행. recv. 손님이 보낸 글자를 받습니다. 지금은 받기만 하고 보지는 않습니다. 뒤에서 읽을 거예요.</a:t>
            </a:r>
          </a:p>
          <a:p/>
          <a:p>
            <a:r>
              <a:t>[지시] 13행의 역슬래시 r 역슬래시 n을 짚는다. 처음 보는 기호다.</a:t>
            </a:r>
          </a:p>
          <a:p/>
          <a:p>
            <a:r>
              <a:t>13행이 오늘 제일 낯선 줄입니다. 200 OK는 "잘 됐다"는 뜻이고, 뒤에 붙은 기호는 줄 바꿈입니다. 두 번 들어간 게 중요한데, 그게 "여기까지가 인사, 다음부터가 내용"이라는 경계입니다.</a:t>
            </a:r>
          </a:p>
          <a:p/>
          <a:p>
            <a:r>
              <a:t>14행이 실제로 화면에 보일 내용입니다.</a:t>
            </a:r>
          </a:p>
          <a:p/>
          <a:p>
            <a:r>
              <a:t>15행. 닫습니다.</a:t>
            </a:r>
          </a:p>
          <a:p/>
          <a:p>
            <a:r>
              <a:t>[발문] 닫지 않으면 어떻게 될까요?</a:t>
            </a:r>
          </a:p>
          <a:p/>
          <a:p>
            <a:r>
              <a:t>브라우저는 아직 더 올 게 있다고 생각하고 계속 기다립니다. 화면에 동그라미만 돌아요. 뒤에 문제 해결에서 다시 나옵니다.</a:t>
            </a:r>
          </a:p>
          <a:p/>
          <a:p>
            <a:r>
              <a:t>[활동] 다 같이 실행한다. 주소가 찍히고 멈추는 것까지 확인시킨 뒤 다음 슬라이드로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휴대폰으로 접속해 봅시다</a:t>
            </a:r>
          </a:p>
          <a:p/>
          <a:p>
            <a:r>
              <a:t>이제 찾아가 봅시다.</a:t>
            </a:r>
          </a:p>
          <a:p/>
          <a:p>
            <a:r>
              <a:t>[활동] 각자 휴대폰을 꺼내게 한다. 먼저 데이터를 끄고 학교 공유기에 연결시킨다.</a:t>
            </a:r>
          </a:p>
          <a:p/>
          <a:p>
            <a:r>
              <a:t>1번이 오늘 실패의 1위입니다. 휴대폰이 데이터로 인터넷을 쓰고 있으면 절대 안 됩니다.</a:t>
            </a:r>
          </a:p>
          <a:p/>
          <a:p>
            <a:r>
              <a:t>[발문] 왜 그럴까요? 지난 시간에 배운 걸로 설명해 보세요.</a:t>
            </a:r>
          </a:p>
          <a:p/>
          <a:p>
            <a:r>
              <a:t>우리 보드 주소는 192로 시작하죠. 그 공유기 안에서만 쓰는 주소입니다. 밖에서는 그런 주소를 찾을 수 없어요. 같은 공유기 안에 있어야 합니다.</a:t>
            </a:r>
          </a:p>
          <a:p/>
          <a:p>
            <a:r>
              <a:t>2번. 주소창에 숫자를 적습니다. 검색창에 적으면 검색이 되어 버리니 주의하세요. 그냥 192.168 어쩌고를 그대로 치면 됩니다.</a:t>
            </a:r>
          </a:p>
          <a:p/>
          <a:p>
            <a:r>
              <a:t>3번. 화면에 Hello Pico가 뜨면 성공입니다.</a:t>
            </a:r>
          </a:p>
          <a:p/>
          <a:p>
            <a:r>
              <a:t>[지시] 성공한 조가 나오면 Thonny 화면도 함께 보게 한다. 접속이 올 때마다 멈춰 있던 코드가 다시 도는 것이 보인다.</a:t>
            </a:r>
          </a:p>
          <a:p/>
          <a:p>
            <a:r>
              <a:t>노트북 화면도 보세요. 아까 멈춰 있던 코드가 접속하는 순간 다시 돌았죠. accept가 기다리다가 손님이 오니까 넘어간 겁니다.</a:t>
            </a:r>
          </a:p>
          <a:p/>
          <a:p>
            <a:r>
              <a:t>[활동] 옆 조의 주소를 적어 접속해 보게 해도 좋다. 같은 공유기 안이면 서로 다 접속된다.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보드가 보내는 것은 글자뿐입니다</a:t>
            </a:r>
          </a:p>
          <a:p/>
          <a:p>
            <a:r>
              <a:t>응답을 조금 더 뜯어보겠습니다. 두 부분입니다.</a:t>
            </a:r>
          </a:p>
          <a:p/>
          <a:p>
            <a:r>
              <a:t>왼쪽. 첫 줄은 약속된 인사입니다. HTTP 1.0, 200, OK.</a:t>
            </a:r>
          </a:p>
          <a:p/>
          <a:p>
            <a:r>
              <a:t>[발문] 200이라는 숫자, 어디서 본 것 같지 않나요? 반대로 유명한 숫자가 하나 있는데요.</a:t>
            </a:r>
          </a:p>
          <a:p/>
          <a:p>
            <a:r>
              <a:t>404입니다. 페이지가 없을 때 나오는 그 숫자요. 200은 그 반대로 잘 됐다는 뜻입니다.</a:t>
            </a:r>
          </a:p>
          <a:p/>
          <a:p>
            <a:r>
              <a:t>오른쪽. 그다음이 실제 내용이고, 이런 글자를 HTML이라고 부릅니다.</a:t>
            </a:r>
          </a:p>
          <a:p/>
          <a:p>
            <a:r>
              <a:t>h1은 헤딩 원, 큰 제목이라는 뜻입니다. 앞에 여는 것과 뒤에 슬래시가 붙은 닫는 것이 짝을 이룹니다.</a:t>
            </a:r>
          </a:p>
          <a:p/>
          <a:p>
            <a:r>
              <a:t>아래 카드 세 장입니다.</a:t>
            </a:r>
          </a:p>
          <a:p/>
          <a:p>
            <a:r>
              <a:t>첫째, 빈 줄이 경계입니다. 코드에서 역슬래시 r n을 두 번 쓴 이유가 이겁니다. 하나면 줄만 바뀌고, 두 번이면 빈 줄이 생겨서 "인사 끝"이 됩니다.</a:t>
            </a:r>
          </a:p>
          <a:p/>
          <a:p>
            <a:r>
              <a:t>둘째, 태그가 모양을 정합니다. 다음 코드에서 링크 태그 a가 나옵니다.</a:t>
            </a:r>
          </a:p>
          <a:p/>
          <a:p>
            <a:r>
              <a:t>셋째, 이게 오늘 가장 중요한 감각입니다. 보드는 글자만 보냅니다. 화면을 그리는 건 휴대폰이에요. 그래서 이 작은 보드로도 웹사이트를 만들 수 있는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누를 수 있는 버튼 만들기</a:t>
            </a:r>
          </a:p>
          <a:p/>
          <a:p>
            <a:r>
              <a:t>이번에는 보낼 글자를 미리 만들어 두겠습니다.</a:t>
            </a:r>
          </a:p>
          <a:p/>
          <a:p>
            <a:r>
              <a:t>1행. 따옴표가 세 개죠. 여러 줄을 한 덩어리로 담을 때 씁니다. 5행에서 다시 세 개로 닫습니다.</a:t>
            </a:r>
          </a:p>
          <a:p/>
          <a:p>
            <a:r>
              <a:t>3행과 4행이 오늘의 버튼입니다. a 태그, 링크예요.</a:t>
            </a:r>
          </a:p>
          <a:p/>
          <a:p>
            <a:r>
              <a:t>[발문] href 뒤에 슬래시 on이라고 적혀 있습니다. 이걸 누르면 어떻게 될까요?</a:t>
            </a:r>
          </a:p>
          <a:p/>
          <a:p>
            <a:r>
              <a:t>브라우저가 우리 보드로 다시 찾아옵니다. 이번에는 슬래시 on을 달라고요.</a:t>
            </a:r>
          </a:p>
          <a:p/>
          <a:p>
            <a:r>
              <a:t>11행이 새로 붙었습니다. 내용이 HTML이라고 알려 주는 줄입니다. 이게 없으면 브라우저에 따라 태그가 글자 그대로 보이기도 합니다.</a:t>
            </a:r>
          </a:p>
          <a:p/>
          <a:p>
            <a:r>
              <a:t>[활동] 실행하고 휴대폰에서 새로고침해 버튼 두 개가 보이는지 확인시킨다. 눌러도 반응이 없는 것까지 확인시킨다.</a:t>
            </a:r>
          </a:p>
          <a:p/>
          <a:p>
            <a:r>
              <a:t>눌러 보세요. 아무 일도 안 일어나죠? 화면만 다시 뜹니다.</a:t>
            </a:r>
          </a:p>
          <a:p/>
          <a:p>
            <a:r>
              <a:t>[발문] 왜 그럴까요?</a:t>
            </a:r>
          </a:p>
          <a:p/>
          <a:p>
            <a:r>
              <a:t>보드가 요청을 받기만 하고 읽지는 않으니까요. recv로 받아 놓고 버리고 있습니다. 다음 슬라이드에서 그 글자를 열어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브라우저가 무엇을 보내는지 봅시다</a:t>
            </a:r>
          </a:p>
          <a:p/>
          <a:p>
            <a:r>
              <a:t>recv로 받은 걸 print로 찍어 보면 꽤 긴 글자가 나옵니다. 브라우저 종류, 언어 설정 같은 게 잔뜩 붙어 있어요.</a:t>
            </a:r>
          </a:p>
          <a:p/>
          <a:p>
            <a:r>
              <a:t>[지시] 실제로 print(req)를 한 번 실행해 화면에 나오는 긴 요청을 보여 준다.</a:t>
            </a:r>
          </a:p>
          <a:p/>
          <a:p>
            <a:r>
              <a:t>겁먹을 필요 없습니다. 우리가 볼 건 맨 앞 한 줄입니다.</a:t>
            </a:r>
          </a:p>
          <a:p/>
          <a:p>
            <a:r>
              <a:t>표를 보세요. 주소만 치고 들어오면 GET 슬래시. ON을 누르면 GET 슬래시 on. OFF를 누르면 GET 슬래시 off.</a:t>
            </a:r>
          </a:p>
          <a:p/>
          <a:p>
            <a:r>
              <a:t>[발문] 그럼 우리는 뭘 확인하면 될까요?</a:t>
            </a:r>
          </a:p>
          <a:p/>
          <a:p>
            <a:r>
              <a:t>그 글자 안에 슬래시 on이 들어 있는지만 보면 됩니다. 파이썬에서 "안에 있는지" 확인하는 말이 in이었죠.</a:t>
            </a:r>
          </a:p>
          <a:p/>
          <a:p>
            <a:r>
              <a:t>넷째 줄도 짚고 갑시다. 새로고침을 하면 직전과 똑같은 요청이 다시 옵니다. 그래서 /on 상태에서 새로고침하면 LED를 한 번 더 켜는 셈이에요. 이미 켜져 있으니 티는 안 납니다.</a:t>
            </a:r>
          </a:p>
          <a:p/>
          <a:p>
            <a:r>
              <a:t>[지시] 아래 회색 박스로 정리한다. 다음 슬라이드에서 코드 세 줄로 끝난다는 것을 예고한다.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버튼으로 LED 켜고 끄기</a:t>
            </a:r>
          </a:p>
          <a:p/>
          <a:p>
            <a:r>
              <a:t>드디어 오늘의 목표입니다. 새로 배우는 문법은 하나도 없습니다.</a:t>
            </a:r>
          </a:p>
          <a:p/>
          <a:p>
            <a:r>
              <a:t>1행. 내장 LED입니다. 2차시 그대로예요.</a:t>
            </a:r>
          </a:p>
          <a:p/>
          <a:p>
            <a:r>
              <a:t>5행. 받은 요청을 str로 감쌌습니다.</a:t>
            </a:r>
          </a:p>
          <a:p/>
          <a:p>
            <a:r>
              <a:t>[발문] 왜 str이 필요할까요?</a:t>
            </a:r>
          </a:p>
          <a:p/>
          <a:p>
            <a:r>
              <a:t>recv가 주는 건 사실 글자가 아니라 바이트라는 형태입니다. 7차시에 소수점을 정수로 바꾸던 것처럼, 여기서는 글자로 한 번 바꿔 주는 거예요. 그래야 in으로 찾을 수 있습니다.</a:t>
            </a:r>
          </a:p>
          <a:p/>
          <a:p>
            <a:r>
              <a:t>7행과 9행. if와 elif입니다. 4차시 버튼 때 쓴 것과 똑같아요.</a:t>
            </a:r>
          </a:p>
          <a:p/>
          <a:p>
            <a:r>
              <a:t>[발문] "/on" in req 는 무슨 뜻일까요?</a:t>
            </a:r>
          </a:p>
          <a:p/>
          <a:p>
            <a:r>
              <a:t>요청 글자 안에 슬래시 on이 들어 있느냐는 뜻입니다. 들어 있으면 참이 되고, LED를 켭니다.</a:t>
            </a:r>
          </a:p>
          <a:p/>
          <a:p>
            <a:r>
              <a:t>12행부터는 아까와 같습니다. 응답을 보내고 닫습니다.</a:t>
            </a:r>
          </a:p>
          <a:p/>
          <a:p>
            <a:r>
              <a:t>[활동] 실행하고 휴대폰에서 ON, OFF를 누르게 한다. 보드의 초록 LED가 반응하는지 다 같이 확인한다.</a:t>
            </a:r>
          </a:p>
          <a:p/>
          <a:p>
            <a:r>
              <a:t>눌러 보세요. 휴대폰 화면의 글자를 눌렀는데 저쪽 책상 위 보드에서 불이 켜집니다.</a:t>
            </a:r>
          </a:p>
          <a:p/>
          <a:p>
            <a:r>
              <a:t>[지시] 여기서 한 번 멈추고 반응을 본다. 오늘 수업의 정점이다.</a:t>
            </a:r>
          </a:p>
          <a:p/>
          <a:p>
            <a:r>
              <a:t>선이 하나도 안 이어져 있는데 됩니다. 지난 시간에 만든 그 길로 명령이 간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센서 값을 화면에 담기</a:t>
            </a:r>
          </a:p>
          <a:p/>
          <a:p>
            <a:r>
              <a:t>앞에서는 휴대폰이 보드에게 명령을 보냈죠. 이번에는 반대입니다. 보드가 읽은 값을 휴대폰이 봅니다.</a:t>
            </a:r>
          </a:p>
          <a:p/>
          <a:p>
            <a:r>
              <a:t>5행. 8차시 온습도 센서 그대로입니다. 중요한 건 위치예요. while 안에 있으니 접속이 올 때마다 새로 읽습니다.</a:t>
            </a:r>
          </a:p>
          <a:p/>
          <a:p>
            <a:r>
              <a:t>[발문] 이 줄을 while 밖에 두면 어떻게 될까요?</a:t>
            </a:r>
          </a:p>
          <a:p/>
          <a:p>
            <a:r>
              <a:t>처음 한 번 읽은 값이 계속 나옵니다. 온도가 변해도 화면은 안 바뀌어요.</a:t>
            </a:r>
          </a:p>
          <a:p/>
          <a:p>
            <a:r>
              <a:t>8행. str이 또 나왔습니다. 숫자를 글자에 이어 붙이려면 글자로 바꿔야 합니다. 안 바꾸면 오류가 납니다.</a:t>
            </a:r>
          </a:p>
          <a:p/>
          <a:p>
            <a:r>
              <a:t>6행과 7행. 이게 재미있는 줄인데, 2초마다 알아서 새로고침하라는 뜻입니다. 브라우저에게 시키는 거예요. 그러면 휴대폰이 2초마다 다시 찾아오고, 그때마다 새 온도가 나옵니다.</a:t>
            </a:r>
          </a:p>
          <a:p/>
          <a:p>
            <a:r>
              <a:t>[활동] 실행한 뒤 센서를 손으로 감싸게 한다. 휴대폰 화면의 숫자가 2초마다 올라가는 것을 보게 한다.</a:t>
            </a:r>
          </a:p>
          <a:p/>
          <a:p>
            <a:r>
              <a:t>손으로 센서를 감싸 보세요. 휴대폰 숫자가 올라갑니다.</a:t>
            </a:r>
          </a:p>
          <a:p/>
          <a:p>
            <a:r>
              <a:t>[지시] 아래 박스를 짚으며 1차시 흐름도를 다시 언급한다.</a:t>
            </a:r>
          </a:p>
          <a:p/>
          <a:p>
            <a:r>
              <a:t>센서, 보드, 와이파이, 휴대폰. 1차시 첫 시간에 보여 드린 그림이 오늘 그대로 완성됐습니다.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서버를 열 때</a:t>
            </a:r>
          </a:p>
          <a:p/>
          <a:p>
            <a:r>
              <a:t>[지시] 화면이 어두워지므로 주의가 모인다. 여기서 한 번 멈춘다.</a:t>
            </a:r>
          </a:p>
          <a:p/>
          <a:p>
            <a:r>
              <a:t>오늘 조심할 것은 세 가지입니다. 공개, 정리, 그리고 몸.</a:t>
            </a:r>
          </a:p>
          <a:p/>
          <a:p>
            <a:r>
              <a:t>먼저 공개입니다. 지금 우리가 만든 서버는 같은 공유기 안에서만 보입니다. 그래서 안전해요.</a:t>
            </a:r>
          </a:p>
          <a:p/>
          <a:p>
            <a:r>
              <a:t>[발문] 만약 이걸 인터넷 전체에 열면 어떻게 될까요?</a:t>
            </a:r>
          </a:p>
          <a:p/>
          <a:p>
            <a:r>
              <a:t>누구나 우리 보드의 버튼을 누를 수 있게 됩니다. 우리 코드에는 비밀번호도 없고 확인 절차도 없으니까요. 그건 따로 배워야 할 영역이고, 수업에서는 하지 않습니다.</a:t>
            </a:r>
          </a:p>
          <a:p/>
          <a:p>
            <a:r>
              <a:t>둘째, 정리입니다. close를 빠뜨리면 브라우저가 계속 기다립니다. 그리고 시연이 끝나면 프로그램을 멈추세요. 켜 둔 채로 두면 계속 열려 있습니다.</a:t>
            </a:r>
          </a:p>
          <a:p/>
          <a:p>
            <a:r>
              <a:t>셋째, 몸입니다. 10차시에 했던 이야기예요. 모터를 쓰는 조는 반드시 책상에 고정하고, 도는 채로 자리를 비우지 마세요.</a:t>
            </a:r>
          </a:p>
          <a:p/>
          <a:p>
            <a:r>
              <a:t>[지시] 실습에서 모터를 쓰는 조가 있으면 고정 상태를 눈으로 확인한다.</a:t>
            </a:r>
          </a:p>
          <a:p/>
          <a:p>
            <a:r>
              <a:t>그리고 비밀번호. 11차시에 말씀드린 그대로입니다. 파일 제출 전에 지우거나 바꿔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[6분] 실습 — 내 손 안의 리모컨 만들기</a:t>
            </a:r>
          </a:p>
          <a:p/>
          <a:p>
            <a:r>
              <a:t>세 가지입니다. 첫째는 다 같이, 나머지는 원하는 것을 골라 하세요.</a:t>
            </a:r>
          </a:p>
          <a:p/>
          <a:p>
            <a:r>
              <a:t>첫째, LED. 방금 본 코드 그대로입니다. 아직 안 된 조는 여기까지만 해도 충분합니다.</a:t>
            </a:r>
          </a:p>
          <a:p/>
          <a:p>
            <a:r>
              <a:t>둘째는 모터입니다. 10차시에 만든 motor 함수를 그대로 부르면 돼요. 링크를 세 개로 늘리고, 요청에 따라 속도를 다르게 줍니다.</a:t>
            </a:r>
          </a:p>
          <a:p/>
          <a:p>
            <a:r>
              <a:t>[발문] 링크를 하나 더 추가하려면 html에서 무엇을 고쳐야 할까요?</a:t>
            </a:r>
          </a:p>
          <a:p/>
          <a:p>
            <a:r>
              <a:t>a 태그를 한 줄 더 넣으면 됩니다. href에 슬래시 fast 같은 이름을 적고요. 이름은 마음대로 정해도 됩니다. 코드에서 찾는 글자와 같기만 하면 돼요.</a:t>
            </a:r>
          </a:p>
          <a:p/>
          <a:p>
            <a:r>
              <a:t>셋째는 반대 방향입니다. 9차시 초음파로 잰 거리를 화면에 띄웁니다. 앞을 손으로 막으면 숫자가 변합니다.</a:t>
            </a:r>
          </a:p>
          <a:p/>
          <a:p>
            <a:r>
              <a:t>[지시] 5분 실습. 순회한다. 모터를 쓰는 조는 고정 상태를 먼저 확인한다. 접속이 안 되는 조는 휴대폰의 데이터부터 확인시킨다.</a:t>
            </a:r>
          </a:p>
          <a:p/>
          <a:p>
            <a:r>
              <a:t>[활동] 잘 된 조가 있으면 앞으로 나와 시연하게 한다. 마지막 차시이므로 서로 보게 하는 것이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접속이 안 될 때</a:t>
            </a:r>
          </a:p>
          <a:p/>
          <a:p>
            <a:r>
              <a:t>오늘 원인은 거의 두 가지입니다. 주소와 close.</a:t>
            </a:r>
          </a:p>
          <a:p/>
          <a:p>
            <a:r>
              <a:t>1위는 휴대폰이 데이터로 붙어 있는 경우입니다. 아무리 기다려도 안 열려요. Wi-Fi로 바꾸고 학교 공유기인지 확인하세요.</a:t>
            </a:r>
          </a:p>
          <a:p/>
          <a:p>
            <a:r>
              <a:t>2위는 화면에 동그라미만 계속 도는 경우. close를 빠뜨린 겁니다. 보드는 다 보냈는데 브라우저는 아직 더 올 게 있는 줄 알고 기다리는 거예요.</a:t>
            </a:r>
          </a:p>
          <a:p/>
          <a:p>
            <a:r>
              <a:t>3위. EADDRINUSE라는 오류입니다. 주소가 이미 사용 중이라는 뜻인데, 앞서 실행한 프로그램이 80번 자리를 아직 잡고 있어서 그렇습니다.</a:t>
            </a:r>
          </a:p>
          <a:p/>
          <a:p>
            <a:r>
              <a:t>[지시] Ctrl+D로 소프트 리셋하는 방법을 직접 보여 준다. 오늘 자주 나온다.</a:t>
            </a:r>
          </a:p>
          <a:p/>
          <a:p>
            <a:r>
              <a:t>Ctrl 누르고 D를 누르면 보드가 다시 시작합니다. 그 뒤에 실행하면 됩니다.</a:t>
            </a:r>
          </a:p>
          <a:p/>
          <a:p>
            <a:r>
              <a:t>4위. 태그가 글자 그대로 보이는 경우. Content-type 줄을 빠뜨린 겁니다.</a:t>
            </a:r>
          </a:p>
          <a:p/>
          <a:p>
            <a:r>
              <a:t>5위. 버튼을 눌러도 반응이 없으면 요청을 안 읽은 거예요. str로 바꿔서 if로 확인했는지 보세요.</a:t>
            </a:r>
          </a:p>
          <a:p/>
          <a:p>
            <a:r>
              <a:t>[지시] 맨 아래 줄로 정리한다. 차시마다 먼저 볼 곳이 있다는 흐름을 마지막으로 한 번 더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한 일 정리</a:t>
            </a:r>
          </a:p>
          <a:p/>
          <a:p>
            <a:r>
              <a:t>세 문장입니다.</a:t>
            </a:r>
          </a:p>
          <a:p/>
          <a:p>
            <a:r>
              <a:t>첫째, 서버를 열었습니다. 네 줄이면 됐죠. 만들고, 자리 잡고, 기다리고, 받는다.</a:t>
            </a:r>
          </a:p>
          <a:p/>
          <a:p>
            <a:r>
              <a:t>둘째, 요청을 읽고 움직였습니다. 어려운 문법은 없었어요. 4차시 if와 in 하나면 됐습니다.</a:t>
            </a:r>
          </a:p>
          <a:p/>
          <a:p>
            <a:r>
              <a:t>셋째, 양쪽 방향이 다 열렸습니다. 휴대폰에서 보드로 명령이 가고, 보드에서 휴대폰으로 값이 옵니다.</a:t>
            </a:r>
          </a:p>
          <a:p/>
          <a:p>
            <a:r>
              <a:t>[지시] 붉은 박스를 짚는다.</a:t>
            </a:r>
          </a:p>
          <a:p/>
          <a:p>
            <a:r>
              <a:t>오늘 딱 하나. 서버는 기다리고, 요청이 오면 답한다.</a:t>
            </a:r>
          </a:p>
          <a:p/>
          <a:p>
            <a:r>
              <a:t>이 문장은 우리 보드에만 해당하는 게 아닙니다. 여러분이 매일 쓰는 모든 사이트가 똑같이 동작합니다. 규모만 다를 뿐이에요.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열두 차시, 우리가 만든 것</a:t>
            </a:r>
          </a:p>
          <a:p/>
          <a:p>
            <a:r>
              <a:t>처음 만났을 때를 떠올려 보세요. 이 작은 보드를 처음 손에 쥐었을 때요.</a:t>
            </a:r>
          </a:p>
          <a:p/>
          <a:p>
            <a:r>
              <a:t>1차시부터 3차시까지는 준비였습니다. 보드가 뭔지 알아보고, 환경을 만들고, LED 하나를 켰죠.</a:t>
            </a:r>
          </a:p>
          <a:p/>
          <a:p>
            <a:r>
              <a:t>4차시부터 6차시까지는 출력이었습니다. 버튼으로 입력을 받고, PWM으로 밝기를 조절하고, 색을 만들었습니다.</a:t>
            </a:r>
          </a:p>
          <a:p/>
          <a:p>
            <a:r>
              <a:t>7차시부터 9차시까지는 센서였습니다. 손잡이를 돌려 값을 읽고, 온도와 습도를 재고, 거리를 쟀죠.</a:t>
            </a:r>
          </a:p>
          <a:p/>
          <a:p>
            <a:r>
              <a:t>10차시부터 오늘까지가 움직임과 통신입니다. 모터를 돌리고, 무선에 붙고, 오늘 휴대폰으로 조종했습니다.</a:t>
            </a:r>
          </a:p>
          <a:p/>
          <a:p>
            <a:r>
              <a:t>[발문] 1차시에 임베디드 시스템이 무엇이라고 했죠?</a:t>
            </a:r>
          </a:p>
          <a:p/>
          <a:p>
            <a:r>
              <a:t>입력, 처리, 출력의 반복. 그리고 여기에 통신이 붙는다고 했습니다. 네 가지를 다 해 봤습니다.</a:t>
            </a:r>
          </a:p>
          <a:p/>
          <a:p>
            <a:r>
              <a:t>[지시] 학생들이 직접 만든 것 중 기억에 남는 것을 한두 명에게 말하게 해도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마무리</a:t>
            </a:r>
          </a:p>
          <a:p/>
          <a:p>
            <a:r>
              <a:t>여기까지 왔습니다.</a:t>
            </a:r>
          </a:p>
          <a:p/>
          <a:p>
            <a:r>
              <a:t>열두 주 전에는 이 보드에 전원을 어떻게 넣는지도 몰랐죠. 지금은 센서로 값을 읽고, 모터를 돌리고, 휴대폰으로 조종합니다.</a:t>
            </a:r>
          </a:p>
          <a:p/>
          <a:p>
            <a:r>
              <a:t>[지시] 오른쪽 카드 세 장을 하나씩 짚는다.</a:t>
            </a:r>
          </a:p>
          <a:p/>
          <a:p>
            <a:r>
              <a:t>수업은 끝나지만 보드는 계속 쓸 수 있습니다. 몇 가지 길을 알려 드릴게요.</a:t>
            </a:r>
          </a:p>
          <a:p/>
          <a:p>
            <a:r>
              <a:t>첫째, 블루투스. 1차시에 이야기했죠. 이 보드에는 BLE도 들어 있는데 시간이 부족해 다루지 못했습니다. 오늘 배운 것과 목적이 비슷해서, 자료를 보면 혼자서도 해 볼 수 있습니다.</a:t>
            </a:r>
          </a:p>
          <a:p/>
          <a:p>
            <a:r>
              <a:t>둘째, C와 C++ SDK. 속도가 정말 필요해지면 그때 넘어가면 됩니다. 지금 배운 개념은 그대로 쓰입니다.</a:t>
            </a:r>
          </a:p>
          <a:p/>
          <a:p>
            <a:r>
              <a:t>셋째, 그리고 이게 제일 중요합니다. 여러분만의 프로젝트요.</a:t>
            </a:r>
          </a:p>
          <a:p/>
          <a:p>
            <a:r>
              <a:t>[발문] 지금 배운 것만으로 만들 수 있는 게 뭐가 있을까요?</a:t>
            </a:r>
          </a:p>
          <a:p/>
          <a:p>
            <a:r>
              <a:t>화분 흙이 마르면 알려 주는 장치, 방 온도를 휴대폰에서 보는 장치, 문이 열리면 알림이 오는 장치. 전부 오늘까지 배운 것 안에 있습니다.</a:t>
            </a:r>
          </a:p>
          <a:p/>
          <a:p>
            <a:r>
              <a:t>[마무리] 키트 반납 안내를 하고, 코드는 각자 백업해 두게 한다. 열두 차시 동안 고생 많았다고 인사한다.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0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0A9AE"/>
                </a:solidFill>
                <a:latin typeface="맑은 고딕"/>
              </a:rPr>
              <a:t>임베디드 랩  ·  12차시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47088"/>
            <a:ext cx="67665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</a:rPr>
              <a:t>휴대폰으로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</a:rPr>
              <a:t>보드 조종하기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6732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8CDD0"/>
                </a:solidFill>
                <a:latin typeface="맑은 고딕"/>
              </a:rPr>
              <a:t>보드 안에서 작은 웹사이트가 돌아갑니다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43400"/>
            <a:ext cx="2011680" cy="0"/>
          </a:xfrm>
          <a:prstGeom prst="rect">
            <a:avLst/>
          </a:prstGeom>
          <a:noFill/>
          <a:ln w="2540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72000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9A7AC"/>
                </a:solidFill>
                <a:latin typeface="맑은 고딕"/>
              </a:rPr>
              <a:t>socket  ·  bind  ·  listen  ·  accept  ·  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240280"/>
            <a:ext cx="3931920" cy="2011680"/>
          </a:xfrm>
          <a:prstGeom prst="roundRect">
            <a:avLst>
              <a:gd name="adj" fmla="val 5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35915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28A"/>
                </a:solidFill>
                <a:latin typeface="Consolas"/>
              </a:rPr>
              <a:t>WEB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82127" y="2724912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23272B"/>
          </a:solidFill>
          <a:ln w="12700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2127" y="2724912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A9B0B8"/>
                </a:solidFill>
                <a:latin typeface="Consolas"/>
              </a:rPr>
              <a:t>PHONE</a:t>
            </a:r>
          </a:p>
        </p:txBody>
      </p:sp>
      <p:sp>
        <p:nvSpPr>
          <p:cNvPr id="11" name="Chevron 10"/>
          <p:cNvSpPr/>
          <p:nvPr/>
        </p:nvSpPr>
        <p:spPr>
          <a:xfrm>
            <a:off x="9125712" y="2889504"/>
            <a:ext cx="155448" cy="256032"/>
          </a:xfrm>
          <a:prstGeom prst="chevron">
            <a:avLst>
              <a:gd name="adj" fmla="val 50000"/>
            </a:avLst>
          </a:prstGeom>
          <a:noFill/>
          <a:ln w="190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9326880" y="2889504"/>
            <a:ext cx="155448" cy="256032"/>
          </a:xfrm>
          <a:prstGeom prst="chevron">
            <a:avLst>
              <a:gd name="adj" fmla="val 50000"/>
            </a:avLst>
          </a:prstGeom>
          <a:noFill/>
          <a:ln w="190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9528048" y="2889504"/>
            <a:ext cx="155448" cy="256032"/>
          </a:xfrm>
          <a:prstGeom prst="chevron">
            <a:avLst>
              <a:gd name="adj" fmla="val 50000"/>
            </a:avLst>
          </a:prstGeom>
          <a:noFill/>
          <a:ln w="190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02368" y="2724912"/>
            <a:ext cx="1234440" cy="566928"/>
          </a:xfrm>
          <a:prstGeom prst="roundRect">
            <a:avLst>
              <a:gd name="adj" fmla="val 12000"/>
            </a:avLst>
          </a:prstGeom>
          <a:solidFill>
            <a:srgbClr val="23272B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02368" y="2724912"/>
            <a:ext cx="123444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0A9AE"/>
                </a:solidFill>
                <a:latin typeface="Consolas"/>
              </a:rPr>
              <a:t>PICO 2 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96728" y="3291840"/>
            <a:ext cx="36576" cy="201168"/>
          </a:xfrm>
          <a:prstGeom prst="rect">
            <a:avLst/>
          </a:prstGeom>
          <a:solidFill>
            <a:srgbClr val="5A6068"/>
          </a:solidFill>
          <a:ln w="6350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02368" y="3493008"/>
            <a:ext cx="1234440" cy="384048"/>
          </a:xfrm>
          <a:prstGeom prst="roundRect">
            <a:avLst>
              <a:gd name="adj" fmla="val 14000"/>
            </a:avLst>
          </a:prstGeom>
          <a:solidFill>
            <a:srgbClr val="23272B"/>
          </a:solidFill>
          <a:ln w="9525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02368" y="3493008"/>
            <a:ext cx="12344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7A828A"/>
                </a:solidFill>
                <a:latin typeface="Consolas"/>
              </a:rPr>
              <a:t>LED · MOTOR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3474720"/>
            <a:ext cx="14630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FD3E8"/>
                </a:solidFill>
                <a:latin typeface="Consolas"/>
              </a:rPr>
              <a:t>GET /on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오늘 배울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700784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00784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2763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서버가 무엇인지 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5681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요청이 오기를 기다렸다가 답을 보내는 쪽이 서버다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32304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651760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7860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보드에 웹 서버를 연다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0779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socket으로 80번 자리를 잡고 접속을 기다린다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602736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2958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휴대폰으로 접속한다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587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같은 공유기에서 IP 주소로 보드가 만든 화면을 연다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34256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553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53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056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요청을 읽고 판단한다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097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요청 글자에 /on이 들어 있는지 보고 동작을 정한다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85232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5504688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504688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4315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센서와 출력을 이어 붙인다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7607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센서 값을 화면에 담고, 버튼으로 LED와 모터를 움직인다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지난 시간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11차시에 보드가 공유기에 붙었습니다. 오늘은 그때 받은 주소를 실제로 씁니다.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990011"/>
                </a:solidFill>
                <a:latin typeface="맑은 고딕"/>
              </a:rPr>
              <a:t>연결 3단계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켜고·요청하고·기다린다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active, connect, isconnected.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17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5207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990011"/>
                </a:solidFill>
                <a:latin typeface="맑은 고딕"/>
              </a:rPr>
              <a:t>기다려야 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520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요청만으로는 부족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520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안 기다리면 0.0.0.0이 나왔죠.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55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8582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990011"/>
                </a:solidFill>
                <a:latin typeface="맑은 고딕"/>
              </a:rPr>
              <a:t>IP 주소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858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192.168.0.14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858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공유기가 우리 보드에 준 주소입니다.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592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1957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990011"/>
                </a:solidFill>
                <a:latin typeface="맑은 고딕"/>
              </a:rPr>
              <a:t>먼저 볼 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195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status()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195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-2는 이름, -3은 비밀번호였습니다.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00600"/>
            <a:ext cx="10817352" cy="822960"/>
          </a:xfrm>
          <a:prstGeom prst="roundRect">
            <a:avLst>
              <a:gd name="adj" fmla="val 6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56632"/>
            <a:ext cx="10085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</a:rPr>
              <a:t>적어 둔 IP 주소를 꺼내 두세요. </a:t>
            </a:r>
            <a:r>
              <a:rPr sz="1350" b="0">
                <a:solidFill>
                  <a:srgbClr val="4B5563"/>
                </a:solidFill>
                <a:latin typeface="맑은 고딕"/>
              </a:rPr>
              <a:t>오늘 그 주소를 휴대폰 주소창에 직접 적습니다. 기억나지 않으면 지난 코드를 다시 실행하세요.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서버는 기다렸다가 답하는 쪽입니다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어려운 말 같지만 하는 일은 단순합니다. 묻고 답하는 것뿐입니다.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0817352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2606040"/>
            <a:ext cx="1554480" cy="658368"/>
          </a:xfrm>
          <a:prstGeom prst="roundRect">
            <a:avLst>
              <a:gd name="adj" fmla="val 10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155448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휴대폰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2724912"/>
            <a:ext cx="2103120" cy="45720"/>
          </a:xfrm>
          <a:prstGeom prst="rect">
            <a:avLst/>
          </a:prstGeom>
          <a:solidFill>
            <a:srgbClr val="990011"/>
          </a:solidFill>
          <a:ln w="63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432304"/>
            <a:ext cx="21031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990011"/>
                </a:solidFill>
                <a:latin typeface="Consolas"/>
              </a:rPr>
              <a:t>요청  GET /on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3127248"/>
            <a:ext cx="2103120" cy="45720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3218688"/>
            <a:ext cx="21031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onsolas"/>
              </a:rPr>
              <a:t>응답  &lt;h1&gt;...&lt;/h1&gt;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606040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606040"/>
            <a:ext cx="173736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Pico 2 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487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</a:rPr>
              <a:t>서버 = 기다리는 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852928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오늘 보드는 먼저 말을 걸지 않습니다. 누가 찾아와 물어보면 그때 답을 만들어 보냅니다.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4340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5537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5537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085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먼저 말하지 않는다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074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서버는 접속이 올 때까지 가만히 기다립니다. 멈춘 것처럼 보여도 정상입니다.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2836" y="434340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77156" y="45537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7156" y="45537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4356" y="46085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요청은 짧은 글자다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7156" y="5074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브라우저가 GET /on 같은 글자를 보냅니다. 그게 요청의 전부입니다.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434340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94192" y="45537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45537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46085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응답도 글자다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5074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보드는 글자만 보냅니다. 화면을 그리는 일은 브라우저가 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FOUR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서버를 여는 데 필요한 네 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socket 모듈로 자리를 잡고 기다리는 순서입니다.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2496312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2194560"/>
            <a:ext cx="329184" cy="329184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194560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651760"/>
            <a:ext cx="2020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만든다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" y="3017520"/>
            <a:ext cx="2020824" cy="502920"/>
          </a:xfrm>
          <a:prstGeom prst="roundRect">
            <a:avLst>
              <a:gd name="adj" fmla="val 9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3017520"/>
            <a:ext cx="2020824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FD3E8"/>
                </a:solidFill>
                <a:latin typeface="Consolas"/>
              </a:rPr>
              <a:t>socket.socket()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675887"/>
            <a:ext cx="20208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연결을 주고받을 창구를 하나 준비합니다.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9175" y="1965960"/>
            <a:ext cx="2496312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96919" y="2194560"/>
            <a:ext cx="329184" cy="329184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6919" y="2194560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6919" y="2651760"/>
            <a:ext cx="2020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자리를 잡는다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96919" y="3017520"/>
            <a:ext cx="2020824" cy="502920"/>
          </a:xfrm>
          <a:prstGeom prst="roundRect">
            <a:avLst>
              <a:gd name="adj" fmla="val 9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6919" y="3017520"/>
            <a:ext cx="2020824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FD3E8"/>
                </a:solidFill>
                <a:latin typeface="Consolas"/>
              </a:rPr>
              <a:t>s.bind(('0.0.0.0', 80))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6919" y="3675887"/>
            <a:ext cx="20208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80번은 웹이 쓰기로 약속된 번호입니다.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2550" y="1965960"/>
            <a:ext cx="2496312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70294" y="2194560"/>
            <a:ext cx="329184" cy="329184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0294" y="2194560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0294" y="2651760"/>
            <a:ext cx="2020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기다린다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0294" y="3017520"/>
            <a:ext cx="2020824" cy="502920"/>
          </a:xfrm>
          <a:prstGeom prst="roundRect">
            <a:avLst>
              <a:gd name="adj" fmla="val 9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0294" y="3017520"/>
            <a:ext cx="2020824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FD3E8"/>
                </a:solidFill>
                <a:latin typeface="Consolas"/>
              </a:rPr>
              <a:t>s.listen(1)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0294" y="3675887"/>
            <a:ext cx="20208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이제 접속을 받을 수 있는 상태가 됩니다.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5925" y="1965960"/>
            <a:ext cx="2496312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43669" y="2194560"/>
            <a:ext cx="329184" cy="329184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3669" y="2194560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3669" y="2651760"/>
            <a:ext cx="2020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받는다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43669" y="3017520"/>
            <a:ext cx="2020824" cy="502920"/>
          </a:xfrm>
          <a:prstGeom prst="roundRect">
            <a:avLst>
              <a:gd name="adj" fmla="val 9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43669" y="3017520"/>
            <a:ext cx="2020824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FD3E8"/>
                </a:solidFill>
                <a:latin typeface="Consolas"/>
              </a:rPr>
              <a:t>s.accept()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3669" y="3675887"/>
            <a:ext cx="20208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누가 접속하면 그때 연결 하나가 만들어집니다.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892040"/>
            <a:ext cx="10817352" cy="868680"/>
          </a:xfrm>
          <a:prstGeom prst="roundRect">
            <a:avLst>
              <a:gd name="adj" fmla="val 7000"/>
            </a:avLst>
          </a:prstGeom>
          <a:solidFill>
            <a:srgbClr val="FDF3F4"/>
          </a:solidFill>
          <a:ln w="1270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138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</a:rPr>
              <a:t>accept()에서 멈춘 것처럼 보이는 게 정상입니다. </a:t>
            </a:r>
            <a:r>
              <a:rPr sz="1350" b="0">
                <a:solidFill>
                  <a:srgbClr val="4B5563"/>
                </a:solidFill>
                <a:latin typeface="맑은 고딕"/>
              </a:rPr>
              <a:t>누군가 접속하기를 기다리는 중이고, 접속이 오면 그때 다음 줄이 실행됩니다.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CODE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가장 단순한 웹 서버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연결하고, 자리를 잡고, 접속이 오면 글자를 보냅니다.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6035040" cy="324612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</a:rPr>
              <a:t>server.py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A9AE"/>
                </a:solidFill>
                <a:latin typeface="Consolas"/>
              </a:rPr>
              <a:t>import socket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5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wlan = connect_wifi(SSID, PW)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1177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print(wlan.ifconfig()[0])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3181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s = socket.socket()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9183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s.bind(('0.0.0.0', 80))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5185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s.listen(1)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7189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while True: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3191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cl, addr = s.accept()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193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cl.recv(1024)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5195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cl.send("HTTP/1.0 200 OK\r\n\r\n")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1197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cl.send("&lt;h1&gt;Hello Pico&lt;/h1&gt;")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57199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    cl.close()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1031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3~4행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0312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먼저 연결한다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377439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11차시 함수를 그대로 씁니다. 주소를 화면에 찍어 둡니다.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79806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6~8행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798063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자리를 잡고 기다린다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072383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앞에서 본 네 단계 중 세 개가 여기 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4930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11행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493008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여기서 멈춘다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767328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접속이 올 때까지 기다립니다. cl이 그 손님과의 통로입니다.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1879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13~14행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187952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약속된 인사와 내용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462272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성공을 알리는 첫 줄, 빈 줄, 그리고 보여 줄 글자입니다.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88289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15행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882896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반드시 닫는다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5157216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닫아야 브라우저가 다 받았다고 판단합니다.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</a:rPr>
              <a:t>실행하면 주소 한 줄이 찍히고 조용해집니다. 이제 접속을 기다리는 중입니다.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휴대폰으로 접속해 봅시다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보드는 이미 기다리고 있습니다. 이제 찾아가기만 하면 됩니다.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011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2996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같은 공유기에 붙는다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59152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휴대폰의 데이터를 끄고 학교 공유기에 연결합니다. 보드와 같은 곳이어야 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06324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8152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주소창에 IP를 적는다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410712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검색창이 아니라 주소창입니다. 지난 시간에 받은 숫자를 그대로 적습니다.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1148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133087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화면이 뜨면 성공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462272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보드가 보낸 글자가 휴대폰에 나타납니다. Thonny 화면에도 반응이 찍힙니다.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96596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2240280"/>
            <a:ext cx="2194560" cy="365760"/>
          </a:xfrm>
          <a:prstGeom prst="roundRect">
            <a:avLst>
              <a:gd name="adj" fmla="val 18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240280"/>
            <a:ext cx="21945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onsolas"/>
              </a:rPr>
              <a:t>192.168.0.14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328"/>
                </a:solidFill>
                <a:latin typeface="맑은 고딕"/>
              </a:rPr>
              <a:t>Hello Pico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576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</a:rPr>
              <a:t>ON      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6177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맑은 고딕"/>
              </a:rPr>
              <a:t>보드가 보낸 화면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440680"/>
            <a:ext cx="10817352" cy="731520"/>
          </a:xfrm>
          <a:prstGeom prst="roundRect">
            <a:avLst>
              <a:gd name="adj" fmla="val 8000"/>
            </a:avLst>
          </a:prstGeom>
          <a:solidFill>
            <a:srgbClr val="FDF3F4"/>
          </a:solidFill>
          <a:ln w="1270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623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</a:rPr>
              <a:t>휴대폰이 LTE·5G에 붙어 있으면 절대 열리지 않습니다. </a:t>
            </a:r>
            <a:r>
              <a:rPr sz="1350" b="0">
                <a:solidFill>
                  <a:srgbClr val="4B5563"/>
                </a:solidFill>
                <a:latin typeface="맑은 고딕"/>
              </a:rPr>
              <a:t>보드와 휴대폰이 같은 공유기 안에 있어야 서로 찾을 수 있습니다.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보드가 보내는 것은 글자뿐입니다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응답은 두 부분입니다. 약속된 인사, 그리고 보여 줄 내용.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85232" cy="1828800"/>
          </a:xfrm>
          <a:prstGeom prst="roundRect">
            <a:avLst>
              <a:gd name="adj" fmla="val 45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1284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9CA3AF"/>
                </a:solidFill>
                <a:latin typeface="맑은 고딕"/>
              </a:rPr>
              <a:t>첫 부분 — 약속된 인사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542032"/>
            <a:ext cx="4645152" cy="502920"/>
          </a:xfrm>
          <a:prstGeom prst="roundRect">
            <a:avLst>
              <a:gd name="adj" fmla="val 8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42032"/>
            <a:ext cx="4645152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HTTP/1.0 200 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82112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200은 성공했다는 뜻입니다. 이 줄이 있어야 브라우저가 응답으로 알아봅니다.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2852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21284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990011"/>
                </a:solidFill>
                <a:latin typeface="맑은 고딕"/>
              </a:rPr>
              <a:t>그다음 — 보여 줄 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542032"/>
            <a:ext cx="4645152" cy="502920"/>
          </a:xfrm>
          <a:prstGeom prst="roundRect">
            <a:avLst>
              <a:gd name="adj" fmla="val 8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42032"/>
            <a:ext cx="4645152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F0A9AE"/>
                </a:solidFill>
                <a:latin typeface="Consolas"/>
              </a:rPr>
              <a:t>&lt;h1&gt;Hello Pico&lt;/h1&gt;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182112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이런 글자를 HTML이라고 합니다. 브라우저가 읽고 화면으로 그려 줍니다.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14800"/>
            <a:ext cx="3383280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43251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251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3799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빈 줄이 경계다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8463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인사와 내용 사이에는 빈 줄이 하나 있어야 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2836" y="4114800"/>
            <a:ext cx="3383280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77156" y="43251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7156" y="43251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4356" y="43799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태그가 모양을 정한다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7156" y="48463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&lt;h1&gt;은 큰 제목, &lt;a&gt;는 링크입니다. 여는 것과 닫는 것이 짝입니다.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4114800"/>
            <a:ext cx="3383280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94192" y="43251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43251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43799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그림은 브라우저가 그린다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8463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보드는 글자만 보냅니다. 색과 크기를 그리는 일은 휴대폰이 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CODE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누를 수 있는 버튼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링크 두 개를 넣습니다. 아직 누르면 아무 일도 일어나지 않습니다.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6035040" cy="310896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</a:rPr>
              <a:t>server_page.py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A9AE"/>
                </a:solidFill>
                <a:latin typeface="Consolas"/>
              </a:rPr>
              <a:t>html = """&lt;html&gt;&lt;body&gt;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51176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&lt;h1&gt;Pico 2 W&lt;/h1&gt;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24912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&lt;a href="/on"&gt;ON&lt;/a&gt;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98648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&lt;a href="/off"&gt;OFF&lt;/a&gt;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72384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A9AE"/>
                </a:solidFill>
                <a:latin typeface="Consolas"/>
              </a:rPr>
              <a:t>&lt;/body&gt;&lt;/html&gt;"""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19856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while True: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93591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cl, addr = s.accept()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67328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cl.recv(1024)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41064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cl.send("HTTP/1.0 200 OK\r\n")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14800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cl.send("Content-type: text/html\r\n\r\n")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88536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cl.send(html)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62272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    cl.close()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1488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1·5행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4884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따옴표 세 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423160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여러 줄짜리 글자를 한 덩어리로 담을 때 씁니다.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8803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3~4행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88036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링크가 곧 버튼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154680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누르면 브라우저가 /on 또는 /off로 다시 찾아옵니다.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6118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11행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61188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내용이 HTML이라고 알린다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886200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이 줄이 없으면 글자가 그대로 보일 수 있습니다.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3434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12행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34340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만들어 둔 글자를 보낸다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617720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html에 담아 둔 내용을 통째로 보냅니다.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3949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</a:rPr>
              <a:t>지금 눌러 보면 화면만 다시 뜹니다. 요청을 아직 읽지 않았기 때문입니다.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브라우저가 무엇을 보내는지 봅시다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print(req) 한 줄이면 휴대폰이 보낸 글자를 그대로 볼 수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</a:rPr>
              <a:t>휴대폰에서 한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99339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</a:rPr>
              <a:t>보드에 들어오는 글자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99339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</a:rPr>
              <a:t>우리가 할 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주소만 입력했다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780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90011"/>
                </a:solidFill>
                <a:latin typeface="Consolas"/>
              </a:rPr>
              <a:t>GET / HTTP/1.1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4780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기본 화면을 보냅니다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62656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455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ON을 눌렀다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154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90011"/>
                </a:solidFill>
                <a:latin typeface="Consolas"/>
              </a:rPr>
              <a:t>GET /on HTTP/1.1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LED를 켜고 화면을 보냅니다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39312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22191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OFF를 눌렀다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8313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90011"/>
                </a:solidFill>
                <a:latin typeface="Consolas"/>
              </a:rPr>
              <a:t>GET /off HTTP/1.1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8313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LED를 끄고 화면을 보냅니다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15968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988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새로고침했다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079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90011"/>
                </a:solidFill>
                <a:latin typeface="Consolas"/>
              </a:rPr>
              <a:t>직전과 같은 글자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507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같은 동작이 한 번 더 실행됩니다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1208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468112"/>
            <a:ext cx="10085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</a:rPr>
              <a:t>요청 전체를 이해할 필요는 없습니다. </a:t>
            </a:r>
            <a:r>
              <a:rPr sz="1350" b="0">
                <a:solidFill>
                  <a:srgbClr val="4B5563"/>
                </a:solidFill>
                <a:latin typeface="맑은 고딕"/>
              </a:rPr>
              <a:t>우리에게 필요한 것은 그 글자 안에 /on 이 들어 있는지 하나뿐입니다.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CODE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버튼으로 LED 켜고 끄기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요청을 글자로 바꿔 놓고, 안에 무엇이 들어 있는지만 확인합니다.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6035040" cy="324612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</a:rPr>
              <a:t>server_led.py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led = Pin("LED", Pin.OUT)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5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while True: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1177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cl, addr = s.accept()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79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req = str(cl.recv(1024))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9183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    if "/on" in req: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5185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    led.on()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1187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    elif "/off" in req: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7189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    led.off()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193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cl.send("HTTP/1.0 200 OK\r\n\r\n")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5195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cl.send(html)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1197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    cl.close()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1031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5행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글자로 바꾼다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377439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recv가 준 값을 str()로 바꿔야 in으로 찾을 수 있습니다.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83463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7·9행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34639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4차시 if와 같다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108959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조건이 맞으면 켜고, 아니면 끕니다. 새 문법이 아닙니다.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5661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7행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56616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in은 "들어 있나"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840480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요청 안에 /on 이라는 글자가 있는지만 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2976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12~14행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29768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판단 뒤에 응답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572000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동작을 먼저 하고, 화면을 보내고, 닫습니다.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</a:rPr>
              <a:t>휴대폰 버튼을 누르면 보드의 LED가 켜집니다. 선으로 이어져 있지 않은데도 말이죠.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CODE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센서 값을 화면에 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이번에는 반대 방향입니다. 보드가 읽은 값을 휴대폰이 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6035040" cy="2926080"/>
          </a:xfrm>
          <a:prstGeom prst="roundRect">
            <a:avLst>
              <a:gd name="adj" fmla="val 2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</a:rPr>
              <a:t>server_sensor.py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while True: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51176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cl, addr = s.accept()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24912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cl.recv(1024)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72384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    t = sensor.temperature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page = "&lt;meta http-equiv='refresh' 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19856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page += "content='2'&gt;"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93591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page += "&lt;h1&gt;" + str(t) + " C&lt;/h1&gt;"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41064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cl.send("HTTP/1.0 200 OK\r\n\r\n")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14800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cl.send(page)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88536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    cl.close()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1488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5행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4884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접속할 때마다 새로 읽는다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423160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8차시 온습도 센서 그대로입니다. 값은 그때그때 읽습니다.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8803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8행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88036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숫자를 글자로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154680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str()로 바꿔야 글자에 이어 붙일 수 있습니다.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6118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6~7행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61188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2초마다 새로고침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886200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이 한 줄이면 브라우저가 알아서 다시 찾아옵니다.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3434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전체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34340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방향이 반대다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617720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앞에서는 명령이 갔고, 이번에는 값이 옵니다.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16636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422392"/>
            <a:ext cx="10085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</a:rPr>
              <a:t>센서 → 보드 → Wi-Fi → 휴대폰. </a:t>
            </a:r>
            <a:r>
              <a:rPr sz="1350" b="0">
                <a:solidFill>
                  <a:srgbClr val="4B5563"/>
                </a:solidFill>
                <a:latin typeface="맑은 고딕"/>
              </a:rPr>
              <a:t>1차시 첫 시간에 보여 드린 그림이 오늘 그대로 완성됐습니다.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</a:rPr>
              <a:t>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서버를 열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556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9B0B8"/>
                </a:solidFill>
                <a:latin typeface="맑은 고딕"/>
              </a:rPr>
              <a:t>기다리는 프로그램은 켜 두는 동안 계속 열려 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16281F"/>
          </a:solidFill>
          <a:ln w="19050">
            <a:solidFill>
              <a:srgbClr val="2E6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5BC47E"/>
                </a:solidFill>
                <a:latin typeface="Arial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5BC47E"/>
                </a:solidFill>
                <a:latin typeface="맑은 고딕"/>
              </a:rPr>
              <a:t>해야 하는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</a:rPr>
              <a:t>휴대폰과 보드를 같은 공유기에 두기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</a:rPr>
              <a:t>응답을 보낸 뒤 cl.close() 부르기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</a:rPr>
              <a:t>모터를 쓸 때는 책상에 고정하고 실행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</a:rPr>
              <a:t>시연이 끝나면 프로그램을 멈추기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2E1216"/>
          </a:solidFill>
          <a:ln w="19050">
            <a:solidFill>
              <a:srgbClr val="8E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06A75"/>
                </a:solidFill>
                <a:latin typeface="Arial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06A75"/>
                </a:solidFill>
                <a:latin typeface="맑은 고딕"/>
              </a:rPr>
              <a:t>절대 하면 안 되는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</a:rPr>
              <a:t>이 서버를 학교 밖 인터넷에 공개하기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</a:rPr>
              <a:t>비밀번호가 든 파일을 그대로 제출·공유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</a:rPr>
              <a:t>close() 없이 계속 접속만 받기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</a:rPr>
              <a:t>모터가 도는 채로 자리 비우기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A9AE"/>
                </a:solidFill>
                <a:latin typeface="맑은 고딕"/>
              </a:rPr>
              <a:t>이 서버는 같은 공유기 안에서만 보입니다. 바깥에 여는 것은 보안 문제가 따로 있어 수업에서는 하지 않습니다.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실습 — 내 손 안의 리모컨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지금까지 만든 출력과 센서를 웹 화면에 붙여 봅시다.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21284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LED 켜고 끄기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090672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200400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FD3E8"/>
                </a:solidFill>
                <a:latin typeface="Consolas"/>
              </a:rPr>
              <a:t>if "/on" in req: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369564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    led.on()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3538728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FD3E8"/>
                </a:solidFill>
                <a:latin typeface="Consolas"/>
              </a:rPr>
              <a:t>elif "/off" in req: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3707891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    led.off()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" y="4046219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</a:rPr>
              <a:t># 2차시 내장 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18304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다 같이 해 봅니다. 휴대폰 버튼으로 보드의 LED가 켜지면 성공입니다.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2836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77156" y="221284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7156" y="221284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7156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도전 — 모터 속도 버튼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77156" y="3090672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3460" y="3200400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FD3E8"/>
                </a:solidFill>
                <a:latin typeface="Consolas"/>
              </a:rPr>
              <a:t>if "/fast" in req: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3460" y="3369564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    motor(60000)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3460" y="3538728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FD3E8"/>
                </a:solidFill>
                <a:latin typeface="Consolas"/>
              </a:rPr>
              <a:t>elif "/slow" in req: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3460" y="3707891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    motor(25000)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3460" y="3877055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FD3E8"/>
                </a:solidFill>
                <a:latin typeface="Consolas"/>
              </a:rPr>
              <a:t>elif "/stop" in req: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3460" y="4046219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    motor(0)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77156" y="4718304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링크를 세 개로 늘리고 10차시 함수를 그대로 부릅니다.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9872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94192" y="221284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221284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도전 — 거리 값 보여 주기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94192" y="3090672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0496" y="3200400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FD3E8"/>
                </a:solidFill>
                <a:latin typeface="Consolas"/>
              </a:rPr>
              <a:t>d = read_distance()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369564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page = "&lt;h1&gt;"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0496" y="3538728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page += str(d)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0496" y="3707891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page += " cm&lt;/h1&gt;"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0496" y="4046219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</a:rPr>
              <a:t># 9차시 초음파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4718304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센서 값을 화면에 띄우고, 앞을 막으면 숫자가 변하는지 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접속이 안 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오늘은 주소와 close(), 두 가지가 원인의 대부분입니다.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</a:rPr>
              <a:t>증상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99339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</a:rPr>
              <a:t>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99339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</a:rPr>
              <a:t>해결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휴대폰에서 열리지 않는다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780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</a:rPr>
              <a:t>데이터로 인터넷을 쓰고 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4780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Wi-Fi로 바꾸고 같은 공유기인지 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62656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455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화면이 계속 도는 중이다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154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</a:rPr>
              <a:t>cl.close()를 부르지 않았다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응답을 보낸 뒤 close()를 넣습니다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39312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22191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EADDRINUSE 오류가 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8313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</a:rPr>
              <a:t>앞 프로그램이 80번을 잡고 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8313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Ctrl+D로 보드를 리셋한 뒤 다시 실행합니다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15968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988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태그가 글자로 보인다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079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</a:rPr>
              <a:t>Content-type 줄이 없다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507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응답에 text/html 줄을 넣습니다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92624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755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버튼을 눌러도 반응이 없다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184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</a:rPr>
              <a:t>요청을 읽지 않았다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184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recv 결과를 str()로 바꿔 if로 확인합니다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</a:rPr>
              <a:t>접속이 안 되면 주소부터, 멈춘 것 같으면 close()부터 확인하세요.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오늘 한 일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보드가 만든 화면을 휴대폰으로 열고, 버튼으로 조종했습니다.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2328"/>
                </a:solidFill>
                <a:latin typeface="맑은 고딕"/>
              </a:rPr>
              <a:t>서버를 열었다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네 줄로 자리를 잡고 접속을 기다렸습니다. 보드가 기다리는 쪽이 됐습니다.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2836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95444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5444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5444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2328"/>
                </a:solidFill>
                <a:latin typeface="맑은 고딕"/>
              </a:rPr>
              <a:t>요청을 읽고 움직였다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444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글자 안에 /on이 있는지 보고 LED와 모터를 움직였습니다.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2328"/>
                </a:solidFill>
                <a:latin typeface="맑은 고딕"/>
              </a:rPr>
              <a:t>양쪽 방향이 다 열렸다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명령은 휴대폰에서 보드로, 센서 값은 보드에서 휴대폰으로 갑니다.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17720"/>
            <a:ext cx="10817352" cy="1051560"/>
          </a:xfrm>
          <a:prstGeom prst="roundRect">
            <a:avLst>
              <a:gd name="adj" fmla="val 6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</a:rPr>
              <a:t>오늘 딱 하나만 기억한다면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38928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서버는 기다리고, 요청이 오면 답한다.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THE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열두 차시, 우리가 만든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작은 보드 하나로 읽고, 판단하고, 움직이고, 이야기까지 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2496312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4028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</a:rPr>
              <a:t>1~3차시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514600"/>
            <a:ext cx="2148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90011"/>
                </a:solidFill>
                <a:latin typeface="맑은 고딕"/>
              </a:rPr>
              <a:t>시작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063240"/>
            <a:ext cx="2011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200" b="0">
                <a:solidFill>
                  <a:srgbClr val="4B5563"/>
                </a:solidFill>
                <a:latin typeface="맑은 고딕"/>
              </a:rPr>
              <a:t>보드와 안전 수칙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200" b="0">
                <a:solidFill>
                  <a:srgbClr val="4B5563"/>
                </a:solidFill>
                <a:latin typeface="맑은 고딕"/>
              </a:rPr>
              <a:t>개발 환경과 첫 코드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200" b="0">
                <a:solidFill>
                  <a:srgbClr val="4B5563"/>
                </a:solidFill>
                <a:latin typeface="맑은 고딕"/>
              </a:rPr>
              <a:t>브레드보드와 외부 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175" y="1965960"/>
            <a:ext cx="2496312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5207" y="224028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</a:rPr>
              <a:t>4~6차시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5207" y="2514600"/>
            <a:ext cx="2148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90011"/>
                </a:solidFill>
                <a:latin typeface="맑은 고딕"/>
              </a:rPr>
              <a:t>출력 다루기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5207" y="3063240"/>
            <a:ext cx="2011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200" b="0">
                <a:solidFill>
                  <a:srgbClr val="4B5563"/>
                </a:solidFill>
                <a:latin typeface="맑은 고딕"/>
              </a:rPr>
              <a:t>버튼 입력과 풀업·풀다운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200" b="0">
                <a:solidFill>
                  <a:srgbClr val="4B5563"/>
                </a:solidFill>
                <a:latin typeface="맑은 고딕"/>
              </a:rPr>
              <a:t>PWM으로 밝기 조절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200" b="0">
                <a:solidFill>
                  <a:srgbClr val="4B5563"/>
                </a:solidFill>
                <a:latin typeface="맑은 고딕"/>
              </a:rPr>
              <a:t>RGB로 색 만들기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550" y="1965960"/>
            <a:ext cx="2496312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8582" y="224028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</a:rPr>
              <a:t>7~9차시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8582" y="2514600"/>
            <a:ext cx="2148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90011"/>
                </a:solidFill>
                <a:latin typeface="맑은 고딕"/>
              </a:rPr>
              <a:t>센서로 읽기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8582" y="3063240"/>
            <a:ext cx="2011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200" b="0">
                <a:solidFill>
                  <a:srgbClr val="4B5563"/>
                </a:solidFill>
                <a:latin typeface="맑은 고딕"/>
              </a:rPr>
              <a:t>가변저항과 ADC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200" b="0">
                <a:solidFill>
                  <a:srgbClr val="4B5563"/>
                </a:solidFill>
                <a:latin typeface="맑은 고딕"/>
              </a:rPr>
              <a:t>온습도 센서와 I2C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200" b="0">
                <a:solidFill>
                  <a:srgbClr val="4B5563"/>
                </a:solidFill>
                <a:latin typeface="맑은 고딕"/>
              </a:rPr>
              <a:t>초음파로 거리 재기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5925" y="1965960"/>
            <a:ext cx="2496312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1957" y="224028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</a:rPr>
              <a:t>10~12차시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1957" y="2514600"/>
            <a:ext cx="2148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90011"/>
                </a:solidFill>
                <a:latin typeface="맑은 고딕"/>
              </a:rPr>
              <a:t>움직임과 통신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1957" y="3063240"/>
            <a:ext cx="2011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200" b="0">
                <a:solidFill>
                  <a:srgbClr val="4B5563"/>
                </a:solidFill>
                <a:latin typeface="맑은 고딕"/>
              </a:rPr>
              <a:t>모터 드라이버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200" b="0">
                <a:solidFill>
                  <a:srgbClr val="4B5563"/>
                </a:solidFill>
                <a:latin typeface="맑은 고딕"/>
              </a:rPr>
              <a:t>Wi-Fi 연결과 IP 주소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200" b="0">
                <a:solidFill>
                  <a:srgbClr val="4B5563"/>
                </a:solidFill>
                <a:latin typeface="맑은 고딕"/>
              </a:rPr>
              <a:t>웹 서버와 원격 제어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8348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239512"/>
            <a:ext cx="10085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</a:rPr>
              <a:t>입력 · 처리 · 출력 · 통신. </a:t>
            </a:r>
            <a:r>
              <a:rPr sz="1350" b="0">
                <a:solidFill>
                  <a:srgbClr val="4B5563"/>
                </a:solidFill>
                <a:latin typeface="맑은 고딕"/>
              </a:rPr>
              <a:t>1차시에 임베디드 시스템이라고 부른 그 네 가지를 열두 차시 동안 모두 한 번씩 다뤘습니다.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0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3444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0A9AE"/>
                </a:solidFill>
                <a:latin typeface="맑은 고딕"/>
              </a:rPr>
              <a:t>임베디드 랩  ·  마지막 시간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64208"/>
            <a:ext cx="67665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여기까지 왔습니다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이제 시작입니다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58444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8CDD0"/>
                </a:solidFill>
                <a:latin typeface="맑은 고딕"/>
              </a:rPr>
              <a:t>센서 하나와 출력 하나면 무엇이든 만들 수 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160520"/>
            <a:ext cx="2011680" cy="0"/>
          </a:xfrm>
          <a:prstGeom prst="rect">
            <a:avLst/>
          </a:prstGeom>
          <a:noFill/>
          <a:ln w="2540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389120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A7AC"/>
                </a:solidFill>
                <a:latin typeface="맑은 고딕"/>
              </a:rPr>
              <a:t>고생 많으셨습니다.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417320"/>
            <a:ext cx="3867912" cy="1051560"/>
          </a:xfrm>
          <a:prstGeom prst="roundRect">
            <a:avLst>
              <a:gd name="adj" fmla="val 7000"/>
            </a:avLst>
          </a:prstGeom>
          <a:solidFill>
            <a:srgbClr val="4A0009"/>
          </a:solidFill>
          <a:ln w="12700">
            <a:solidFill>
              <a:srgbClr val="8E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58191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A9AE"/>
                </a:solidFill>
                <a:latin typeface="맑은 고딕"/>
              </a:rPr>
              <a:t>블루투스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911095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E8CDD0"/>
                </a:solidFill>
                <a:latin typeface="맑은 고딕"/>
              </a:rPr>
              <a:t>이 보드에는 BLE도 들어 있습니다. 휴대폰과 직접 이어 보세요.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651760"/>
            <a:ext cx="3867912" cy="1051560"/>
          </a:xfrm>
          <a:prstGeom prst="roundRect">
            <a:avLst>
              <a:gd name="adj" fmla="val 7000"/>
            </a:avLst>
          </a:prstGeom>
          <a:solidFill>
            <a:srgbClr val="4A0009"/>
          </a:solidFill>
          <a:ln w="12700">
            <a:solidFill>
              <a:srgbClr val="8E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81635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A9AE"/>
                </a:solidFill>
                <a:latin typeface="맑은 고딕"/>
              </a:rPr>
              <a:t>C / C++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14553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E8CDD0"/>
                </a:solidFill>
                <a:latin typeface="맑은 고딕"/>
              </a:rPr>
              <a:t>속도가 정말 필요해질 때 넘어가는 길입니다.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886200"/>
            <a:ext cx="3867912" cy="1051560"/>
          </a:xfrm>
          <a:prstGeom prst="roundRect">
            <a:avLst>
              <a:gd name="adj" fmla="val 7000"/>
            </a:avLst>
          </a:prstGeom>
          <a:solidFill>
            <a:srgbClr val="4A0009"/>
          </a:solidFill>
          <a:ln w="12700">
            <a:solidFill>
              <a:srgbClr val="8E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4050791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A9AE"/>
                </a:solidFill>
                <a:latin typeface="맑은 고딕"/>
              </a:rPr>
              <a:t>나만의 프로젝트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37997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E8CDD0"/>
                </a:solidFill>
                <a:latin typeface="맑은 고딕"/>
              </a:rPr>
              <a:t>화분 물주기, 방 온도 알림, 무엇이든 지금 다 만들 수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078992"/>
            <a:ext cx="38679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A7AC"/>
                </a:solidFill>
                <a:latin typeface="맑은 고딕"/>
              </a:rPr>
              <a:t>다음에 해 볼 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