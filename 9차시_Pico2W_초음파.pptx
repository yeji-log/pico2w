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초음파로 거리 재기</a:t>
            </a:r>
          </a:p>
          <a:p/>
          <a:p>
            <a:r>
              <a:t>[지시] 지난 시간 회로에서 4차시 버튼만 빼게 한다. 초음파 센서와 저항 두 개를 배부한다.</a:t>
            </a:r>
          </a:p>
          <a:p/>
          <a:p>
            <a:r>
              <a:t>1차시 네 번째 장에 입력 장치를 네 가지 적어 뒀습니다. 버튼, 온습도 센서, 초음파 센서, 가변저항.</a:t>
            </a:r>
          </a:p>
          <a:p/>
          <a:p>
            <a:r>
              <a:t>[발문] 지금까지 몇 개 했죠?</a:t>
            </a:r>
          </a:p>
          <a:p/>
          <a:p>
            <a:r>
              <a:t>버튼은 4차시, 가변저항은 7차시, 온습도는 지난 시간. 세 개 했습니다. 오늘 마지막 하나를 합니다.</a:t>
            </a:r>
          </a:p>
          <a:p/>
          <a:p>
            <a:r>
              <a:t>초음파 센서는 원리가 재밌습니다. 사람이 못 듣는 아주 높은 소리를 쏘고, 그게 부딪혀 돌아오는 시간을 재요. 소리 속도를 알고 있으니 시간으로 거리를 계산할 수 있습니다.</a:t>
            </a:r>
          </a:p>
          <a:p/>
          <a:p>
            <a:r>
              <a:t>박쥐가 어두운 동굴에서 날아다니는 방법, 잠수함이 물속에서 지형을 보는 방법이 다 이겁니다.</a:t>
            </a:r>
          </a:p>
          <a:p/>
          <a:p>
            <a:r>
              <a:t>그리고 오늘은 새로운 문제가 하나 있습니다. 이 센서는 5볼트로 동작해요.</a:t>
            </a:r>
          </a:p>
          <a:p/>
          <a:p>
            <a:r>
              <a:t>[발문] 1차시 규칙이 뭐였죠? (답: GPIO에 5V 금지)</a:t>
            </a:r>
          </a:p>
          <a:p/>
          <a:p>
            <a:r>
              <a:t>그래서 오늘은 보드를 지키는 방법도 같이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다섯 가지입니다.</a:t>
            </a:r>
          </a:p>
          <a:p/>
          <a:p>
            <a:r>
              <a:t>첫째와 둘째는 원리입니다. 소리로 어떻게 거리를 재는지, 계산은 어떻게 하는지.</a:t>
            </a:r>
          </a:p>
          <a:p/>
          <a:p>
            <a:r>
              <a:t>셋째와 넷째가 오늘의 고비예요. 이 센서는 5볼트로 동작합니다. 그 5볼트 신호를 우리 보드에 그냥 넣으면 안 돼요. 그래서 낮춰 주는 회로를 직접 만듭니다.</a:t>
            </a:r>
          </a:p>
          <a:p/>
          <a:p>
            <a:r>
              <a:t>[발문] 전압을 비율로 나눈다는 얘기, 언제 했었죠?</a:t>
            </a:r>
          </a:p>
          <a:p/>
          <a:p>
            <a:r>
              <a:t>7차시 가변저항 때 전압 분배라고 배웠습니다. 오늘은 그걸 저항 두 개로 직접 만듭니다. 배운 게 여기서 쓰입니다.</a:t>
            </a:r>
          </a:p>
          <a:p/>
          <a:p>
            <a:r>
              <a:t>다섯째, 거리를 읽고 활용합니다. 오늘은 측정이 실패하는 경우도 다룰 거예요. 지금까지 센서 중에 값이 가장 잘 튀는 센서입니다.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지난 시간 요약</a:t>
            </a:r>
          </a:p>
          <a:p/>
          <a:p>
            <a:r>
              <a:t>지난 시간 네 가지만 짚습니다.</a:t>
            </a:r>
          </a:p>
          <a:p/>
          <a:p>
            <a:r>
              <a:t>I2C로 선 두 개를 썼고, scan()으로 주소를 찾았고, 드라이버를 보드에 올렸고, 교실의 진짜 온도와 습도를 읽었습니다.</a:t>
            </a:r>
          </a:p>
          <a:p/>
          <a:p>
            <a:r>
              <a:t>[지시] 회로 확인 시간을 3분 준다. 온습도 값이 나오는지 먼저 확인시킨다.</a:t>
            </a:r>
          </a:p>
          <a:p/>
          <a:p>
            <a:r>
              <a:t>오늘은 정리를 조금 해야 합니다. 아래 박스 보세요.</a:t>
            </a:r>
          </a:p>
          <a:p/>
          <a:p>
            <a:r>
              <a:t>4차시 버튼 회로를 빼세요. 두 가지 이유입니다. 첫째, 오늘 GP16과 GP17을 쓰는데 버튼이 GP16에 있습니다. 둘째, 초음파 센서가 커서 브레드보드 자리가 필요해요.</a:t>
            </a:r>
          </a:p>
          <a:p/>
          <a:p>
            <a:r>
              <a:t>나머지는 그대로 두세요. RGB LED, 가변저항, 온습도 센서 다 실습에서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소리를 보내고 돌아오는 시간을 잰다</a:t>
            </a:r>
          </a:p>
          <a:p/>
          <a:p>
            <a:r>
              <a:t>원리부터 봅시다. 세 단계예요.</a:t>
            </a:r>
          </a:p>
          <a:p/>
          <a:p>
            <a:r>
              <a:t>1단계, 센서가 소리를 쏩니다. 사람은 못 듣는 아주 높은 소리예요. 40킬로헤르츠 정도입니다.</a:t>
            </a:r>
          </a:p>
          <a:p/>
          <a:p>
            <a:r>
              <a:t>[발문] 사람은 몇 헤르츠까지 들을 수 있을까요?</a:t>
            </a:r>
          </a:p>
          <a:p/>
          <a:p>
            <a:r>
              <a:t>보통 20킬로헤르츠까지입니다. 그래서 40킬로헤르츠는 안 들려요. 이런 소리를 초음파라고 합니다. 초는 넘는다는 뜻이에요.</a:t>
            </a:r>
          </a:p>
          <a:p/>
          <a:p>
            <a:r>
              <a:t>2단계, 그 소리가 앞에 있는 물체에 부딪혀 돌아옵니다. 메아리죠.</a:t>
            </a:r>
          </a:p>
          <a:p/>
          <a:p>
            <a:r>
              <a:t>3단계, 센서가 나갔다 돌아오는 데 걸린 시간을 잽니다. 아주 짧아서 마이크로초 단위로 잽니다. 100만분의 1초요.</a:t>
            </a:r>
          </a:p>
          <a:p/>
          <a:p>
            <a:r>
              <a:t>[지시] 세 번째 카드를 반드시 짚는다. 오늘 계산에서 가장 많이 틀리는 부분이다.</a:t>
            </a:r>
          </a:p>
          <a:p/>
          <a:p>
            <a:r>
              <a:t>여기서 제일 중요한 게 세 번째 카드입니다. 잰 시간은 왕복 시간이에요. 갔다가 돌아온 겁니다.</a:t>
            </a:r>
          </a:p>
          <a:p/>
          <a:p>
            <a:r>
              <a:t>[발문] 그럼 거리를 구할 때 어떻게 해야 할까요?</a:t>
            </a:r>
          </a:p>
          <a:p/>
          <a:p>
            <a:r>
              <a:t>2로 나눠야 합니다. 이거 안 하면 거리가 두 배로 나와요. 다음 장에서 계산해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시간으로 거리를 계산하기</a:t>
            </a:r>
          </a:p>
          <a:p/>
          <a:p>
            <a:r>
              <a:t>계산은 간단합니다. 곱하기 한 번, 나누기 한 번.</a:t>
            </a:r>
          </a:p>
          <a:p/>
          <a:p>
            <a:r>
              <a:t>소리의 속도는 공기 중에서 초당 343미터입니다. 그런데 우리가 재는 시간은 마이크로초 단위죠. 단위를 맞춰야 합니다.</a:t>
            </a:r>
          </a:p>
          <a:p/>
          <a:p>
            <a:r>
              <a:t>초당 343미터를 마이크로초당 센티미터로 바꾸면 0.0343이 됩니다. 계산해 보면 맞아요.</a:t>
            </a:r>
          </a:p>
          <a:p/>
          <a:p>
            <a:r>
              <a:t>[지시] 계산 박스를 왼쪽부터 짚는다.</a:t>
            </a:r>
          </a:p>
          <a:p/>
          <a:p>
            <a:r>
              <a:t>예를 들어 1000마이크로초가 나왔다고 합시다. 1000 곱하기 0.0343은 34.3센티미터. 그런데 이건 왕복 거리예요.</a:t>
            </a:r>
          </a:p>
          <a:p/>
          <a:p>
            <a:r>
              <a:t>[발문] 그럼 실제 거리는?</a:t>
            </a:r>
          </a:p>
          <a:p/>
          <a:p>
            <a:r>
              <a:t>절반인 17.15센티미터입니다.</a:t>
            </a:r>
          </a:p>
          <a:p/>
          <a:p>
            <a:r>
              <a:t>세 번째 카드를 보세요. 0.0343을 2로 나누면 약 58분의 1이 됩니다. 그래서 인터넷 예제 중에는 그냥 시간을 58로 나누는 것도 많아요. 같은 계산입니다.</a:t>
            </a:r>
          </a:p>
          <a:p/>
          <a:p>
            <a:r>
              <a:t>[지시] 하단 문장을 짚으며 8차시와 연결한다.</a:t>
            </a:r>
          </a:p>
          <a:p/>
          <a:p>
            <a:r>
              <a:t>그리고 재밌는 게 하나 있습니다. 소리 속도는 온도에 따라 조금 달라져요. 더우면 빨라집니다. 지난 시간에 온도 센서를 만들었으니, 마음만 먹으면 온도로 보정할 수도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HC-SR04 — 다리 네 개</a:t>
            </a:r>
          </a:p>
          <a:p/>
          <a:p>
            <a:r>
              <a:t>센서를 꺼내 보세요. 눈이 두 개 달린 것처럼 생겼죠. 하나는 소리를 쏘는 스피커, 하나는 듣는 마이크입니다.</a:t>
            </a:r>
          </a:p>
          <a:p/>
          <a:p>
            <a:r>
              <a:t>다리는 네 개입니다. VCC, Trig, Echo, GND. 기판에 인쇄되어 있어요.</a:t>
            </a:r>
          </a:p>
          <a:p/>
          <a:p>
            <a:r>
              <a:t>VCC부터. 여기가 오늘의 문제입니다. 이 센서는 5볼트가 필요해요. 3.3볼트로는 동작하지 않습니다. 그래서 VBUS, 40번 핀에 연결해야 합니다.</a:t>
            </a:r>
          </a:p>
          <a:p/>
          <a:p>
            <a:r>
              <a:t>Trig는 트리거의 줄임말입니다. 방아쇠라는 뜻이에요. 보드가 센서한테 "지금 쏴"라고 신호를 보내는 겁니다. 그러니까 보드 입장에서는 출력이죠.</a:t>
            </a:r>
          </a:p>
          <a:p/>
          <a:p>
            <a:r>
              <a:t>Echo는 메아리라는 뜻입니다. 센서가 보드한테 답하는 신호예요. 소리가 돌아올 때까지 HIGH를 유지합니다. 그 시간을 우리가 잽니다. 보드 입장에서는 입력이고요.</a:t>
            </a:r>
          </a:p>
          <a:p/>
          <a:p>
            <a:r>
              <a:t>[지시] 하단 문장을 짚는다.</a:t>
            </a:r>
          </a:p>
          <a:p/>
          <a:p>
            <a:r>
              <a:t>재밌는 건 이겁니다. 한 부품에 출력과 입력이 같이 있어요. 4차시에 배운 Pin.OUT과 Pin.IN을 한 부품에 함께 쓰는 첫 사례입니다.</a:t>
            </a:r>
          </a:p>
          <a:p/>
          <a:p>
            <a:r>
              <a:t>그런데 Echo가 답을 보낼 때 몇 볼트로 보낼까요? 다음 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Echo는 5V로 답합니다</a:t>
            </a:r>
          </a:p>
          <a:p/>
          <a:p>
            <a:r>
              <a:t>여기가 오늘의 고비입니다. 천천히 갑니다.</a:t>
            </a:r>
          </a:p>
          <a:p/>
          <a:p>
            <a:r>
              <a:t>센서가 5볼트로 동작한다고 했죠. 그러면 센서가 내보내는 신호도 5볼트입니다. Echo가 HIGH일 때 5볼트가 나와요.</a:t>
            </a:r>
          </a:p>
          <a:p/>
          <a:p>
            <a:r>
              <a:t>[발문] 그걸 GP17에 그냥 연결하면 어떻게 될까요?</a:t>
            </a:r>
          </a:p>
          <a:p/>
          <a:p>
            <a:r>
              <a:t>칩이 손상됩니다. 1차시에 제일 처음 배운 규칙이죠. GPIO에 5볼트 금지.</a:t>
            </a:r>
          </a:p>
          <a:p/>
          <a:p>
            <a:r>
              <a:t>[지시] 오른쪽 카드를 짚으며 1차시를 회수한다.</a:t>
            </a:r>
          </a:p>
          <a:p/>
          <a:p>
            <a:r>
              <a:t>1차시 열네 번째 장 기억하시나요. 절대 하면 안 되는 것 네 가지 중 첫 줄이 "GPIO 핀에 5V 신호를 직접 넣기"였습니다.</a:t>
            </a:r>
          </a:p>
          <a:p/>
          <a:p>
            <a:r>
              <a:t>그동안은 5볼트 부품을 안 썼으니 넘어갔어요. 오늘 처음으로 5볼트 부품을 만난 겁니다.</a:t>
            </a:r>
          </a:p>
          <a:p/>
          <a:p>
            <a:r>
              <a:t>[발문] 그럼 이 센서는 못 쓰는 걸까요?</a:t>
            </a:r>
          </a:p>
          <a:p/>
          <a:p>
            <a:r>
              <a:t>쓸 수 있습니다. 5볼트를 3.3볼트로 낮춰 주면 되니까요. 그 방법이 다음 장입니다.</a:t>
            </a:r>
          </a:p>
          <a:p/>
          <a:p>
            <a:r>
              <a:t>[지시] 하단 박스를 짚는다. 학생들이 자주 묻는 부분이다.</a:t>
            </a:r>
          </a:p>
          <a:p/>
          <a:p>
            <a:r>
              <a:t>하나만 미리 정리하면, Trig는 괜찮습니다. Trig는 보드가 내보내는 신호예요. 3.3볼트로 나가도 센서가 알아듣습니다. 문제는 센서가 우리한테 보내오는 Echo 하나뿐입니다.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전압 분배로 5V를 3.3V로</a:t>
            </a:r>
          </a:p>
          <a:p/>
          <a:p>
            <a:r>
              <a:t>해결책입니다. 그런데 이거 처음 보는 게 아니에요.</a:t>
            </a:r>
          </a:p>
          <a:p/>
          <a:p>
            <a:r>
              <a:t>[발문] 전압 분배, 언제 배웠죠?</a:t>
            </a:r>
          </a:p>
          <a:p/>
          <a:p>
            <a:r>
              <a:t>7차시 가변저항입니다. 그때 저항 막대 양 끝에 3.3볼트와 0볼트를 걸고, 가운데에서 읽으면 위치에 따라 전압이 나뉜다고 했죠.</a:t>
            </a:r>
          </a:p>
          <a:p/>
          <a:p>
            <a:r>
              <a:t>오늘은 그걸 저항 두 개로 직접 만듭니다. 가변저항 안에서 일어나던 일을 밖으로 꺼내는 거예요.</a:t>
            </a:r>
          </a:p>
          <a:p/>
          <a:p>
            <a:r>
              <a:t>[지시] 왼쪽 그림을 위에서부터 짚는다.</a:t>
            </a:r>
          </a:p>
          <a:p/>
          <a:p>
            <a:r>
              <a:t>Echo에서 5볼트가 나옵니다. 1킬로옴 저항을 지나고, 거기서 GP17로 갈라집니다. 그리고 계속 내려가서 2킬로옴을 지나 GND로 갑니다.</a:t>
            </a:r>
          </a:p>
          <a:p/>
          <a:p>
            <a:r>
              <a:t>[발문] 갈라지는 지점의 전압은 몇 볼트일까요?</a:t>
            </a:r>
          </a:p>
          <a:p/>
          <a:p>
            <a:r>
              <a:t>아래쪽 저항이 2킬로옴, 전체가 3킬로옴이죠. 그러니까 전체의 3분의 2입니다. 5볼트의 3분의 2, 3.33볼트예요.</a:t>
            </a:r>
          </a:p>
          <a:p/>
          <a:p>
            <a:r>
              <a:t>[지시] 맨 아래 줄을 강조한다. 오늘 가장 흔한 실수다.</a:t>
            </a:r>
          </a:p>
          <a:p/>
          <a:p>
            <a:r>
              <a:t>여기서 아주 중요한 것. 저항 순서를 바꾸면 안 됩니다. Echo 쪽이 1킬로옴, GND 쪽이 2킬로옴이에요. 바꾸면 5볼트의 3분의 1, 1.67볼트가 나옵니다. 그러면 보드가 HIGH로 인식을 못 해서 아예 동작을 안 합니다.</a:t>
            </a:r>
          </a:p>
          <a:p/>
          <a:p>
            <a:r>
              <a:t>혹시 2킬로옴이 없고 2.2킬로옴만 있으면 그걸 써도 됩니다. 3.44볼트가 나오는데 보드가 견디는 범위 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오늘 만들 회로</a:t>
            </a:r>
          </a:p>
          <a:p/>
          <a:p>
            <a:r>
              <a:t>배선이 지금까지 중 제일 복잡합니다. 천천히 갑니다.</a:t>
            </a:r>
          </a:p>
          <a:p/>
          <a:p>
            <a:r>
              <a:t>전원 두 줄은 쉬워요. VCC는 VBUS, 40번 핀. 5볼트입니다. GND는 23번.</a:t>
            </a:r>
          </a:p>
          <a:p/>
          <a:p>
            <a:r>
              <a:t>[지시] VBUS를 쓰는 유일한 차시임을 강조한다. 지금까지는 늘 3V3이었다.</a:t>
            </a:r>
          </a:p>
          <a:p/>
          <a:p>
            <a:r>
              <a:t>여기 잠깐. 지금까지 여덟 차시 동안 우리는 항상 3V3을 썼습니다. VBUS를 쓰는 건 오늘이 처음이에요. 센서가 5볼트를 요구하기 때문입니다.</a:t>
            </a:r>
          </a:p>
          <a:p/>
          <a:p>
            <a:r>
              <a:t>Trig는 GP16, 21번 핀에 그냥 연결합니다.</a:t>
            </a:r>
          </a:p>
          <a:p/>
          <a:p>
            <a:r>
              <a:t>문제는 Echo입니다. 여기만 저항 두 개가 들어갑니다.</a:t>
            </a:r>
          </a:p>
          <a:p/>
          <a:p>
            <a:r>
              <a:t>Echo에서 1킬로옴을 지나 새 세로줄로 갑니다. 그 줄에서 두 갈래로 나뉘어요. 하나는 GP17로, 하나는 2킬로옴을 지나 GND로.</a:t>
            </a:r>
          </a:p>
          <a:p/>
          <a:p>
            <a:r>
              <a:t>[발문] 브레드보드에서 두 갈래로 나누려면 어떻게 하죠? (답: 같은 세로줄에 꽂으면 된다)</a:t>
            </a:r>
          </a:p>
          <a:p/>
          <a:p>
            <a:r>
              <a:t>2차시에 배운 그거죠. 같은 세로줄에 꽂으면 연결됩니다. 그 줄에 저항 끝, 점퍼선, 2킬로옴 저항 이렇게 세 개가 들어갑니다.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배선하는 순서</a:t>
            </a:r>
          </a:p>
          <a:p/>
          <a:p>
            <a:r>
              <a:t>[지시] 다 같이 한 단계씩 진행한다. 4단계와 5단계에서 반드시 멈추고 확인한다.</a:t>
            </a:r>
          </a:p>
          <a:p/>
          <a:p>
            <a:r>
              <a:t>1번. USB를 뽑고, 4차시 버튼과 10킬로옴 저항을 뺍니다. 자리를 비워야 해요.</a:t>
            </a:r>
          </a:p>
          <a:p/>
          <a:p>
            <a:r>
              <a:t>2번. 센서를 꽂습니다. 다리 네 개가 각각 다른 세로줄에.</a:t>
            </a:r>
          </a:p>
          <a:p/>
          <a:p>
            <a:r>
              <a:t>3번. 전원 두 줄과 Trig. VCC는 VBUS 40번, GND는 23번, Trig는 GP16입니다.</a:t>
            </a:r>
          </a:p>
          <a:p/>
          <a:p>
            <a:r>
              <a:t>4번. Echo에 1킬로옴을 답니다. Echo가 꽂힌 줄과 빈 줄 하나에 걸쳐서요. 그 빈 줄을 A줄이라고 부르겠습니다.</a:t>
            </a:r>
          </a:p>
          <a:p/>
          <a:p>
            <a:r>
              <a:t>5번. A줄에서 두 갈래입니다. 하나는 점퍼선으로 GP17에. 다른 하나는 2킬로옴 저항을 거쳐 GND로.</a:t>
            </a:r>
          </a:p>
          <a:p/>
          <a:p>
            <a:r>
              <a:t>[지시] 아래 붉은 박스를 반드시 강조한다. 오늘 유일한 위험 지점이다.</a:t>
            </a:r>
          </a:p>
          <a:p/>
          <a:p>
            <a:r>
              <a:t>여기서 정말 중요한 것. 저항 두 개를 다 연결하기 전에는 USB를 꽂지 마세요.</a:t>
            </a:r>
          </a:p>
          <a:p/>
          <a:p>
            <a:r>
              <a:t>[발문] 1킬로옴만 달고 전원을 넣으면 어떻게 될까요?</a:t>
            </a:r>
          </a:p>
          <a:p/>
          <a:p>
            <a:r>
              <a:t>2킬로옴이 없으면 전압이 안 나뉩니다. GP17에 5볼트가 그대로 들어가요. 그러면 칩이 손상됩니다.</a:t>
            </a:r>
          </a:p>
          <a:p/>
          <a:p>
            <a:r>
              <a:t>두 저항이 다 제자리에 있는 걸 눈으로 확인하고, 그다음에 USB를 꽂으세요.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거리를 읽는 함수 만들기</a:t>
            </a:r>
          </a:p>
          <a:p/>
          <a:p>
            <a:r>
              <a:t>코드가 조금 깁니다. 그런데 6차시에 배운 함수로 묶으면 나중이 편해요.</a:t>
            </a:r>
          </a:p>
          <a:p/>
          <a:p>
            <a:r>
              <a:t>4행과 5행. Trig는 출력, Echo는 입력입니다. 아까 말한 그대로예요.</a:t>
            </a:r>
          </a:p>
          <a:p/>
          <a:p>
            <a:r>
              <a:t>7행부터가 함수입니다. read_distance라고 이름을 지었어요.</a:t>
            </a:r>
          </a:p>
          <a:p/>
          <a:p>
            <a:r>
              <a:t>[지시] 8행부터 12행을 한 덩어리로 설명한다.</a:t>
            </a:r>
          </a:p>
          <a:p/>
          <a:p>
            <a:r>
              <a:t>8행부터 12행까지가 "지금 쏴"라는 신호를 보내는 부분입니다. 순서가 정해져 있어요. 먼저 LOW로 확실히 내려놓고, 2마이크로초 기다렸다가, HIGH로 올리고, 10마이크로초 유지하고, 다시 LOW로 내립니다.</a:t>
            </a:r>
          </a:p>
          <a:p/>
          <a:p>
            <a:r>
              <a:t>[발문] 왜 하필 10마이크로초일까요?</a:t>
            </a:r>
          </a:p>
          <a:p/>
          <a:p>
            <a:r>
              <a:t>센서 설명서에 그렇게 하라고 되어 있습니다. 부품마다 약속된 신호 규격이 있어요.</a:t>
            </a:r>
          </a:p>
          <a:p/>
          <a:p>
            <a:r>
              <a:t>sleep_us는 마이크로초 단위로 쉬는 명령입니다. 2차시부터 쓰던 sleep은 초 단위였죠. 10마이크로초는 0.00001초인데, 이렇게 쓰면 부정확합니다. 그래서 전용 명령을 씁니다.</a:t>
            </a:r>
          </a:p>
          <a:p/>
          <a:p>
            <a:r>
              <a:t>13행이 핵심입니다. time_pulse_us. Echo가 HIGH인 시간을 재 줍니다. 뒤의 30000은 제한 시간이에요. 30밀리초 안에 안 돌아오면 포기하라는 뜻입니다.</a:t>
            </a:r>
          </a:p>
          <a:p/>
          <a:p>
            <a:r>
              <a:t>14행에서 앞에서 배운 계산식을 그대로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실제로 재 보기</a:t>
            </a:r>
          </a:p>
          <a:p/>
          <a:p>
            <a:r>
              <a:t>앞 장 코드 아래에 이어 붙이면 됩니다. 네 줄이에요.</a:t>
            </a:r>
          </a:p>
          <a:p/>
          <a:p>
            <a:r>
              <a:t>함수를 만들어 뒀으니 read_distance()라고 부르기만 하면 거리가 나옵니다. 6차시 set_color 때와 같은 방식이죠.</a:t>
            </a:r>
          </a:p>
          <a:p/>
          <a:p>
            <a:r>
              <a:t>[지시] 실행시키고 손을 대 보게 한다.</a:t>
            </a:r>
          </a:p>
          <a:p/>
          <a:p>
            <a:r>
              <a:t>실행하고 센서 앞에 손을 가까이 대 보세요. 값이 확 줄어듭니다. 반응이 아주 빨라요.</a:t>
            </a:r>
          </a:p>
          <a:p/>
          <a:p>
            <a:r>
              <a:t>책상 끝이나 벽을 향해도 재 보세요.</a:t>
            </a:r>
          </a:p>
          <a:p/>
          <a:p>
            <a:r>
              <a:t>[발문] 얼마나 멀리까지 재지나요?</a:t>
            </a:r>
          </a:p>
          <a:p/>
          <a:p>
            <a:r>
              <a:t>설명서상으로는 4미터까지입니다. 그런데 재밌는 건 너무 가까워도 못 잰다는 거예요. 2센티미터보다 가까우면 소리가 나가자마자 돌아와서 센서가 구분을 못 합니다.</a:t>
            </a:r>
          </a:p>
          <a:p/>
          <a:p>
            <a:r>
              <a:t>[지시] 화면 셸 출력의 음수를 짚는다.</a:t>
            </a:r>
          </a:p>
          <a:p/>
          <a:p>
            <a:r>
              <a:t>그리고 값을 보다 보면 음수가 섞여 나올 겁니다. 마이너스 2 같은 거요.</a:t>
            </a:r>
          </a:p>
          <a:p/>
          <a:p>
            <a:r>
              <a:t>[발문] 거리가 음수일 수 있나요?</a:t>
            </a:r>
          </a:p>
          <a:p/>
          <a:p>
            <a:r>
              <a:t>없죠. 이건 측정에 실패했다는 표시입니다. 제한 시간 안에 소리가 안 돌아온 거예요. 다음 장에서 이걸 처리하는 법을 배웁니다.</a:t>
            </a:r>
          </a:p>
          <a:p/>
          <a:p>
            <a:r>
              <a:t>마지막으로 sleep을 0.5초로 둔 이유. 너무 자주 재면 앞에서 쏜 소리의 메아리가 아직 남아 있어서 값이 흔들립니다.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실패한 값을 걸러 내기</a:t>
            </a:r>
          </a:p>
          <a:p/>
          <a:p>
            <a:r>
              <a:t>초음파 센서는 지금까지 쓴 센서 중에 값이 가장 잘 흔들립니다. 이유가 있어요.</a:t>
            </a:r>
          </a:p>
          <a:p/>
          <a:p>
            <a:r>
              <a:t>첫째, 비스듬한 면. 소리가 딴 데로 튀어서 안 돌아옵니다. 거울에 빛을 비스듬히 비추면 다른 데로 가는 것과 같아요.</a:t>
            </a:r>
          </a:p>
          <a:p/>
          <a:p>
            <a:r>
              <a:t>[활동] 센서를 책상 면에 비스듬히 향하게 해 보면 값이 안 잡히는 것을 바로 확인할 수 있다.</a:t>
            </a:r>
          </a:p>
          <a:p/>
          <a:p>
            <a:r>
              <a:t>둘째, 천이나 스펀지. 소리를 흡수해 버립니다. 옷을 향해 재 보면 잘 안 잡혀요.</a:t>
            </a:r>
          </a:p>
          <a:p/>
          <a:p>
            <a:r>
              <a:t>셋째, 너무 작은 물체. 연필 같은 건 잘 안 잡힙니다.</a:t>
            </a:r>
          </a:p>
          <a:p/>
          <a:p>
            <a:r>
              <a:t>이건 고장이 아니라 이 방식의 한계입니다. 그래서 실제 제품에서도 초음파 센서는 보조로 쓰지 단독으로는 잘 안 씁니다.</a:t>
            </a:r>
          </a:p>
          <a:p/>
          <a:p>
            <a:r>
              <a:t>해결은 두 가지예요.</a:t>
            </a:r>
          </a:p>
          <a:p/>
          <a:p>
            <a:r>
              <a:t>하나, 음수는 버립니다. 화면 아래 코드처럼 if로 걸러 내면 됩니다.</a:t>
            </a:r>
          </a:p>
          <a:p/>
          <a:p>
            <a:r>
              <a:t>둘, 여러 번 재서 평균을 냅니다.</a:t>
            </a:r>
          </a:p>
          <a:p/>
          <a:p>
            <a:r>
              <a:t>[발문] 이 방법, 어디서 들어 봤죠?</a:t>
            </a:r>
          </a:p>
          <a:p/>
          <a:p>
            <a:r>
              <a:t>7차시입니다. ADC 값이 흔들릴 때도 여러 번 읽어 평균을 내라고 했죠. 흔들리는 값을 다루는 기본 방법입니다. 센서가 바뀌어도 원리는 같아요.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5V 부품을 다룰 때</a:t>
            </a:r>
          </a:p>
          <a:p/>
          <a:p>
            <a:r>
              <a:t>[지시] 화면이 어두워지므로 주의가 모인다. 여기서 한 번 멈춘다.</a:t>
            </a:r>
          </a:p>
          <a:p/>
          <a:p>
            <a:r>
              <a:t>오늘은 1차시 이후 처음으로 5볼트 부품을 다뤘습니다. 규칙은 그대로예요.</a:t>
            </a:r>
          </a:p>
          <a:p/>
          <a:p>
            <a:r>
              <a:t>오른쪽 빨간 쪽부터. 첫째, Echo를 GPIO에 그대로 연결하는 것. 오늘의 핵심 금지 사항입니다.</a:t>
            </a:r>
          </a:p>
          <a:p/>
          <a:p>
            <a:r>
              <a:t>둘째, 저항 하나만 달고 전원 넣기. 이게 더 위험해요. 다 했다고 착각하기 쉽거든요. 2킬로옴이 없으면 전압이 안 나뉩니다.</a:t>
            </a:r>
          </a:p>
          <a:p/>
          <a:p>
            <a:r>
              <a:t>셋째, 두 저항의 자리를 바꾸기. 이건 안 망가지는데 동작을 안 합니다. 1.67볼트밖에 안 나와서 보드가 HIGH로 인식을 못 해요.</a:t>
            </a:r>
          </a:p>
          <a:p/>
          <a:p>
            <a:r>
              <a:t>넷째, 센서 VCC를 3V3에 연결하는 것. 이건 위험하진 않은데 센서가 동작을 안 합니다. 5볼트가 필요하거든요.</a:t>
            </a:r>
          </a:p>
          <a:p/>
          <a:p>
            <a:r>
              <a:t>[지시] 마지막 줄을 짚으며 마무리한다.</a:t>
            </a:r>
          </a:p>
          <a:p/>
          <a:p>
            <a:r>
              <a:t>마지막 줄이 중요합니다. 5볼트 부품은 앞으로도 만납니다. 모터, 릴레이, 일부 디스플레이가 그래요.</a:t>
            </a:r>
          </a:p>
          <a:p/>
          <a:p>
            <a:r>
              <a:t>그때마다 오늘 배운 전압 분배가 답이 됩니다. 부품이 바뀌어도 방법은 같아요. 이게 원리를 배우는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실습 — 세 가지 도전</a:t>
            </a:r>
          </a:p>
          <a:p/>
          <a:p>
            <a:r>
              <a:t>지금까지 만든 게 다 살아 있습니다. RGB LED, 가변저항, 온습도 센서, 그리고 오늘의 초음파.</a:t>
            </a:r>
          </a:p>
          <a:p/>
          <a:p>
            <a:r>
              <a:t>첫째, 거리로 색 바꾸기. 7차시와 8차시에 쓴 elif를 그대로 씁니다. 다만 맨 위에 음수를 거르는 조건을 하나 넣었어요.</a:t>
            </a:r>
          </a:p>
          <a:p/>
          <a:p>
            <a:r>
              <a:t>[발문] pass는 무슨 뜻일까요?</a:t>
            </a:r>
          </a:p>
          <a:p/>
          <a:p>
            <a:r>
              <a:t>아무것도 하지 말라는 뜻입니다. 파이썬에서는 조건문 안이 비어 있으면 오류가 나요. 그래서 자리를 채우는 말입니다.</a:t>
            </a:r>
          </a:p>
          <a:p/>
          <a:p>
            <a:r>
              <a:t>둘째, 주차 보조. 차 후진할 때 삐 소리가 점점 빨라지죠. 그 원리입니다. 거리를 100으로 나눠서 쉬는 시간으로 씁니다. 가까우면 쉬는 시간이 짧아지니까 빨리 깜빡여요.</a:t>
            </a:r>
          </a:p>
          <a:p/>
          <a:p>
            <a:r>
              <a:t>[발문] 거리가 10센티미터면 몇 초씩 쉬죠? (답: 0.1초)</a:t>
            </a:r>
          </a:p>
          <a:p/>
          <a:p>
            <a:r>
              <a:t>셋째는 도전입니다. 아까 말한 평균 내기예요. 다섯 번 재서, 성공한 값만 더하고 개수를 세서 나눕니다.</a:t>
            </a:r>
          </a:p>
          <a:p/>
          <a:p>
            <a:r>
              <a:t>[지시] 5분 실습. 순회한다. 첫째까지만 해도 충분하다고 안내한다. 세 번째는 count가 0일 때 나눗셈 오류가 날 수 있으므로, 물어보는 학생에게는 조건을 하나 더 넣게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값이 안 나오거나 이상할 때</a:t>
            </a:r>
          </a:p>
          <a:p/>
          <a:p>
            <a:r>
              <a:t>오늘 원인은 거의 배선입니다.</a:t>
            </a:r>
          </a:p>
          <a:p/>
          <a:p>
            <a:r>
              <a:t>1위와 2위가 같은 증상이에요. 계속 음수만 나오는 경우.</a:t>
            </a:r>
          </a:p>
          <a:p/>
          <a:p>
            <a:r>
              <a:t>첫째, VCC를 3V3에 연결한 경우입니다. 센서가 아예 동작을 안 해요. 지금까지 여덟 차시 동안 3V3만 썼으니 손이 그리로 가는 게 당연합니다. VBUS로 옮기세요.</a:t>
            </a:r>
          </a:p>
          <a:p/>
          <a:p>
            <a:r>
              <a:t>둘째, 저항 순서가 바뀐 경우. 1.67볼트밖에 안 나와서 보드가 Echo를 못 읽습니다.</a:t>
            </a:r>
          </a:p>
          <a:p/>
          <a:p>
            <a:r>
              <a:t>셋째, 값이 튀는 건 아까 배운 그 이유들입니다. 평평한 면을 향하게 하고 평균을 내세요.</a:t>
            </a:r>
          </a:p>
          <a:p/>
          <a:p>
            <a:r>
              <a:t>넷째, 너무 가까우면 오히려 못 잽니다. 2센티미터 안쪽은 안 돼요.</a:t>
            </a:r>
          </a:p>
          <a:p/>
          <a:p>
            <a:r>
              <a:t>다섯째, 아예 반응이 없으면 Trig를 확인하세요. 신호를 못 받으면 센서가 쏘질 않습니다.</a:t>
            </a:r>
          </a:p>
          <a:p/>
          <a:p>
            <a:r>
              <a:t>[지시] 맨 아래 줄을 강조한다.</a:t>
            </a:r>
          </a:p>
          <a:p/>
          <a:p>
            <a:r>
              <a:t>정리하면 이겁니다. 음수가 계속 나오면 코드를 고치지 마세요. 배선 문제입니다. 저항 두 개부터 확인하세요.</a:t>
            </a:r>
          </a:p>
          <a:p/>
          <a:p>
            <a:r>
              <a:t>8차시에 scan()이 그랬듯, 오늘은 음수가 그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세 문장입니다.</a:t>
            </a:r>
          </a:p>
          <a:p/>
          <a:p>
            <a:r>
              <a:t>첫째, 소리로 거리를 쟀습니다. 시간과 속도로 거리를 구하는 건 과학 시간에 배운 그 공식이죠. 그게 실제 부품에서 이렇게 쓰입니다.</a:t>
            </a:r>
          </a:p>
          <a:p/>
          <a:p>
            <a:r>
              <a:t>둘째, 5볼트 부품을 다뤘습니다. 그냥 포기하지 않고 전압 분배로 해결했어요. 7차시에 배운 원리를 오늘 직접 만들었습니다.</a:t>
            </a:r>
          </a:p>
          <a:p/>
          <a:p>
            <a:r>
              <a:t>셋째, 이게 오늘의 의미인데, 1차시에 적어 둔 입력 장치 네 가지를 오늘로 다 끝냈습니다. 버튼, 가변저항, 온습도 센서, 초음파 센서.</a:t>
            </a:r>
          </a:p>
          <a:p/>
          <a:p>
            <a:r>
              <a:t>[지시] 하단 붉은 박스를 짚으며 마무리한다.</a:t>
            </a:r>
          </a:p>
          <a:p/>
          <a:p>
            <a:r>
              <a:t>오늘 딱 하나. 5볼트 신호는 저항 두 개로 나눠서 받는다.</a:t>
            </a:r>
          </a:p>
          <a:p/>
          <a:p>
            <a:r>
              <a:t>[지시] 다음 시간부터 출력 쪽으로 넘어간다는 것을 예고한다. 회로는 그대로 두게 한다.</a:t>
            </a:r>
          </a:p>
          <a:p/>
          <a:p>
            <a:r>
              <a:t>다음 시간부터는 출력 쪽으로 넘어갑니다. 지금까지 LED만 켰는데, 이제 실제로 뭔가를 움직여 볼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다음 시간 — 모터 돌리기</a:t>
            </a:r>
          </a:p>
          <a:p/>
          <a:p>
            <a:r>
              <a:t>지금까지 우리가 만든 출력은 전부 LED였습니다. 빛만 냈어요.</a:t>
            </a:r>
          </a:p>
          <a:p/>
          <a:p>
            <a:r>
              <a:t>다음 시간에는 실제로 뭔가가 움직입니다. 모터를 돌립니다.</a:t>
            </a:r>
          </a:p>
          <a:p/>
          <a:p>
            <a:r>
              <a:t>[발문] 그런데 1차시 안전 수칙에서 모터에 대해 뭐라고 했죠?</a:t>
            </a:r>
          </a:p>
          <a:p/>
          <a:p>
            <a:r>
              <a:t>GPIO에 직접 연결하지 말라고 했습니다. 반드시 모터 드라이버를 거치라고요. 그게 10차시라고 했는데, 그게 다음 시간입니다.</a:t>
            </a:r>
          </a:p>
          <a:p/>
          <a:p>
            <a:r>
              <a:t>[발문] 왜 직접 연결하면 안 될까요?</a:t>
            </a:r>
          </a:p>
          <a:p/>
          <a:p>
            <a:r>
              <a:t>전류 때문입니다. GPIO 하나가 감당할 수 있는 건 10밀리암페어 정도예요. 3차시에 LED 계산할 때 나온 그 숫자죠. 그런데 작은 모터도 수백 밀리암페어를 씁니다. 수십 배예요.</a:t>
            </a:r>
          </a:p>
          <a:p/>
          <a:p>
            <a:r>
              <a:t>그래서 모터 드라이버라는 부품을 씁니다. 우리 보드는 약한 신호만 주고, 실제 큰 전류는 드라이버가 따로 공급하는 방식입니다.</a:t>
            </a:r>
          </a:p>
          <a:p/>
          <a:p>
            <a:r>
              <a:t>오른쪽 코드를 보세요. 핀이 세 개 나옵니다. 두 개는 방향을 정하고, 하나는 PWM으로 속도를 정해요. 5차시에 배운 PWM이 또 나옵니다.</a:t>
            </a:r>
          </a:p>
          <a:p/>
          <a:p>
            <a:r>
              <a:t>[마무리] 준비물 공지 — 키트 그대로 가져오세요. 모터 드라이버와 모터, 건전지함은 다음 시간에 나눠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임베디드 랩  ·  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초음파로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거리 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  <a:ea typeface="맑은 고딕"/>
                <a:cs typeface="맑은 고딕"/>
              </a:rPr>
              <a:t>소리를 보내고 돌아오는 시간을 잽니다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  <a:ea typeface="맑은 고딕"/>
                <a:cs typeface="맑은 고딕"/>
              </a:rPr>
              <a:t>HC-SR04  ·  Trig · Echo  ·  전압 분배  ·  time_pulse_us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4028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3774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HC-SR04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834640"/>
            <a:ext cx="960120" cy="640080"/>
          </a:xfrm>
          <a:prstGeom prst="roundRect">
            <a:avLst>
              <a:gd name="adj" fmla="val 10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95970" y="2988259"/>
            <a:ext cx="332841" cy="332841"/>
          </a:xfrm>
          <a:prstGeom prst="ellipse">
            <a:avLst/>
          </a:prstGeom>
          <a:solidFill>
            <a:srgbClr val="3A4046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50427" y="2988259"/>
            <a:ext cx="332841" cy="332841"/>
          </a:xfrm>
          <a:prstGeom prst="ellipse">
            <a:avLst/>
          </a:prstGeom>
          <a:solidFill>
            <a:srgbClr val="3A4046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9144000" y="2926080"/>
            <a:ext cx="237744" cy="457200"/>
          </a:xfrm>
          <a:prstGeom prst="chevron">
            <a:avLst/>
          </a:prstGeom>
          <a:noFill/>
          <a:ln w="19050">
            <a:solidFill>
              <a:srgbClr val="FF8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9528048" y="2926080"/>
            <a:ext cx="237744" cy="457200"/>
          </a:xfrm>
          <a:prstGeom prst="chevron">
            <a:avLst/>
          </a:prstGeom>
          <a:noFill/>
          <a:ln w="19050">
            <a:solidFill>
              <a:srgbClr val="B65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912096" y="2926080"/>
            <a:ext cx="237744" cy="457200"/>
          </a:xfrm>
          <a:prstGeom prst="chevron">
            <a:avLst/>
          </a:prstGeom>
          <a:noFill/>
          <a:ln w="19050">
            <a:solidFill>
              <a:srgbClr val="6E2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835640" y="2651760"/>
            <a:ext cx="128016" cy="1005840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87968" y="3785615"/>
            <a:ext cx="1947672" cy="27432"/>
          </a:xfrm>
          <a:prstGeom prst="rect">
            <a:avLst/>
          </a:prstGeom>
          <a:solidFill>
            <a:srgbClr val="5A6068"/>
          </a:solidFill>
          <a:ln w="508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3858768"/>
            <a:ext cx="194767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23.4 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초음파의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소리를 쏘고 돌아오는 시간으로 거리를 구하는 방법을 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거리 계산식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시간과 소리 속도로 거리를 계산하고 왜 2로 나누는지 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5V 부품 다루기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Echo의 5V를 3.3V로 낮추는 방법을 이해한다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전압 분배 만들기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7차시에 배운 원리를 저항 두 개로 직접 구현한다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거리 읽고 활용하기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측정값을 함수로 묶고 실패한 값을 걸러 낸다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8차시에는 센서에게 물어봤습니다. 오늘은 직접 신호를 보내고 시간을 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I2C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선 두 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SDA와 SCL로 여러 장치와 대화했습니다.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scan()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누가 붙어 있는지 먼저 확인했습니다.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드라이버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남의 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파일을 보드에 올려 import 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실제 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온도·습도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교실의 진짜 값을 처음 읽었습니다.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오늘은 4차시 버튼 회로만 빼세요.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GP16과 GP17을 초음파 센서에 쓸 것이고, 브레드보드 자리도 필요합니다.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소리를 보내고 돌아오는 시간을 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박쥐가 어둠 속에서 날아다니는 방법과 같습니다. 메아리를 이용하는 것입니다.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377440"/>
            <a:ext cx="1051560" cy="685800"/>
          </a:xfrm>
          <a:prstGeom prst="roundRect">
            <a:avLst>
              <a:gd name="adj" fmla="val 10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3360" y="2542032"/>
            <a:ext cx="356616" cy="356616"/>
          </a:xfrm>
          <a:prstGeom prst="ellipse">
            <a:avLst/>
          </a:prstGeom>
          <a:solidFill>
            <a:srgbClr val="3A4046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9023" y="2542032"/>
            <a:ext cx="356616" cy="356616"/>
          </a:xfrm>
          <a:prstGeom prst="ellipse">
            <a:avLst/>
          </a:prstGeom>
          <a:solidFill>
            <a:srgbClr val="3A4046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</p:txBody>
      </p:sp>
      <p:sp>
        <p:nvSpPr>
          <p:cNvPr id="10" name="Chevron 9"/>
          <p:cNvSpPr/>
          <p:nvPr/>
        </p:nvSpPr>
        <p:spPr>
          <a:xfrm>
            <a:off x="2606040" y="2487168"/>
            <a:ext cx="256032" cy="475488"/>
          </a:xfrm>
          <a:prstGeom prst="chevron">
            <a:avLst/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3026664" y="2487168"/>
            <a:ext cx="256032" cy="475488"/>
          </a:xfrm>
          <a:prstGeom prst="chevron">
            <a:avLst/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3447288" y="2487168"/>
            <a:ext cx="256032" cy="475488"/>
          </a:xfrm>
          <a:prstGeom prst="chevron">
            <a:avLst/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3867912" y="2487168"/>
            <a:ext cx="256032" cy="475488"/>
          </a:xfrm>
          <a:prstGeom prst="chevron">
            <a:avLst/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305409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① 소리를 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240280"/>
            <a:ext cx="146304" cy="1188720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200253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물체</a:t>
            </a:r>
          </a:p>
        </p:txBody>
      </p:sp>
      <p:sp>
        <p:nvSpPr>
          <p:cNvPr id="17" name="Chevron 16"/>
          <p:cNvSpPr/>
          <p:nvPr/>
        </p:nvSpPr>
        <p:spPr>
          <a:xfrm>
            <a:off x="5577840" y="2487168"/>
            <a:ext cx="256032" cy="475488"/>
          </a:xfrm>
          <a:prstGeom prst="chevron">
            <a:avLst/>
          </a:prstGeom>
          <a:noFill/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5998464" y="2487168"/>
            <a:ext cx="256032" cy="475488"/>
          </a:xfrm>
          <a:prstGeom prst="chevron">
            <a:avLst/>
          </a:prstGeom>
          <a:noFill/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6419088" y="2487168"/>
            <a:ext cx="256032" cy="475488"/>
          </a:xfrm>
          <a:prstGeom prst="chevron">
            <a:avLst/>
          </a:prstGeom>
          <a:noFill/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6839712" y="2487168"/>
            <a:ext cx="256032" cy="475488"/>
          </a:xfrm>
          <a:prstGeom prst="chevron">
            <a:avLst/>
          </a:prstGeom>
          <a:noFill/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305409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② 돌아온다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9072" y="3529584"/>
            <a:ext cx="3200400" cy="27432"/>
          </a:xfrm>
          <a:prstGeom prst="rect">
            <a:avLst/>
          </a:prstGeom>
          <a:solidFill>
            <a:srgbClr val="9CA3A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19072" y="360273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거리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2402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43230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③ 걸린 시간을 잰다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7432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소리가 나갔다 돌아오는 데 걸린 시간을 마이크로초 단위로 잽니다.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25196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480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사람은 못 듣는 소리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809744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40kHz 정도의 아주 높은 소리입니다. 사람 귀는 20kHz까지만 들립니다.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2836" y="425196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7156" y="4480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소리의 속도는 정해져 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7156" y="4809744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공기 중에서 초당 약 343m. 이 값을 알기에 시간으로 거리를 구할 수 있습니다.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425196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4480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왕복이라는 점이 중요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809744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잰 시간은 갔다가 돌아온 시간입니다. 계산할 때 반드시 2로 나눠야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시간으로 거리를 계산하기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소리의 속도를 알고 있으니, 곱하기 한 번과 나누기 한 번이면 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1600200"/>
          </a:xfrm>
          <a:prstGeom prst="roundRect">
            <a:avLst>
              <a:gd name="adj" fmla="val 4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7627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거리 = 걸린 시간 × 소리의 속도 ÷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542032"/>
            <a:ext cx="1417320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542032"/>
            <a:ext cx="14173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90672"/>
            <a:ext cx="17830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잰 시간 (µs)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542032"/>
            <a:ext cx="4114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542032"/>
            <a:ext cx="1417320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542032"/>
            <a:ext cx="14173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0.0343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090672"/>
            <a:ext cx="17830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cm/µs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542032"/>
            <a:ext cx="4114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542032"/>
            <a:ext cx="914400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2542032"/>
            <a:ext cx="9144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090672"/>
            <a:ext cx="12801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왕복이므로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42032"/>
            <a:ext cx="4114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542032"/>
            <a:ext cx="1417320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542032"/>
            <a:ext cx="14173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17.15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90672"/>
            <a:ext cx="17830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9476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00507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0507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0416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343 m/s 를 바꾸면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98848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초당 343미터는 마이크로초당 0.0343cm입니다. 단위를 맞춘 것뿐입니다.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2836" y="379476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77156" y="400507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7156" y="400507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4356" y="40416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2로 나누는 이유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7156" y="4498848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잰 시간은 왕복입니다. 편도 거리를 구하려면 절반으로 나눕니다.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79476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94192" y="400507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400507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40416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58로 나눠도 같다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4498848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0.0343 ÷ 2 는 약 1/58입니다. 시간을 58로 나눠도 같은 값이 나옵니다.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소리 속도는 온도에 따라 조금 달라집니다. 지난 시간에 만든 온도 센서로 보정할 수도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HC-SR04 — 다리 네 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전원 두 개, 그리고 신호 두 개입니다. 신호 하나는 내보내고 하나는 받습니다.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029200" cy="3154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20240" y="2377440"/>
            <a:ext cx="1645920" cy="1005840"/>
          </a:xfrm>
          <a:prstGeom prst="roundRect">
            <a:avLst>
              <a:gd name="adj" fmla="val 10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68372" y="2618841"/>
            <a:ext cx="523036" cy="523036"/>
          </a:xfrm>
          <a:prstGeom prst="ellipse">
            <a:avLst/>
          </a:prstGeom>
          <a:solidFill>
            <a:srgbClr val="3A4046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94990" y="2618841"/>
            <a:ext cx="523036" cy="523036"/>
          </a:xfrm>
          <a:prstGeom prst="ellipse">
            <a:avLst/>
          </a:prstGeom>
          <a:solidFill>
            <a:srgbClr val="3A4046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474720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HC-SR04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8488" y="3840480"/>
            <a:ext cx="54864" cy="32004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224528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VCC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3840480"/>
            <a:ext cx="54864" cy="32004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4224528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C0505C"/>
                </a:solidFill>
                <a:latin typeface="맑은 고딕"/>
                <a:ea typeface="맑은 고딕"/>
                <a:cs typeface="맑은 고딕"/>
              </a:rPr>
              <a:t>Trig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3840480"/>
            <a:ext cx="54864" cy="32004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4224528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Echo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7" y="3840480"/>
            <a:ext cx="54864" cy="32004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79" y="4224528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6177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핀 이름은 기판에 인쇄되어 있습니다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7568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VCC — 5V가 필요합니다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2316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3.3V로는 동작하지 않습니다. VBUS(40번 핀)에 연결해야 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5989320" y="3154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3154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7296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Trig — 보드가 내보내는 신호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"지금 쏴"라는 신호입니다. 아주 짧은 펄스 하나를 보냅니다.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59893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7024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Echo — 센서가 답하는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61772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소리가 돌아올 때까지 HIGH를 유지합니다. 이 시간을 우리가 잽니다.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Trig는 출력, Echo는 입력입니다. 4차시에 배운 Pin.OUT과 Pin.IN을 한 부품에 함께 씁니다.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Echo는 5V로 답합니다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센서가 5V로 동작하니 답도 5V로 옵니다. 그대로 받으면 보드가 손상됩니다.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788920"/>
          </a:xfrm>
          <a:prstGeom prst="roundRect">
            <a:avLst>
              <a:gd name="adj" fmla="val 3500"/>
            </a:avLst>
          </a:prstGeom>
          <a:solidFill>
            <a:srgbClr val="FDF3F4"/>
          </a:solidFill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그대로 연결하면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560320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1508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Echo 5V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775204"/>
            <a:ext cx="685800" cy="45720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45059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560320"/>
            <a:ext cx="1691640" cy="475488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560320"/>
            <a:ext cx="169164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GP17  3.3V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9184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GPIO가 견딜 수 있는 것은 3.3V까지입니다. 5V가 들어가면 칩이 손상되고 되돌릴 수 없습니다.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245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1차시의 그 규칙입니다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65960"/>
            <a:ext cx="5285232" cy="2788920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1차시에서 한 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"GPIO 핀에 5V 신호를 직접 넣기" — 절대 하면 안 되는 것 목록의 첫 줄이었습니다.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그때는 5V 부품을 쓰지 않아 넘어갔지만, 오늘 처음으로 5V 부품을 만났습니다.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245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그래서 낮춰 주는 회로가 필요합니다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486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Trig는 왜 괜찮을까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229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Trig는 보드가 내보내는 신호입니다. 3.3V로 나가도 센서가 알아듣습니다. 문제는 센서가 보내오는 Echo뿐입니다.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전압 분배로 5V를 3.3V로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7차시에 배운 원리입니다. 이번에는 저항 두 개로 직접 만듭니다.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76072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240280"/>
            <a:ext cx="1554480" cy="384048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15544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Echo  5V</a:t>
            </a:r>
          </a:p>
        </p:txBody>
      </p:sp>
      <p:sp>
        <p:nvSpPr>
          <p:cNvPr id="8" name="Rectangle 7"/>
          <p:cNvSpPr/>
          <p:nvPr/>
        </p:nvSpPr>
        <p:spPr>
          <a:xfrm>
            <a:off x="1943100" y="2624328"/>
            <a:ext cx="45720" cy="301752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3040" y="2926080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10058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1kΩ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3100" y="3310128"/>
            <a:ext cx="45720" cy="329184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01952" y="3575304"/>
            <a:ext cx="128016" cy="128016"/>
          </a:xfrm>
          <a:prstGeom prst="ellipse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3616452"/>
            <a:ext cx="105156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0" y="3447288"/>
            <a:ext cx="1234440" cy="384048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447288"/>
            <a:ext cx="1234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877056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3.33V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43100" y="3703320"/>
            <a:ext cx="45720" cy="32004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3040" y="4023360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60"/>
            <a:ext cx="10058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2kΩ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43100" y="4407408"/>
            <a:ext cx="45720" cy="301752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3040" y="4709160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4709160"/>
            <a:ext cx="10058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31596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5V × 2 ÷ (1 + 2)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62686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= 3.33V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21031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1031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12140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7차시와 같은 원리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468879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가변저항 안에서 일어나던 일을 저항 두 개로 밖에 만든 것입니다.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3200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200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21868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비율이 전압을 정한다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56616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아래쪽 저항이 전체의 3분의 2이므로, 5V의 3분의 2인 3.33V가 나옵니다.</a:t>
            </a:r>
          </a:p>
        </p:txBody>
      </p:sp>
      <p:sp>
        <p:nvSpPr>
          <p:cNvPr id="33" name="Oval 32"/>
          <p:cNvSpPr/>
          <p:nvPr/>
        </p:nvSpPr>
        <p:spPr>
          <a:xfrm>
            <a:off x="6720840" y="4297679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297679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315967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2kΩ 대신 2.2kΩ도 가능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66344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3.44V가 되지만 보드가 견디는 범위 안입니다. 가진 저항으로 하면 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저항 순서가 중요합니다. Echo 쪽이 1kΩ, GND 쪽이 2kΩ입니다. 바꾸면 1.67V가 되어 인식되지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만들 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전원 두 줄, 신호 두 줄. 다만 Echo 쪽에만 저항 두 개가 들어갑니다.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34440" y="2377440"/>
            <a:ext cx="1280160" cy="822960"/>
          </a:xfrm>
          <a:prstGeom prst="roundRect">
            <a:avLst>
              <a:gd name="adj" fmla="val 10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9654" y="2574950"/>
            <a:ext cx="427939" cy="427939"/>
          </a:xfrm>
          <a:prstGeom prst="ellipse">
            <a:avLst/>
          </a:prstGeom>
          <a:solidFill>
            <a:srgbClr val="3A4046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71446" y="2574950"/>
            <a:ext cx="427939" cy="427939"/>
          </a:xfrm>
          <a:prstGeom prst="ellipse">
            <a:avLst/>
          </a:prstGeom>
          <a:solidFill>
            <a:srgbClr val="3A4046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27355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HC-SR04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67128"/>
            <a:ext cx="685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VCC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247138"/>
            <a:ext cx="1051560" cy="41148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144268"/>
            <a:ext cx="1371600" cy="246888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44268"/>
            <a:ext cx="1371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VBUS 5V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478024"/>
            <a:ext cx="685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GND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558034"/>
            <a:ext cx="1051560" cy="41148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2455163"/>
            <a:ext cx="1371600" cy="246888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55163"/>
            <a:ext cx="1371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788920"/>
            <a:ext cx="685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0505C"/>
                </a:solidFill>
                <a:latin typeface="Consolas"/>
                <a:ea typeface="Consolas"/>
                <a:cs typeface="Consolas"/>
              </a:rPr>
              <a:t>Trig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868930"/>
            <a:ext cx="1051560" cy="41148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2766060"/>
            <a:ext cx="1371600" cy="246888"/>
          </a:xfrm>
          <a:prstGeom prst="roundRect">
            <a:avLst>
              <a:gd name="adj" fmla="val 14000"/>
            </a:avLst>
          </a:prstGeom>
          <a:solidFill>
            <a:srgbClr val="C0505C"/>
          </a:solidFill>
          <a:ln w="127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766060"/>
            <a:ext cx="13716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099816"/>
            <a:ext cx="685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F3C7E"/>
                </a:solidFill>
                <a:latin typeface="Consolas"/>
                <a:ea typeface="Consolas"/>
                <a:cs typeface="Consolas"/>
              </a:rPr>
              <a:t>Echo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179826"/>
            <a:ext cx="502920" cy="41148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69080" y="3072384"/>
            <a:ext cx="731520" cy="256032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3072384"/>
            <a:ext cx="7315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1kΩ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179826"/>
            <a:ext cx="411480" cy="41148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48072" y="3136392"/>
            <a:ext cx="118872" cy="118872"/>
          </a:xfrm>
          <a:prstGeom prst="ellipse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2080" y="3179826"/>
            <a:ext cx="320040" cy="41148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32120" y="3072384"/>
            <a:ext cx="868680" cy="256032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3072384"/>
            <a:ext cx="8686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91506" y="3255264"/>
            <a:ext cx="41148" cy="256032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46320" y="3511296"/>
            <a:ext cx="731520" cy="256032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3511296"/>
            <a:ext cx="7315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2kΩ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493008"/>
            <a:ext cx="1188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→ GND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21284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핀 번호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523744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VBUS → 40번   ·   GND → 23번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GP16 → 21번   ·   GP17 → 22번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21868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GND는 2kΩ 아래쪽과 센서 GND 두 곳에 모두 연결합니다.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8862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88620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한쪽 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다른 쪽 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169663"/>
            <a:ext cx="1081735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68680" y="4233672"/>
            <a:ext cx="256032" cy="25603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233672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8448" y="4251959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4261103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VBUS (40번 핀)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270248"/>
            <a:ext cx="365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261103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센서의 VCC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4626864"/>
            <a:ext cx="1081735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68680" y="4690872"/>
            <a:ext cx="256032" cy="25603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4690872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8448" y="4709159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4718303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GND (23번 핀)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727448"/>
            <a:ext cx="365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4718303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센서의 GND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5084064"/>
            <a:ext cx="1081735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68680" y="5148072"/>
            <a:ext cx="256032" cy="25603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5148072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98448" y="5166359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0" y="5175503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GP16 (21번 핀)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5184648"/>
            <a:ext cx="365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5175503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센서의 Trig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5541264"/>
            <a:ext cx="1081735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68680" y="5605272"/>
            <a:ext cx="256032" cy="25603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" y="5605272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98448" y="5623559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 1kΩ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91840" y="5632703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센서의 Echo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5641848"/>
            <a:ext cx="365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5632703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새 세로줄 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" y="5998464"/>
            <a:ext cx="1081735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68680" y="6062472"/>
            <a:ext cx="256032" cy="25603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" y="6062472"/>
            <a:ext cx="2560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98448" y="6080759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 · 저항 2kΩ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91840" y="6089903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세로줄 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0" y="6099048"/>
            <a:ext cx="365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0" y="6089903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GP17 (22번 핀) · 그리고 GND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배선하는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Echo 쪽 저항 두 개가 오늘의 핵심입니다. 순서대로 하면 어렵지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1226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USB를 뽑고 버튼 회로를 뺍니다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305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4차시 버튼과 10kΩ 저항을 뽑아 자리를 비웁니다.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43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센서를 꽂습니다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620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다리 네 개가 각각 다른 세로줄에 들어가게 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5204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753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전원과 Trig를 연결합니다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935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VCC는 VBUS(40번), GND는 23번, Trig는 GP16(21번).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068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Echo에 1kΩ을 답니다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251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Echo 줄과 새 세로줄 A에 걸쳐 꽂습니다.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49834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834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383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A줄에서 두 갈래로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566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A줄 → GP17(22번), 그리고 A줄 → 2kΩ → GND.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15000"/>
            <a:ext cx="10817352" cy="685800"/>
          </a:xfrm>
          <a:prstGeom prst="roundRect">
            <a:avLst>
              <a:gd name="adj" fmla="val 7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916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저항을 다 연결하기 전에는 USB를 꽂지 마세요.  </a:t>
            </a: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1kΩ만 달고 2kΩ을 빠뜨린 채 전원을 넣으면 GP17에 5V가 그대로 들어갑니다.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거리를 읽는 함수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6차시에 배운 함수로 묶습니다. 부를 때마다 거리를 재서 돌려줍니다.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6035040" cy="356616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distance.py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Pin, time_pulse_us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92324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sleep, sleep_us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22091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trig = Pin(16, Pin.OUT)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36975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echo = Pin(17, Pin.IN)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66744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def read_distance():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8162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trig.low()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96512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sleep_us(2)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11396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trig.high()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26280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sleep_us(10)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41164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trig.low()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5604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t = time_pulse_us(echo, 1, 30000)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170932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t * 0.0343 /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945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8~12행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쏘라는 신호 보내기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5237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Trig를 10마이크로초 동안만 HIGH로 만듭니다.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2461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13행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461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시간 재기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575303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Echo가 HIGH인 시간을 마이크로초로 재 줍니다.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297679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14행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97679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거리로 바꾸기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62686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앞에서 배운 계산식을 그대로 씁니다.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5394960"/>
            <a:ext cx="4782312" cy="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sleep_us는 마이크로초 단위로 쉬는 명령입니다. sleep(0.00001)보다 정확합니다.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실제로 재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함수를 만들었으니 부르기만 하면 됩니다. 손을 가까이 대 보세요.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669280" cy="169164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이어서 붙이기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32304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24912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 = read_distance()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print(round(d, 1), "cm")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10127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sleep(0.5)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86200"/>
            <a:ext cx="5669280" cy="1874519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Shell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52544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C47E"/>
                </a:solidFill>
                <a:latin typeface="Consolas"/>
                <a:ea typeface="Consolas"/>
                <a:cs typeface="Consolas"/>
              </a:rPr>
              <a:t>8.5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268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C47E"/>
                </a:solidFill>
                <a:latin typeface="Consolas"/>
                <a:ea typeface="Consolas"/>
                <a:cs typeface="Consolas"/>
              </a:rPr>
              <a:t>23.4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01183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C47E"/>
                </a:solidFill>
                <a:latin typeface="Consolas"/>
                <a:ea typeface="Consolas"/>
                <a:cs typeface="Consolas"/>
              </a:rPr>
              <a:t>57.1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75504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6A75"/>
                </a:solidFill>
                <a:latin typeface="Consolas"/>
                <a:ea typeface="Consolas"/>
                <a:cs typeface="Consolas"/>
              </a:rPr>
              <a:t>-2.0 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449824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C47E"/>
                </a:solidFill>
                <a:latin typeface="Consolas"/>
                <a:ea typeface="Consolas"/>
                <a:cs typeface="Consolas"/>
              </a:rPr>
              <a:t>31.8 cm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21031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1031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2140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손을 대 보세요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468879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 앞에 손을 가까이 대면 값이 즉시 줄어듭니다. 반응이 아주 빠릅니다.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3200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200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21868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잴 수 있는 범위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6616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약 2cm에서 4m까지입니다. 너무 가까우면 오히려 못 잽니다.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6720840" y="4297679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297679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315967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음수가 섞여 나온다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66344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제한 시간 안에 못 받은 경우입니다. 실패했다는 표시이니 걸러 내야 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440680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0.5초마다 한 번씩 잽니다. 너무 자주 재면 앞의 메아리가 남아 값이 흔들립니다.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실패한 값을 걸러 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초음파는 지금까지 센서 중 값이 가장 잘 흔들립니다. 그대로 쓰면 안 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011680"/>
          </a:xfrm>
          <a:prstGeom prst="roundRect">
            <a:avLst>
              <a:gd name="adj" fmla="val 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값이 흔들리는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비스듬한 면은 소리가 딴 데로 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79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천이나 스펀지는 소리를 흡수한다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91839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너무 작은 물체는 잘 안 잡힌다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85232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해결하는 두 가지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· 음수는 버린다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7121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· 여러 번 재서 평균을 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7차시 ADC에서도 같은 방법을 썼습니다. 흔들리는 값을 다루는 기본입니다.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06240"/>
            <a:ext cx="10817352" cy="155448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43400"/>
            <a:ext cx="10268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걸러 내는 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90288"/>
            <a:ext cx="103601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 = read_distance()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14316"/>
            <a:ext cx="103601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d &lt; 0: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038344"/>
            <a:ext cx="103601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    print("측정 실패")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62372"/>
            <a:ext cx="103601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486400"/>
            <a:ext cx="103601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print(round(d, 1), "cm")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5V 부품을 다룰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  <a:ea typeface="맑은 고딕"/>
                <a:cs typeface="맑은 고딕"/>
              </a:rPr>
              <a:t>오늘은 1차시 이후 처음으로 5V 부품을 다룹니다. 규칙은 그대로입니다.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  <a:ea typeface="맑은 고딕"/>
                <a:cs typeface="맑은 고딕"/>
              </a:rPr>
              <a:t>해야 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센서 VCC는 VBUS(40번)에 연결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Echo에는 반드시 저항 두 개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저항 순서는 Echo 쪽 1kΩ, GND 쪽 2kΩ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저항을 다 연결한 뒤 전원 넣기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  <a:ea typeface="맑은 고딕"/>
                <a:cs typeface="맑은 고딕"/>
              </a:rPr>
              <a:t>절대 하면 안 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Echo를 GPIO에 그대로 연결하기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저항 하나만 달고 전원 넣기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1kΩ과 2kΩ의 자리를 바꾸기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센서 VCC를 3V3에 연결하기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5V 부품은 앞으로도 만납니다. 오늘 배운 전압 분배가 그때마다 답이 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실습 — 세 가지 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지금까지 만든 부품이 다 살아 있으니 거리로 다른 것을 움직여 봅시다.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거리로 색 바꾸기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90672"/>
            <a:ext cx="2834640" cy="1572768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182112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 = read_distance()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4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d &lt; 0: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634740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785615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elif d &lt; 10: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3936491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set_color(255, 0, 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4087368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elif d &lt; 30: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4238244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set_color(255, 255,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4389120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4539996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set_color(0, 255, 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28032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가까우면 빨강, 중간이면 노랑, 멀면 초록으로 표시해 보세요.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2836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77156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7156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7156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주차 보조 만들기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77156" y="3090672"/>
            <a:ext cx="2834640" cy="1572768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3460" y="3182112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 = read_distance()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3460" y="3483864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d &gt; 0: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460" y="3634740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wait = d /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3460" y="3785615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set_color(255, 0, 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3460" y="3936491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sleep(wait)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3460" y="4087368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set_color(0, 0, 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3460" y="4238244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sleep(wait)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7156" y="4828032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가까울수록 빨리 깜빡이게 해 보세요. 후방 감지기의 원리입니다.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94192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도전 — 평균으로 안정시키기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94192" y="3090672"/>
            <a:ext cx="2834640" cy="1572768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0496" y="3182112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total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3332988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count =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3634740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for i in range(5):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3785615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 = read_distance()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96" y="3936491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if d &gt; 0: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0496" y="4087368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total = total + 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496" y="4238244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count = count + 1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6" y="4539996"/>
            <a:ext cx="2697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print(total / count)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4828032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다섯 번 재서 성공한 값만 평균을 내 보세요. 값이 훨씬 안정됩니다.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값이 안 나오거나 이상할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오늘은 5V 배선과 저항 두 개가 원인의 대부분입니다.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계속 음수만 나온다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VCC가 3V3에 연결됨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VBUS(40번 핀)로 옮깁니다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계속 음수만 나온다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저항 순서가 바뀌었다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Echo 쪽 1kΩ, GND 쪽 2kΩ입니다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값이 심하게 튄다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대상이 비스듬하거나 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평평한 면을 향하게 하고 평균을 냅니다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가까운데 값이 이상하다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2cm보다 가깝다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조금 떨어뜨려서 재 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아예 반응이 없다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Trig 연결이 빠졌다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GP16과 센서 Trig를 확인합니다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음수가 계속 나오면 배선 문제입니다. 코드를 고치기 전에 저항 두 개부터 확인하세요.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1차시에 적어 둔 입력 장치 네 가지를 모두 다뤘습니다.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소리로 거리를 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시간과 속도로 거리를 구하는 방법을 배웠습니다.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5V 부품을 다뤘다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전압 분배로 5V를 3.3V로 낮춰 보드를 지켰습니다.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입력 네 가지를 끝냈다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버튼·가변저항·온습도·초음파를 모두 다뤘습니다.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5V 신호는 저항 두 개로 나눠서 받는다.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다음 시간 — 모터 돌리기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LED는 빛만 냈습니다. 다음 시간에는 실제로 무언가를 움직입니다.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모터는 왜 직접 못 다루나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GPIO가 감당할 수 있는 전류보다 훨씬 많이 필요합니다.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077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 드라이버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GPIO의 약한 신호로 큰 전류를 대신 켜 주는 부품입니다.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속도와 방향 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5137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5차시 PWM으로 속도를, 두 핀 조합으로 방향을 정합니다.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4599432" cy="26060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10차시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871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in1 = Pin(18, Pin.OUT)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76148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in2 = Pin(19, Pin.OUT)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14553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ena = PWM(Pin(22), freq=1000)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1985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 in1, in2 조합으로 방향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8862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1차시 안전 수칙에서 "모터는 반드시 드라이버를 거친다"고 했던 그 이야기입니다.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다음 시간 준비물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노트북 · Pico 2 W · 데이터용 micro USB 케이블 · 오늘 쓴 키트 그대로  (모터 드라이버와 DC 모터, 건전지함은 추가로 배부합니다)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