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표지 — 온습도 센서와 I2C 통신</a:t>
            </a:r>
          </a:p>
          <a:p/>
          <a:p>
            <a:r>
              <a:t>[지시] 지난 시간 회로를 그대로 꺼내게 한다. 온습도 센서와 드라이버 파일을 배부한다.</a:t>
            </a:r>
          </a:p>
          <a:p/>
          <a:p>
            <a:r>
              <a:t>지난 시간에 가변저항을 읽었죠. 그런데 그건 사람이 손으로 돌리는 거였습니다.</a:t>
            </a:r>
          </a:p>
          <a:p/>
          <a:p>
            <a:r>
              <a:t>오늘은 진짜 센서를 붙입니다. 온도와 습도를 재는 센서예요. 지금 이 교실이 몇 도인지, 습도가 몇 퍼센트인지 여러분 보드가 직접 읽게 됩니다.</a:t>
            </a:r>
          </a:p>
          <a:p/>
          <a:p>
            <a:r>
              <a:t>그런데 이 센서는 지난 시간과 방식이 완전히 다릅니다. 전압을 읽는 게 아니라, 센서한테 말을 걸어서 물어봅니다.</a:t>
            </a:r>
          </a:p>
          <a:p/>
          <a:p>
            <a:r>
              <a:t>화면 오른쪽 그림을 보세요. 선이 두 개 있고 거기에 장치 세 개가 매달려 있죠. 선 두 개만으로 여러 장치와 대화하는 방법, 이게 I2C입니다.</a:t>
            </a:r>
          </a:p>
          <a:p/>
          <a:p>
            <a:r>
              <a:t>1차시 특수 기능 표에서 I2C를 8차시에 배운다고 했던 거 기억하시나요. 오늘입니다.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배울 것</a:t>
            </a:r>
          </a:p>
          <a:p/>
          <a:p>
            <a:r>
              <a:t>다섯 가지입니다.</a:t>
            </a:r>
          </a:p>
          <a:p/>
          <a:p>
            <a:r>
              <a:t>첫째, 센서에는 두 가지 방식이 있다는 것. 지난 시간 것과 오늘 것이 어떻게 다른지부터 봅니다.</a:t>
            </a:r>
          </a:p>
          <a:p/>
          <a:p>
            <a:r>
              <a:t>둘째, I2C가 무엇인지. 선 두 개로 여러 장치를 연결하는 방식입니다.</a:t>
            </a:r>
          </a:p>
          <a:p/>
          <a:p>
            <a:r>
              <a:t>셋째, 주소. 선을 같이 쓰니까 누구한테 말하는지 구분할 방법이 필요해요.</a:t>
            </a:r>
          </a:p>
          <a:p/>
          <a:p>
            <a:r>
              <a:t>넷째, 드라이버 올리기. 오늘 새로 배우는 작업입니다. 파일 하나를 보드에 저장할 거예요.</a:t>
            </a:r>
          </a:p>
          <a:p/>
          <a:p>
            <a:r>
              <a:t>다섯째, 실제 온도와 습도를 읽습니다.</a:t>
            </a:r>
          </a:p>
          <a:p/>
          <a:p>
            <a:r>
              <a:t>오늘 딱 하나만 기억한다면 세 번째입니다. 주소를 못 찾으면 아무것도 안 됩니다. 그래서 오늘은 scan()이라는 명령부터 시작합니다.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지난 시간 요약</a:t>
            </a:r>
          </a:p>
          <a:p/>
          <a:p>
            <a:r>
              <a:t>지난 시간 네 가지만 짚습니다.</a:t>
            </a:r>
          </a:p>
          <a:p/>
          <a:p>
            <a:r>
              <a:t>ADC로 전압을 숫자로 바꿔 읽었죠. GP26, 27, 28 세 핀에서만 됐고요. 가변저항의 가운데 다리를 읽었습니다. 그리고 값을 전압이나 퍼센트로 바꿨습니다.</a:t>
            </a:r>
          </a:p>
          <a:p/>
          <a:p>
            <a:r>
              <a:t>[지시] 회로 확인 시간을 3분 준다. 가변저항이 살아 있는지 print(v)로 확인시킨다.</a:t>
            </a:r>
          </a:p>
          <a:p/>
          <a:p>
            <a:r>
              <a:t>오늘은 완전히 다른 방식입니다. 아래 박스 보세요. 오늘 센서는 ADC를 안 씁니다. GP26, 27, 28도 안 써요.</a:t>
            </a:r>
          </a:p>
          <a:p/>
          <a:p>
            <a:r>
              <a:t>[발문] 그럼 전압을 안 읽으면 어떻게 온도를 알까요?</a:t>
            </a:r>
          </a:p>
          <a:p/>
          <a:p>
            <a:r>
              <a:t>센서한테 물어봅니다. 진짜로요. "지금 몇 도야?" 하고 물으면 센서가 숫자로 대답합니다. 그 방법을 오늘 배웁니다.</a:t>
            </a:r>
          </a:p>
          <a:p/>
          <a:p>
            <a:r>
              <a:t>지난 시간 가변저항과 RGB LED는 그대로 두세요. 실습에서 다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센서에는 두 가지 방식이 있다</a:t>
            </a:r>
          </a:p>
          <a:p/>
          <a:p>
            <a:r>
              <a:t>오늘 개념의 출발점입니다. 센서에는 크게 두 종류가 있어요.</a:t>
            </a:r>
          </a:p>
          <a:p/>
          <a:p>
            <a:r>
              <a:t>왼쪽이 지난 시간에 쓴 방식입니다. 센서가 전압을 내보내면 보드가 그걸 재서 계산합니다. 가변저항이 그랬죠. 손잡이 위치에 따라 전압이 달라지고, 우리가 ADC로 읽었습니다.</a:t>
            </a:r>
          </a:p>
          <a:p/>
          <a:p>
            <a:r>
              <a:t>오른쪽이 오늘 방식입니다. 센서 안에 이미 작은 칩이 들어 있어요. 온도를 재고 계산까지 다 끝냅니다. 그리고 우리가 물어보면 숫자로 대답합니다.</a:t>
            </a:r>
          </a:p>
          <a:p/>
          <a:p>
            <a:r>
              <a:t>[발문] 어느 쪽이 더 좋아 보이나요?</a:t>
            </a:r>
          </a:p>
          <a:p/>
          <a:p>
            <a:r>
              <a:t>목적에 따라 다릅니다. 왼쪽은 배선이 단순해요. 선 하나면 되니까요. 대신 계산을 우리가 해야 합니다.</a:t>
            </a:r>
          </a:p>
          <a:p/>
          <a:p>
            <a:r>
              <a:t>오른쪽은 선이 네 개 필요합니다. 대신 코드가 훨씬 쉬워요. sensor.temperature 하면 바로 섭씨 온도가 나옵니다.</a:t>
            </a:r>
          </a:p>
          <a:p/>
          <a:p>
            <a:r>
              <a:t>[지시] 하단 박스를 짚는다.</a:t>
            </a:r>
          </a:p>
          <a:p/>
          <a:p>
            <a:r>
              <a:t>그럼 왜 온습도 센서는 오른쪽 방식일까요? 습도는 전압 하나로 표현하기가 어렵습니다. 정확하게 재려면 온도까지 고려해서 보정해야 하거든요. 그 계산을 센서가 알아서 해 주는 게 훨씬 낫습니다.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선 두 개로 여러 장치와 대화하기</a:t>
            </a:r>
          </a:p>
          <a:p/>
          <a:p>
            <a:r>
              <a:t>I2C는 아이 스퀘어드 씨, 또는 그냥 아이 투 씨라고 읽습니다.</a:t>
            </a:r>
          </a:p>
          <a:p/>
          <a:p>
            <a:r>
              <a:t>핵심은 선이 두 개라는 겁니다. SDA와 SCL.</a:t>
            </a:r>
          </a:p>
          <a:p/>
          <a:p>
            <a:r>
              <a:t>SDA는 데이터가 오가는 선입니다. 우리가 묻는 내용도 이 선으로 가고, 센서의 답도 이 선으로 옵니다. 한 선으로 양방향이에요.</a:t>
            </a:r>
          </a:p>
          <a:p/>
          <a:p>
            <a:r>
              <a:t>SCL은 박자를 맞추는 선입니다. 클럭이라고 부릅니다. 언제 읽어야 하는지 신호를 주는 거예요.</a:t>
            </a:r>
          </a:p>
          <a:p/>
          <a:p>
            <a:r>
              <a:t>[발문] 왜 박자가 필요할까요?</a:t>
            </a:r>
          </a:p>
          <a:p/>
          <a:p>
            <a:r>
              <a:t>둘이 대화하려면 언제 말하고 언제 들을지 약속이 있어야 하잖아요. 그 약속을 SCL이 담당합니다. 우리 보드가 박자를 만들고 센서가 거기에 맞춥니다.</a:t>
            </a:r>
          </a:p>
          <a:p/>
          <a:p>
            <a:r>
              <a:t>[지시] 화면 위 그림에서 장치 세 개가 같은 두 선에 매달린 것을 짚는다.</a:t>
            </a:r>
          </a:p>
          <a:p/>
          <a:p>
            <a:r>
              <a:t>그림을 보세요. 진짜 중요한 건 이겁니다. 장치를 여러 개 붙여도 선은 그대로 두 개예요. 센서를 하나 더 붙이고 싶으면 같은 두 선에 나란히 연결하면 됩니다.</a:t>
            </a:r>
          </a:p>
          <a:p/>
          <a:p>
            <a:r>
              <a:t>[발문] GPIO를 하나씩 쓰면 핀이 몇 개나 필요할까요? 이 방식은 몇 개죠?</a:t>
            </a:r>
          </a:p>
          <a:p/>
          <a:p>
            <a:r>
              <a:t>이게 I2C의 힘입니다. 1차시에 GPIO가 26개뿐이라고 했죠. I2C를 쓰면 핀 두 개로 장치를 여러 개 붙일 수 있습니다.</a:t>
            </a:r>
          </a:p>
          <a:p/>
          <a:p>
            <a:r>
              <a:t>그런데 여기서 문제가 하나 생깁니다. 다음 장입니다.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선을 같이 쓰면 이름표가 필요하다</a:t>
            </a:r>
          </a:p>
          <a:p/>
          <a:p>
            <a:r>
              <a:t>앞 장에서 장치 여러 개가 같은 선에 붙는다고 했죠.</a:t>
            </a:r>
          </a:p>
          <a:p/>
          <a:p>
            <a:r>
              <a:t>[발문] 그럼 문제가 하나 생깁니다. 뭘까요?</a:t>
            </a:r>
          </a:p>
          <a:p/>
          <a:p>
            <a:r>
              <a:t>누구한테 말하는 건지 모른다는 겁니다. 교실에서 그냥 "몇 시야?" 하고 물으면 아무도 대답 안 하죠. 이름을 불러야 합니다.</a:t>
            </a:r>
          </a:p>
          <a:p/>
          <a:p>
            <a:r>
              <a:t>그래서 I2C 장치에는 주소가 있습니다. 화면을 보세요. 온습도 센서는 0x38, 화면은 0x3C, 시계는 0x68. 각자 다른 주소를 갖고 있습니다.</a:t>
            </a:r>
          </a:p>
          <a:p/>
          <a:p>
            <a:r>
              <a:t>보드가 "0x38, 지금 몇 도야?" 하고 물으면 그 주소를 가진 센서만 대답합니다. 나머지는 조용히 있어요.</a:t>
            </a:r>
          </a:p>
          <a:p/>
          <a:p>
            <a:r>
              <a:t>[지시] 0x 표기를 설명한다. 정보 교과의 16진수와 연결된다.</a:t>
            </a:r>
          </a:p>
          <a:p/>
          <a:p>
            <a:r>
              <a:t>주소 앞에 붙은 0x는 16진수라는 표시입니다. 정보 시간에 배웠죠. 6차시에 색 코드 #FF0000 볼 때 나온 그 16진수입니다. 0x38을 10진수로 바꾸면 56이에요.</a:t>
            </a:r>
          </a:p>
          <a:p/>
          <a:p>
            <a:r>
              <a:t>[발문] 그럼 같은 센서 두 개를 붙이면 어떻게 될까요?</a:t>
            </a:r>
          </a:p>
          <a:p/>
          <a:p>
            <a:r>
              <a:t>주소가 같으니까 둘 다 대답합니다. 그러면 신호가 엉켜서 못 씁니다. 실제로는 주소를 바꿀 수 있는 센서도 있는데, 오늘은 다루지 않습니다.</a:t>
            </a:r>
          </a:p>
          <a:p/>
          <a:p>
            <a:r>
              <a:t>그래서 오늘 코드의 첫걸음은 주소 찾기입니다.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I2C에 쓸 수 있는 핀</a:t>
            </a:r>
          </a:p>
          <a:p/>
          <a:p>
            <a:r>
              <a:t>1차시 핀 배치도를 다시 꺼내 보세요. GP20 옆에 I2C0 SDA, GP21 옆에 I2C0 SCL이라고 적혀 있습니다.</a:t>
            </a:r>
          </a:p>
          <a:p/>
          <a:p>
            <a:r>
              <a:t>[지시] 핀아웃 인쇄물에서 26, 27, 28번을 짚게 한다.</a:t>
            </a:r>
          </a:p>
          <a:p/>
          <a:p>
            <a:r>
              <a:t>오늘은 이 두 핀을 씁니다. GP20이 SDA, 데이터 선이고요. GP21이 SCL, 박자 선입니다. 물리적으로 26번과 27번이에요.</a:t>
            </a:r>
          </a:p>
          <a:p/>
          <a:p>
            <a:r>
              <a:t>바로 옆 28번이 GND입니다. 그래서 세 핀이 나란히 붙어 있어서 배선이 편합니다.</a:t>
            </a:r>
          </a:p>
          <a:p/>
          <a:p>
            <a:r>
              <a:t>오른쪽 박스를 보면 다른 핀도 쓸 수 있다고 되어 있죠. I2C0은 GP4, GP5로도 되고, I2C1이라는 게 따로 또 있습니다. 다만 아무 핀이나 되는 건 아니에요. 핀 배치도에 I2C라고 적힌 핀만 됩니다.</a:t>
            </a:r>
          </a:p>
          <a:p/>
          <a:p>
            <a:r>
              <a:t>[지시] 맨 아래 줄을 강조한다. 오늘 가장 흔한 배선 실수다.</a:t>
            </a:r>
          </a:p>
          <a:p/>
          <a:p>
            <a:r>
              <a:t>그리고 오늘 제일 조심할 것. SDA와 SCL을 바꿔 꽂으면 안 됩니다. 전기적으로 망가지진 않는데 아예 동작을 안 해요. 배선할 때 두 번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오늘 만들 회로</a:t>
            </a:r>
          </a:p>
          <a:p/>
          <a:p>
            <a:r>
              <a:t>센서를 꺼내 보세요. 작은 기판에 다리가 네 개 나와 있습니다.</a:t>
            </a:r>
          </a:p>
          <a:p/>
          <a:p>
            <a:r>
              <a:t>기판에 이름이 인쇄되어 있을 거예요. VCC, GND, SDA, SCL. 이 순서가 제품마다 다릅니다. 그러니까 위치로 외우지 말고 인쇄된 이름을 보고 연결하세요.</a:t>
            </a:r>
          </a:p>
          <a:p/>
          <a:p>
            <a:r>
              <a:t>[지시] 각자 자기 센서에서 네 이름을 찾아 짚어 보게 한다.</a:t>
            </a:r>
          </a:p>
          <a:p/>
          <a:p>
            <a:r>
              <a:t>VCC는 전원입니다. 3.3볼트, 36번 핀에 연결합니다. VBUS 아닙니다. 5볼트 쓰면 안 돼요.</a:t>
            </a:r>
          </a:p>
          <a:p/>
          <a:p>
            <a:r>
              <a:t>GND는 28번 핀. SDA는 GP20, 26번. SCL은 GP21, 27번입니다.</a:t>
            </a:r>
          </a:p>
          <a:p/>
          <a:p>
            <a:r>
              <a:t>26, 27, 28번이 나란히 붙어 있으니 세 선은 금방 연결됩니다. 3.3볼트만 조금 떨어져 있어요.</a:t>
            </a:r>
          </a:p>
          <a:p/>
          <a:p>
            <a:r>
              <a:t>[발문] 오늘은 저항이 필요할까요?</a:t>
            </a:r>
          </a:p>
          <a:p/>
          <a:p>
            <a:r>
              <a:t>필요 없습니다. LED가 아니니까요. 센서 기판 안에 필요한 부품이 이미 다 들어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배선하는 순서</a:t>
            </a:r>
          </a:p>
          <a:p/>
          <a:p>
            <a:r>
              <a:t>오늘 배선은 네 줄입니다.</a:t>
            </a:r>
          </a:p>
          <a:p/>
          <a:p>
            <a:r>
              <a:t>1번. 케이블을 뽑습니다. 지난 시간 회로는 그대로 두세요.</a:t>
            </a:r>
          </a:p>
          <a:p/>
          <a:p>
            <a:r>
              <a:t>2번. 센서를 꽂습니다. 네 다리가 각각 다른 세로줄에 들어가야 합니다.</a:t>
            </a:r>
          </a:p>
          <a:p/>
          <a:p>
            <a:r>
              <a:t>3번. 전원 두 줄. VCC를 3.3볼트에, GND를 GND에.</a:t>
            </a:r>
          </a:p>
          <a:p/>
          <a:p>
            <a:r>
              <a:t>4번. 통신 두 줄. SDA를 GP20에, SCL을 GP21에.</a:t>
            </a:r>
          </a:p>
          <a:p/>
          <a:p>
            <a:r>
              <a:t>5번. 확인하고 연결합니다.</a:t>
            </a:r>
          </a:p>
          <a:p/>
          <a:p>
            <a:r>
              <a:t>[지시] 아래 붉은 박스를 강조한다. 오늘 유일한 안전 이슈다.</a:t>
            </a:r>
          </a:p>
          <a:p/>
          <a:p>
            <a:r>
              <a:t>오늘 위험한 건 딱 하나예요. VCC를 VBUS에 꽂는 겁니다.</a:t>
            </a:r>
          </a:p>
          <a:p/>
          <a:p>
            <a:r>
              <a:t>[발문] VBUS는 몇 볼트죠? (답: 5V)</a:t>
            </a:r>
          </a:p>
          <a:p/>
          <a:p>
            <a:r>
              <a:t>5볼트입니다. 센서가 3.3볼트용인데 5볼트를 걸면 센서가 상합니다. 그리고 더 나쁜 건, 그 센서의 SDA와 SCL로도 5볼트가 나와서 우리 보드 GPIO로 들어갑니다.</a:t>
            </a:r>
          </a:p>
          <a:p/>
          <a:p>
            <a:r>
              <a:t>[발문] GPIO에 5볼트가 들어가면? (답: 칩이 손상된다)</a:t>
            </a:r>
          </a:p>
          <a:p/>
          <a:p>
            <a:r>
              <a:t>1차시 규칙 그대로입니다. VCC는 3V3, 36번 핀. 이것만 확인하세요.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먼저 주소를 찾습니다</a:t>
            </a:r>
          </a:p>
          <a:p/>
          <a:p>
            <a:r>
              <a:t>4차시부터 계속 말한 그 순서입니다. 한꺼번에 다 만들지 말고, 되는지부터 확인합니다.</a:t>
            </a:r>
          </a:p>
          <a:p/>
          <a:p>
            <a:r>
              <a:t>코드는 네 줄이에요.</a:t>
            </a:r>
          </a:p>
          <a:p/>
          <a:p>
            <a:r>
              <a:t>3행에서 I2C를 만듭니다. 첫 번째 0은 I2C0을 쓰겠다는 뜻이고, sda와 scl에 핀 번호를 적습니다.</a:t>
            </a:r>
          </a:p>
          <a:p/>
          <a:p>
            <a:r>
              <a:t>4행. i2c.scan(). 이게 오늘의 핵심 명령입니다. 선에 붙어 있는 장치들의 주소를 모두 찾아서 목록으로 돌려줍니다. 출석을 부르는 거예요.</a:t>
            </a:r>
          </a:p>
          <a:p/>
          <a:p>
            <a:r>
              <a:t>[지시] 실행시킨다. 여기서 안 되는 학생을 반드시 잡고 넘어간다.</a:t>
            </a:r>
          </a:p>
          <a:p/>
          <a:p>
            <a:r>
              <a:t>실행해 보세요. 대괄호 안에 숫자가 하나 나올 겁니다.</a:t>
            </a:r>
          </a:p>
          <a:p/>
          <a:p>
            <a:r>
              <a:t>[발문] 뭐가 나왔나요?</a:t>
            </a:r>
          </a:p>
          <a:p/>
          <a:p>
            <a:r>
              <a:t>56이 나왔죠. 그런데 아까 주소가 0x38이라고 했는데요.</a:t>
            </a:r>
          </a:p>
          <a:p/>
          <a:p>
            <a:r>
              <a:t>파이썬이 10진수로 보여 줘서 그렇습니다. 같은 숫자예요. 아래처럼 hex()를 씌우면 0x38로 보입니다.</a:t>
            </a:r>
          </a:p>
          <a:p/>
          <a:p>
            <a:r>
              <a:t>[지시] 셸에서 hex(56)을 쳐 보게 하면 즉시 이해된다.</a:t>
            </a:r>
          </a:p>
          <a:p/>
          <a:p>
            <a:r>
              <a:t>그리고 가장 중요한 것. 대괄호 안이 비어 있으면, 그러니까 그냥 [] 만 나오면 아무 장치도 못 찾은 겁니다. 이건 코드 문제가 아니라 배선 문제예요. 여기서 멈추고 선부터 다시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센서마다 통역이 필요합니다</a:t>
            </a:r>
          </a:p>
          <a:p/>
          <a:p>
            <a:r>
              <a:t>주소를 찾았으니 이제 말을 걸면 될까요? 아직 아닙니다.</a:t>
            </a:r>
          </a:p>
          <a:p/>
          <a:p>
            <a:r>
              <a:t>주소는 이름일 뿐이에요. 실제로 "몇 도야?"라고 물으려면 어떤 신호를 보내야 하는지, 답으로 온 숫자를 어떻게 계산해야 온도가 되는지를 알아야 합니다. 그건 센서마다 다 다릅니다.</a:t>
            </a:r>
          </a:p>
          <a:p/>
          <a:p>
            <a:r>
              <a:t>[발문] 그걸 우리가 다 알아내야 할까요?</a:t>
            </a:r>
          </a:p>
          <a:p/>
          <a:p>
            <a:r>
              <a:t>다행히 아닙니다. 누군가 이미 만들어 둔 파일이 있어요. 그게 드라이버, 또는 라이브러리입니다. 통역사를 한 명 데려오는 셈이죠.</a:t>
            </a:r>
          </a:p>
          <a:p/>
          <a:p>
            <a:r>
              <a:t>드라이버가 있으면 오른쪽처럼 두 줄이면 끝납니다. sensor.temperature 하면 섭씨 온도가 바로 나와요.</a:t>
            </a:r>
          </a:p>
          <a:p/>
          <a:p>
            <a:r>
              <a:t>[지시] 여기서 파일 배포와 저장을 실제로 진행한다. 5분 정도 걸린다.</a:t>
            </a:r>
          </a:p>
          <a:p/>
          <a:p>
            <a:r>
              <a:t>지금 파일을 나눠 드리겠습니다. ahtx0.py라는 파일이에요. 이걸 열어서 저장하는데,</a:t>
            </a:r>
          </a:p>
          <a:p/>
          <a:p>
            <a:r>
              <a:t>[발문] 어디에 저장해야 할까요?</a:t>
            </a:r>
          </a:p>
          <a:p/>
          <a:p>
            <a:r>
              <a:t>2차시에 배운 그거죠. Raspberry Pi Pico. 이 컴퓨터에 저장하면 보드가 못 찾습니다. import 할 때 오류가 나요.</a:t>
            </a:r>
          </a:p>
          <a:p/>
          <a:p>
            <a:r>
              <a:t>파일 이름을 바꾸지 마세요. import 할 때 파일 이름을 그대로 쓰기 때문입니다. ahtx0.py로 저장하면 import ahtx0 이라고 씁니다. 점 py는 빼고요.</a:t>
            </a:r>
          </a:p>
          <a:p/>
          <a:p>
            <a:r>
              <a:t>[지시] 센서 종류에 따라 파일명과 클래스 이름이 다를 수 있으므로, 배부한 파일에 맞춰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[4분] 온도와 습도 읽기</a:t>
            </a:r>
          </a:p>
          <a:p/>
          <a:p>
            <a:r>
              <a:t>드라이버를 올렸으면 이제 진짜 쉽습니다.</a:t>
            </a:r>
          </a:p>
          <a:p/>
          <a:p>
            <a:r>
              <a:t>3행. import ahtx0. 방금 보드에 저장한 파일을 불러옵니다.</a:t>
            </a:r>
          </a:p>
          <a:p/>
          <a:p>
            <a:r>
              <a:t>6행. sensor = ahtx0.AHT10(i2c). 센서를 하나 만드는 겁니다. 괄호 안에 i2c를 넘겨주면, 그 선으로 대화하라는 뜻이에요.</a:t>
            </a:r>
          </a:p>
          <a:p/>
          <a:p>
            <a:r>
              <a:t>[지시] 센서 종류에 따라 클래스 이름이 다를 수 있음을 안내한다. 배부한 파일 기준으로 정정한다.</a:t>
            </a:r>
          </a:p>
          <a:p/>
          <a:p>
            <a:r>
              <a:t>9행과 10행. sensor.temperature 하면 섭씨 온도가, sensor.relative_humidity 하면 습도 퍼센트가 나옵니다. 6차시에 만든 set_color처럼, 안에서 복잡한 계산이 다 일어나고 우리는 결과만 받습니다.</a:t>
            </a:r>
          </a:p>
          <a:p/>
          <a:p>
            <a:r>
              <a:t>[지시] 실행시킨다. 값이 나오면 잠깐 멈추고 의미를 짚는다.</a:t>
            </a:r>
          </a:p>
          <a:p/>
          <a:p>
            <a:r>
              <a:t>실행해 보세요. 숫자 두 개가 2초마다 찍힙니다.</a:t>
            </a:r>
          </a:p>
          <a:p/>
          <a:p>
            <a:r>
              <a:t>[발문] 지금 교실이 몇 도인가요? 창가 조와 안쪽 조 값이 다른가요?</a:t>
            </a:r>
          </a:p>
          <a:p/>
          <a:p>
            <a:r>
              <a:t>이게 진짜 데이터입니다. 지금 이 순간 이 교실의 실제 온도예요. 여러분이 만든 장치가 세상을 측정한 겁니다.</a:t>
            </a:r>
          </a:p>
          <a:p/>
          <a:p>
            <a:r>
              <a:t>[활동] 센서에 손을 가까이 대거나 입김을 불어 보게 한다. 값이 올라가는 것이 바로 보인다.</a:t>
            </a:r>
          </a:p>
          <a:p/>
          <a:p>
            <a:r>
              <a:t>[지시] 하단 박스를 짚는다.</a:t>
            </a:r>
          </a:p>
          <a:p/>
          <a:p>
            <a:r>
              <a:t>sleep을 2초로 한 이유가 있습니다. 온도는 빨리 안 변해요. 그리고 너무 자주 물으면 센서 자체가 조금씩 데워져서 값이 실제보다 올라갑니다.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값을 보기 좋게 다듬기</a:t>
            </a:r>
          </a:p>
          <a:p/>
          <a:p>
            <a:r>
              <a:t>실행해 보면 숫자가 24.837194... 이런 식으로 길게 나올 겁니다.</a:t>
            </a:r>
          </a:p>
          <a:p/>
          <a:p>
            <a:r>
              <a:t>[발문] 온도를 소수점 다섯 자리까지 알 필요가 있을까요?</a:t>
            </a:r>
          </a:p>
          <a:p/>
          <a:p>
            <a:r>
              <a:t>없죠. 센서 자체의 오차가 소수점 첫째 자리 수준이라 그 아래는 의미가 없습니다.</a:t>
            </a:r>
          </a:p>
          <a:p/>
          <a:p>
            <a:r>
              <a:t>그래서 round를 씁니다. round(값, 1)이라고 하면 소수점 첫째 자리까지만 남깁니다.</a:t>
            </a:r>
          </a:p>
          <a:p/>
          <a:p>
            <a:r>
              <a:t>그리고 print에 문자열을 같이 넣으면 무슨 값인지 알아보기 쉬워집니다. 콤마로 나열하면 파이썬이 알아서 띄어쓰기까지 해 줍니다.</a:t>
            </a:r>
          </a:p>
          <a:p/>
          <a:p>
            <a:r>
              <a:t>[지시] 실제로 고쳐서 실행시킨다. 출력이 깔끔해지는 것을 보여 준다.</a:t>
            </a:r>
          </a:p>
          <a:p/>
          <a:p>
            <a:r>
              <a:t>이렇게 다듬는 습관이 중요합니다. 값이 하나일 때는 괜찮은데, 나중에 센서가 여러 개가 되면 뭐가 뭔지 구분이 안 되거든요.</a:t>
            </a:r>
          </a:p>
          <a:p/>
          <a:p>
            <a:r>
              <a:t>12차시에 이 값을 웹 페이지에 띄울 겁니다. 그때도 이렇게 다듬은 값을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I2C에서 지켜야 할 것</a:t>
            </a:r>
          </a:p>
          <a:p/>
          <a:p>
            <a:r>
              <a:t>[지시] 화면이 어두워지므로 주의가 모인다. 여기서 한 번 멈춘다.</a:t>
            </a:r>
          </a:p>
          <a:p/>
          <a:p>
            <a:r>
              <a:t>오늘 문제는 세 군데에서 나옵니다. 전원, 통신선, 저장 위치.</a:t>
            </a:r>
          </a:p>
          <a:p/>
          <a:p>
            <a:r>
              <a:t>오른쪽 빨간 쪽부터. 첫째, VCC를 VBUS에 연결하는 것. 아까 말한 그거예요. 센서도 상하고 보드도 위험합니다.</a:t>
            </a:r>
          </a:p>
          <a:p/>
          <a:p>
            <a:r>
              <a:t>둘째, SDA와 SCL을 바꿔 꽂는 것. 이건 안 망가지는데 동작을 안 합니다. scan()에 아무것도 안 나와요.</a:t>
            </a:r>
          </a:p>
          <a:p/>
          <a:p>
            <a:r>
              <a:t>셋째, 같은 주소 센서 두 개. 오늘은 하나만 쓰니까 해당 없습니다.</a:t>
            </a:r>
          </a:p>
          <a:p/>
          <a:p>
            <a:r>
              <a:t>넷째, 드라이버를 이 컴퓨터에 저장하는 것. 2차시에 배운 그 실수가 여기서 또 나옵니다. 보드에 저장해야 import가 됩니다.</a:t>
            </a:r>
          </a:p>
          <a:p/>
          <a:p>
            <a:r>
              <a:t>[지시] 맨 아래 줄을 강조한다. 오늘 가장 중요한 진단 원칙이다.</a:t>
            </a:r>
          </a:p>
          <a:p/>
          <a:p>
            <a:r>
              <a:t>그리고 오늘 가장 중요한 문장. scan()에 아무것도 안 나오면 코드를 고치지 마세요. 코드는 멀쩡합니다. 선이 문제예요.</a:t>
            </a:r>
          </a:p>
          <a:p/>
          <a:p>
            <a:r>
              <a:t>4차시부터 계속 말한 문제 분해입니다. scan()이 되면 배선은 끝난 거고, 그 뒤로 문제가 생기면 코드나 드라이버 쪽입니다. 이 두 단계를 나눠서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[6분] 실습 — 세 가지 도전</a:t>
            </a:r>
          </a:p>
          <a:p/>
          <a:p>
            <a:r>
              <a:t>지금까지 만든 게 다 살아 있습니다. RGB LED, 가변저항, 그리고 오늘의 온습도 센서.</a:t>
            </a:r>
          </a:p>
          <a:p/>
          <a:p>
            <a:r>
              <a:t>첫째, 온도로 색 바꾸기. 7차시에 배운 elif를 씁니다. 26도 넘으면 빨강, 22도 넘으면 초록, 아니면 파랑.</a:t>
            </a:r>
          </a:p>
          <a:p/>
          <a:p>
            <a:r>
              <a:t>[발문] 이게 실제로 어디에 쓰일까요?</a:t>
            </a:r>
          </a:p>
          <a:p/>
          <a:p>
            <a:r>
              <a:t>온실이나 서버실 같은 데서 실제로 씁니다. 한눈에 상태를 알 수 있으니까요.</a:t>
            </a:r>
          </a:p>
          <a:p/>
          <a:p>
            <a:r>
              <a:t>둘째, 최고 최저 기록하기. 변수 두 개를 만들어 두고, 새 값이 더 높으면 갱신하는 겁니다. high를 처음에 아주 낮은 값으로, low를 아주 높은 값으로 두는 게 요령이에요.</a:t>
            </a:r>
          </a:p>
          <a:p/>
          <a:p>
            <a:r>
              <a:t>[발문] high를 0으로 두면 어떻게 될까요? (답: 영하일 때 갱신이 안 된다)</a:t>
            </a:r>
          </a:p>
          <a:p/>
          <a:p>
            <a:r>
              <a:t>셋째는 도전입니다. 7차시 가변저항을 다시 씁니다. 손잡이로 기준 온도를 15도에서 35도 사이로 정하게 하는 거예요. 7차시에 배운 값 변환을 쓰면 됩니다.</a:t>
            </a:r>
          </a:p>
          <a:p/>
          <a:p>
            <a:r>
              <a:t>[지시] 5분 실습. 순회한다. 첫째까지만 해도 충분하다고 안내한다. 센서에 입김을 불면 값이 금방 올라가므로 확인이 빠르다.</a:t>
            </a:r>
          </a:p>
          <a:p/>
          <a:p>
            <a:r>
              <a:t>값을 바꿔 확인하려면 센서에 입김을 불어 보세요. 온도랑 습도가 같이 올라갑니다.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[3분] 센서가 대답하지 않을 때</a:t>
            </a:r>
          </a:p>
          <a:p/>
          <a:p>
            <a:r>
              <a:t>오늘은 진단이 아주 명확합니다. scan()이 기준이에요.</a:t>
            </a:r>
          </a:p>
          <a:p/>
          <a:p>
            <a:r>
              <a:t>scan()이 빈 목록이면 배선 문제입니다. 원인은 두 가지예요. SDA와 SCL이 바뀌었거나, 전원이 안 들어갔거나.</a:t>
            </a:r>
          </a:p>
          <a:p/>
          <a:p>
            <a:r>
              <a:t>[발문] 센서에 불이 들어오는 제품이면 뭘 먼저 확인할 수 있죠? (답: 전원 연결)</a:t>
            </a:r>
          </a:p>
          <a:p/>
          <a:p>
            <a:r>
              <a:t>scan()이 되는데 그다음이 안 되면 드라이버나 코드 문제입니다. import 오류가 나면 파일이 보드에 없는 거예요.</a:t>
            </a:r>
          </a:p>
          <a:p/>
          <a:p>
            <a:r>
              <a:t>넷째, 값이 실제보다 높게 나오는 경우. 센서가 보드 바로 옆에 있으면 보드 열을 받습니다. 조금 떨어뜨려 놓으세요. 점퍼선을 길게 쓰면 됩니다.</a:t>
            </a:r>
          </a:p>
          <a:p/>
          <a:p>
            <a:r>
              <a:t>다섯째, 값이 계속 똑같으면 너무 자주 읽는 겁니다. 센서가 내부적으로 갱신할 시간을 줘야 해요.</a:t>
            </a:r>
          </a:p>
          <a:p/>
          <a:p>
            <a:r>
              <a:t>[지시] 맨 아래 줄을 강조한다. 8차시의 핵심 진단 원칙이다.</a:t>
            </a:r>
          </a:p>
          <a:p/>
          <a:p>
            <a:r>
              <a:t>정리하면 이겁니다. scan()이 주소를 찾으면 배선은 끝. 그 뒤는 코드 문제. 이 한 줄로 문제를 반으로 쪼갤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오늘 한 일 정리</a:t>
            </a:r>
          </a:p>
          <a:p/>
          <a:p>
            <a:r>
              <a:t>세 문장입니다.</a:t>
            </a:r>
          </a:p>
          <a:p/>
          <a:p>
            <a:r>
              <a:t>첫째, 선 두 개로 대화했습니다. SDA와 SCL. 장치를 더 붙여도 선은 그대로 두 개예요.</a:t>
            </a:r>
          </a:p>
          <a:p/>
          <a:p>
            <a:r>
              <a:t>둘째, 주소를 찾는 것부터 시작했습니다. scan()이 오늘 배운 가장 쓸모 있는 명령입니다. 앞으로 어떤 I2C 부품을 쓰든 이걸로 시작하면 됩니다.</a:t>
            </a:r>
          </a:p>
          <a:p/>
          <a:p>
            <a:r>
              <a:t>셋째, 이게 오늘 진짜 새로운 겁니다. 남이 만든 코드를 가져다 썼어요. 드라이버요. 앞으로 뭔가 새로운 부품을 쓸 때마다 이렇게 합니다. 모든 걸 직접 만들 필요는 없습니다.</a:t>
            </a:r>
          </a:p>
          <a:p/>
          <a:p>
            <a:r>
              <a:t>[지시] 하단 붉은 박스를 짚으며 마무리한다.</a:t>
            </a:r>
          </a:p>
          <a:p/>
          <a:p>
            <a:r>
              <a:t>오늘 딱 하나. I2C는 선 두 개, 장치마다 주소.</a:t>
            </a:r>
          </a:p>
          <a:p/>
          <a:p>
            <a:r>
              <a:t>그리고 오늘 여러분이 얻은 온도와 습도, 이건 진짜 데이터입니다. 12차시에는 이 값을 와이파이로 보내서 스마트폰에서 보게 됩니다. 1차시에 보여 드린 그 그림, 이제 절반쯤 왔습니다.</a:t>
            </a:r>
          </a:p>
          <a:p/>
          <a:p>
            <a:r>
              <a:t>[지시] 회로는 그대로 두고 보관하게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[2분] 다음 시간 — 초음파로 거리 재기</a:t>
            </a:r>
          </a:p>
          <a:p/>
          <a:p>
            <a:r>
              <a:t>오늘까지 우리가 읽은 것은 버튼, 손잡이, 온습도였습니다.</a:t>
            </a:r>
          </a:p>
          <a:p/>
          <a:p>
            <a:r>
              <a:t>1차시 네 번째 장에서 입력 장치를 네 가지 적어 뒀던 거 기억하시나요. 버튼, 온습도 센서, 초음파 센서, 가변저항. 세 개는 했고 하나가 남았습니다. 다음 시간에 그 마지막 하나를 합니다.</a:t>
            </a:r>
          </a:p>
          <a:p/>
          <a:p>
            <a:r>
              <a:t>초음파 센서는 원리가 재밌습니다. 사람이 못 듣는 높은 소리를 쏘고, 그게 벽에 부딪혀 돌아오는 시간을 잽니다. 소리의 속도를 알고 있으니까 시간으로 거리를 계산할 수 있어요. 박쥐가 하는 것과 같은 방식입니다.</a:t>
            </a:r>
          </a:p>
          <a:p/>
          <a:p>
            <a:r>
              <a:t>오른쪽 코드 마지막 줄을 보세요. 시간에 0.0343을 곱하고 2로 나눕니다.</a:t>
            </a:r>
          </a:p>
          <a:p/>
          <a:p>
            <a:r>
              <a:t>[발문] 왜 2로 나눌까요?</a:t>
            </a:r>
          </a:p>
          <a:p/>
          <a:p>
            <a:r>
              <a:t>소리가 갔다가 돌아왔으니까요. 왕복 거리를 잰 겁니다.</a:t>
            </a:r>
          </a:p>
          <a:p/>
          <a:p>
            <a:r>
              <a:t>그리고 한 가지 더. 이 센서는 5볼트로 동작합니다.</a:t>
            </a:r>
          </a:p>
          <a:p/>
          <a:p>
            <a:r>
              <a:t>[발문] 그럼 우리 보드에 그냥 연결해도 될까요?</a:t>
            </a:r>
          </a:p>
          <a:p/>
          <a:p>
            <a:r>
              <a:t>안 됩니다. 1차시 규칙이죠. 그래서 다음 시간에는 5볼트 부품을 3.3볼트 보드에 안전하게 연결하는 방법도 같이 배웁니다. 저항 두 개를 추가로 나눠 드릴 거예요.</a:t>
            </a:r>
          </a:p>
          <a:p/>
          <a:p>
            <a:r>
              <a:t>[마무리] 준비물 공지 — 키트 그대로 가져오세요. 초음파 센서와 저항은 다음 시간에 배부합니다.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E00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임베디드 랩  ·  8차시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47088"/>
            <a:ext cx="67665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온습도 센서와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I2C 통신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767328"/>
            <a:ext cx="67665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8CDD0"/>
                </a:solidFill>
                <a:latin typeface="맑은 고딕"/>
                <a:ea typeface="맑은 고딕"/>
                <a:cs typeface="맑은 고딕"/>
              </a:rPr>
              <a:t>선 두 개로 센서에게 묻고 답을 받습니다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43400"/>
            <a:ext cx="2011680" cy="0"/>
          </a:xfrm>
          <a:prstGeom prst="rect">
            <a:avLst/>
          </a:prstGeom>
          <a:noFill/>
          <a:ln w="254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572000"/>
            <a:ext cx="67665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9A7AC"/>
                </a:solidFill>
                <a:latin typeface="맑은 고딕"/>
                <a:ea typeface="맑은 고딕"/>
                <a:cs typeface="맑은 고딕"/>
              </a:rPr>
              <a:t>SDA · SCL  ·  주소  ·  i2c.scan()  ·  드라이버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2240280"/>
            <a:ext cx="3931920" cy="2011680"/>
          </a:xfrm>
          <a:prstGeom prst="roundRect">
            <a:avLst>
              <a:gd name="adj" fmla="val 5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237744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I2C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79" y="2763774"/>
            <a:ext cx="3291840" cy="50292"/>
          </a:xfrm>
          <a:prstGeom prst="rect">
            <a:avLst/>
          </a:prstGeom>
          <a:solidFill>
            <a:srgbClr val="F0A9AE"/>
          </a:solidFill>
          <a:ln w="635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955279" y="3010662"/>
            <a:ext cx="3291840" cy="50292"/>
          </a:xfrm>
          <a:prstGeom prst="rect">
            <a:avLst/>
          </a:prstGeom>
          <a:solidFill>
            <a:srgbClr val="6E8BC4"/>
          </a:solidFill>
          <a:ln w="6350">
            <a:solidFill>
              <a:srgbClr val="6E8B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79" y="2578608"/>
            <a:ext cx="822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SDA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61320" y="3145536"/>
            <a:ext cx="8229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6E8BC4"/>
                </a:solidFill>
                <a:latin typeface="Consolas"/>
                <a:ea typeface="Consolas"/>
                <a:cs typeface="Consolas"/>
              </a:rPr>
              <a:t>SCL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21624" y="3035808"/>
            <a:ext cx="36576" cy="384048"/>
          </a:xfrm>
          <a:prstGeom prst="rect">
            <a:avLst/>
          </a:prstGeom>
          <a:solidFill>
            <a:srgbClr val="5A6068"/>
          </a:solidFill>
          <a:ln w="635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732520" y="2788920"/>
            <a:ext cx="36576" cy="630936"/>
          </a:xfrm>
          <a:prstGeom prst="rect">
            <a:avLst/>
          </a:prstGeom>
          <a:solidFill>
            <a:srgbClr val="5A6068"/>
          </a:solidFill>
          <a:ln w="635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75320" y="3419856"/>
            <a:ext cx="731520" cy="384048"/>
          </a:xfrm>
          <a:prstGeom prst="roundRect">
            <a:avLst>
              <a:gd name="adj" fmla="val 16000"/>
            </a:avLst>
          </a:prstGeom>
          <a:solidFill>
            <a:srgbClr val="990011"/>
          </a:solidFill>
          <a:ln w="9525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3419856"/>
            <a:ext cx="7315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0x38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73184" y="3035808"/>
            <a:ext cx="36576" cy="384048"/>
          </a:xfrm>
          <a:prstGeom prst="rect">
            <a:avLst/>
          </a:prstGeom>
          <a:solidFill>
            <a:srgbClr val="5A6068"/>
          </a:solidFill>
          <a:ln w="635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784080" y="2788920"/>
            <a:ext cx="36576" cy="630936"/>
          </a:xfrm>
          <a:prstGeom prst="rect">
            <a:avLst/>
          </a:prstGeom>
          <a:solidFill>
            <a:srgbClr val="5A6068"/>
          </a:solidFill>
          <a:ln w="635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0" y="3419856"/>
            <a:ext cx="731520" cy="384048"/>
          </a:xfrm>
          <a:prstGeom prst="roundRect">
            <a:avLst>
              <a:gd name="adj" fmla="val 16000"/>
            </a:avLst>
          </a:prstGeom>
          <a:solidFill>
            <a:srgbClr val="23272B"/>
          </a:solidFill>
          <a:ln w="9525">
            <a:solidFill>
              <a:srgbClr val="3A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3419856"/>
            <a:ext cx="7315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A9B0B8"/>
                </a:solidFill>
                <a:latin typeface="Consolas"/>
                <a:ea typeface="Consolas"/>
                <a:cs typeface="Consolas"/>
              </a:rPr>
              <a:t>0x3C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524744" y="3035808"/>
            <a:ext cx="36576" cy="384048"/>
          </a:xfrm>
          <a:prstGeom prst="rect">
            <a:avLst/>
          </a:prstGeom>
          <a:solidFill>
            <a:srgbClr val="5A6068"/>
          </a:solidFill>
          <a:ln w="635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835640" y="2788920"/>
            <a:ext cx="36576" cy="630936"/>
          </a:xfrm>
          <a:prstGeom prst="rect">
            <a:avLst/>
          </a:prstGeom>
          <a:solidFill>
            <a:srgbClr val="5A6068"/>
          </a:solidFill>
          <a:ln w="6350">
            <a:solidFill>
              <a:srgbClr val="5A60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378440" y="3419856"/>
            <a:ext cx="731520" cy="384048"/>
          </a:xfrm>
          <a:prstGeom prst="roundRect">
            <a:avLst>
              <a:gd name="adj" fmla="val 16000"/>
            </a:avLst>
          </a:prstGeom>
          <a:solidFill>
            <a:srgbClr val="23272B"/>
          </a:solidFill>
          <a:ln w="9525">
            <a:solidFill>
              <a:srgbClr val="3A40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378440" y="3419856"/>
            <a:ext cx="73152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A9B0B8"/>
                </a:solidFill>
                <a:latin typeface="Consolas"/>
                <a:ea typeface="Consolas"/>
                <a:cs typeface="Consolas"/>
              </a:rPr>
              <a:t>0x68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91363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장치마다 주소가 다릅니다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배울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81328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" y="1700784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00784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2763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두 가지 센서 방식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956816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전압을 읽는 센서와 대화하는 센서의 차이를 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432304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651760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7860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I2C가 무엇인가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907792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선 두 개로 여러 장치를 연결하는 방식을 이해한다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383280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" y="3602736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02736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2958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주소라는 개념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58768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장치마다 주소가 필요한 이유와 찾는 법을 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" y="4553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553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48056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드라이버 올리기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809744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센서용 파일을 보드에 저장해 import 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285232"/>
            <a:ext cx="10817352" cy="841248"/>
          </a:xfrm>
          <a:prstGeom prst="roundRect">
            <a:avLst>
              <a:gd name="adj" fmla="val 6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5504688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04688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431536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온도와 습도 읽기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5760720"/>
            <a:ext cx="777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교실의 실제 값을 읽어 화면에 표시한다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지난 시간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7차시에는 전압을 읽었습니다. 오늘은 센서에게 직접 물어봅니다.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ADC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전압을 숫자로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0~3.3V를 0~65535로 바꿔 읽었습니다.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917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5207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GP26·27·28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1520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아날로그 전용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520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 세 핀에서만 아날로그를 읽습니다.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2550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8582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가변저항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8582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전압 분배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8582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가운데 다리에서 값을 읽었습니다.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5925" y="1920240"/>
            <a:ext cx="2496312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61957" y="2267712"/>
            <a:ext cx="214884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값 변환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61957" y="281635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쓸모 있게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61957" y="3182112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전압·퍼센트·색 값으로 바꿨습니다.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800600"/>
            <a:ext cx="10817352" cy="822960"/>
          </a:xfrm>
          <a:prstGeom prst="roundRect">
            <a:avLst>
              <a:gd name="adj" fmla="val 6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0566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오늘 센서는 ADC를 쓰지 않습니다.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GP26·27·28도 쓰지 않습니다. 완전히 다른 방식이니 지난 시간 회로는 그대로 두세요.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TWO KINDS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센서에는 두 가지 방식이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전압을 내보내는 센서와, 계산까지 마치고 숫자로 답하는 센서입니다.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834640"/>
          </a:xfrm>
          <a:prstGeom prst="roundRect">
            <a:avLst>
              <a:gd name="adj" fmla="val 3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아날로그 센서  ·  7차시 가변저항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2374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전압을 내보낸다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30632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9AA0A6"/>
          </a:solidFill>
          <a:ln w="12700">
            <a:solidFill>
              <a:srgbClr val="9A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063240"/>
            <a:ext cx="13258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센서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39" y="3268980"/>
            <a:ext cx="32004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697479" y="30632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C4C8CC"/>
          </a:solidFill>
          <a:ln w="12700">
            <a:solidFill>
              <a:srgbClr val="C4C8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79" y="3063240"/>
            <a:ext cx="13258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59" y="3268980"/>
            <a:ext cx="32004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399" y="30632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6B7280"/>
          </a:solidFill>
          <a:ln w="1270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3063240"/>
            <a:ext cx="13258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보드가 계산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94760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보드가 전압을 재서 직접 계산합니다. 배선이 단순한 대신 코드가 늘어납니다.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5285232" cy="28346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디지털 통신 센서  ·  오늘의 온습도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2374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숫자로 답한다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0632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3063240"/>
            <a:ext cx="13258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센서가 계산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3268980"/>
            <a:ext cx="32004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0" y="30632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063240"/>
            <a:ext cx="13258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숫자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55480" y="3268980"/>
            <a:ext cx="32004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875519" y="3063240"/>
            <a:ext cx="1325880" cy="457200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19" y="3063240"/>
            <a:ext cx="132588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보드가 받음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794760"/>
            <a:ext cx="4754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센서 안에 이미 칩이 들어 있어 계산까지 끝냅니다. 배선은 늘지만 코드는 더 쉽습니다.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왜 온습도는 이 방식일까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습도를 전압 하나로 표현하기는 어렵습니다. 온도와 습도를 함께 보정해야 정확해지므로, 센서가 계산까지 맡는 편이 낫습니다.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I2C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선 두 개로 여러 장치와 대화하기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SDA와 SCL, 두 선만 있으면 됩니다. 장치를 나란히 붙일 수 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10817352" cy="21488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2468880"/>
            <a:ext cx="1325880" cy="822960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325880" cy="8229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Pico 2 W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2644902"/>
            <a:ext cx="8183879" cy="50292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0" y="2937510"/>
            <a:ext cx="8183879" cy="50292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80192" y="2560320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SDA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80192" y="2852928"/>
            <a:ext cx="77724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F3C7E"/>
                </a:solidFill>
                <a:latin typeface="Consolas"/>
                <a:ea typeface="Consolas"/>
                <a:cs typeface="Consolas"/>
              </a:rPr>
              <a:t>SCL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30752" y="2670048"/>
            <a:ext cx="36576" cy="667512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2962656"/>
            <a:ext cx="36576" cy="374904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46120" y="3337560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337560"/>
            <a:ext cx="173736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온습도 센서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45352" y="2670048"/>
            <a:ext cx="36576" cy="667512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976872" y="2962656"/>
            <a:ext cx="36576" cy="374904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60720" y="3337560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3337560"/>
            <a:ext cx="173736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다른 센서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59952" y="2670048"/>
            <a:ext cx="36576" cy="667512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491472" y="2962656"/>
            <a:ext cx="36576" cy="374904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75320" y="3337560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3337560"/>
            <a:ext cx="173736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작은 화면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343400"/>
            <a:ext cx="338328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5720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SDA — 데이터가 오가는 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01184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묻는 내용과 답이 이 선 하나로 왔다 갔다 합니다.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2836" y="4343400"/>
            <a:ext cx="338328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77156" y="45720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SCL — 박자를 맞추는 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7156" y="4901184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언제 읽을지 신호를 주는 선입니다. 보드가 박자를 만듭니다.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4343400"/>
            <a:ext cx="3383280" cy="14173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4192" y="4572000"/>
            <a:ext cx="2880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여러 장치가 같이 쓴다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4901184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선을 새로 늘리지 않고 같은 두 선에 나란히 붙이면 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ADDRESS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선을 같이 쓰면 이름표가 필요하다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여러 장치가 한 선에 붙어 있으니, 누구에게 말하는지 구분할 방법이 있어야 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760720" cy="3017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05840" y="3035808"/>
            <a:ext cx="1234440" cy="685800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035808"/>
            <a:ext cx="1234440" cy="685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Pico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3360420"/>
            <a:ext cx="50292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20340" y="2542032"/>
            <a:ext cx="45720" cy="841247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0" y="2519172"/>
            <a:ext cx="59436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37560" y="2286000"/>
            <a:ext cx="2011680" cy="5120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2286000"/>
            <a:ext cx="20116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온습도 센서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414016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0x38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40280" y="3360420"/>
            <a:ext cx="50292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20340" y="3291839"/>
            <a:ext cx="45720" cy="9144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3268979"/>
            <a:ext cx="59436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337560" y="3035808"/>
            <a:ext cx="2011680" cy="512064"/>
          </a:xfrm>
          <a:prstGeom prst="roundRect">
            <a:avLst>
              <a:gd name="adj" fmla="val 12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3035808"/>
            <a:ext cx="20116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작은 화면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163824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0x3C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40280" y="3360420"/>
            <a:ext cx="50292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20340" y="3383280"/>
            <a:ext cx="45720" cy="658367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0" y="4018787"/>
            <a:ext cx="594360" cy="45720"/>
          </a:xfrm>
          <a:prstGeom prst="rect">
            <a:avLst/>
          </a:prstGeom>
          <a:solidFill>
            <a:srgbClr val="9CA3AF"/>
          </a:solidFill>
          <a:ln w="63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37560" y="3785615"/>
            <a:ext cx="2011680" cy="512064"/>
          </a:xfrm>
          <a:prstGeom prst="roundRect">
            <a:avLst>
              <a:gd name="adj" fmla="val 12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785615"/>
            <a:ext cx="2011680" cy="5120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실시간 시계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913631"/>
            <a:ext cx="9144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Consolas"/>
                <a:ea typeface="Consolas"/>
                <a:cs typeface="Consolas"/>
              </a:rPr>
              <a:t>0x68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8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장치마다 고유한 주소가 붙어 있습니다</a:t>
            </a:r>
          </a:p>
        </p:txBody>
      </p:sp>
      <p:sp>
        <p:nvSpPr>
          <p:cNvPr id="27" name="Oval 26"/>
          <p:cNvSpPr/>
          <p:nvPr/>
        </p:nvSpPr>
        <p:spPr>
          <a:xfrm>
            <a:off x="6720840" y="21031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21031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212140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주소는 공장에서 정해진다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2468879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센서를 만들 때 이미 붙어 있습니다. 설명서나 부품 이름으로 확인할 수 있습니다.</a:t>
            </a:r>
          </a:p>
        </p:txBody>
      </p:sp>
      <p:sp>
        <p:nvSpPr>
          <p:cNvPr id="31" name="Oval 30"/>
          <p:cNvSpPr/>
          <p:nvPr/>
        </p:nvSpPr>
        <p:spPr>
          <a:xfrm>
            <a:off x="6720840" y="3200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200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21868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0x38 은 16진수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60" y="3566160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0x로 시작하면 16진수라는 뜻입니다. 10진수로는 56입니다.</a:t>
            </a:r>
          </a:p>
        </p:txBody>
      </p:sp>
      <p:sp>
        <p:nvSpPr>
          <p:cNvPr id="35" name="Oval 34"/>
          <p:cNvSpPr/>
          <p:nvPr/>
        </p:nvSpPr>
        <p:spPr>
          <a:xfrm>
            <a:off x="6720840" y="4297679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297679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4315967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같은 주소 둘은 안 된다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4663440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같은 센서 두 개를 붙이면 누구 답인지 구분할 수 없습니다.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3212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그래서 오늘 코드는 주소를 찾는 것부터 시작합니다. 주소를 모르면 말을 걸 수 없습니다.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I2C에 쓸 수 있는 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1차시 핀 배치도에 I2C0 SDA · I2C0 SCL이라고 적혀 있던 그 핀들입니다.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2514600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128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GP20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43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SDA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7238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36499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26번 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965960"/>
            <a:ext cx="2514600" cy="187451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90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2128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2F3C7E"/>
                </a:solidFill>
                <a:latin typeface="맑은 고딕"/>
                <a:ea typeface="맑은 고딕"/>
                <a:cs typeface="맑은 고딕"/>
              </a:rPr>
              <a:t>GP21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74320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SCL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072384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박자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364992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27번 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965960"/>
            <a:ext cx="5239512" cy="1874519"/>
          </a:xfrm>
          <a:prstGeom prst="roundRect">
            <a:avLst>
              <a:gd name="adj" fmla="val 4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194560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다른 핀도 쓸 수 있습니다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25420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I2C0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542032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GP4 · GP5 또는 GP20 · GP21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962656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Consolas"/>
                <a:ea typeface="Consolas"/>
                <a:cs typeface="Consolas"/>
              </a:rPr>
              <a:t>I2C1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79" y="2962656"/>
            <a:ext cx="3566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GP2 · GP3 또는 GP26 · GP27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40156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핀 배치도에서 I2C라고 적힌 핀만 가능합니다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14800"/>
            <a:ext cx="10817352" cy="100584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31596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오늘은 GP20과 GP21을 씁니다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590288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26번과 27번 핀입니다. 바로 옆 28번이 GND라서 배선이 짧아집니다. 세 핀이 나란히 붙어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949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SDA와 SCL을 바꿔 꽂으면 동작하지 않습니다. 배선할 때 가장 조심할 부분입니다.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WIRING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만들 회로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센서 다리는 네 개입니다. 전원 두 개와 통신선 두 개를 연결합니다.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1691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88920" y="2212848"/>
            <a:ext cx="1691640" cy="1097280"/>
          </a:xfrm>
          <a:prstGeom prst="roundRect">
            <a:avLst>
              <a:gd name="adj" fmla="val 10000"/>
            </a:avLst>
          </a:prstGeom>
          <a:solidFill>
            <a:srgbClr val="23272B"/>
          </a:solidFill>
          <a:ln w="12700">
            <a:solidFill>
              <a:srgbClr val="0E111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2212848"/>
            <a:ext cx="1691640" cy="10972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온습도 센서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31136"/>
            <a:ext cx="685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990011"/>
                </a:solidFill>
                <a:latin typeface="Consolas"/>
                <a:ea typeface="Consolas"/>
                <a:cs typeface="Consolas"/>
              </a:rPr>
              <a:t>VCC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2311146"/>
            <a:ext cx="1188720" cy="41148"/>
          </a:xfrm>
          <a:prstGeom prst="rect">
            <a:avLst/>
          </a:prstGeom>
          <a:solidFill>
            <a:srgbClr val="990011"/>
          </a:solidFill>
          <a:ln w="63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2208276"/>
            <a:ext cx="1143000" cy="246888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208276"/>
            <a:ext cx="11430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3V3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32888"/>
            <a:ext cx="685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GND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2612898"/>
            <a:ext cx="1188720" cy="41148"/>
          </a:xfrm>
          <a:prstGeom prst="rect">
            <a:avLst/>
          </a:prstGeom>
          <a:solidFill>
            <a:srgbClr val="4B5563"/>
          </a:solidFill>
          <a:ln w="635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2510028"/>
            <a:ext cx="1143000" cy="246888"/>
          </a:xfrm>
          <a:prstGeom prst="roundRect">
            <a:avLst>
              <a:gd name="adj" fmla="val 14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2510028"/>
            <a:ext cx="11430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685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0505C"/>
                </a:solidFill>
                <a:latin typeface="Consolas"/>
                <a:ea typeface="Consolas"/>
                <a:cs typeface="Consolas"/>
              </a:rPr>
              <a:t>SDA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03520" y="2914650"/>
            <a:ext cx="1188720" cy="41148"/>
          </a:xfrm>
          <a:prstGeom prst="rect">
            <a:avLst/>
          </a:prstGeom>
          <a:solidFill>
            <a:srgbClr val="C0505C"/>
          </a:solidFill>
          <a:ln w="635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2811780"/>
            <a:ext cx="1143000" cy="246888"/>
          </a:xfrm>
          <a:prstGeom prst="roundRect">
            <a:avLst>
              <a:gd name="adj" fmla="val 14000"/>
            </a:avLst>
          </a:prstGeom>
          <a:solidFill>
            <a:srgbClr val="C0505C"/>
          </a:solidFill>
          <a:ln w="12700">
            <a:solidFill>
              <a:srgbClr val="C05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811780"/>
            <a:ext cx="11430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36392"/>
            <a:ext cx="68580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F3C7E"/>
                </a:solidFill>
                <a:latin typeface="Consolas"/>
                <a:ea typeface="Consolas"/>
                <a:cs typeface="Consolas"/>
              </a:rPr>
              <a:t>SCL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3216402"/>
            <a:ext cx="1188720" cy="41148"/>
          </a:xfrm>
          <a:prstGeom prst="rect">
            <a:avLst/>
          </a:prstGeom>
          <a:solidFill>
            <a:srgbClr val="2F3C7E"/>
          </a:solidFill>
          <a:ln w="635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3113532"/>
            <a:ext cx="1143000" cy="246888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 w="12700">
            <a:solidFill>
              <a:srgbClr val="2F3C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113532"/>
            <a:ext cx="1143000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GP21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212848"/>
            <a:ext cx="3383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핀 번호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523744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3V3 → 36번   ·   GND → 28번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Consolas"/>
                <a:ea typeface="Consolas"/>
                <a:cs typeface="Consolas"/>
              </a:rPr>
              <a:t>GP20 → 26번   ·   GP21 → 27번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79476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부품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794760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보드 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79476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센서 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" y="4096512"/>
            <a:ext cx="108173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68680" y="4187952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187952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215384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4224528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3V3 (36번 핀)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233672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4224528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센서의 VCC 다리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4626864"/>
            <a:ext cx="108173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68680" y="4718304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718304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98448" y="4745736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91840" y="4754880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GND (28번 핀)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4764024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0" y="4754880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센서의 GND 다리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" y="5157216"/>
            <a:ext cx="108173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68680" y="5248656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" y="5248656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98448" y="5276088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91840" y="5285232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GP20 (26번 핀)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5294376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0" y="5285232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센서의 SDA 다리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" y="5687568"/>
            <a:ext cx="10817352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68680" y="5779008"/>
            <a:ext cx="274320" cy="27432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68680" y="5779008"/>
            <a:ext cx="27432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98448" y="5806440"/>
            <a:ext cx="1920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점퍼선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91840" y="5815584"/>
            <a:ext cx="3383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GP21 (27번 핀)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0" y="5824728"/>
            <a:ext cx="365760" cy="237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0" y="581558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센서의 SCL 다리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6263640"/>
            <a:ext cx="10789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센서 기판에 다리 이름이 인쇄되어 있습니다. 순서는 제품마다 다르니 이름을 보고 연결하세요.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배선하는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네 줄만 연결하면 됩니다. 이름을 하나씩 확인하며 연결하세요.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11226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USB 케이블을 뽑습니다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3055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지난 시간 회로는 그대로 두고 전원만 뺍니다.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0120" y="278892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4378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센서를 브레드보드에 꽂습니다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86207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네 다리가 각각 다른 세로줄에 들어가게 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8328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352044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7530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전원 두 줄을 연결합니다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59359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VCC는 3V3(36번), GND는 GND(28번)로.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1480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2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0682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통신 두 줄을 연결합니다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32511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SDA는 GP20(26번), SCL은 GP21(27번)로.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46320"/>
            <a:ext cx="10817352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60120" y="49834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9834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038344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확인한 뒤 USB를 연결합니다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056632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SDA와 SCL이 바뀌지 않았는지 다시 봅니다.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715000"/>
            <a:ext cx="10817352" cy="685800"/>
          </a:xfrm>
          <a:prstGeom prst="roundRect">
            <a:avLst>
              <a:gd name="adj" fmla="val 7000"/>
            </a:avLst>
          </a:prstGeom>
          <a:solidFill>
            <a:srgbClr val="FDF3F4"/>
          </a:solidFill>
          <a:ln w="12700">
            <a:solidFill>
              <a:srgbClr val="F0A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591616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센서 VCC는 반드시 3V3입니다.  </a:t>
            </a: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VBUS(5V)에 연결하면 센서가 손상되고, SDA·SCL로 5V가 흘러 보드까지 위험합니다.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먼저 주소를 찾습니다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센서와 대화하기 전에, 선이 제대로 연결됐는지부터 확인하는 명령입니다.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760720" cy="169164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i2c_scan.py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59152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I2C, Pin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07791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i2c = I2C(0, sda=Pin(20), scl=Pin(21))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182111"/>
            <a:ext cx="530352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print(i2c.scan())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840480"/>
            <a:ext cx="5760720" cy="192024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977639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Shell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97680"/>
            <a:ext cx="5120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&gt;&gt;&gt; print(i2c.scan())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572000"/>
            <a:ext cx="5120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C47E"/>
                </a:solidFill>
                <a:latin typeface="Consolas"/>
                <a:ea typeface="Consolas"/>
                <a:cs typeface="Consolas"/>
              </a:rPr>
              <a:t>[56]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937760"/>
            <a:ext cx="5120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&gt;&gt;&gt; for a in i2c.scan():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212080"/>
            <a:ext cx="5120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...     print(hex(a))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486400"/>
            <a:ext cx="5120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C47E"/>
                </a:solidFill>
                <a:latin typeface="Consolas"/>
                <a:ea typeface="Consolas"/>
                <a:cs typeface="Consolas"/>
              </a:rPr>
              <a:t>0x38</a:t>
            </a:r>
          </a:p>
        </p:txBody>
      </p:sp>
      <p:sp>
        <p:nvSpPr>
          <p:cNvPr id="17" name="Oval 16"/>
          <p:cNvSpPr/>
          <p:nvPr/>
        </p:nvSpPr>
        <p:spPr>
          <a:xfrm>
            <a:off x="6720840" y="205740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05740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207568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scan()은 출석을 부른다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423160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선에 붙어 있는 장치들의 주소를 모두 찾아 목록으로 돌려줍니다.</a:t>
            </a:r>
          </a:p>
        </p:txBody>
      </p:sp>
      <p:sp>
        <p:nvSpPr>
          <p:cNvPr id="21" name="Oval 20"/>
          <p:cNvSpPr/>
          <p:nvPr/>
        </p:nvSpPr>
        <p:spPr>
          <a:xfrm>
            <a:off x="6720840" y="3154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3154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17296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[] 가 나오면 배선 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520440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빈 목록은 아무 장치도 못 찾았다는 뜻입니다. 코드가 아니라 선을 봐야 합니다.</a:t>
            </a:r>
          </a:p>
        </p:txBody>
      </p:sp>
      <p:sp>
        <p:nvSpPr>
          <p:cNvPr id="25" name="Oval 24"/>
          <p:cNvSpPr/>
          <p:nvPr/>
        </p:nvSpPr>
        <p:spPr>
          <a:xfrm>
            <a:off x="6720840" y="425196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25196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4270248"/>
            <a:ext cx="427939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56 과 0x38 은 같은 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4617720"/>
            <a:ext cx="427939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파이썬은 10진수로 보여 줍니다. hex()로 바꾸면 익숙한 0x38이 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440680"/>
            <a:ext cx="4782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주소가 보이면 배선은 끝난 것입니다. 여기까지 되면 나머지는 쉽습니다.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DRIVER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센서마다 통역이 필요합니다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주소를 찾았어도 대화 규칙은 센서마다 다릅니다. 그 규칙을 담은 파일이 드라이버입니다.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2240280"/>
          </a:xfrm>
          <a:prstGeom prst="roundRect">
            <a:avLst>
              <a:gd name="adj" fmla="val 35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드라이버가 없으면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42032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센서에 어떤 신호를 보내야 온도가 나오는지,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돌아온 숫자를 어떻게 계산해야 하는지 직접 알아내야 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5661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설명서를 읽고 수십 줄을 직접 짜야 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65960"/>
            <a:ext cx="5285232" cy="224028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드라이버가 있으면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2542032"/>
            <a:ext cx="4572000" cy="841248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2688336"/>
            <a:ext cx="42062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import ahtx0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980944"/>
            <a:ext cx="42062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print(sensor.temperature)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56616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두 줄이면 끝납니다. 계산은 드라이버가 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480560"/>
            <a:ext cx="3383280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4681728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681728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7183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파일을 받는다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75504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선생님이 나눠 준 ahtx0.py 파일을 엽니다.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02836" y="4480560"/>
            <a:ext cx="3383280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677156" y="4681728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7156" y="4681728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4356" y="47183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보드에 저장한다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7156" y="5175504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2차시에 배운 그대로, 저장 위치를 Raspberry Pi Pico로 고릅니다.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19872" y="4480560"/>
            <a:ext cx="3383280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94192" y="4681728"/>
            <a:ext cx="347472" cy="347472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4681728"/>
            <a:ext cx="347472" cy="34747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51392" y="471830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import 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5175504"/>
            <a:ext cx="28803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파일 이름 그대로 import ahtx0 이라고 씁니다.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94360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드라이버는 보드에 저장해야 합니다. 이 컴퓨터에 저장하면 import 할 수 없습니다.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CODE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온도와 습도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드라이버를 올렸다면 코드는 짧습니다. 물어보고 받아 적으면 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6035040" cy="301752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488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temp_humi.py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32304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machine import I2C, Pin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65476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from time import sleep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98648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0A9AE"/>
                </a:solidFill>
                <a:latin typeface="Consolas"/>
                <a:ea typeface="Consolas"/>
                <a:cs typeface="Consolas"/>
              </a:rPr>
              <a:t>import ahtx0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64991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i2c = I2C(0, sda=Pin(20), scl=Pin(21))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98163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sensor = ahtx0.AHT10(i2c)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064507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while True: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97679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print(sensor.temperature)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530851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print(sensor.relative_humidity)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764023"/>
            <a:ext cx="55778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sleep(2)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14884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3행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4884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드라이버 불러오기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47802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보드에 저장한 파일 이름을 그대로 씁니다.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15468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6행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15468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센서 객체 만들기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48386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i2c를 넘겨주면 드라이버가 알아서 대화합니다.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4160520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9~10행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160520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 물어보기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48970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temperature는 섭씨, relative_humidity는 퍼센트입니다.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12080"/>
            <a:ext cx="10817352" cy="86868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sleep(2)로 넉넉히 쉬는 이유  </a:t>
            </a:r>
            <a:r>
              <a:rPr sz="13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온도는 빨리 변하지 않습니다. 너무 자주 물으면 센서가 스스로 데워져 값이 올라갑니다.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FORMAT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값을 보기 좋게 다듬기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소수점이 열 자리씩 나옵니다. 필요한 만큼만 남기고 단위를 붙입시다.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5285232" cy="169164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2140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다듬기 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87168"/>
            <a:ext cx="4754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24.83719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98064"/>
            <a:ext cx="4754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41.27653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20040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무슨 값인지 알 수 없습니다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65960"/>
            <a:ext cx="5285232" cy="169164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905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21408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다듬은 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487168"/>
            <a:ext cx="4754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온도 24.8 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98064"/>
            <a:ext cx="475488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습도 41.3 %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4754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바로 읽힙니다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31920"/>
            <a:ext cx="10817352" cy="1600200"/>
          </a:xfrm>
          <a:prstGeom prst="roundRect">
            <a:avLst>
              <a:gd name="adj" fmla="val 1799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69080"/>
            <a:ext cx="102687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다듬는 방법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370832"/>
            <a:ext cx="1036015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 = round(sensor.temperature, 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690872"/>
            <a:ext cx="1036015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 = round(sensor.relative_humidity, 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010912"/>
            <a:ext cx="10360152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print("Temp", t, "C", " Humi", h, "%")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66928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round(값, 1)은 소수점 첫째 자리까지만 남깁니다. 온도를 소수점 다섯 자리까지 알 필요는 없습니다.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10789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IMPORTANT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I2C에서 지켜야 할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755648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A9B0B8"/>
                </a:solidFill>
                <a:latin typeface="맑은 고딕"/>
                <a:ea typeface="맑은 고딕"/>
                <a:cs typeface="맑은 고딕"/>
              </a:rPr>
              <a:t>오늘 문제의 대부분은 전원과 두 통신선, 그리고 저장 위치에서 나옵니다.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16281F"/>
          </a:solidFill>
          <a:ln w="19050">
            <a:solidFill>
              <a:srgbClr val="2E6B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5BC47E"/>
                </a:solidFill>
                <a:latin typeface="Arial"/>
                <a:ea typeface="Arial"/>
                <a:cs typeface="Arial"/>
              </a:rPr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5BC47E"/>
                </a:solidFill>
                <a:latin typeface="맑은 고딕"/>
                <a:ea typeface="맑은 고딕"/>
                <a:cs typeface="맑은 고딕"/>
              </a:rPr>
              <a:t>해야 하는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센서 VCC는 3V3(36번)에 연결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SDA는 GP20, SCL은 GP21에 정확히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scan()으로 주소부터 확인하기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D5E5DA"/>
                </a:solidFill>
                <a:latin typeface="맑은 고딕"/>
                <a:ea typeface="맑은 고딕"/>
                <a:cs typeface="맑은 고딕"/>
              </a:rPr>
              <a:t>드라이버는 Raspberry Pi Pico에 저장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285232" cy="3108960"/>
          </a:xfrm>
          <a:prstGeom prst="roundRect">
            <a:avLst>
              <a:gd name="adj" fmla="val 2400"/>
            </a:avLst>
          </a:prstGeom>
          <a:solidFill>
            <a:srgbClr val="2E1216"/>
          </a:solidFill>
          <a:ln w="19050">
            <a:solidFill>
              <a:srgbClr val="8E20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651760"/>
            <a:ext cx="4572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06A75"/>
                </a:solidFill>
                <a:latin typeface="Arial"/>
                <a:ea typeface="Arial"/>
                <a:cs typeface="Arial"/>
              </a:rPr>
              <a:t>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06A75"/>
                </a:solidFill>
                <a:latin typeface="맑은 고딕"/>
                <a:ea typeface="맑은 고딕"/>
                <a:cs typeface="맑은 고딕"/>
              </a:rPr>
              <a:t>하면 안 되는 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91840"/>
            <a:ext cx="4572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센서 VCC를 VBUS(5V)에 연결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SDA와 SCL을 바꿔 꽂기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같은 주소 센서를 두 개 붙이기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EFD2D5"/>
                </a:solidFill>
                <a:latin typeface="맑은 고딕"/>
                <a:ea typeface="맑은 고딕"/>
                <a:cs typeface="맑은 고딕"/>
              </a:rPr>
              <a:t>드라이버를 이 컴퓨터에만 저장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scan()에 아무것도 나오지 않으면 코드를 고치지 마세요. 배선 문제입니다.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실습 — 세 가지 도전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지금까지 만든 부품이 다 살아 있으니 마음껏 조합해 보세요.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온도로 색 바꾸기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3291840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 = sensor.temperature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3630168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t &gt; 26: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" y="3799332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set_color(255, 0, 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968496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elif t &gt; 22: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4137660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set_color(0, 255, 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4306824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" y="4475988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set_color(0, 0, 255)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더우면 빨강, 적당하면 초록, 추우면 파랑으로 표시해 보세요.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2836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77156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77156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77156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최고·최저 기록하기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77156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1748" y="3291840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high = -100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1748" y="3461004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low  = 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1748" y="3799332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t &gt; high: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1748" y="3968496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high = 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1748" y="4137660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t &lt; low: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1748" y="4306824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low = 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7156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수업 시간 동안의 최고·최저 온도를 기억하게 만들어 보세요.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2" y="1965960"/>
            <a:ext cx="3383280" cy="36118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94192" y="2240280"/>
            <a:ext cx="384048" cy="384048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2240280"/>
            <a:ext cx="384048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94192" y="278892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도전 — 기준 온도 조절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94192" y="3200400"/>
            <a:ext cx="2834640" cy="1417320"/>
          </a:xfrm>
          <a:prstGeom prst="roundRect">
            <a:avLst>
              <a:gd name="adj" fmla="val 5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8784" y="3291840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v = knob.read_u16()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58784" y="3461004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limit = 15 + v * 20 // 65535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58784" y="3799332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if t &gt; limit: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58784" y="3968496"/>
            <a:ext cx="265176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    set_color(255, 0, 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4773168"/>
            <a:ext cx="2834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가변저항으로 기준 온도를 15~35도 사이에서 정하게 해 보세요.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TROUBLESHOOTING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센서가 대답하지 않을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scan()이 되는지 아닌지로 문제를 두 갈래로 나눠서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93392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증상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993392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원인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993392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CA3AF"/>
                </a:solidFill>
                <a:latin typeface="맑은 고딕"/>
                <a:ea typeface="맑은 고딕"/>
                <a:cs typeface="맑은 고딕"/>
              </a:rPr>
              <a:t>해결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86000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688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scan()이 [] 로 나온다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47802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SDA·SCL이 바뀌었다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4780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GP20이 SDA, GP21이 SCL입니다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62656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1455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scan()이 [] 로 나온다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1546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전원이 연결되지 않았다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31546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VCC와 GND 두 선을 확인합니다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39312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822191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import 오류가 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831336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드라이버가 보드에 없다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3831336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파일을 Raspberry Pi Pico에 저장합니다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4988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값이 실제보다 높다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50799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센서가 보드 열을 받는다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450799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센서를 보드에서 떨어뜨려 놓습니다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92624"/>
            <a:ext cx="10817352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175504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값이 계속 똑같다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5184648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너무 자주 읽고 있다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518464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sleep을 2초 정도로 늘립니다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8521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scan()이 주소를 찾으면 배선은 끝난 것입니다. 그 뒤 문제는 드라이버나 코드 쪽입니다.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오늘 한 일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센서와 대화하는 법을 배웠고, 처음으로 진짜 데이터를 얻었습니다.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78408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선 두 개로 대화했다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SDA와 SCL만으로 센서에게 묻고 답을 받았습니다.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2836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95444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5444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5444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주소를 찾았다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444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scan()으로 누가 붙어 있는지 확인하고 시작했습니다.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1965960"/>
            <a:ext cx="3383280" cy="2286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67712"/>
            <a:ext cx="402336" cy="402336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267712"/>
            <a:ext cx="402336" cy="40233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28346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남의 코드를 썼다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273552"/>
            <a:ext cx="28346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드라이버를 올려 복잡한 계산을 맡겼습니다.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617720"/>
            <a:ext cx="10817352" cy="1051560"/>
          </a:xfrm>
          <a:prstGeom prst="roundRect">
            <a:avLst>
              <a:gd name="adj" fmla="val 6000"/>
            </a:avLst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4846320"/>
            <a:ext cx="9966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오늘 딱 하나만 기억한다면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38928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I2C는 선 두 개, 장치마다 주소.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29184"/>
            <a:ext cx="10789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107899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다음 시간 — 초음파로 거리 재기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소리를 보내고 돌아오는 시간을 재서 거리를 계산합니다.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85800" y="2011680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2996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초음파 센서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59152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사람이 못 듣는 높은 소리를 쏘고 되돌아오는 것을 감지합니다.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07792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07792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92608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시간으로 거리 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255264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소리의 속도를 알고 있으니, 걸린 시간으로 거리를 구할 수 있습니다.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803904"/>
            <a:ext cx="365760" cy="365760"/>
          </a:xfrm>
          <a:prstGeom prst="ellipse">
            <a:avLst/>
          </a:prstGeom>
          <a:solidFill>
            <a:srgbClr val="990011"/>
          </a:solidFill>
          <a:ln w="12700">
            <a:solidFill>
              <a:srgbClr val="9900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65760" cy="365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22191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2328"/>
                </a:solidFill>
                <a:latin typeface="맑은 고딕"/>
                <a:ea typeface="맑은 고딕"/>
                <a:cs typeface="맑은 고딕"/>
              </a:rPr>
              <a:t>5V 부품 다루기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151376"/>
            <a:ext cx="5212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6B7280"/>
                </a:solidFill>
                <a:latin typeface="맑은 고딕"/>
                <a:ea typeface="맑은 고딕"/>
                <a:cs typeface="맑은 고딕"/>
              </a:rPr>
              <a:t>이 센서는 5V로 동작합니다. 보드를 지키는 방법을 함께 배웁니다.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2011680"/>
            <a:ext cx="4599432" cy="2606040"/>
          </a:xfrm>
          <a:prstGeom prst="roundRect">
            <a:avLst>
              <a:gd name="adj" fmla="val 2000"/>
            </a:avLst>
          </a:prstGeom>
          <a:solidFill>
            <a:srgbClr val="1A1D21"/>
          </a:solidFill>
          <a:ln w="12700">
            <a:solidFill>
              <a:srgbClr val="2E33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78040" y="2157984"/>
            <a:ext cx="40233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7A828A"/>
                </a:solidFill>
                <a:latin typeface="맑은 고딕"/>
                <a:ea typeface="맑은 고딕"/>
                <a:cs typeface="맑은 고딕"/>
              </a:rPr>
              <a:t>9차시 미리보기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8040" y="248716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trig = Pin(16, Pin.OUT)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761488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echo = Pin(17, Pin.IN)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14553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8FD3E8"/>
                </a:solidFill>
                <a:latin typeface="Consolas"/>
                <a:ea typeface="Consolas"/>
                <a:cs typeface="Consolas"/>
              </a:rPr>
              <a:t>t = time_pulse_us(echo, 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3419856"/>
            <a:ext cx="40233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7A828A"/>
                </a:solidFill>
                <a:latin typeface="Consolas"/>
                <a:ea typeface="Consolas"/>
                <a:cs typeface="Consolas"/>
              </a:rPr>
              <a:t># distance = t * 0.0343 /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886200"/>
            <a:ext cx="4023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F0A9AE"/>
                </a:solidFill>
                <a:latin typeface="맑은 고딕"/>
                <a:ea typeface="맑은 고딕"/>
                <a:cs typeface="맑은 고딕"/>
              </a:rPr>
              <a:t>1차시 입력 장치 목록에 있던 마지막 부품입니다. 이걸로 네 가지를 모두 다루게 됩니다.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74920"/>
            <a:ext cx="10817352" cy="960120"/>
          </a:xfrm>
          <a:prstGeom prst="roundRect">
            <a:avLst>
              <a:gd name="adj" fmla="val 5000"/>
            </a:avLst>
          </a:prstGeom>
          <a:solidFill>
            <a:srgbClr val="F7F2F2"/>
          </a:solidFill>
          <a:ln w="12700">
            <a:solidFill>
              <a:srgbClr val="DCD6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5294376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90011"/>
                </a:solidFill>
                <a:latin typeface="맑은 고딕"/>
                <a:ea typeface="맑은 고딕"/>
                <a:cs typeface="맑은 고딕"/>
              </a:rPr>
              <a:t>다음 시간 준비물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568696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4B5563"/>
                </a:solidFill>
                <a:latin typeface="맑은 고딕"/>
                <a:ea typeface="맑은 고딕"/>
                <a:cs typeface="맑은 고딕"/>
              </a:rPr>
              <a:t>노트북 · Pico 2 W · 데이터용 micro USB 케이블 · 오늘 쓴 키트 그대로  (초음파 센서와 저항 2개는 추가로 배부합니다)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