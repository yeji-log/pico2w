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[2분] 표지 — 모터 드라이버로 모터 돌리기</a:t>
            </a:r>
          </a:p>
          <a:p/>
          <a:p>
            <a:r>
              <a:t>[지시] 지난 시간 회로는 그대로 두게 한다. 모터 드라이버, DC 모터, 건전지함을 배부한다.</a:t>
            </a:r>
          </a:p>
          <a:p/>
          <a:p>
            <a:r>
              <a:t>지금까지 아홉 차시 동안 우리가 만든 출력은 전부 LED였습니다. 빛만 냈어요.</a:t>
            </a:r>
          </a:p>
          <a:p/>
          <a:p>
            <a:r>
              <a:t>오늘은 다릅니다. 실제로 뭔가가 움직입니다.</a:t>
            </a:r>
          </a:p>
          <a:p/>
          <a:p>
            <a:r>
              <a:t>[발문] 1차시 안전 수칙에서 모터에 대해 뭐라고 했는지 기억하시나요?</a:t>
            </a:r>
          </a:p>
          <a:p/>
          <a:p>
            <a:r>
              <a:t>GPIO에 직접 연결하지 말라고 했습니다. 반드시 모터 드라이버를 거치라고요. 그리고 그게 10차시라고 했는데, 오늘입니다.</a:t>
            </a:r>
          </a:p>
          <a:p/>
          <a:p>
            <a:r>
              <a:t>화면 오른쪽 그림을 보세요. 지금까지와 다른 게 하나 있습니다. 전원이 두 개예요. 건전지가 따로 있습니다.</a:t>
            </a:r>
          </a:p>
          <a:p/>
          <a:p>
            <a:r>
              <a:t>[발문] 왜 건전지가 따로 필요할까요?</a:t>
            </a:r>
          </a:p>
          <a:p/>
          <a:p>
            <a:r>
              <a:t>모터는 전기를 많이 먹기 때문입니다. 보드가 감당할 수 있는 양이 아니에요. 오늘 그 이야기부터 시작합니다.</a:t>
            </a:r>
          </a:p>
          <a:p/>
          <a:p>
            <a:r>
              <a:t>[지시] 모터를 손으로 잡지 말고 책상 위에 두라고 미리 안내한다. 축이 돌면 손가락이나 머리카락이 감길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[2분] 오늘 배울 것</a:t>
            </a:r>
          </a:p>
          <a:p/>
          <a:p>
            <a:r>
              <a:t>다섯 가지입니다.</a:t>
            </a:r>
          </a:p>
          <a:p/>
          <a:p>
            <a:r>
              <a:t>첫째, 왜 모터를 GPIO에 직접 못 다는지. 숫자로 비교해 보면 바로 이해됩니다.</a:t>
            </a:r>
          </a:p>
          <a:p/>
          <a:p>
            <a:r>
              <a:t>둘째, 모터 드라이버가 하는 일. 생각보다 단순합니다.</a:t>
            </a:r>
          </a:p>
          <a:p/>
          <a:p>
            <a:r>
              <a:t>셋째가 오늘의 새로운 개념입니다. 전원이 두 개예요. 지금까지는 USB 하나로 다 했는데, 오늘은 건전지가 추가됩니다.</a:t>
            </a:r>
          </a:p>
          <a:p/>
          <a:p>
            <a:r>
              <a:t>넷째, 방향과 속도. 방향은 핀 두 개의 조합으로, 속도는 5차시에 배운 PWM으로 정합니다.</a:t>
            </a:r>
          </a:p>
          <a:p/>
          <a:p>
            <a:r>
              <a:t>다섯째가 오늘의 재미입니다. 지금까지 만든 입력이 다 살아 있잖아요. 손잡이로 속도를 조절하고, 거리를 재서 자동으로 멈추고, 온도가 높으면 팬을 돌립니다.</a:t>
            </a:r>
          </a:p>
          <a:p/>
          <a:p>
            <a:r>
              <a:t>오늘 딱 하나만 기억한다면 세 번째입니다. GND를 안 이으면 아무것도 안 돌아갑니다.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[2분] 지난 시간 요약</a:t>
            </a:r>
          </a:p>
          <a:p/>
          <a:p>
            <a:r>
              <a:t>지난 시간 네 가지만 짚습니다.</a:t>
            </a:r>
          </a:p>
          <a:p/>
          <a:p>
            <a:r>
              <a:t>초음파로 거리를 쟀고, 전압 분배로 5볼트를 낮췄고, 그래서 1차시에 적어 둔 입력 네 가지를 다 끝냈습니다.</a:t>
            </a:r>
          </a:p>
          <a:p/>
          <a:p>
            <a:r>
              <a:t>[지시] 회로 확인 시간을 3분 준다. 초음파 값이 나오는지 먼저 확인시킨다.</a:t>
            </a:r>
          </a:p>
          <a:p/>
          <a:p>
            <a:r>
              <a:t>그런데 네 번째 카드를 보세요. 아홉 차시 동안 출력은 LED뿐이었습니다. 빛만 냈어요.</a:t>
            </a:r>
          </a:p>
          <a:p/>
          <a:p>
            <a:r>
              <a:t>오늘부터 그게 바뀝니다.</a:t>
            </a:r>
          </a:p>
          <a:p/>
          <a:p>
            <a:r>
              <a:t>회로는 그대로 두세요. 오늘은 GP18, GP19, GP22를 새로 씁니다. 지금까지 쓴 핀과 겹치지 않아요. 브레드보드에 자리만 만들면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[4분] 모터는 전기를 훨씬 많이 먹습니다</a:t>
            </a:r>
          </a:p>
          <a:p/>
          <a:p>
            <a:r>
              <a:t>숫자로 비교해 봅시다. 화면 막대를 보세요. 같은 눈금으로 그린 겁니다.</a:t>
            </a:r>
          </a:p>
          <a:p/>
          <a:p>
            <a:r>
              <a:t>맨 위, LED 하나. 3차시에 계산했죠. 약 6밀리암페어입니다. 막대가 거의 안 보이죠.</a:t>
            </a:r>
          </a:p>
          <a:p/>
          <a:p>
            <a:r>
              <a:t>가운데, GPIO 한 핀이 감당할 수 있는 한계. 약 10밀리암페어. 이것도 거의 안 보입니다.</a:t>
            </a:r>
          </a:p>
          <a:p/>
          <a:p>
            <a:r>
              <a:t>맨 아래, 작은 DC 모터. 200밀리암페어 이상입니다. 막대가 화면을 꽉 채웁니다.</a:t>
            </a:r>
          </a:p>
          <a:p/>
          <a:p>
            <a:r>
              <a:t>[발문] 몇 배 차이죠?</a:t>
            </a:r>
          </a:p>
          <a:p/>
          <a:p>
            <a:r>
              <a:t>20배가 넘습니다. 자릿수가 달라요. 그리고 모터가 처음 돌기 시작할 때는 이보다 더 먹습니다. 멈춰 있는 걸 움직이려면 힘이 더 드니까요.</a:t>
            </a:r>
          </a:p>
          <a:p/>
          <a:p>
            <a:r>
              <a:t>[지시] 두 번째 카드를 강조한다. 1차시 안전 수칙과 직접 연결된다.</a:t>
            </a:r>
          </a:p>
          <a:p/>
          <a:p>
            <a:r>
              <a:t>그래서 GPIO에 직접 연결하면 안 됩니다. 핀이 손상되고 되돌릴 수 없어요. 1차시에 안전 수칙으로 못 박아 둔 이유입니다.</a:t>
            </a:r>
          </a:p>
          <a:p/>
          <a:p>
            <a:r>
              <a:t>세 번째 카드도 중요합니다. 핀 하나만의 문제가 아니에요. USB로 들어오는 전기 자체가 모터를 돌리기에는 모자랍니다. 그래서 오늘 건전지가 따로 필요한 겁니다.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[3분] 모터 드라이버 — 대신 켜 주는 스위치</a:t>
            </a:r>
          </a:p>
          <a:p/>
          <a:p>
            <a:r>
              <a:t>해결책은 간단합니다. 중간에 부품을 하나 넣는 거예요.</a:t>
            </a:r>
          </a:p>
          <a:p/>
          <a:p>
            <a:r>
              <a:t>화면 그림을 보세요. 보드에서 드라이버로 가는 선은 가늘죠. 약한 신호입니다. 드라이버에서 모터로 가는 선은 굵어요. 큰 전류입니다.</a:t>
            </a:r>
          </a:p>
          <a:p/>
          <a:p>
            <a:r>
              <a:t>그리고 아래에서 건전지가 드라이버로 올라옵니다. 모터를 돌리는 실제 전기는 여기서 나옵니다.</a:t>
            </a:r>
          </a:p>
          <a:p/>
          <a:p>
            <a:r>
              <a:t>[지시] 오른쪽 수도꼭지 비유를 설명한다.</a:t>
            </a:r>
          </a:p>
          <a:p/>
          <a:p>
            <a:r>
              <a:t>수도꼭지를 생각하면 쉽습니다. 여러분이 꼭지를 돌리면 물이 콸콸 나오죠.</a:t>
            </a:r>
          </a:p>
          <a:p/>
          <a:p>
            <a:r>
              <a:t>[발문] 그 물을 여러분 손가락 힘이 밀어내는 건가요?</a:t>
            </a:r>
          </a:p>
          <a:p/>
          <a:p>
            <a:r>
              <a:t>아니죠. 손가락은 길을 열어 줄 뿐이고, 물을 미는 힘은 수도관에서 옵니다.</a:t>
            </a:r>
          </a:p>
          <a:p/>
          <a:p>
            <a:r>
              <a:t>드라이버가 똑같습니다. 보드의 약한 신호는 길을 열고 닫기만 해요. 실제 힘은 건전지에서 나옵니다.</a:t>
            </a:r>
          </a:p>
          <a:p/>
          <a:p>
            <a:r>
              <a:t>이렇게 약한 신호로 큰 전기를 다루는 부품이 아주 많습니다. 릴레이, 트랜지스터, 모스펫 같은 것들요. 원리는 다 같습니다.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[4분] 전원이 두 개, GND는 하나</a:t>
            </a:r>
          </a:p>
          <a:p/>
          <a:p>
            <a:r>
              <a:t>오늘 새로운 개념입니다. 전원이 두 개예요.</a:t>
            </a:r>
          </a:p>
          <a:p/>
          <a:p>
            <a:r>
              <a:t>하나는 USB입니다. 지금까지 아홉 차시 동안 쓰던 그거요. 보드를 켜고 신호를 만듭니다.</a:t>
            </a:r>
          </a:p>
          <a:p/>
          <a:p>
            <a:r>
              <a:t>다른 하나가 건전지입니다. 오늘 새로 추가돼요. 모터를 실제로 돌리는 힘을 냅니다. AA 건전지 네 개, 약 6볼트를 씁니다.</a:t>
            </a:r>
          </a:p>
          <a:p/>
          <a:p>
            <a:r>
              <a:t>[발문] 두 전원이 완전히 따로 놀아도 될까요?</a:t>
            </a:r>
          </a:p>
          <a:p/>
          <a:p>
            <a:r>
              <a:t>안 됩니다. 아래 붉은 박스를 보세요. GND는 반드시 하나로 이어야 합니다.</a:t>
            </a:r>
          </a:p>
          <a:p/>
          <a:p>
            <a:r>
              <a:t>[지시] 여기가 오늘 가장 이해가 안 되는 부분이므로 천천히 설명한다.</a:t>
            </a:r>
          </a:p>
          <a:p/>
          <a:p>
            <a:r>
              <a:t>왜 그럴까요. 전압이라는 게 원래 상대적인 값이거든요. 3.3볼트라는 건 "어딘가보다 3.3볼트 높다"는 뜻입니다. 그 어딘가가 바로 GND예요.</a:t>
            </a:r>
          </a:p>
          <a:p/>
          <a:p>
            <a:r>
              <a:t>그런데 보드의 GND와 드라이버의 GND가 따로 놀면, 서로 다른 기준으로 재는 겁니다. 보드가 "3.3볼트 보냈어"라고 해도 드라이버는 그게 몇 볼트인지 알 수가 없어요.</a:t>
            </a:r>
          </a:p>
          <a:p/>
          <a:p>
            <a:r>
              <a:t>그래서 두 GND를 점퍼선으로 이어서 기준을 하나로 맞춥니다.</a:t>
            </a:r>
          </a:p>
          <a:p/>
          <a:p>
            <a:r>
              <a:t>[발문] 1차시에 GND에 대해 뭐라고 했었죠?</a:t>
            </a:r>
          </a:p>
          <a:p/>
          <a:p>
            <a:r>
              <a:t>"GND는 무조건 연결." 그 규칙이 오늘 가장 중요해집니다. 이거 빼먹으면 코드가 완벽해도 모터가 안 돕니다.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[3분] 모터 드라이버 살펴보기</a:t>
            </a:r>
          </a:p>
          <a:p/>
          <a:p>
            <a:r>
              <a:t>드라이버를 꺼내 보세요. 커다란 방열판이 붙어 있고 핀이 많습니다. 겁먹지 마세요. 오늘 쓰는 건 여섯 개뿐입니다.</a:t>
            </a:r>
          </a:p>
          <a:p/>
          <a:p>
            <a:r>
              <a:t>왼쪽 세 개, ENA와 IN1과 IN2. 보드에서 오는 제어 신호입니다. 이 셋이 오늘의 주인공이에요.</a:t>
            </a:r>
          </a:p>
          <a:p/>
          <a:p>
            <a:r>
              <a:t>오른쪽 두 개, OUT1과 OUT2. 모터 선 두 개를 여기 물립니다.</a:t>
            </a:r>
          </a:p>
          <a:p/>
          <a:p>
            <a:r>
              <a:t>[발문] 모터 선은 어느 쪽이 플러스일까요?</a:t>
            </a:r>
          </a:p>
          <a:p/>
          <a:p>
            <a:r>
              <a:t>DC 모터는 극성이 없습니다. 3차시 LED와 달라요. 아무렇게나 물려도 되고, 방향이 반대면 코드로 바꾸거나 선을 바꿔 물리면 됩니다.</a:t>
            </a:r>
          </a:p>
          <a:p/>
          <a:p>
            <a:r>
              <a:t>아래쪽 세 개 중 12V와 GND. 건전지를 연결하는 자리입니다. 이름이 12V라고 되어 있는데 꼭 12볼트를 넣어야 하는 건 아니에요. 우리는 6볼트를 넣습니다.</a:t>
            </a:r>
          </a:p>
          <a:p/>
          <a:p>
            <a:r>
              <a:t>[지시] 하단 문장을 짚는다.</a:t>
            </a:r>
          </a:p>
          <a:p/>
          <a:p>
            <a:r>
              <a:t>5V 핀은 오늘 쓰지 않습니다. 그리고 이 드라이버는 모터를 두 개까지 돌릴 수 있어서 ENB, IN3, IN4가 더 있는데, 오늘은 한 개만 쓰니까 비워 둡니다.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[4분] 방향은 두 핀의 조합으로 정합니다</a:t>
            </a:r>
          </a:p>
          <a:p/>
          <a:p>
            <a:r>
              <a:t>핀 두 개로 방향을 정합니다. 각각 HIGH나 LOW가 될 수 있으니 경우의 수는 네 가지죠.</a:t>
            </a:r>
          </a:p>
          <a:p/>
          <a:p>
            <a:r>
              <a:t>[지시] 표를 위에서부터 한 줄씩 짚는다.</a:t>
            </a:r>
          </a:p>
          <a:p/>
          <a:p>
            <a:r>
              <a:t>첫 줄. IN1이 HIGH, IN2가 LOW면 한쪽으로 돕니다. 이걸 정회전이라고 부르겠습니다.</a:t>
            </a:r>
          </a:p>
          <a:p/>
          <a:p>
            <a:r>
              <a:t>둘째 줄. 반대로 하면 반대로 돕니다. 역회전이에요.</a:t>
            </a:r>
          </a:p>
          <a:p/>
          <a:p>
            <a:r>
              <a:t>[발문] 두 줄만 봐도 규칙이 보이나요?</a:t>
            </a:r>
          </a:p>
          <a:p/>
          <a:p>
            <a:r>
              <a:t>전기가 흐르는 방향이 반대가 되는 겁니다. 모터는 전기 방향이 바뀌면 회전 방향도 바뀌어요. 3차시 LED는 반대로 꽂으면 그냥 안 켜졌는데, 모터는 반대로 돕니다.</a:t>
            </a:r>
          </a:p>
          <a:p/>
          <a:p>
            <a:r>
              <a:t>셋째와 넷째 줄이 둘 다 정지입니다.</a:t>
            </a:r>
          </a:p>
          <a:p/>
          <a:p>
            <a:r>
              <a:t>[발문] 정지가 왜 두 가지일까요?</a:t>
            </a:r>
          </a:p>
          <a:p/>
          <a:p>
            <a:r>
              <a:t>둘 다 LOW면 전기를 아예 안 보냅니다. 그러면 모터가 관성으로 조금 더 돌다가 서서히 멈춰요. 자전거 페달에서 발을 뗀 것과 같습니다.</a:t>
            </a:r>
          </a:p>
          <a:p/>
          <a:p>
            <a:r>
              <a:t>둘 다 HIGH면 양쪽에서 붙잡습니다. 그러면 즉시 멈춰요. 브레이크를 잡은 겁니다.</a:t>
            </a:r>
          </a:p>
          <a:p/>
          <a:p>
            <a:r>
              <a:t>수업에서는 둘 다 LOW를 쓰겠습니다. 모터에 부담이 덜해요.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[3분] 속도는 ENA에 PWM으로</a:t>
            </a:r>
          </a:p>
          <a:p/>
          <a:p>
            <a:r>
              <a:t>방향은 IN1과 IN2로 정했죠. 속도는 ENA로 정합니다.</a:t>
            </a:r>
          </a:p>
          <a:p/>
          <a:p>
            <a:r>
              <a:t>[발문] ENA에 어떤 신호를 줘야 할까요? 힌트는 5차시입니다.</a:t>
            </a:r>
          </a:p>
          <a:p/>
          <a:p>
            <a:r>
              <a:t>PWM입니다. 5차시에 LED 밝기 조절할 때 쓴 그거예요. 명령도 똑같습니다. duty_u16.</a:t>
            </a:r>
          </a:p>
          <a:p/>
          <a:p>
            <a:r>
              <a:t>0이면 정지, 65535면 최대. 완전히 같은 방식입니다.</a:t>
            </a:r>
          </a:p>
          <a:p/>
          <a:p>
            <a:r>
              <a:t>[지시] 오른쪽 붉은 박스를 반드시 강조한다. 실습 실패의 1위 원인이다.</a:t>
            </a:r>
          </a:p>
          <a:p/>
          <a:p>
            <a:r>
              <a:t>그런데 실습 전에 반드시 확인할 게 하나 있습니다. 드라이버 보드의 ENA 자리를 보세요. 작은 플라스틱 캡이 꽂혀 있을 겁니다. 점퍼 캡이라고 합니다.</a:t>
            </a:r>
          </a:p>
          <a:p/>
          <a:p>
            <a:r>
              <a:t>이게 꽂혀 있으면 ENA가 항상 켜진 상태로 고정됩니다. 그러면 항상 최대 속도로만 돌아요. PWM을 아무리 보내도 소용없습니다.</a:t>
            </a:r>
          </a:p>
          <a:p/>
          <a:p>
            <a:r>
              <a:t>[활동] 각자 자기 드라이버에서 ENA 점퍼 캡을 찾아 빼게 한다. 잃어버리지 않게 한쪽 핀에만 걸쳐 두면 좋다.</a:t>
            </a:r>
          </a:p>
          <a:p/>
          <a:p>
            <a:r>
              <a:t>지금 빼세요. 빼고 그 자리에 점퍼선을 연결할 겁니다.</a:t>
            </a:r>
          </a:p>
          <a:p/>
          <a:p>
            <a:r>
              <a:t>아래 두 번째 카드도 실전에서 중요합니다. 듀티를 너무 낮게 주면 모터가 안 돕니다. 웅 하는 소리만 나요. 멈춰 있는 걸 움직이려면 힘이 더 필요하기 때문입니다. 20000 정도부터 시작해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[3분] 오늘 만들 회로</a:t>
            </a:r>
          </a:p>
          <a:p/>
          <a:p>
            <a:r>
              <a:t>배선이 여섯 줄입니다. 세 묶음으로 나눠서 보면 쉬워요.</a:t>
            </a:r>
          </a:p>
          <a:p/>
          <a:p>
            <a:r>
              <a:t>첫 묶음, 보드에서 드라이버로 가는 제어선 세 개. ENA는 GP22, IN1은 GP18, IN2는 GP19입니다. 물리적으로는 29번, 24번, 25번이에요.</a:t>
            </a:r>
          </a:p>
          <a:p/>
          <a:p>
            <a:r>
              <a:t>[지시] 핀아웃 인쇄물에서 24, 25, 29번을 짚게 한다.</a:t>
            </a:r>
          </a:p>
          <a:p/>
          <a:p>
            <a:r>
              <a:t>둘째 묶음, GND 한 줄. 보드 38번 핀에서 드라이버 GND로. 표에서 붉게 표시한 그 줄입니다.</a:t>
            </a:r>
          </a:p>
          <a:p/>
          <a:p>
            <a:r>
              <a:t>[발문] 이걸 빠뜨리면 어떻게 되죠?</a:t>
            </a:r>
          </a:p>
          <a:p/>
          <a:p>
            <a:r>
              <a:t>앞에서 배운 그거죠. 기준점이 달라져서 드라이버가 신호를 못 알아듣습니다. 코드가 완벽해도 모터가 안 돕니다.</a:t>
            </a:r>
          </a:p>
          <a:p/>
          <a:p>
            <a:r>
              <a:t>셋째 묶음, 모터와 건전지. 모터 선 두 개를 OUT1과 OUT2에 물리고, 건전지 선 두 개를 12V와 GND에 물립니다.</a:t>
            </a:r>
          </a:p>
          <a:p/>
          <a:p>
            <a:r>
              <a:t>모터 선은 극성이 없으니 아무렇게나 물려도 됩니다. 방향이 마음에 안 들면 나중에 바꾸면 돼요.</a:t>
            </a:r>
          </a:p>
          <a:p/>
          <a:p>
            <a:r>
              <a:t>건전지는 플러스 마이너스를 지켜야 합니다. 보통 빨간 선이 플러스입니다.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[4분] 배선하는 순서</a:t>
            </a:r>
          </a:p>
          <a:p/>
          <a:p>
            <a:r>
              <a:t>[지시] 다 같이 한 단계씩 진행한다. 5단계 전에 반드시 전원 점검을 한다.</a:t>
            </a:r>
          </a:p>
          <a:p/>
          <a:p>
            <a:r>
              <a:t>1번. USB를 뽑고, 드라이버의 ENA 점퍼 캡을 뺍니다. 이걸 먼저 해 두세요. 나중에 배선을 다 하고 나면 손이 안 들어갑니다.</a:t>
            </a:r>
          </a:p>
          <a:p/>
          <a:p>
            <a:r>
              <a:t>2번. 제어선 세 줄. GP22에서 ENA로, GP18에서 IN1으로, GP19에서 IN2로.</a:t>
            </a:r>
          </a:p>
          <a:p/>
          <a:p>
            <a:r>
              <a:t>3번. GND 한 줄. 38번 핀에서 드라이버 GND로. 이게 오늘의 핵심입니다.</a:t>
            </a:r>
          </a:p>
          <a:p/>
          <a:p>
            <a:r>
              <a:t>4번. 모터 선 두 개를 OUT1과 OUT2에 물립니다. 나사로 조이는 단자면 드라이버로 조여 주세요.</a:t>
            </a:r>
          </a:p>
          <a:p/>
          <a:p>
            <a:r>
              <a:t>5번. 건전지는 마지막입니다.</a:t>
            </a:r>
          </a:p>
          <a:p/>
          <a:p>
            <a:r>
              <a:t>[지시] 아래 붉은 박스를 강조한다. 오늘 유일한 신체 안전 이슈다.</a:t>
            </a:r>
          </a:p>
          <a:p/>
          <a:p>
            <a:r>
              <a:t>그전에 안전 얘기 하나. 모터를 손에 들고 돌리지 마세요. 축이 돌아가면 머리카락이나 옷소매가 감길 수 있습니다. 별거 아닌 것 같아도 순식간이에요.</a:t>
            </a:r>
          </a:p>
          <a:p/>
          <a:p>
            <a:r>
              <a:t>책상 위에 두거나 테이프로 고정하세요. 그리고 축에 뭔가 끼워 놓았다면 사람 쪽을 향하지 않게 두세요.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[4분] 정회전 · 정지 · 역회전</a:t>
            </a:r>
          </a:p>
          <a:p/>
          <a:p>
            <a:r>
              <a:t>코드를 봅시다.</a:t>
            </a:r>
          </a:p>
          <a:p/>
          <a:p>
            <a:r>
              <a:t>4행과 5행. IN1과 IN2는 그냥 Pin입니다. 4차시에 LED 켤 때 쓴 것과 같아요.</a:t>
            </a:r>
          </a:p>
          <a:p/>
          <a:p>
            <a:r>
              <a:t>6행. ENA만 PWM입니다. 5차시 그대로죠.</a:t>
            </a:r>
          </a:p>
          <a:p/>
          <a:p>
            <a:r>
              <a:t>8행에서 속도를 먼저 정해 둡니다. 40000이면 중간보다 조금 빠릅니다. 이 값은 while 밖에 있으니 한 번만 정하고 계속 유지돼요.</a:t>
            </a:r>
          </a:p>
          <a:p/>
          <a:p>
            <a:r>
              <a:t>그다음 while 안이 네 동작입니다. 정회전 2초, 정지 1초, 역회전 2초, 정지 1초.</a:t>
            </a:r>
          </a:p>
          <a:p/>
          <a:p>
            <a:r>
              <a:t>[지시] 14행을 짚는다. 학생들이 헷갈리는 부분이다.</a:t>
            </a:r>
          </a:p>
          <a:p/>
          <a:p>
            <a:r>
              <a:t>14행을 잘 보세요. in1.low()만 있고 in2는 안 건드립니다.</a:t>
            </a:r>
          </a:p>
          <a:p/>
          <a:p>
            <a:r>
              <a:t>[발문] 왜 in2를 안 건드려도 될까요?</a:t>
            </a:r>
          </a:p>
          <a:p/>
          <a:p>
            <a:r>
              <a:t>앞에서 이미 LOW였으니까요. 둘 다 LOW가 되면 정지입니다. 굳이 다시 쓸 필요가 없어요.</a:t>
            </a:r>
          </a:p>
          <a:p/>
          <a:p>
            <a:r>
              <a:t>[지시] 실행시킨다. 모터가 고정되어 있는지 다시 확인한다.</a:t>
            </a:r>
          </a:p>
          <a:p/>
          <a:p>
            <a:r>
              <a:t>실행해 보세요. 모터가 2초 돌고, 멈추고, 반대로 2초 돌고, 멈추기를 반복합니다.</a:t>
            </a:r>
          </a:p>
          <a:p/>
          <a:p>
            <a:r>
              <a:t>[발문] 정회전이 여러분이 생각한 방향인가요?</a:t>
            </a:r>
          </a:p>
          <a:p/>
          <a:p>
            <a:r>
              <a:t>아니어도 괜찮습니다. 코드를 고칠 필요 없이 모터 선 두 개를 바꿔 물리면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[3분] 함수로 묶어 속도까지 한 번에</a:t>
            </a:r>
          </a:p>
          <a:p/>
          <a:p>
            <a:r>
              <a:t>6차시에 set_color 함수를 만들었죠. 같은 방식으로 모터도 묶습니다.</a:t>
            </a:r>
          </a:p>
          <a:p/>
          <a:p>
            <a:r>
              <a:t>motor라는 함수를 만들고, 속도와 방향을 받습니다.</a:t>
            </a:r>
          </a:p>
          <a:p/>
          <a:p>
            <a:r>
              <a:t>[지시] 첫 줄의 forward=True를 짚는다. 기본값은 처음 나오는 개념이다.</a:t>
            </a:r>
          </a:p>
          <a:p/>
          <a:p>
            <a:r>
              <a:t>첫 줄에 forward=True라고 되어 있죠. 이게 기본값입니다. 부를 때 방향을 안 적으면 True로 치겠다는 뜻이에요.</a:t>
            </a:r>
          </a:p>
          <a:p/>
          <a:p>
            <a:r>
              <a:t>그래서 motor(30000)이라고만 쓰면 정회전으로 30000의 속도가 됩니다. 방향을 바꾸고 싶을 때만 motor(60000, False)처럼 뒤에 False를 붙입니다.</a:t>
            </a:r>
          </a:p>
          <a:p/>
          <a:p>
            <a:r>
              <a:t>[발문] motor(0)이라고 부르면 어떻게 될까요?</a:t>
            </a:r>
          </a:p>
          <a:p/>
          <a:p>
            <a:r>
              <a:t>속도가 0이니까 멈춥니다. 방향은 상관없어요. ENA가 0이면 전기가 안 갑니다.</a:t>
            </a:r>
          </a:p>
          <a:p/>
          <a:p>
            <a:r>
              <a:t>[지시] 하단 박스를 짚으며 다음 실습을 예고한다.</a:t>
            </a:r>
          </a:p>
          <a:p/>
          <a:p>
            <a:r>
              <a:t>이렇게 묶어 두면 앞에 어떤 센서를 붙이든 코드가 짧아집니다. 센서 값을 읽어서 motor()에 넘기기만 하면 되니까요.</a:t>
            </a:r>
          </a:p>
          <a:p/>
          <a:p>
            <a:r>
              <a:t>실습에서 바로 써 봅시다.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[3분] 모터를 다룰 때</a:t>
            </a:r>
          </a:p>
          <a:p/>
          <a:p>
            <a:r>
              <a:t>[지시] 화면이 어두워지므로 주의가 모인다. 여기서 한 번 멈춘다.</a:t>
            </a:r>
          </a:p>
          <a:p/>
          <a:p>
            <a:r>
              <a:t>오늘은 조심할 게 두 종류입니다. 전기와 몸.</a:t>
            </a:r>
          </a:p>
          <a:p/>
          <a:p>
            <a:r>
              <a:t>오른쪽 빨간 쪽부터. 첫째, 모터를 GPIO에 직접 연결하기. 오늘 배운 전부죠.</a:t>
            </a:r>
          </a:p>
          <a:p/>
          <a:p>
            <a:r>
              <a:t>둘째, 건전지를 보드의 VBUS나 VSYS에 연결하는 것. 이건 정말 하면 안 됩니다.</a:t>
            </a:r>
          </a:p>
          <a:p/>
          <a:p>
            <a:r>
              <a:t>[발문] VSYS는 1차시에 뭐라고 배웠죠?</a:t>
            </a:r>
          </a:p>
          <a:p/>
          <a:p>
            <a:r>
              <a:t>배터리로 보드를 돌릴 때 쓰는 핀이라고 했습니다. 그런데 오늘 건전지는 모터용이에요. 여기에 보드까지 물리면, 모터가 돌 때 전압이 출렁이면서 보드가 껐다 켜졌다 합니다. 심하면 손상됩니다.</a:t>
            </a:r>
          </a:p>
          <a:p/>
          <a:p>
            <a:r>
              <a:t>건전지는 드라이버에만, 보드는 USB로만. 이렇게 나눠 두세요.</a:t>
            </a:r>
          </a:p>
          <a:p/>
          <a:p>
            <a:r>
              <a:t>셋째, GND를 안 잇는 것. 오늘 가장 많이 하는 실수입니다.</a:t>
            </a:r>
          </a:p>
          <a:p/>
          <a:p>
            <a:r>
              <a:t>넷째가 몸에 관한 겁니다. 도는 축에 머리카락이나 옷소매를 가까이하지 마세요. 특히 긴 머리는 묶는 게 좋습니다.</a:t>
            </a:r>
          </a:p>
          <a:p/>
          <a:p>
            <a:r>
              <a:t>[지시] 실습 전에 각 조의 모터가 고정되어 있는지 눈으로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[6분] 실습 — 지금까지 만든 것을 다 이어 보기</a:t>
            </a:r>
          </a:p>
          <a:p/>
          <a:p>
            <a:r>
              <a:t>오늘이 특별한 이유가 여기 있습니다. 지금까지 만든 입력이 다 살아 있어요.</a:t>
            </a:r>
          </a:p>
          <a:p/>
          <a:p>
            <a:r>
              <a:t>첫째, 손잡이로 속도 조절. 7차시 가변저항입니다.</a:t>
            </a:r>
          </a:p>
          <a:p/>
          <a:p>
            <a:r>
              <a:t>[발문] read_u16()의 범위와 duty_u16의 범위가 같죠. 그럼 어떻게 하면 되나요?</a:t>
            </a:r>
          </a:p>
          <a:p/>
          <a:p>
            <a:r>
              <a:t>그대로 넘기면 됩니다. 7차시에 LED 밝기 조절할 때와 똑같아요. 이번엔 그게 모터 속도가 되는 겁니다.</a:t>
            </a:r>
          </a:p>
          <a:p/>
          <a:p>
            <a:r>
              <a:t>둘째, 거리로 자동 정지. 9차시 초음파입니다. 앞이 15센티미터보다 가까우면 멈추게 하는 거예요.</a:t>
            </a:r>
          </a:p>
          <a:p/>
          <a:p>
            <a:r>
              <a:t>[발문] 조건에 0 &lt; d 를 왜 넣었을까요?</a:t>
            </a:r>
          </a:p>
          <a:p/>
          <a:p>
            <a:r>
              <a:t>9차시에 배웠죠. 측정 실패하면 음수가 나옵니다. 음수는 15보다 작으니까 그것도 멈춤으로 판단해 버려요. 그래서 0보다 크다는 조건을 같이 넣습니다.</a:t>
            </a:r>
          </a:p>
          <a:p/>
          <a:p>
            <a:r>
              <a:t>이게 자율주행 자동차의 가장 단순한 형태입니다. 앞이 막히면 선다.</a:t>
            </a:r>
          </a:p>
          <a:p/>
          <a:p>
            <a:r>
              <a:t>셋째는 도전입니다. 8차시 온습도 센서로 팬을 돌립니다. 26도가 넘으면 팬이 돌고 LED가 빨개져요.</a:t>
            </a:r>
          </a:p>
          <a:p/>
          <a:p>
            <a:r>
              <a:t>[발문] 이거 어디서 많이 본 구조 아닌가요?</a:t>
            </a:r>
          </a:p>
          <a:p/>
          <a:p>
            <a:r>
              <a:t>에어컨이나 컴퓨터 쿨링팬이 정확히 이렇게 동작합니다. 온도를 재서 기준을 넘으면 팬을 돌리죠.</a:t>
            </a:r>
          </a:p>
          <a:p/>
          <a:p>
            <a:r>
              <a:t>[지시] 5분 실습. 순회한다. 첫째까지만 해도 충분하다고 안내한다. 모터 고정 상태를 계속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[3분] 모터가 안 돌 때</a:t>
            </a:r>
          </a:p>
          <a:p/>
          <a:p>
            <a:r>
              <a:t>오늘 원인은 거의 두 가지입니다.</a:t>
            </a:r>
          </a:p>
          <a:p/>
          <a:p>
            <a:r>
              <a:t>1위는 GND입니다. 아무 반응이 없으면 십중팔구 이거예요. 보드 38번과 드라이버 GND를 이었는지 보세요.</a:t>
            </a:r>
          </a:p>
          <a:p/>
          <a:p>
            <a:r>
              <a:t>2위는 건전지. 넣었는지, 드라이버의 12V와 GND에 제대로 물렸는지 확인하세요.</a:t>
            </a:r>
          </a:p>
          <a:p/>
          <a:p>
            <a:r>
              <a:t>3위가 점퍼 캡입니다. 항상 최대 속도로만 돌면 이겁니다. 캡을 안 뺀 거예요.</a:t>
            </a:r>
          </a:p>
          <a:p/>
          <a:p>
            <a:r>
              <a:t>넷째, 웅 소리만 나고 안 돌면 속도가 너무 낮은 겁니다. 아까 말한 그거죠. 30000 이상으로 올려 보세요.</a:t>
            </a:r>
          </a:p>
          <a:p/>
          <a:p>
            <a:r>
              <a:t>다섯째, 방향이 반대면 모터 선 두 개를 바꿔 물리면 됩니다. 코드 고칠 필요 없어요.</a:t>
            </a:r>
          </a:p>
          <a:p/>
          <a:p>
            <a:r>
              <a:t>[지시] 맨 아래 줄을 강조한다. 8차시 scan(), 9차시 음수에 이은 오늘의 진단 기준이다.</a:t>
            </a:r>
          </a:p>
          <a:p/>
          <a:p>
            <a:r>
              <a:t>정리하면 이겁니다. 코드를 의심하기 전에 GND부터 확인하세요.</a:t>
            </a:r>
          </a:p>
          <a:p/>
          <a:p>
            <a:r>
              <a:t>8차시에는 scan()이 기준이었고, 9차시에는 음수가 기준이었죠. 오늘은 GND입니다. 차시마다 먼저 볼 곳이 정해져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[2분] 오늘 한 일 정리</a:t>
            </a:r>
          </a:p>
          <a:p/>
          <a:p>
            <a:r>
              <a:t>세 문장입니다.</a:t>
            </a:r>
          </a:p>
          <a:p/>
          <a:p>
            <a:r>
              <a:t>첫째, 힘이 드는 일을 드라이버에게 맡겼습니다. 보드가 못 하는 걸 포기하지 않고, 할 수 있는 부품을 중간에 넣은 거예요.</a:t>
            </a:r>
          </a:p>
          <a:p/>
          <a:p>
            <a:r>
              <a:t>둘째, 전원을 나누고 GND를 이었습니다. 오늘 새로 배운 개념입니다.</a:t>
            </a:r>
          </a:p>
          <a:p/>
          <a:p>
            <a:r>
              <a:t>셋째, 이게 오늘의 의미인데, 입력과 출력이 진짜로 이어졌습니다. 손잡이를 돌리면 모터가 빨라지고, 앞이 막히면 스스로 멈추고, 더우면 팬이 돌아요.</a:t>
            </a:r>
          </a:p>
          <a:p/>
          <a:p>
            <a:r>
              <a:t>[발문] 1차시에 임베디드 시스템이 뭐라고 했죠?</a:t>
            </a:r>
          </a:p>
          <a:p/>
          <a:p>
            <a:r>
              <a:t>입력, 처리, 출력의 반복. 오늘 그 셋이 다 실물로 갖춰졌습니다.</a:t>
            </a:r>
          </a:p>
          <a:p/>
          <a:p>
            <a:r>
              <a:t>[지시] 하단 붉은 박스를 짚으며 마무리한다.</a:t>
            </a:r>
          </a:p>
          <a:p/>
          <a:p>
            <a:r>
              <a:t>오늘 딱 하나. 전원은 나누고, GND는 반드시 잇는다.</a:t>
            </a:r>
          </a:p>
          <a:p/>
          <a:p>
            <a:r>
              <a:t>[지시] 건전지를 빼서 보관하게 한다. 회로는 그대로 두어도 된다. 다음 시간부터 마지막 두 차시는 무선이다.</a:t>
            </a:r>
          </a:p>
          <a:p/>
          <a:p>
            <a:r>
              <a:t>다음 시간부터 마지막 두 차시입니다. 드디어 보드 이름의 W, 무선을 씁니다.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[2분] 다음 시간 — Wi-Fi에 연결하기</a:t>
            </a:r>
          </a:p>
          <a:p/>
          <a:p>
            <a:r>
              <a:t>드디어 마지막 두 차시입니다.</a:t>
            </a:r>
          </a:p>
          <a:p/>
          <a:p>
            <a:r>
              <a:t>1차시에 이 보드를 처음 소개할 때 제가 뭐라고 했는지 기억하시나요. 특징 네 가지 중에 두 번째, 무선이 내장돼 있다는 게 이 보드의 진짜 무기라고 했습니다. 그리고 뒤에서 자세히 다루겠다고 했죠.</a:t>
            </a:r>
          </a:p>
          <a:p/>
          <a:p>
            <a:r>
              <a:t>다음 시간입니다. 보드 이름 끝의 W, 그게 Wireless였습니다.</a:t>
            </a:r>
          </a:p>
          <a:p/>
          <a:p>
            <a:r>
              <a:t>다음 시간에는 학교 공유기에 연결합니다. 이름과 비밀번호를 코드에 적으면 보드가 접속해요. 그러면 IP 주소를 하나 받습니다.</a:t>
            </a:r>
          </a:p>
          <a:p/>
          <a:p>
            <a:r>
              <a:t>[발문] IP 주소를 받으면 뭘 할 수 있을까요?</a:t>
            </a:r>
          </a:p>
          <a:p/>
          <a:p>
            <a:r>
              <a:t>12차시에 그 답이 나옵니다. 여러분 휴대폰으로 보드에 접속하게 될 거예요.</a:t>
            </a:r>
          </a:p>
          <a:p/>
          <a:p>
            <a:r>
              <a:t>오른쪽 코드를 보세요. 새 부품은 없습니다. 코드만 배웁니다.</a:t>
            </a:r>
          </a:p>
          <a:p/>
          <a:p>
            <a:r>
              <a:t>[마무리] 준비물 공지 — 키트 그대로 가져오세요. 새로 살 건 없습니다.</a:t>
            </a:r>
          </a:p>
          <a:p/>
          <a:p>
            <a:r>
              <a:t>한 가지만. 1차시에 안테나 얘기 했던 거 기억하시나요. 보드 끝 금색 지그재그 무늬요. 다음 시간에는 거기를 손으로 덮거나 금속 위에 올려놓으면 안 됩니다. 신호가 약해집니다.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E00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417320"/>
            <a:ext cx="6766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0A9AE"/>
                </a:solidFill>
                <a:latin typeface="맑은 고딕"/>
                <a:ea typeface="맑은 고딕"/>
                <a:cs typeface="맑은 고딕"/>
              </a:rPr>
              <a:t>임베디드 랩  ·  10차시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47088"/>
            <a:ext cx="676656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모터 드라이버로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모터 돌리기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767328"/>
            <a:ext cx="6766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E8CDD0"/>
                </a:solidFill>
                <a:latin typeface="맑은 고딕"/>
                <a:ea typeface="맑은 고딕"/>
                <a:cs typeface="맑은 고딕"/>
              </a:rPr>
              <a:t>빛을 넘어 드디어 무언가를 움직입니다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4343400"/>
            <a:ext cx="2011680" cy="0"/>
          </a:xfrm>
          <a:prstGeom prst="rect">
            <a:avLst/>
          </a:prstGeom>
          <a:noFill/>
          <a:ln w="25400">
            <a:solidFill>
              <a:srgbClr val="C05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4572000"/>
            <a:ext cx="67665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D9A7AC"/>
                </a:solidFill>
                <a:latin typeface="맑은 고딕"/>
                <a:ea typeface="맑은 고딕"/>
                <a:cs typeface="맑은 고딕"/>
              </a:rPr>
              <a:t>L298N  ·  IN1 · IN2  ·  ENA  ·  전원 분리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35240" y="2240280"/>
            <a:ext cx="3931920" cy="2011680"/>
          </a:xfrm>
          <a:prstGeom prst="roundRect">
            <a:avLst>
              <a:gd name="adj" fmla="val 5000"/>
            </a:avLst>
          </a:prstGeom>
          <a:solidFill>
            <a:srgbClr val="23272B"/>
          </a:solidFill>
          <a:ln w="12700">
            <a:solidFill>
              <a:srgbClr val="0E11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09560" y="235915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7A828A"/>
                </a:solidFill>
                <a:latin typeface="Consolas"/>
                <a:ea typeface="Consolas"/>
                <a:cs typeface="Consolas"/>
              </a:rPr>
              <a:t>MOTOR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82127" y="3310128"/>
            <a:ext cx="804672" cy="384048"/>
          </a:xfrm>
          <a:prstGeom prst="roundRect">
            <a:avLst>
              <a:gd name="adj" fmla="val 12000"/>
            </a:avLst>
          </a:prstGeom>
          <a:solidFill>
            <a:srgbClr val="23272B"/>
          </a:solidFill>
          <a:ln w="9525">
            <a:solidFill>
              <a:srgbClr val="5A60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82127" y="3310128"/>
            <a:ext cx="804672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A9B0B8"/>
                </a:solidFill>
                <a:latin typeface="Consolas"/>
                <a:ea typeface="Consolas"/>
                <a:cs typeface="Consolas"/>
              </a:rPr>
              <a:t>6V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82127" y="2615184"/>
            <a:ext cx="1051560" cy="566928"/>
          </a:xfrm>
          <a:prstGeom prst="roundRect">
            <a:avLst>
              <a:gd name="adj" fmla="val 12000"/>
            </a:avLst>
          </a:prstGeom>
          <a:solidFill>
            <a:srgbClr val="23272B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82127" y="2615184"/>
            <a:ext cx="105156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0A9AE"/>
                </a:solidFill>
                <a:latin typeface="Consolas"/>
                <a:ea typeface="Consolas"/>
                <a:cs typeface="Consolas"/>
              </a:rPr>
              <a:t>DRIVER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66176" y="3182112"/>
            <a:ext cx="36576" cy="128016"/>
          </a:xfrm>
          <a:prstGeom prst="rect">
            <a:avLst/>
          </a:prstGeom>
          <a:solidFill>
            <a:srgbClr val="5A6068"/>
          </a:solidFill>
          <a:ln w="6350">
            <a:solidFill>
              <a:srgbClr val="5A60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933688" y="2878074"/>
            <a:ext cx="822960" cy="41148"/>
          </a:xfrm>
          <a:prstGeom prst="rect">
            <a:avLst/>
          </a:prstGeom>
          <a:solidFill>
            <a:srgbClr val="C0505C"/>
          </a:solidFill>
          <a:ln w="6350">
            <a:solidFill>
              <a:srgbClr val="C05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710928" y="2670048"/>
            <a:ext cx="914400" cy="914400"/>
          </a:xfrm>
          <a:prstGeom prst="ellipse">
            <a:avLst/>
          </a:prstGeom>
          <a:solidFill>
            <a:srgbClr val="3A4046"/>
          </a:solidFill>
          <a:ln w="12700">
            <a:solidFill>
              <a:srgbClr val="5A60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003536" y="2962656"/>
            <a:ext cx="329184" cy="329184"/>
          </a:xfrm>
          <a:prstGeom prst="ellipse">
            <a:avLst/>
          </a:prstGeom>
          <a:solidFill>
            <a:srgbClr val="23272B"/>
          </a:solidFill>
          <a:ln w="9525">
            <a:solidFill>
              <a:srgbClr val="5A60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10928" y="2670048"/>
            <a:ext cx="914400" cy="914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A9B0B8"/>
                </a:solidFill>
                <a:latin typeface="Consolas"/>
                <a:ea typeface="Consolas"/>
                <a:cs typeface="Consolas"/>
              </a:rPr>
              <a:t>M</a:t>
            </a:r>
          </a:p>
        </p:txBody>
      </p:sp>
      <p:sp>
        <p:nvSpPr>
          <p:cNvPr id="18" name="Chevron 17"/>
          <p:cNvSpPr/>
          <p:nvPr/>
        </p:nvSpPr>
        <p:spPr>
          <a:xfrm>
            <a:off x="10030967" y="2432304"/>
            <a:ext cx="274320" cy="201168"/>
          </a:xfrm>
          <a:prstGeom prst="chevron">
            <a:avLst/>
          </a:prstGeom>
          <a:noFill/>
          <a:ln w="19050">
            <a:solidFill>
              <a:srgbClr val="F0A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Chevron 18"/>
          <p:cNvSpPr/>
          <p:nvPr/>
        </p:nvSpPr>
        <p:spPr>
          <a:xfrm rot="10800000">
            <a:off x="10030967" y="3621024"/>
            <a:ext cx="274320" cy="201168"/>
          </a:xfrm>
          <a:prstGeom prst="chevron">
            <a:avLst/>
          </a:prstGeom>
          <a:noFill/>
          <a:ln w="19050">
            <a:solidFill>
              <a:srgbClr val="F0A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918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오늘 배울 것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81328"/>
            <a:ext cx="10817352" cy="841248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0120" y="1700784"/>
            <a:ext cx="402336" cy="402336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00784"/>
            <a:ext cx="402336" cy="4023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627632"/>
            <a:ext cx="4206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왜 직접 못 돌리나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956816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모터가 필요한 전류와 GPIO의 한계를 숫자로 비교한다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432304"/>
            <a:ext cx="10817352" cy="841248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" y="2651760"/>
            <a:ext cx="402336" cy="402336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651760"/>
            <a:ext cx="402336" cy="4023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578608"/>
            <a:ext cx="4206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모터 드라이버의 역할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907792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약한 신호로 큰 전류를 대신 켜 주는 구조를 이해한다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383280"/>
            <a:ext cx="10817352" cy="841248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60120" y="3602736"/>
            <a:ext cx="402336" cy="402336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602736"/>
            <a:ext cx="402336" cy="4023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529584"/>
            <a:ext cx="4206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전원이 두 개인 이유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85876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신호 전원과 힘 전원을 나누고 GND를 잇는 까닭을 안다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334256"/>
            <a:ext cx="10817352" cy="841248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60120" y="4553712"/>
            <a:ext cx="402336" cy="402336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4553712"/>
            <a:ext cx="402336" cy="4023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480560"/>
            <a:ext cx="4206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방향과 속도 정하기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809744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두 핀 조합으로 방향을, PWM으로 속도를 조절한다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5285232"/>
            <a:ext cx="10817352" cy="841248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60120" y="5504688"/>
            <a:ext cx="402336" cy="402336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5504688"/>
            <a:ext cx="402336" cy="4023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5431536"/>
            <a:ext cx="4206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센서와 이어 붙이기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480" y="576072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지금까지 만든 입력으로 모터를 제어한다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918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지난 시간 요약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9차시로 입력 네 가지를 모두 끝냈습니다. 오늘부터는 출력 차례입니다.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20240"/>
            <a:ext cx="2496312" cy="2423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2267712"/>
            <a:ext cx="214884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초음파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2816352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거리 재기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3182112"/>
            <a:ext cx="2011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시간을 재서 거리를 계산했습니다.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9175" y="1920240"/>
            <a:ext cx="2496312" cy="2423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15207" y="2267712"/>
            <a:ext cx="214884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전압 분배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15207" y="2816352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5V → 3.3V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15207" y="3182112"/>
            <a:ext cx="2011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저항 두 개로 신호를 낮췄습니다.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2550" y="1920240"/>
            <a:ext cx="2496312" cy="2423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8582" y="2267712"/>
            <a:ext cx="214884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입력 4종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8582" y="2816352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모두 완료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8582" y="3182112"/>
            <a:ext cx="2011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버튼·가변저항·온습도·초음파.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05925" y="1920240"/>
            <a:ext cx="2496312" cy="2423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61957" y="2267712"/>
            <a:ext cx="214884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출력은 LED뿐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61957" y="2816352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아홉 차시 동안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61957" y="3182112"/>
            <a:ext cx="2011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빛만 냈습니다. 오늘 바뀝니다.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800600"/>
            <a:ext cx="10817352" cy="822960"/>
          </a:xfrm>
          <a:prstGeom prst="roundRect">
            <a:avLst>
              <a:gd name="adj" fmla="val 6000"/>
            </a:avLst>
          </a:prstGeom>
          <a:solidFill>
            <a:srgbClr val="F7F2F2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505663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지난 시간 회로는 그대로 두세요. </a:t>
            </a:r>
            <a:r>
              <a:rPr sz="135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오늘은 GP18·GP19·GP22를 새로 씁니다. 지금까지 쓴 핀과 겹치지 않습니다.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918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모터는 전기를 훨씬 많이 먹습니다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LED와 비교하면 차이가 한눈에 보입니다. 이것이 직접 연결하면 안 되는 이유입니다.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65960"/>
            <a:ext cx="10817352" cy="23317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340864"/>
            <a:ext cx="2331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LED 하나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20440" y="2304288"/>
            <a:ext cx="172821" cy="310896"/>
          </a:xfrm>
          <a:prstGeom prst="roundRect">
            <a:avLst>
              <a:gd name="adj" fmla="val 30000"/>
            </a:avLst>
          </a:prstGeom>
          <a:solidFill>
            <a:srgbClr val="4B5563"/>
          </a:solidFill>
          <a:ln w="6350">
            <a:solidFill>
              <a:srgbClr val="4B55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0" y="2340864"/>
            <a:ext cx="182880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4B5563"/>
                </a:solidFill>
                <a:latin typeface="Consolas"/>
                <a:ea typeface="Consolas"/>
                <a:cs typeface="Consolas"/>
              </a:rPr>
              <a:t>약 6mA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962656"/>
            <a:ext cx="2331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GPIO 한 핀의 한계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2926080"/>
            <a:ext cx="288036" cy="310896"/>
          </a:xfrm>
          <a:prstGeom prst="roundRect">
            <a:avLst>
              <a:gd name="adj" fmla="val 30000"/>
            </a:avLst>
          </a:prstGeom>
          <a:solidFill>
            <a:srgbClr val="2F3C7E"/>
          </a:solidFill>
          <a:ln w="6350">
            <a:solidFill>
              <a:srgbClr val="2F3C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0" y="2962656"/>
            <a:ext cx="182880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F3C7E"/>
                </a:solidFill>
                <a:latin typeface="Consolas"/>
                <a:ea typeface="Consolas"/>
                <a:cs typeface="Consolas"/>
              </a:rPr>
              <a:t>약 10mA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584448"/>
            <a:ext cx="2331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작은 DC 모터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20440" y="3547872"/>
            <a:ext cx="5760720" cy="310896"/>
          </a:xfrm>
          <a:prstGeom prst="roundRect">
            <a:avLst>
              <a:gd name="adj" fmla="val 30000"/>
            </a:avLst>
          </a:prstGeom>
          <a:solidFill>
            <a:srgbClr val="990011"/>
          </a:solidFill>
          <a:ln w="635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0" y="3584448"/>
            <a:ext cx="182880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990011"/>
                </a:solidFill>
                <a:latin typeface="Consolas"/>
                <a:ea typeface="Consolas"/>
                <a:cs typeface="Consolas"/>
              </a:rPr>
              <a:t>200mA 이상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4023360"/>
            <a:ext cx="5760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9CA3AF"/>
                </a:solidFill>
                <a:latin typeface="맑은 고딕"/>
                <a:ea typeface="맑은 고딕"/>
                <a:cs typeface="맑은 고딕"/>
              </a:rPr>
              <a:t>같은 눈금으로 그린 것입니다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572000"/>
            <a:ext cx="3383280" cy="1325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791456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20배가 넘는다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5120640"/>
            <a:ext cx="2880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LED 하나가 6mA인데 모터는 200mA 이상입니다. 자릿수가 다릅니다.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02836" y="4572000"/>
            <a:ext cx="3383280" cy="1325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77156" y="4791456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GPIO는 못 버틴다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77156" y="5120640"/>
            <a:ext cx="2880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10mA를 훨씬 넘는 전류가 흐르면 핀이 손상되고 되돌릴 수 없습니다.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19872" y="4572000"/>
            <a:ext cx="3383280" cy="1325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94192" y="4791456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보드 전체도 부족하다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94192" y="5120640"/>
            <a:ext cx="2880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USB로 들어오는 전기 자체가 모터를 여러 개 돌리기에는 모자랍니다.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918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모터 드라이버 — 대신 켜 주는 스위치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보드는 명령만 내리고, 실제 큰 전류는 드라이버가 건전지에서 끌어다 씁니다.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65960"/>
            <a:ext cx="10817352" cy="2103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2514600"/>
            <a:ext cx="1463040" cy="685800"/>
          </a:xfrm>
          <a:prstGeom prst="roundRect">
            <a:avLst>
              <a:gd name="adj" fmla="val 14000"/>
            </a:avLst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514600"/>
            <a:ext cx="1463040" cy="685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Pico 2 W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0" y="2832354"/>
            <a:ext cx="822960" cy="41148"/>
          </a:xfrm>
          <a:prstGeom prst="rect">
            <a:avLst/>
          </a:prstGeom>
          <a:solidFill>
            <a:srgbClr val="C0505C"/>
          </a:solidFill>
          <a:ln w="6350">
            <a:solidFill>
              <a:srgbClr val="C05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14600" y="2304288"/>
            <a:ext cx="9144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약한 신호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2395728"/>
            <a:ext cx="1828800" cy="914400"/>
          </a:xfrm>
          <a:prstGeom prst="roundRect">
            <a:avLst>
              <a:gd name="adj" fmla="val 10000"/>
            </a:avLst>
          </a:prstGeom>
          <a:solidFill>
            <a:srgbClr val="1F2328"/>
          </a:solidFill>
          <a:ln w="12700">
            <a:solidFill>
              <a:srgbClr val="1F2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2395728"/>
            <a:ext cx="18288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모터 드라이버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12080" y="2811780"/>
            <a:ext cx="914400" cy="82296"/>
          </a:xfrm>
          <a:prstGeom prst="rect">
            <a:avLst/>
          </a:prstGeom>
          <a:solidFill>
            <a:srgbClr val="4B5563"/>
          </a:solidFill>
          <a:ln w="6350">
            <a:solidFill>
              <a:srgbClr val="4B55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0" y="2304288"/>
            <a:ext cx="109728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큰 전류</a:t>
            </a:r>
          </a:p>
        </p:txBody>
      </p:sp>
      <p:sp>
        <p:nvSpPr>
          <p:cNvPr id="14" name="Oval 13"/>
          <p:cNvSpPr/>
          <p:nvPr/>
        </p:nvSpPr>
        <p:spPr>
          <a:xfrm>
            <a:off x="6300216" y="2432304"/>
            <a:ext cx="841248" cy="841248"/>
          </a:xfrm>
          <a:prstGeom prst="ellipse">
            <a:avLst/>
          </a:prstGeom>
          <a:solidFill>
            <a:srgbClr val="4B5563"/>
          </a:solidFill>
          <a:ln w="127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569415" y="2701503"/>
            <a:ext cx="302849" cy="302849"/>
          </a:xfrm>
          <a:prstGeom prst="ellipse">
            <a:avLst/>
          </a:prstGeom>
          <a:solidFill>
            <a:srgbClr val="2B3038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0216" y="2432304"/>
            <a:ext cx="841248" cy="8412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M</a:t>
            </a:r>
          </a:p>
        </p:txBody>
      </p:sp>
      <p:sp>
        <p:nvSpPr>
          <p:cNvPr id="17" name="Chevron 16"/>
          <p:cNvSpPr/>
          <p:nvPr/>
        </p:nvSpPr>
        <p:spPr>
          <a:xfrm>
            <a:off x="6583679" y="2194560"/>
            <a:ext cx="274320" cy="201168"/>
          </a:xfrm>
          <a:prstGeom prst="chevron">
            <a:avLst/>
          </a:prstGeom>
          <a:noFill/>
          <a:ln w="1905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" name="Chevron 17"/>
          <p:cNvSpPr/>
          <p:nvPr/>
        </p:nvSpPr>
        <p:spPr>
          <a:xfrm rot="10800000">
            <a:off x="6583679" y="3310128"/>
            <a:ext cx="274320" cy="201168"/>
          </a:xfrm>
          <a:prstGeom prst="chevron">
            <a:avLst/>
          </a:prstGeom>
          <a:noFill/>
          <a:ln w="1905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611880" y="3611880"/>
            <a:ext cx="1371600" cy="384048"/>
          </a:xfrm>
          <a:prstGeom prst="roundRect">
            <a:avLst>
              <a:gd name="adj" fmla="val 14000"/>
            </a:avLst>
          </a:prstGeom>
          <a:solidFill>
            <a:srgbClr val="4B5563"/>
          </a:solidFill>
          <a:ln w="12700">
            <a:solidFill>
              <a:srgbClr val="4B55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11880" y="3611880"/>
            <a:ext cx="1371600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건전지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56532" y="3310128"/>
            <a:ext cx="82296" cy="301752"/>
          </a:xfrm>
          <a:prstGeom prst="rect">
            <a:avLst/>
          </a:prstGeom>
          <a:solidFill>
            <a:srgbClr val="4B5563"/>
          </a:solidFill>
          <a:ln w="6350">
            <a:solidFill>
              <a:srgbClr val="4B55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18120" y="2304288"/>
            <a:ext cx="3566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수도꼭지와 같습니다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18120" y="2633472"/>
            <a:ext cx="35661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손가락 힘으로 꼭지를 돌리면 수도관의 센 물줄기가 나옵니다. 손가락이 물을 밀어 내는 것이 아니라 길을 열어 줄 뿐입니다.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297680"/>
            <a:ext cx="3383280" cy="14630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60120" y="4507992"/>
            <a:ext cx="347472" cy="347472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4507992"/>
            <a:ext cx="347472" cy="3474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17320" y="454456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보드는 명령만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5001768"/>
            <a:ext cx="2880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GP18·GP19·GP22로 "돌려", "멈춰", "이만큼 세게"만 전달합니다.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02836" y="4297680"/>
            <a:ext cx="3383280" cy="14630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677156" y="4507992"/>
            <a:ext cx="347472" cy="347472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77156" y="4507992"/>
            <a:ext cx="347472" cy="3474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34356" y="454456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전류는 건전지에서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77156" y="5001768"/>
            <a:ext cx="2880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모터를 돌리는 실제 전기는 건전지가 공급합니다. 보드는 건드리지 않습니다.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19872" y="4297680"/>
            <a:ext cx="3383280" cy="14630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394192" y="4507992"/>
            <a:ext cx="347472" cy="347472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94192" y="4507992"/>
            <a:ext cx="347472" cy="3474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51392" y="454456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드라이버가 중간에서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94192" y="5001768"/>
            <a:ext cx="2880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약한 신호를 받아 큰 전류의 길을 열고 닫는 역할만 합니다.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918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TWO SUPPLIES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전원이 두 개, GND는 하나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신호를 주는 전원과 힘을 주는 전원은 따로입니다. 다만 기준점은 같아야 합니다.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65960"/>
            <a:ext cx="5285232" cy="2011680"/>
          </a:xfrm>
          <a:prstGeom prst="roundRect">
            <a:avLst>
              <a:gd name="adj" fmla="val 4000"/>
            </a:avLst>
          </a:prstGeom>
          <a:solidFill>
            <a:srgbClr val="F7F2F2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19456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CA3AF"/>
                </a:solidFill>
                <a:latin typeface="맑은 고딕"/>
                <a:ea typeface="맑은 고딕"/>
                <a:cs typeface="맑은 고딕"/>
              </a:rPr>
              <a:t>신호 전원  ·  USB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523744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보드를 켜고 신호를 만든다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944368"/>
            <a:ext cx="47548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지금까지 아홉 차시 동안 쓰던 그 전원입니다. 노트북 USB에서 옵니다.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965960"/>
            <a:ext cx="5285232" cy="2011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219456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힘 전원  ·  건전지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523744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모터를 실제로 돌린다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944368"/>
            <a:ext cx="47548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오늘 새로 추가되는 전원입니다. AA 건전지 네 개, 약 6V를 씁니다.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206240"/>
            <a:ext cx="10817352" cy="1554480"/>
          </a:xfrm>
          <a:prstGeom prst="roundRect">
            <a:avLst>
              <a:gd name="adj" fmla="val 4500"/>
            </a:avLst>
          </a:prstGeom>
          <a:solidFill>
            <a:srgbClr val="FDF3F4"/>
          </a:solidFill>
          <a:ln w="19050">
            <a:solidFill>
              <a:srgbClr val="F0A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440740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그런데 GND는 반드시 하나로 이어야 합니다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51560" y="4828032"/>
            <a:ext cx="1554480" cy="457200"/>
          </a:xfrm>
          <a:prstGeom prst="roundRect">
            <a:avLst>
              <a:gd name="adj" fmla="val 14000"/>
            </a:avLst>
          </a:prstGeom>
          <a:solidFill>
            <a:srgbClr val="4B5563"/>
          </a:solidFill>
          <a:ln w="12700">
            <a:solidFill>
              <a:srgbClr val="4B55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828032"/>
            <a:ext cx="155448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보드 GND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06040" y="5029200"/>
            <a:ext cx="731520" cy="54864"/>
          </a:xfrm>
          <a:prstGeom prst="rect">
            <a:avLst/>
          </a:prstGeom>
          <a:solidFill>
            <a:srgbClr val="990011"/>
          </a:solidFill>
          <a:ln w="635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337560" y="4828032"/>
            <a:ext cx="1920240" cy="457200"/>
          </a:xfrm>
          <a:prstGeom prst="roundRect">
            <a:avLst>
              <a:gd name="adj" fmla="val 14000"/>
            </a:avLst>
          </a:prstGeom>
          <a:solidFill>
            <a:srgbClr val="4B5563"/>
          </a:solidFill>
          <a:ln w="12700">
            <a:solidFill>
              <a:srgbClr val="4B55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37560" y="4828032"/>
            <a:ext cx="192024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드라이버 GND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77840" y="4791456"/>
            <a:ext cx="57607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전압은 언제나 어딘가를 기준으로 잰 값입니다. 기준점이 다르면 보드가 보낸 3.3V를 드라이버가 3.3V로 알아듣지 못합니다.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918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COMPONENT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모터 드라이버 살펴보기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핀이 많아 보이지만 오늘 쓰는 것은 여섯 개뿐입니다.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65960"/>
            <a:ext cx="5029200" cy="31546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737360" y="2377440"/>
            <a:ext cx="2926080" cy="1737360"/>
          </a:xfrm>
          <a:prstGeom prst="roundRect">
            <a:avLst>
              <a:gd name="adj" fmla="val 6000"/>
            </a:avLst>
          </a:prstGeom>
          <a:solidFill>
            <a:srgbClr val="23272B"/>
          </a:solidFill>
          <a:ln w="12700">
            <a:solidFill>
              <a:srgbClr val="0E11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37360" y="2377440"/>
            <a:ext cx="2926080" cy="1737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0A9AE"/>
                </a:solidFill>
                <a:latin typeface="Consolas"/>
                <a:ea typeface="Consolas"/>
                <a:cs typeface="Consolas"/>
              </a:rPr>
              <a:t>L298N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542032"/>
            <a:ext cx="68580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>
                <a:solidFill>
                  <a:srgbClr val="990011"/>
                </a:solidFill>
                <a:latin typeface="Consolas"/>
                <a:ea typeface="Consolas"/>
                <a:cs typeface="Consolas"/>
              </a:rPr>
              <a:t>ENA</a:t>
            </a:r>
          </a:p>
        </p:txBody>
      </p:sp>
      <p:sp>
        <p:nvSpPr>
          <p:cNvPr id="9" name="Rectangle 8"/>
          <p:cNvSpPr/>
          <p:nvPr/>
        </p:nvSpPr>
        <p:spPr>
          <a:xfrm>
            <a:off x="1664208" y="2642616"/>
            <a:ext cx="91440" cy="36576"/>
          </a:xfrm>
          <a:prstGeom prst="rect">
            <a:avLst/>
          </a:prstGeom>
          <a:solidFill>
            <a:srgbClr val="990011"/>
          </a:solidFill>
          <a:ln w="635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852927"/>
            <a:ext cx="68580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>
                <a:solidFill>
                  <a:srgbClr val="990011"/>
                </a:solidFill>
                <a:latin typeface="Consolas"/>
                <a:ea typeface="Consolas"/>
                <a:cs typeface="Consolas"/>
              </a:rPr>
              <a:t>IN1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64208" y="2953512"/>
            <a:ext cx="91440" cy="36576"/>
          </a:xfrm>
          <a:prstGeom prst="rect">
            <a:avLst/>
          </a:prstGeom>
          <a:solidFill>
            <a:srgbClr val="990011"/>
          </a:solidFill>
          <a:ln w="635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163824"/>
            <a:ext cx="68580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>
                <a:solidFill>
                  <a:srgbClr val="990011"/>
                </a:solidFill>
                <a:latin typeface="Consolas"/>
                <a:ea typeface="Consolas"/>
                <a:cs typeface="Consolas"/>
              </a:rPr>
              <a:t>IN2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64208" y="3264408"/>
            <a:ext cx="91440" cy="36576"/>
          </a:xfrm>
          <a:prstGeom prst="rect">
            <a:avLst/>
          </a:prstGeom>
          <a:solidFill>
            <a:srgbClr val="990011"/>
          </a:solidFill>
          <a:ln w="635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73168" y="2615184"/>
            <a:ext cx="82296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4B5563"/>
                </a:solidFill>
                <a:latin typeface="Consolas"/>
                <a:ea typeface="Consolas"/>
                <a:cs typeface="Consolas"/>
              </a:rPr>
              <a:t>OUT1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63440" y="2715768"/>
            <a:ext cx="91440" cy="36576"/>
          </a:xfrm>
          <a:prstGeom prst="rect">
            <a:avLst/>
          </a:prstGeom>
          <a:solidFill>
            <a:srgbClr val="4B5563"/>
          </a:solidFill>
          <a:ln w="6350">
            <a:solidFill>
              <a:srgbClr val="4B55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73168" y="2944368"/>
            <a:ext cx="82296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4B5563"/>
                </a:solidFill>
                <a:latin typeface="Consolas"/>
                <a:ea typeface="Consolas"/>
                <a:cs typeface="Consolas"/>
              </a:rPr>
              <a:t>OUT2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63440" y="3044952"/>
            <a:ext cx="91440" cy="36576"/>
          </a:xfrm>
          <a:prstGeom prst="rect">
            <a:avLst/>
          </a:prstGeom>
          <a:solidFill>
            <a:srgbClr val="4B5563"/>
          </a:solidFill>
          <a:ln w="6350">
            <a:solidFill>
              <a:srgbClr val="4B55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783080" y="4187952"/>
            <a:ext cx="86868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4B5563"/>
                </a:solidFill>
                <a:latin typeface="Consolas"/>
                <a:ea typeface="Consolas"/>
                <a:cs typeface="Consolas"/>
              </a:rPr>
              <a:t>12V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94560" y="4096512"/>
            <a:ext cx="36576" cy="91440"/>
          </a:xfrm>
          <a:prstGeom prst="rect">
            <a:avLst/>
          </a:prstGeom>
          <a:solidFill>
            <a:srgbClr val="4B5563"/>
          </a:solidFill>
          <a:ln w="6350">
            <a:solidFill>
              <a:srgbClr val="4B55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0" y="4187952"/>
            <a:ext cx="86868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990011"/>
                </a:solidFill>
                <a:latin typeface="Consolas"/>
                <a:ea typeface="Consolas"/>
                <a:cs typeface="Consolas"/>
              </a:rPr>
              <a:t>GND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54679" y="4096512"/>
            <a:ext cx="36576" cy="91440"/>
          </a:xfrm>
          <a:prstGeom prst="rect">
            <a:avLst/>
          </a:prstGeom>
          <a:solidFill>
            <a:srgbClr val="4B5563"/>
          </a:solidFill>
          <a:ln w="6350">
            <a:solidFill>
              <a:srgbClr val="4B55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03320" y="4187952"/>
            <a:ext cx="86868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4B5563"/>
                </a:solidFill>
                <a:latin typeface="Consolas"/>
                <a:ea typeface="Consolas"/>
                <a:cs typeface="Consolas"/>
              </a:rPr>
              <a:t>5V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0" y="4096512"/>
            <a:ext cx="36576" cy="91440"/>
          </a:xfrm>
          <a:prstGeom prst="rect">
            <a:avLst/>
          </a:prstGeom>
          <a:solidFill>
            <a:srgbClr val="4B5563"/>
          </a:solidFill>
          <a:ln w="6350">
            <a:solidFill>
              <a:srgbClr val="4B55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" y="4617720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왼쪽은 보드에서, 아래는 건전지에서</a:t>
            </a:r>
          </a:p>
        </p:txBody>
      </p:sp>
      <p:sp>
        <p:nvSpPr>
          <p:cNvPr id="25" name="Oval 24"/>
          <p:cNvSpPr/>
          <p:nvPr/>
        </p:nvSpPr>
        <p:spPr>
          <a:xfrm>
            <a:off x="5989320" y="2057400"/>
            <a:ext cx="365760" cy="36576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89320" y="2057400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2075688"/>
            <a:ext cx="50109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2328"/>
                </a:solidFill>
                <a:latin typeface="Consolas"/>
                <a:ea typeface="Consolas"/>
                <a:cs typeface="Consolas"/>
              </a:rPr>
              <a:t>ENA · IN1 · IN2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2423160"/>
            <a:ext cx="501091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보드에서 오는 제어 신호 세 개입니다. 오늘 이 셋만 씁니다.</a:t>
            </a:r>
          </a:p>
        </p:txBody>
      </p:sp>
      <p:sp>
        <p:nvSpPr>
          <p:cNvPr id="29" name="Oval 28"/>
          <p:cNvSpPr/>
          <p:nvPr/>
        </p:nvSpPr>
        <p:spPr>
          <a:xfrm>
            <a:off x="5989320" y="3154680"/>
            <a:ext cx="365760" cy="36576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89320" y="3154680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3172968"/>
            <a:ext cx="50109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2328"/>
                </a:solidFill>
                <a:latin typeface="Consolas"/>
                <a:ea typeface="Consolas"/>
                <a:cs typeface="Consolas"/>
              </a:rPr>
              <a:t>OUT1 · OUT2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3520440"/>
            <a:ext cx="501091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모터 두 선을 연결하는 자리입니다. 방향은 나중에 코드로 바꿉니다.</a:t>
            </a:r>
          </a:p>
        </p:txBody>
      </p:sp>
      <p:sp>
        <p:nvSpPr>
          <p:cNvPr id="33" name="Oval 32"/>
          <p:cNvSpPr/>
          <p:nvPr/>
        </p:nvSpPr>
        <p:spPr>
          <a:xfrm>
            <a:off x="5989320" y="4251960"/>
            <a:ext cx="365760" cy="36576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89320" y="4251960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4270248"/>
            <a:ext cx="50109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2328"/>
                </a:solidFill>
                <a:latin typeface="Consolas"/>
                <a:ea typeface="Consolas"/>
                <a:cs typeface="Consolas"/>
              </a:rPr>
              <a:t>12V · GND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4617720"/>
            <a:ext cx="501091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건전지를 연결하는 자리입니다. 이름은 12V지만 6V를 넣어도 됩니다.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534924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5V 핀은 오늘 쓰지 않습니다. 모터가 두 개일 때 쓰는 ENB·IN3·IN4도 오늘은 비워 둡니다.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918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DIRECTION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방향은 두 핀의 조합으로 정합니다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IN1과 IN2를 어떻게 두느냐에 따라 네 가지 상태가 나옵니다.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920240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CA3AF"/>
                </a:solidFill>
                <a:latin typeface="Consolas"/>
                <a:ea typeface="Consolas"/>
                <a:cs typeface="Consolas"/>
              </a:rPr>
              <a:t>IN1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80360" y="1920240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CA3AF"/>
                </a:solidFill>
                <a:latin typeface="Consolas"/>
                <a:ea typeface="Consolas"/>
                <a:cs typeface="Consolas"/>
              </a:rPr>
              <a:t>IN2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1920240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CA3AF"/>
                </a:solidFill>
                <a:latin typeface="맑은 고딕"/>
                <a:ea typeface="맑은 고딕"/>
                <a:cs typeface="맑은 고딕"/>
              </a:rPr>
              <a:t>결과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1920240"/>
            <a:ext cx="4023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CA3AF"/>
                </a:solidFill>
                <a:latin typeface="맑은 고딕"/>
                <a:ea typeface="맑은 고딕"/>
                <a:cs typeface="맑은 고딕"/>
              </a:rPr>
              <a:t>코드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212848"/>
            <a:ext cx="10817352" cy="5852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2386584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990011"/>
                </a:solidFill>
                <a:latin typeface="Consolas"/>
                <a:ea typeface="Consolas"/>
                <a:cs typeface="Consolas"/>
              </a:rPr>
              <a:t>HIGH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2386584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9CA3AF"/>
                </a:solidFill>
                <a:latin typeface="Consolas"/>
                <a:ea typeface="Consolas"/>
                <a:cs typeface="Consolas"/>
              </a:rPr>
              <a:t>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237744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정회전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2395728"/>
            <a:ext cx="402336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4B5563"/>
                </a:solidFill>
                <a:latin typeface="Consolas"/>
                <a:ea typeface="Consolas"/>
                <a:cs typeface="Consolas"/>
              </a:rPr>
              <a:t>in1.high()   in2.low()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871215"/>
            <a:ext cx="10817352" cy="5852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4440" y="3044951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9CA3AF"/>
                </a:solidFill>
                <a:latin typeface="Consolas"/>
                <a:ea typeface="Consolas"/>
                <a:cs typeface="Consolas"/>
              </a:rPr>
              <a:t>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3044951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990011"/>
                </a:solidFill>
                <a:latin typeface="Consolas"/>
                <a:ea typeface="Consolas"/>
                <a:cs typeface="Consolas"/>
              </a:rPr>
              <a:t>HIGH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303580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2F3C7E"/>
                </a:solidFill>
                <a:latin typeface="맑은 고딕"/>
                <a:ea typeface="맑은 고딕"/>
                <a:cs typeface="맑은 고딕"/>
              </a:rPr>
              <a:t>역회전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3054096"/>
            <a:ext cx="402336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4B5563"/>
                </a:solidFill>
                <a:latin typeface="Consolas"/>
                <a:ea typeface="Consolas"/>
                <a:cs typeface="Consolas"/>
              </a:rPr>
              <a:t>in1.low()    in2.high()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529584"/>
            <a:ext cx="10817352" cy="5852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34440" y="3703320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9CA3AF"/>
                </a:solidFill>
                <a:latin typeface="Consolas"/>
                <a:ea typeface="Consolas"/>
                <a:cs typeface="Consolas"/>
              </a:rPr>
              <a:t>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80360" y="3703320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9CA3AF"/>
                </a:solidFill>
                <a:latin typeface="Consolas"/>
                <a:ea typeface="Consolas"/>
                <a:cs typeface="Consolas"/>
              </a:rPr>
              <a:t>LOW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0" y="369417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정지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3712463"/>
            <a:ext cx="402336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4B5563"/>
                </a:solidFill>
                <a:latin typeface="Consolas"/>
                <a:ea typeface="Consolas"/>
                <a:cs typeface="Consolas"/>
              </a:rPr>
              <a:t>in1.low()    in2.low()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187952"/>
            <a:ext cx="10817352" cy="5852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4440" y="4361688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990011"/>
                </a:solidFill>
                <a:latin typeface="Consolas"/>
                <a:ea typeface="Consolas"/>
                <a:cs typeface="Consolas"/>
              </a:rPr>
              <a:t>HIGH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80360" y="4361688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990011"/>
                </a:solidFill>
                <a:latin typeface="Consolas"/>
                <a:ea typeface="Consolas"/>
                <a:cs typeface="Consolas"/>
              </a:rPr>
              <a:t>HIGH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6320" y="4352544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9CA3AF"/>
                </a:solidFill>
                <a:latin typeface="맑은 고딕"/>
                <a:ea typeface="맑은 고딕"/>
                <a:cs typeface="맑은 고딕"/>
              </a:rPr>
              <a:t>정지 (브레이크)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0" y="4370832"/>
            <a:ext cx="402336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4B5563"/>
                </a:solidFill>
                <a:latin typeface="Consolas"/>
                <a:ea typeface="Consolas"/>
                <a:cs typeface="Consolas"/>
              </a:rPr>
              <a:t>in1.high()   in2.high()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4983480"/>
            <a:ext cx="10817352" cy="960120"/>
          </a:xfrm>
          <a:prstGeom prst="roundRect">
            <a:avLst>
              <a:gd name="adj" fmla="val 5000"/>
            </a:avLst>
          </a:prstGeom>
          <a:solidFill>
            <a:srgbClr val="F7F2F2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1560" y="5202936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정지가 두 가지인 이유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5477256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둘 다 LOW면 힘을 빼서 관성으로 서서히 멈추고, 둘 다 HIGH면 붙잡아서 즉시 멈춥니다. 수업에서는 둘 다 LOW를 씁니다.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918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SPEED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속도는 ENA에 PWM으로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5차시에 배운 그 PWM입니다. LED 밝기 대신 모터 속도를 정합니다.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65960"/>
            <a:ext cx="5285232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19456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5차시와 똑같습니다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542032"/>
            <a:ext cx="4754880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2328"/>
                </a:solidFill>
                <a:latin typeface="Consolas"/>
                <a:ea typeface="Consolas"/>
                <a:cs typeface="Consolas"/>
              </a:rPr>
              <a:t>ena.duty_u16(40000)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980944"/>
            <a:ext cx="47548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0이면 정지, 65535면 최대 속도. LED 밝기를 정하던 명령을 그대로 씁니다.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965960"/>
            <a:ext cx="5285232" cy="2103120"/>
          </a:xfrm>
          <a:prstGeom prst="roundRect">
            <a:avLst>
              <a:gd name="adj" fmla="val 4000"/>
            </a:avLst>
          </a:prstGeom>
          <a:solidFill>
            <a:srgbClr val="FDF3F4"/>
          </a:solidFill>
          <a:ln w="19050">
            <a:solidFill>
              <a:srgbClr val="F0A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219456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먼저 확인할 것 — 점퍼 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29400" y="2578608"/>
            <a:ext cx="822960" cy="292608"/>
          </a:xfrm>
          <a:prstGeom prst="roundRect">
            <a:avLst>
              <a:gd name="adj" fmla="val 20000"/>
            </a:avLst>
          </a:prstGeom>
          <a:solidFill>
            <a:srgbClr val="3A4046"/>
          </a:solidFill>
          <a:ln w="9525">
            <a:solidFill>
              <a:srgbClr val="2327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0" y="2596896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ENA 자리의 작은 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3017520"/>
            <a:ext cx="47548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이 캡이 꽂혀 있으면 항상 최대 속도로만 돕니다. 반드시 빼고 점퍼선을 연결하세요.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343400"/>
            <a:ext cx="3383280" cy="14630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60120" y="4553712"/>
            <a:ext cx="347472" cy="347472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553712"/>
            <a:ext cx="347472" cy="3474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459028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0은 정지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5047488"/>
            <a:ext cx="28803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듀티가 0이면 전기가 아예 안 갑니다. 방향과 상관없이 멈춥니다.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02836" y="4343400"/>
            <a:ext cx="3383280" cy="14630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677156" y="4553712"/>
            <a:ext cx="347472" cy="347472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77156" y="4553712"/>
            <a:ext cx="347472" cy="3474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34356" y="459028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너무 낮으면 안 돈다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77156" y="5047488"/>
            <a:ext cx="28803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20000 아래에서는 소리만 나고 안 돌 수 있습니다. 멈춘 것을 움직일 힘이 부족해서입니다.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19872" y="4343400"/>
            <a:ext cx="3383280" cy="14630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394192" y="4553712"/>
            <a:ext cx="347472" cy="347472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94192" y="4553712"/>
            <a:ext cx="347472" cy="3474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51392" y="459028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주파수는 1000Hz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94192" y="5047488"/>
            <a:ext cx="28803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LED 때와 같은 값을 씁니다. 모터에서는 낮은 주파수가 소음이 됩니다.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918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WIRING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오늘 만들 회로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보드에서 세 줄, 건전지에서 두 줄, 모터로 두 줄. 그리고 GND 한 줄입니다.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20240"/>
            <a:ext cx="10817352" cy="1783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246120" y="2212848"/>
            <a:ext cx="1600200" cy="1097280"/>
          </a:xfrm>
          <a:prstGeom prst="roundRect">
            <a:avLst>
              <a:gd name="adj" fmla="val 8000"/>
            </a:avLst>
          </a:prstGeom>
          <a:solidFill>
            <a:srgbClr val="23272B"/>
          </a:solidFill>
          <a:ln w="12700">
            <a:solidFill>
              <a:srgbClr val="0E11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46120" y="2212848"/>
            <a:ext cx="1600200" cy="10972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F0A9AE"/>
                </a:solidFill>
                <a:latin typeface="Consolas"/>
                <a:ea typeface="Consolas"/>
                <a:cs typeface="Consolas"/>
              </a:rPr>
              <a:t>L298N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1560" y="2226564"/>
            <a:ext cx="1005840" cy="228600"/>
          </a:xfrm>
          <a:prstGeom prst="roundRect">
            <a:avLst>
              <a:gd name="adj" fmla="val 14000"/>
            </a:avLst>
          </a:prstGeom>
          <a:solidFill>
            <a:srgbClr val="C0505C"/>
          </a:solidFill>
          <a:ln w="12700">
            <a:solidFill>
              <a:srgbClr val="C05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226564"/>
            <a:ext cx="100584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GP22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57400" y="2322576"/>
            <a:ext cx="502920" cy="36576"/>
          </a:xfrm>
          <a:prstGeom prst="rect">
            <a:avLst/>
          </a:prstGeom>
          <a:solidFill>
            <a:srgbClr val="C0505C"/>
          </a:solidFill>
          <a:ln w="6350">
            <a:solidFill>
              <a:srgbClr val="C05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78608" y="2244852"/>
            <a:ext cx="603504" cy="192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C0505C"/>
                </a:solidFill>
                <a:latin typeface="Consolas"/>
                <a:ea typeface="Consolas"/>
                <a:cs typeface="Consolas"/>
              </a:rPr>
              <a:t>ENA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54680" y="2322576"/>
            <a:ext cx="91440" cy="36576"/>
          </a:xfrm>
          <a:prstGeom prst="rect">
            <a:avLst/>
          </a:prstGeom>
          <a:solidFill>
            <a:srgbClr val="C0505C"/>
          </a:solidFill>
          <a:ln w="6350">
            <a:solidFill>
              <a:srgbClr val="C05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51560" y="2500884"/>
            <a:ext cx="1005840" cy="228600"/>
          </a:xfrm>
          <a:prstGeom prst="roundRect">
            <a:avLst>
              <a:gd name="adj" fmla="val 14000"/>
            </a:avLst>
          </a:prstGeom>
          <a:solidFill>
            <a:srgbClr val="C0505C"/>
          </a:solidFill>
          <a:ln w="12700">
            <a:solidFill>
              <a:srgbClr val="C05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2500884"/>
            <a:ext cx="100584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GP18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57400" y="2596896"/>
            <a:ext cx="502920" cy="36576"/>
          </a:xfrm>
          <a:prstGeom prst="rect">
            <a:avLst/>
          </a:prstGeom>
          <a:solidFill>
            <a:srgbClr val="C0505C"/>
          </a:solidFill>
          <a:ln w="6350">
            <a:solidFill>
              <a:srgbClr val="C05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78608" y="2519172"/>
            <a:ext cx="603504" cy="192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C0505C"/>
                </a:solidFill>
                <a:latin typeface="Consolas"/>
                <a:ea typeface="Consolas"/>
                <a:cs typeface="Consolas"/>
              </a:rPr>
              <a:t>IN1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54680" y="2596896"/>
            <a:ext cx="91440" cy="36576"/>
          </a:xfrm>
          <a:prstGeom prst="rect">
            <a:avLst/>
          </a:prstGeom>
          <a:solidFill>
            <a:srgbClr val="C0505C"/>
          </a:solidFill>
          <a:ln w="6350">
            <a:solidFill>
              <a:srgbClr val="C05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51560" y="2775204"/>
            <a:ext cx="1005840" cy="228600"/>
          </a:xfrm>
          <a:prstGeom prst="roundRect">
            <a:avLst>
              <a:gd name="adj" fmla="val 14000"/>
            </a:avLst>
          </a:prstGeom>
          <a:solidFill>
            <a:srgbClr val="C0505C"/>
          </a:solidFill>
          <a:ln w="12700">
            <a:solidFill>
              <a:srgbClr val="C05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2775204"/>
            <a:ext cx="100584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GP19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057400" y="2871216"/>
            <a:ext cx="502920" cy="36576"/>
          </a:xfrm>
          <a:prstGeom prst="rect">
            <a:avLst/>
          </a:prstGeom>
          <a:solidFill>
            <a:srgbClr val="C0505C"/>
          </a:solidFill>
          <a:ln w="6350">
            <a:solidFill>
              <a:srgbClr val="C05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78608" y="2793492"/>
            <a:ext cx="603504" cy="192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C0505C"/>
                </a:solidFill>
                <a:latin typeface="Consolas"/>
                <a:ea typeface="Consolas"/>
                <a:cs typeface="Consolas"/>
              </a:rPr>
              <a:t>IN2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154680" y="2871216"/>
            <a:ext cx="91440" cy="36576"/>
          </a:xfrm>
          <a:prstGeom prst="rect">
            <a:avLst/>
          </a:prstGeom>
          <a:solidFill>
            <a:srgbClr val="C0505C"/>
          </a:solidFill>
          <a:ln w="6350">
            <a:solidFill>
              <a:srgbClr val="C05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51560" y="3049524"/>
            <a:ext cx="1005840" cy="228600"/>
          </a:xfrm>
          <a:prstGeom prst="roundRect">
            <a:avLst>
              <a:gd name="adj" fmla="val 14000"/>
            </a:avLst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" y="3049524"/>
            <a:ext cx="100584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GND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57400" y="3145536"/>
            <a:ext cx="502920" cy="36576"/>
          </a:xfrm>
          <a:prstGeom prst="rect">
            <a:avLst/>
          </a:prstGeom>
          <a:solidFill>
            <a:srgbClr val="990011"/>
          </a:solidFill>
          <a:ln w="635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78608" y="3067812"/>
            <a:ext cx="603504" cy="192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990011"/>
                </a:solidFill>
                <a:latin typeface="Consolas"/>
                <a:ea typeface="Consolas"/>
                <a:cs typeface="Consolas"/>
              </a:rPr>
              <a:t>GND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154680" y="3145536"/>
            <a:ext cx="91440" cy="36576"/>
          </a:xfrm>
          <a:prstGeom prst="rect">
            <a:avLst/>
          </a:prstGeom>
          <a:solidFill>
            <a:srgbClr val="990011"/>
          </a:solidFill>
          <a:ln w="635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846320" y="2450592"/>
            <a:ext cx="777240" cy="73152"/>
          </a:xfrm>
          <a:prstGeom prst="rect">
            <a:avLst/>
          </a:prstGeom>
          <a:solidFill>
            <a:srgbClr val="4B5563"/>
          </a:solidFill>
          <a:ln w="6350">
            <a:solidFill>
              <a:srgbClr val="4B55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846320" y="2724912"/>
            <a:ext cx="777240" cy="73152"/>
          </a:xfrm>
          <a:prstGeom prst="rect">
            <a:avLst/>
          </a:prstGeom>
          <a:solidFill>
            <a:srgbClr val="4B5563"/>
          </a:solidFill>
          <a:ln w="6350">
            <a:solidFill>
              <a:srgbClr val="4B55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943600" y="2258568"/>
            <a:ext cx="731520" cy="731520"/>
          </a:xfrm>
          <a:prstGeom prst="ellipse">
            <a:avLst/>
          </a:prstGeom>
          <a:solidFill>
            <a:srgbClr val="4B5563"/>
          </a:solidFill>
          <a:ln w="127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177686" y="2492654"/>
            <a:ext cx="263347" cy="263347"/>
          </a:xfrm>
          <a:prstGeom prst="ellipse">
            <a:avLst/>
          </a:prstGeom>
          <a:solidFill>
            <a:srgbClr val="2B3038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0" y="2258568"/>
            <a:ext cx="731520" cy="7315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M</a:t>
            </a:r>
          </a:p>
        </p:txBody>
      </p:sp>
      <p:sp>
        <p:nvSpPr>
          <p:cNvPr id="33" name="Chevron 32"/>
          <p:cNvSpPr/>
          <p:nvPr/>
        </p:nvSpPr>
        <p:spPr>
          <a:xfrm>
            <a:off x="6172200" y="2020824"/>
            <a:ext cx="274320" cy="201168"/>
          </a:xfrm>
          <a:prstGeom prst="chevron">
            <a:avLst/>
          </a:prstGeom>
          <a:noFill/>
          <a:ln w="1905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4" name="Chevron 33"/>
          <p:cNvSpPr/>
          <p:nvPr/>
        </p:nvSpPr>
        <p:spPr>
          <a:xfrm rot="10800000">
            <a:off x="6172200" y="3026664"/>
            <a:ext cx="274320" cy="201168"/>
          </a:xfrm>
          <a:prstGeom prst="chevron">
            <a:avLst/>
          </a:prstGeom>
          <a:noFill/>
          <a:ln w="1905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92040" y="2139696"/>
            <a:ext cx="82296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4B5563"/>
                </a:solidFill>
                <a:latin typeface="Consolas"/>
                <a:ea typeface="Consolas"/>
                <a:cs typeface="Consolas"/>
              </a:rPr>
              <a:t>OUT1·2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429000" y="3456432"/>
            <a:ext cx="1234440" cy="274320"/>
          </a:xfrm>
          <a:prstGeom prst="roundRect">
            <a:avLst>
              <a:gd name="adj" fmla="val 14000"/>
            </a:avLst>
          </a:prstGeom>
          <a:solidFill>
            <a:srgbClr val="4B5563"/>
          </a:solidFill>
          <a:ln w="12700">
            <a:solidFill>
              <a:srgbClr val="4B55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429000" y="3456432"/>
            <a:ext cx="123444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건전지 6V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005072" y="3310128"/>
            <a:ext cx="73152" cy="146304"/>
          </a:xfrm>
          <a:prstGeom prst="rect">
            <a:avLst/>
          </a:prstGeom>
          <a:solidFill>
            <a:srgbClr val="4B5563"/>
          </a:solidFill>
          <a:ln w="6350">
            <a:solidFill>
              <a:srgbClr val="4B55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89520" y="2212848"/>
            <a:ext cx="374903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9CA3AF"/>
                </a:solidFill>
                <a:latin typeface="맑은 고딕"/>
                <a:ea typeface="맑은 고딕"/>
                <a:cs typeface="맑은 고딕"/>
              </a:rPr>
              <a:t>핀 번호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89520" y="2523744"/>
            <a:ext cx="3749039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250" b="0">
                <a:solidFill>
                  <a:srgbClr val="4B5563"/>
                </a:solidFill>
                <a:latin typeface="Consolas"/>
                <a:ea typeface="Consolas"/>
                <a:cs typeface="Consolas"/>
              </a:rPr>
              <a:t>GP18 → 24번   ·   GP19 → 25번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250" b="0">
                <a:solidFill>
                  <a:srgbClr val="4B5563"/>
                </a:solidFill>
                <a:latin typeface="Consolas"/>
                <a:ea typeface="Consolas"/>
                <a:cs typeface="Consolas"/>
              </a:rPr>
              <a:t>GP22 → 29번   ·   GND → 38번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89520" y="3218688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GP18·19·22는 지금까지 쓰지 않은 핀입니다.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3886200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CA3AF"/>
                </a:solidFill>
                <a:latin typeface="맑은 고딕"/>
                <a:ea typeface="맑은 고딕"/>
                <a:cs typeface="맑은 고딕"/>
              </a:rPr>
              <a:t>부품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91840" y="3886200"/>
            <a:ext cx="3200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CA3AF"/>
                </a:solidFill>
                <a:latin typeface="맑은 고딕"/>
                <a:ea typeface="맑은 고딕"/>
                <a:cs typeface="맑은 고딕"/>
              </a:rPr>
              <a:t>한쪽 끝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0" y="3886200"/>
            <a:ext cx="4023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CA3AF"/>
                </a:solidFill>
                <a:latin typeface="맑은 고딕"/>
                <a:ea typeface="맑은 고딕"/>
                <a:cs typeface="맑은 고딕"/>
              </a:rPr>
              <a:t>다른 쪽 끝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85800" y="4169663"/>
            <a:ext cx="10817352" cy="33832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868680" y="4219955"/>
            <a:ext cx="237744" cy="237744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68680" y="4219955"/>
            <a:ext cx="237744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298448" y="4233672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점퍼선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291840" y="4242816"/>
            <a:ext cx="3566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GP22 (29번 핀)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949440" y="4251959"/>
            <a:ext cx="36576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9CA3AF"/>
                </a:solidFill>
                <a:latin typeface="맑은 고딕"/>
                <a:ea typeface="맑은 고딕"/>
                <a:cs typeface="맑은 고딕"/>
              </a:rPr>
              <a:t>→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15200" y="4242816"/>
            <a:ext cx="4114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드라이버 ENA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85800" y="4572000"/>
            <a:ext cx="10817352" cy="33832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868680" y="4622292"/>
            <a:ext cx="237744" cy="237744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68680" y="4622292"/>
            <a:ext cx="237744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298448" y="4636008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점퍼선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291840" y="4645152"/>
            <a:ext cx="3566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GP18 (24번 핀)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949440" y="4654296"/>
            <a:ext cx="36576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9CA3AF"/>
                </a:solidFill>
                <a:latin typeface="맑은 고딕"/>
                <a:ea typeface="맑은 고딕"/>
                <a:cs typeface="맑은 고딕"/>
              </a:rPr>
              <a:t>→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315200" y="4645152"/>
            <a:ext cx="4114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드라이버 IN1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85800" y="4974336"/>
            <a:ext cx="10817352" cy="33832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868680" y="5024627"/>
            <a:ext cx="237744" cy="237744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68680" y="5024627"/>
            <a:ext cx="237744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298448" y="5038344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점퍼선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291840" y="5047488"/>
            <a:ext cx="3566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GP19 (25번 핀)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949440" y="5056631"/>
            <a:ext cx="36576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9CA3AF"/>
                </a:solidFill>
                <a:latin typeface="맑은 고딕"/>
                <a:ea typeface="맑은 고딕"/>
                <a:cs typeface="맑은 고딕"/>
              </a:rPr>
              <a:t>→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315200" y="5047488"/>
            <a:ext cx="4114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드라이버 IN2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85800" y="5376672"/>
            <a:ext cx="10817352" cy="33832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868680" y="5426964"/>
            <a:ext cx="237744" cy="237744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68680" y="5426964"/>
            <a:ext cx="237744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298448" y="5440680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점퍼선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291840" y="5449824"/>
            <a:ext cx="3566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GND (38번 핀)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949440" y="5458968"/>
            <a:ext cx="36576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9CA3AF"/>
                </a:solidFill>
                <a:latin typeface="맑은 고딕"/>
                <a:ea typeface="맑은 고딕"/>
                <a:cs typeface="맑은 고딕"/>
              </a:rPr>
              <a:t>→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315200" y="5449824"/>
            <a:ext cx="4114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드라이버 GND  ← 빠뜨리면 안 됩니다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85800" y="5779007"/>
            <a:ext cx="10817352" cy="33832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868680" y="5829299"/>
            <a:ext cx="237744" cy="237744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68680" y="5829299"/>
            <a:ext cx="237744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298448" y="5843016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모터 선 2개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291840" y="5852159"/>
            <a:ext cx="3566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드라이버 OUT1 · OUT2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949440" y="5861303"/>
            <a:ext cx="36576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9CA3AF"/>
                </a:solidFill>
                <a:latin typeface="맑은 고딕"/>
                <a:ea typeface="맑은 고딕"/>
                <a:cs typeface="맑은 고딕"/>
              </a:rPr>
              <a:t>→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315200" y="5852159"/>
            <a:ext cx="4114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DC 모터 (극성 없음)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685800" y="6181344"/>
            <a:ext cx="10817352" cy="33832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868680" y="6231636"/>
            <a:ext cx="237744" cy="237744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68680" y="6231636"/>
            <a:ext cx="237744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298448" y="6245352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건전지 선 2개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291840" y="6254496"/>
            <a:ext cx="3566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건전지함 + 와 −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949440" y="6263640"/>
            <a:ext cx="36576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9CA3AF"/>
                </a:solidFill>
                <a:latin typeface="맑은 고딕"/>
                <a:ea typeface="맑은 고딕"/>
                <a:cs typeface="맑은 고딕"/>
              </a:rPr>
              <a:t>→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315200" y="6254496"/>
            <a:ext cx="4114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드라이버 12V 와 GND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918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STEP BY STEP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배선하는 순서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건전지는 마지막에 연결합니다. 그전까지는 모터가 돌 일이 없습니다.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20240"/>
            <a:ext cx="10817352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" y="2057400"/>
            <a:ext cx="365760" cy="36576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57400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112264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USB를 뽑고 ENA 캡을 뺍니다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130552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드라이버의 ENA 점퍼 캡을 먼저 빼 둡니다.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51760"/>
            <a:ext cx="10817352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60120" y="2788920"/>
            <a:ext cx="365760" cy="36576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788920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843784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제어선 세 줄을 연결합니다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862072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GP22→ENA, GP18→IN1, GP19→IN2.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383280"/>
            <a:ext cx="10817352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" y="3520440"/>
            <a:ext cx="365760" cy="36576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520440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3575304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GND를 연결합니다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593592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보드 38번 핀과 드라이버 GND. 절대 빠뜨리지 않습니다.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114800"/>
            <a:ext cx="10817352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60120" y="4251960"/>
            <a:ext cx="365760" cy="36576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251960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4306824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모터를 연결합니다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325112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모터 선 두 개를 OUT1과 OUT2에 물립니다.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846320"/>
            <a:ext cx="10817352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60120" y="4983480"/>
            <a:ext cx="365760" cy="36576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4983480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5038344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건전지를 마지막에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5056632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모터를 책상에 고정하고, 확인이 끝난 뒤 건전지를 넣습니다.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5715000"/>
            <a:ext cx="10817352" cy="685800"/>
          </a:xfrm>
          <a:prstGeom prst="roundRect">
            <a:avLst>
              <a:gd name="adj" fmla="val 7000"/>
            </a:avLst>
          </a:prstGeom>
          <a:solidFill>
            <a:srgbClr val="FDF3F4"/>
          </a:solidFill>
          <a:ln w="12700">
            <a:solidFill>
              <a:srgbClr val="F0A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51560" y="591616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모터를 손에 들고 돌리지 마세요.  </a:t>
            </a:r>
            <a:r>
              <a:rPr sz="130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축이 돌면 머리카락이나 옷소매가 감길 수 있습니다. 책상 위에 두거나 테이프로 고정하세요.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918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CODE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정회전 · 정지 · 역회전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핀 세 개를 만들고, 앞에서 본 조합을 순서대로 실행합니다.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65960"/>
            <a:ext cx="6035040" cy="3611880"/>
          </a:xfrm>
          <a:prstGeom prst="roundRect">
            <a:avLst>
              <a:gd name="adj" fmla="val 1799"/>
            </a:avLst>
          </a:prstGeom>
          <a:solidFill>
            <a:srgbClr val="1A1D21"/>
          </a:solidFill>
          <a:ln w="12700">
            <a:solidFill>
              <a:srgbClr val="2E33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10312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7A828A"/>
                </a:solidFill>
                <a:latin typeface="Consolas"/>
                <a:ea typeface="Consolas"/>
                <a:cs typeface="Consolas"/>
              </a:rPr>
              <a:t>motor.py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331720"/>
            <a:ext cx="55778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0A9AE"/>
                </a:solidFill>
                <a:latin typeface="Consolas"/>
                <a:ea typeface="Consolas"/>
                <a:cs typeface="Consolas"/>
              </a:rPr>
              <a:t>from machine import Pin, PWM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491739"/>
            <a:ext cx="55778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0A9AE"/>
                </a:solidFill>
                <a:latin typeface="Consolas"/>
                <a:ea typeface="Consolas"/>
                <a:cs typeface="Consolas"/>
              </a:rPr>
              <a:t>from time import sleep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811779"/>
            <a:ext cx="55778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in1 = Pin(18, Pin.OUT)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971799"/>
            <a:ext cx="55778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in2 = Pin(19, Pin.OUT)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131819"/>
            <a:ext cx="55778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ena = PWM(Pin(22), freq=1000)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451859"/>
            <a:ext cx="55778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8FD3E8"/>
                </a:solidFill>
                <a:latin typeface="Consolas"/>
                <a:ea typeface="Consolas"/>
                <a:cs typeface="Consolas"/>
              </a:rPr>
              <a:t>ena.duty_u16(40000)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771899"/>
            <a:ext cx="55778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8FD3E8"/>
                </a:solidFill>
                <a:latin typeface="Consolas"/>
                <a:ea typeface="Consolas"/>
                <a:cs typeface="Consolas"/>
              </a:rPr>
              <a:t>while True: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931919"/>
            <a:ext cx="55778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in1.high()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91939"/>
            <a:ext cx="55778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in2.low()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251959"/>
            <a:ext cx="55778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sleep(2)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411979"/>
            <a:ext cx="55778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in1.low()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571999"/>
            <a:ext cx="55778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sleep(1)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732019"/>
            <a:ext cx="55778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in2.high()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892039"/>
            <a:ext cx="55778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sleep(2)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5052059"/>
            <a:ext cx="55778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in2.low()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5212079"/>
            <a:ext cx="55778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sleep(1)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600" y="2103120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6행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2103120"/>
            <a:ext cx="3182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ENA는 PWM으로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86600" y="2377439"/>
            <a:ext cx="441655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IN1·IN2는 Pin, ENA만 PWM입니다.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86600" y="2798063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8행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2798063"/>
            <a:ext cx="3182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속도를 먼저 정한다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86600" y="3072383"/>
            <a:ext cx="441655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40000이면 중간보다 조금 빠른 정도입니다.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349300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11~13행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3493008"/>
            <a:ext cx="3182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정회전 2초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86600" y="3767328"/>
            <a:ext cx="441655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IN1 HIGH, IN2 LOW. 그 상태로 2초.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86600" y="4187952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14~15행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4187952"/>
            <a:ext cx="3182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정지 1초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86600" y="4462272"/>
            <a:ext cx="441655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IN1을 내려 둘 다 LOW로 만듭니다.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86600" y="4882896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16~19행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4882896"/>
            <a:ext cx="3182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역회전 후 정지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86600" y="5157216"/>
            <a:ext cx="441655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이번에는 IN2를 올립니다.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" y="57150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모터가 반대로 돌면 코드를 고치지 말고 모터 선 두 개를 바꿔 물리면 됩니다.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918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CODE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함수로 묶어 속도까지 한 번에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6차시 set_color처럼, 방향과 속도를 한 줄로 정하는 함수를 만듭니다.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11680"/>
            <a:ext cx="6035040" cy="3017520"/>
          </a:xfrm>
          <a:prstGeom prst="roundRect">
            <a:avLst>
              <a:gd name="adj" fmla="val 1799"/>
            </a:avLst>
          </a:prstGeom>
          <a:solidFill>
            <a:srgbClr val="1A1D21"/>
          </a:solidFill>
          <a:ln w="12700">
            <a:solidFill>
              <a:srgbClr val="2E33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14884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7A828A"/>
                </a:solidFill>
                <a:latin typeface="Consolas"/>
                <a:ea typeface="Consolas"/>
                <a:cs typeface="Consolas"/>
              </a:rPr>
              <a:t>motor_func.py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432304"/>
            <a:ext cx="55778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8FD3E8"/>
                </a:solidFill>
                <a:latin typeface="Consolas"/>
                <a:ea typeface="Consolas"/>
                <a:cs typeface="Consolas"/>
              </a:rPr>
              <a:t>def motor(speed, forward=True):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656332"/>
            <a:ext cx="55778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8FD3E8"/>
                </a:solidFill>
                <a:latin typeface="Consolas"/>
                <a:ea typeface="Consolas"/>
                <a:cs typeface="Consolas"/>
              </a:rPr>
              <a:t>    if forward: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880360"/>
            <a:ext cx="55778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in1.high()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104388"/>
            <a:ext cx="55778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in2.low()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328416"/>
            <a:ext cx="55778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8FD3E8"/>
                </a:solidFill>
                <a:latin typeface="Consolas"/>
                <a:ea typeface="Consolas"/>
                <a:cs typeface="Consolas"/>
              </a:rPr>
              <a:t>    else: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552444"/>
            <a:ext cx="55778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in1.low()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776472"/>
            <a:ext cx="55778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in2.high()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000500"/>
            <a:ext cx="55778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ena.duty_u16(speed)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448556"/>
            <a:ext cx="55778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8FD3E8"/>
                </a:solidFill>
                <a:latin typeface="Consolas"/>
                <a:ea typeface="Consolas"/>
                <a:cs typeface="Consolas"/>
              </a:rPr>
              <a:t>motor(30000)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672584"/>
            <a:ext cx="55778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sleep(2)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896612"/>
            <a:ext cx="55778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8FD3E8"/>
                </a:solidFill>
                <a:latin typeface="Consolas"/>
                <a:ea typeface="Consolas"/>
                <a:cs typeface="Consolas"/>
              </a:rPr>
              <a:t>motor(60000, False)</a:t>
            </a:r>
          </a:p>
        </p:txBody>
      </p:sp>
      <p:sp>
        <p:nvSpPr>
          <p:cNvPr id="18" name="Oval 17"/>
          <p:cNvSpPr/>
          <p:nvPr/>
        </p:nvSpPr>
        <p:spPr>
          <a:xfrm>
            <a:off x="7086600" y="2148840"/>
            <a:ext cx="365760" cy="36576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86600" y="2148840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0" y="2167128"/>
            <a:ext cx="39136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forward=True 는 기본값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2514600"/>
            <a:ext cx="391363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그냥 motor(30000)이라고 부르면 정회전입니다. 생략할 수 있습니다.</a:t>
            </a:r>
          </a:p>
        </p:txBody>
      </p:sp>
      <p:sp>
        <p:nvSpPr>
          <p:cNvPr id="22" name="Oval 21"/>
          <p:cNvSpPr/>
          <p:nvPr/>
        </p:nvSpPr>
        <p:spPr>
          <a:xfrm>
            <a:off x="7086600" y="3200400"/>
            <a:ext cx="365760" cy="36576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86600" y="3200400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3218688"/>
            <a:ext cx="39136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역회전은 False를 붙여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3566160"/>
            <a:ext cx="391363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motor(60000, False)라고 쓰면 반대 방향으로 빠르게 돕니다.</a:t>
            </a:r>
          </a:p>
        </p:txBody>
      </p:sp>
      <p:sp>
        <p:nvSpPr>
          <p:cNvPr id="26" name="Oval 25"/>
          <p:cNvSpPr/>
          <p:nvPr/>
        </p:nvSpPr>
        <p:spPr>
          <a:xfrm>
            <a:off x="7086600" y="4251960"/>
            <a:ext cx="365760" cy="36576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86600" y="4251960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0" y="4270248"/>
            <a:ext cx="39136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멈추려면 속도를 0으로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0" y="4617720"/>
            <a:ext cx="391363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motor(0)이라고 부르면 방향과 상관없이 멈춥니다.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5212080"/>
            <a:ext cx="10817352" cy="868680"/>
          </a:xfrm>
          <a:prstGeom prst="roundRect">
            <a:avLst>
              <a:gd name="adj" fmla="val 5000"/>
            </a:avLst>
          </a:prstGeom>
          <a:solidFill>
            <a:srgbClr val="F7F2F2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51560" y="54864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이제 센서와 이을 준비가 끝났습니다.  </a:t>
            </a:r>
            <a:r>
              <a:rPr sz="135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motor() 한 줄이면 되니, 앞에 어떤 센서를 붙이든 코드가 짧아집니다.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777240"/>
            <a:ext cx="10789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0A9AE"/>
                </a:solidFill>
                <a:latin typeface="맑은 고딕"/>
                <a:ea typeface="맑은 고딕"/>
                <a:cs typeface="맑은 고딕"/>
              </a:rPr>
              <a:t>IMPORTANT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모터를 다룰 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755648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A9B0B8"/>
                </a:solidFill>
                <a:latin typeface="맑은 고딕"/>
                <a:ea typeface="맑은 고딕"/>
                <a:cs typeface="맑은 고딕"/>
              </a:rPr>
              <a:t>1차시 안전 수칙에서 예고한 그 부품입니다. 전기와 몸, 둘 다 조심해야 합니다.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423160"/>
            <a:ext cx="5285232" cy="3108960"/>
          </a:xfrm>
          <a:prstGeom prst="roundRect">
            <a:avLst>
              <a:gd name="adj" fmla="val 2400"/>
            </a:avLst>
          </a:prstGeom>
          <a:solidFill>
            <a:srgbClr val="16281F"/>
          </a:solidFill>
          <a:ln w="19050">
            <a:solidFill>
              <a:srgbClr val="2E6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45720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5BC47E"/>
                </a:solidFill>
                <a:latin typeface="Arial"/>
                <a:ea typeface="Arial"/>
                <a:cs typeface="Arial"/>
              </a:rPr>
              <a:t>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69748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5BC47E"/>
                </a:solidFill>
                <a:latin typeface="맑은 고딕"/>
                <a:ea typeface="맑은 고딕"/>
                <a:cs typeface="맑은 고딕"/>
              </a:rPr>
              <a:t>해야 하는 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291840"/>
            <a:ext cx="45720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50" b="0">
                <a:solidFill>
                  <a:srgbClr val="D5E5DA"/>
                </a:solidFill>
                <a:latin typeface="맑은 고딕"/>
                <a:ea typeface="맑은 고딕"/>
                <a:cs typeface="맑은 고딕"/>
              </a:rPr>
              <a:t>모터 전원은 건전지에서 따로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50" b="0">
                <a:solidFill>
                  <a:srgbClr val="D5E5DA"/>
                </a:solidFill>
                <a:latin typeface="맑은 고딕"/>
                <a:ea typeface="맑은 고딕"/>
                <a:cs typeface="맑은 고딕"/>
              </a:rPr>
              <a:t>보드 GND와 드라이버 GND를 연결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50" b="0">
                <a:solidFill>
                  <a:srgbClr val="D5E5DA"/>
                </a:solidFill>
                <a:latin typeface="맑은 고딕"/>
                <a:ea typeface="맑은 고딕"/>
                <a:cs typeface="맑은 고딕"/>
              </a:rPr>
              <a:t>ENA 점퍼 캡을 빼고 PWM 연결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50" b="0">
                <a:solidFill>
                  <a:srgbClr val="D5E5DA"/>
                </a:solidFill>
                <a:latin typeface="맑은 고딕"/>
                <a:ea typeface="맑은 고딕"/>
                <a:cs typeface="맑은 고딕"/>
              </a:rPr>
              <a:t>모터를 책상에 고정하고 실행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423160"/>
            <a:ext cx="5285232" cy="3108960"/>
          </a:xfrm>
          <a:prstGeom prst="roundRect">
            <a:avLst>
              <a:gd name="adj" fmla="val 2400"/>
            </a:avLst>
          </a:prstGeom>
          <a:solidFill>
            <a:srgbClr val="2E1216"/>
          </a:solidFill>
          <a:ln w="19050">
            <a:solidFill>
              <a:srgbClr val="8E20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2651760"/>
            <a:ext cx="45720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06A75"/>
                </a:solidFill>
                <a:latin typeface="Arial"/>
                <a:ea typeface="Arial"/>
                <a:cs typeface="Arial"/>
              </a:rPr>
              <a:t>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86600" y="269748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F06A75"/>
                </a:solidFill>
                <a:latin typeface="맑은 고딕"/>
                <a:ea typeface="맑은 고딕"/>
                <a:cs typeface="맑은 고딕"/>
              </a:rPr>
              <a:t>절대 하면 안 되는 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291840"/>
            <a:ext cx="45720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50" b="0">
                <a:solidFill>
                  <a:srgbClr val="EFD2D5"/>
                </a:solidFill>
                <a:latin typeface="맑은 고딕"/>
                <a:ea typeface="맑은 고딕"/>
                <a:cs typeface="맑은 고딕"/>
              </a:rPr>
              <a:t>모터를 GPIO에 직접 연결하기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50" b="0">
                <a:solidFill>
                  <a:srgbClr val="EFD2D5"/>
                </a:solidFill>
                <a:latin typeface="맑은 고딕"/>
                <a:ea typeface="맑은 고딕"/>
                <a:cs typeface="맑은 고딕"/>
              </a:rPr>
              <a:t>건전지를 보드 VBUS·VSYS에 연결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50" b="0">
                <a:solidFill>
                  <a:srgbClr val="EFD2D5"/>
                </a:solidFill>
                <a:latin typeface="맑은 고딕"/>
                <a:ea typeface="맑은 고딕"/>
                <a:cs typeface="맑은 고딕"/>
              </a:rPr>
              <a:t>GND를 잇지 않고 신호만 연결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50" b="0">
                <a:solidFill>
                  <a:srgbClr val="EFD2D5"/>
                </a:solidFill>
                <a:latin typeface="맑은 고딕"/>
                <a:ea typeface="맑은 고딕"/>
                <a:cs typeface="맑은 고딕"/>
              </a:rPr>
              <a:t>도는 축에 머리카락·옷소매 가까이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80644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0A9AE"/>
                </a:solidFill>
                <a:latin typeface="맑은 고딕"/>
                <a:ea typeface="맑은 고딕"/>
                <a:cs typeface="맑은 고딕"/>
              </a:rPr>
              <a:t>건전지 전원은 드라이버에만 연결합니다. 보드는 USB로만 전원을 받습니다.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918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실습 — 지금까지 만든 것을 다 이어 보기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입력 네 가지가 모두 살아 있습니다. 그중 셋으로 모터를 움직여 봅시다.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65960"/>
            <a:ext cx="3383280" cy="3611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" y="2212848"/>
            <a:ext cx="365760" cy="36576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212848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706624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손잡이로 속도 조절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3090672"/>
            <a:ext cx="2834640" cy="1463040"/>
          </a:xfrm>
          <a:prstGeom prst="roundRect">
            <a:avLst>
              <a:gd name="adj" fmla="val 5000"/>
            </a:avLst>
          </a:prstGeom>
          <a:solidFill>
            <a:srgbClr val="1A1D21"/>
          </a:solidFill>
          <a:ln w="12700">
            <a:solidFill>
              <a:srgbClr val="2E33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6424" y="3200400"/>
            <a:ext cx="269748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v = knob.read_u16()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" y="3369564"/>
            <a:ext cx="269748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8FD3E8"/>
                </a:solidFill>
                <a:latin typeface="Consolas"/>
                <a:ea typeface="Consolas"/>
                <a:cs typeface="Consolas"/>
              </a:rPr>
              <a:t>motor(v)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" y="3538728"/>
            <a:ext cx="269748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sleep(0.1)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" y="3877056"/>
            <a:ext cx="269748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28A"/>
                </a:solidFill>
                <a:latin typeface="Consolas"/>
                <a:ea typeface="Consolas"/>
                <a:cs typeface="Consolas"/>
              </a:rPr>
              <a:t># 7차시 가변저항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718304"/>
            <a:ext cx="28346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손잡이를 돌린 만큼 모터가 빨라집니다. 값 범위가 같아 그대로 넘기면 됩니다.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02836" y="1965960"/>
            <a:ext cx="3383280" cy="3611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677156" y="2212848"/>
            <a:ext cx="365760" cy="36576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77156" y="2212848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77156" y="2706624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거리로 자동 정지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77156" y="3090672"/>
            <a:ext cx="2834640" cy="1463040"/>
          </a:xfrm>
          <a:prstGeom prst="roundRect">
            <a:avLst>
              <a:gd name="adj" fmla="val 5000"/>
            </a:avLst>
          </a:prstGeom>
          <a:solidFill>
            <a:srgbClr val="1A1D21"/>
          </a:solidFill>
          <a:ln w="12700">
            <a:solidFill>
              <a:srgbClr val="2E33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23460" y="3200400"/>
            <a:ext cx="269748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d = read_distance()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23460" y="3538728"/>
            <a:ext cx="269748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8FD3E8"/>
                </a:solidFill>
                <a:latin typeface="Consolas"/>
                <a:ea typeface="Consolas"/>
                <a:cs typeface="Consolas"/>
              </a:rPr>
              <a:t>if 0 &lt; d &lt; 15: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23460" y="3707891"/>
            <a:ext cx="269748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8FD3E8"/>
                </a:solidFill>
                <a:latin typeface="Consolas"/>
                <a:ea typeface="Consolas"/>
                <a:cs typeface="Consolas"/>
              </a:rPr>
              <a:t>    motor(0)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23460" y="3877056"/>
            <a:ext cx="269748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8FD3E8"/>
                </a:solidFill>
                <a:latin typeface="Consolas"/>
                <a:ea typeface="Consolas"/>
                <a:cs typeface="Consolas"/>
              </a:rPr>
              <a:t>else: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23460" y="4046220"/>
            <a:ext cx="269748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8FD3E8"/>
                </a:solidFill>
                <a:latin typeface="Consolas"/>
                <a:ea typeface="Consolas"/>
                <a:cs typeface="Consolas"/>
              </a:rPr>
              <a:t>    motor(40000)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77156" y="4718304"/>
            <a:ext cx="28346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앞이 가까우면 스스로 멈춥니다. 자율주행의 가장 단순한 형태입니다.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19872" y="1965960"/>
            <a:ext cx="3383280" cy="3611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394192" y="2212848"/>
            <a:ext cx="365760" cy="36576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94192" y="2212848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94192" y="2706624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도전 — 온도로 팬 돌리기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394192" y="3090672"/>
            <a:ext cx="2834640" cy="1463040"/>
          </a:xfrm>
          <a:prstGeom prst="roundRect">
            <a:avLst>
              <a:gd name="adj" fmla="val 5000"/>
            </a:avLst>
          </a:prstGeom>
          <a:solidFill>
            <a:srgbClr val="1A1D21"/>
          </a:solidFill>
          <a:ln w="12700">
            <a:solidFill>
              <a:srgbClr val="2E33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40496" y="3200400"/>
            <a:ext cx="269748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t = sensor.temperature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40496" y="3538728"/>
            <a:ext cx="269748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8FD3E8"/>
                </a:solidFill>
                <a:latin typeface="Consolas"/>
                <a:ea typeface="Consolas"/>
                <a:cs typeface="Consolas"/>
              </a:rPr>
              <a:t>if t &gt; 26: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40496" y="3707891"/>
            <a:ext cx="269748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8FD3E8"/>
                </a:solidFill>
                <a:latin typeface="Consolas"/>
                <a:ea typeface="Consolas"/>
                <a:cs typeface="Consolas"/>
              </a:rPr>
              <a:t>    motor(50000)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40496" y="3877056"/>
            <a:ext cx="269748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set_color(255, 0, 0)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40496" y="4046220"/>
            <a:ext cx="269748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8FD3E8"/>
                </a:solidFill>
                <a:latin typeface="Consolas"/>
                <a:ea typeface="Consolas"/>
                <a:cs typeface="Consolas"/>
              </a:rPr>
              <a:t>else: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40496" y="4215383"/>
            <a:ext cx="269748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8FD3E8"/>
                </a:solidFill>
                <a:latin typeface="Consolas"/>
                <a:ea typeface="Consolas"/>
                <a:cs typeface="Consolas"/>
              </a:rPr>
              <a:t>    motor(0)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40496" y="4384548"/>
            <a:ext cx="269748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set_color(0, 255, 0)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94192" y="4718304"/>
            <a:ext cx="28346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더우면 팬이 돌고 LED가 빨개집니다. 온도 조절기와 같은 구조입니다.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918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TROUBLESHOOTING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모터가 안 돌 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오늘은 GND와 점퍼 캡, 두 가지가 원인의 대부분입니다.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993392"/>
            <a:ext cx="3017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CA3AF"/>
                </a:solidFill>
                <a:latin typeface="맑은 고딕"/>
                <a:ea typeface="맑은 고딕"/>
                <a:cs typeface="맑은 고딕"/>
              </a:rPr>
              <a:t>증상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0" y="1993392"/>
            <a:ext cx="3200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CA3AF"/>
                </a:solidFill>
                <a:latin typeface="맑은 고딕"/>
                <a:ea typeface="맑은 고딕"/>
                <a:cs typeface="맑은 고딕"/>
              </a:rPr>
              <a:t>원인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0" y="1993392"/>
            <a:ext cx="3840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CA3AF"/>
                </a:solidFill>
                <a:latin typeface="맑은 고딕"/>
                <a:ea typeface="맑은 고딕"/>
                <a:cs typeface="맑은 고딕"/>
              </a:rPr>
              <a:t>해결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86000"/>
            <a:ext cx="10817352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6888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아무 반응이 없다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2478024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GND를 잇지 않았다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2478024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보드 38번과 드라이버 GND를 연결합니다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962656"/>
            <a:ext cx="10817352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145536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아무 반응이 없다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315468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건전지를 안 넣었다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31546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드라이버의 12V·GND 연결을 확인합니다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639312"/>
            <a:ext cx="10817352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822191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항상 최대 속도로만 돈다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3831336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ENA 점퍼 캡이 꽂혀 있다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3831336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캡을 빼고 GP22를 연결합니다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315968"/>
            <a:ext cx="10817352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4498848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소리만 나고 안 돈다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4507992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속도 값이 너무 낮다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0" y="450799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duty를 30000 이상으로 올려 봅니다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992624"/>
            <a:ext cx="10817352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175504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방향이 반대다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5184648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모터 선 순서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0" y="518464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OUT1·OUT2의 두 선을 바꿔 물립니다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585216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코드를 의심하기 전에 GND부터 확인하세요. 오늘 문제의 절반이 여기서 나옵니다.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918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WRAP-UP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오늘 한 일 정리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빛을 넘어 실제로 움직이는 것을 만들었습니다.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65960"/>
            <a:ext cx="3383280" cy="22860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78408" y="2267712"/>
            <a:ext cx="402336" cy="402336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2267712"/>
            <a:ext cx="402336" cy="4023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2834640"/>
            <a:ext cx="2834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힘이 드는 일을 맡겼다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3273552"/>
            <a:ext cx="2834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GPIO가 못 하는 큰 전류를 드라이버가 대신 다루게 했습니다.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2836" y="1965960"/>
            <a:ext cx="3383280" cy="22860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695444" y="2267712"/>
            <a:ext cx="402336" cy="402336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95444" y="2267712"/>
            <a:ext cx="402336" cy="4023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95444" y="2834640"/>
            <a:ext cx="2834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전원을 나누고 GND를 이었다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95444" y="3273552"/>
            <a:ext cx="2834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신호와 힘을 분리하되 기준점은 하나로 맞췄습니다.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19872" y="1965960"/>
            <a:ext cx="3383280" cy="22860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412480" y="2267712"/>
            <a:ext cx="402336" cy="402336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2267712"/>
            <a:ext cx="402336" cy="4023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834640"/>
            <a:ext cx="2834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입력과 출력을 다 이었다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3273552"/>
            <a:ext cx="2834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센서로 읽은 값이 실제 움직임으로 이어졌습니다.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617720"/>
            <a:ext cx="10817352" cy="1051560"/>
          </a:xfrm>
          <a:prstGeom prst="roundRect">
            <a:avLst>
              <a:gd name="adj" fmla="val 6000"/>
            </a:avLst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4846320"/>
            <a:ext cx="9966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0A9AE"/>
                </a:solidFill>
                <a:latin typeface="맑은 고딕"/>
                <a:ea typeface="맑은 고딕"/>
                <a:cs typeface="맑은 고딕"/>
              </a:rPr>
              <a:t>오늘 딱 하나만 기억한다면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138928"/>
            <a:ext cx="9966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전원은 나누고, GND는 반드시 잇는다.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918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다음 시간 — Wi-Fi에 연결하기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보드 이름 끝의 W를 드디어 씁니다. 선 없이 바깥과 이어집니다.</a:t>
            </a:r>
          </a:p>
        </p:txBody>
      </p:sp>
      <p:sp>
        <p:nvSpPr>
          <p:cNvPr id="5" name="Oval 4"/>
          <p:cNvSpPr/>
          <p:nvPr/>
        </p:nvSpPr>
        <p:spPr>
          <a:xfrm>
            <a:off x="685800" y="2011680"/>
            <a:ext cx="365760" cy="36576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011680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029968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공유기에 접속하기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359152"/>
            <a:ext cx="5212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이름과 비밀번호를 코드에 적어 학교 공유기에 연결합니다.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2907792"/>
            <a:ext cx="365760" cy="36576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907792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92608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IP 주소 받기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255264"/>
            <a:ext cx="5212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연결에 성공하면 보드가 주소를 하나 받습니다. 그 주소로 접속할 수 있게 됩니다.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" y="3803904"/>
            <a:ext cx="365760" cy="36576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803904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822191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인터넷에서 값 가져오기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151376"/>
            <a:ext cx="5212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현재 시각처럼 바깥의 정보를 받아 오는 것까지 해 봅니다.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03720" y="2011680"/>
            <a:ext cx="4599432" cy="2606040"/>
          </a:xfrm>
          <a:prstGeom prst="roundRect">
            <a:avLst>
              <a:gd name="adj" fmla="val 2000"/>
            </a:avLst>
          </a:prstGeom>
          <a:solidFill>
            <a:srgbClr val="1A1D21"/>
          </a:solidFill>
          <a:ln w="12700">
            <a:solidFill>
              <a:srgbClr val="2E33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78040" y="2157984"/>
            <a:ext cx="4023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7A828A"/>
                </a:solidFill>
                <a:latin typeface="맑은 고딕"/>
                <a:ea typeface="맑은 고딕"/>
                <a:cs typeface="맑은 고딕"/>
              </a:rPr>
              <a:t>11차시 미리보기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78040" y="2487168"/>
            <a:ext cx="402336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0A9AE"/>
                </a:solidFill>
                <a:latin typeface="Consolas"/>
                <a:ea typeface="Consolas"/>
                <a:cs typeface="Consolas"/>
              </a:rPr>
              <a:t>import network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78040" y="2871216"/>
            <a:ext cx="402336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wlan = network.WLAN(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3127248"/>
            <a:ext cx="402336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network.STA_IF)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78040" y="3456432"/>
            <a:ext cx="402336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8FD3E8"/>
                </a:solidFill>
                <a:latin typeface="Consolas"/>
                <a:ea typeface="Consolas"/>
                <a:cs typeface="Consolas"/>
              </a:rPr>
              <a:t>wlan.connect(name, pw)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3913632"/>
            <a:ext cx="4023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>
                <a:solidFill>
                  <a:srgbClr val="F0A9AE"/>
                </a:solidFill>
                <a:latin typeface="맑은 고딕"/>
                <a:ea typeface="맑은 고딕"/>
                <a:cs typeface="맑은 고딕"/>
              </a:rPr>
              <a:t>1차시에 "이 보드의 진짜 무기"라고 했던 그 기능입니다.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5074920"/>
            <a:ext cx="10817352" cy="960120"/>
          </a:xfrm>
          <a:prstGeom prst="roundRect">
            <a:avLst>
              <a:gd name="adj" fmla="val 5000"/>
            </a:avLst>
          </a:prstGeom>
          <a:solidFill>
            <a:srgbClr val="F7F2F2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" y="5294376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다음 시간 준비물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5568696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노트북 · Pico 2 W · 데이터용 micro USB 케이블 · 오늘 쓴 키트 그대로  (새 부품은 없습니다. 안테나 부분을 손으로 덮지 마세요)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