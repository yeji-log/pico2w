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브레드보드와 외부 LED</a:t>
            </a:r>
          </a:p>
          <a:p/>
          <a:p>
            <a:r>
              <a:t>[지시] 실습 키트를 조별로 배부한다. 브레드보드, LED, 220Ω 저항, 점퍼선. 아직 꺼내서 만지지 말라고 미리 말해 둔다.</a:t>
            </a:r>
          </a:p>
          <a:p/>
          <a:p>
            <a:r>
              <a:t>지난 두 시간 동안 우리는 보드 안에서만 놀았습니다. 보드에 원래 붙어 있는 LED 하나를 깜빡이는 게 전부였죠.</a:t>
            </a:r>
          </a:p>
          <a:p/>
          <a:p>
            <a:r>
              <a:t>오늘은 보드 밖으로 나갑니다. 여러분이 직접 부품을 꽂아서 회로를 만들고, 그 회로에 있는 LED를 코드로 켭니다.</a:t>
            </a:r>
          </a:p>
          <a:p/>
          <a:p>
            <a:r>
              <a:t>오늘부터는 전기가 실제로 흐릅니다. 그래서 규칙이 하나 늘어납니다. 오늘 딱 하나만 기억하라고 하면 이겁니다 — LED 앞에는 언제나 저항. 이유는 수업 중간에 제대로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브레드보드를 읽는 법. 이게 오늘의 절반이에요. 이걸 모르면 아무것도 못 꽂습니다.</a:t>
            </a:r>
          </a:p>
          <a:p/>
          <a:p>
            <a:r>
              <a:t>둘째, LED의 극성. LED는 방향이 있습니다. 거꾸로 꽂으면 안 켜져요.</a:t>
            </a:r>
          </a:p>
          <a:p/>
          <a:p>
            <a:r>
              <a:t>셋째, 저항이 왜 필요한지. 계산까지 직접 해 볼 겁니다.</a:t>
            </a:r>
          </a:p>
          <a:p/>
          <a:p>
            <a:r>
              <a:t>넷째, 실제로 배선하기. 다섯째, 코드로 제어하기.</a:t>
            </a:r>
          </a:p>
          <a:p/>
          <a:p>
            <a:r>
              <a:t>오늘 코드는 지난 시간 것에서 딱 한 글자만 바뀝니다. 진짜예요. 그래서 오늘의 진짜 공부는 코드가 아니라 회로입니다.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시간에 한 것 네 가지만 짚고 갑니다.</a:t>
            </a:r>
          </a:p>
          <a:p/>
          <a:p>
            <a:r>
              <a:t>토니 설치했고, 펌웨어 올렸고, 셸에서 대화했고, blink.py를 보드에 저장했습니다.</a:t>
            </a:r>
          </a:p>
          <a:p/>
          <a:p>
            <a:r>
              <a:t>[발문] 저장 위치 어디였죠?</a:t>
            </a:r>
          </a:p>
          <a:p/>
          <a:p>
            <a:r>
              <a:t>네, Raspberry Pi Pico. 오늘도 똑같습니다.</a:t>
            </a:r>
          </a:p>
          <a:p/>
          <a:p>
            <a:r>
              <a:t>[지시] 보드를 USB에 연결하고 셸에 프롬프트가 뜨는지 먼저 확인하게 한다. 여기서 안 되는 학생은 지금 잡아야 뒤에서 안 밀린다.</a:t>
            </a:r>
          </a:p>
          <a:p/>
          <a:p>
            <a:r>
              <a:t>그리고 1차시의 3.3볼트 규칙. 그건 GPIO에 5볼트를 '넣지 마라'는 얘기였죠. 오늘은 반대로 GPIO에서 전기가 나옵니다. 그래서 주의할 게 하나 더 생겨요. 그게 저항입니다.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쓸 부품 네 가지</a:t>
            </a:r>
          </a:p>
          <a:p/>
          <a:p>
            <a:r>
              <a:t>[지시] 키트를 열게 하고 네 가지를 하나씩 꺼내 들어 보게 한다.</a:t>
            </a:r>
          </a:p>
          <a:p/>
          <a:p>
            <a:r>
              <a:t>브레드보드. 구멍이 잔뜩 뚫린 하얀 판입니다. 오늘 주인공이에요.</a:t>
            </a:r>
          </a:p>
          <a:p/>
          <a:p>
            <a:r>
              <a:t>LED. 투명한 머리에 다리 두 개 달린 거요. 자세히 보면 다리 길이가 다릅니다. 이따 중요해집니다.</a:t>
            </a:r>
          </a:p>
          <a:p/>
          <a:p>
            <a:r>
              <a:t>저항. 아주 작은 원통에 색깔 띠가 그려져 있는 부품입니다. 지금 색깔 한번 보세요. 빨강, 빨강, 갈색이면 맞습니다.</a:t>
            </a:r>
          </a:p>
          <a:p/>
          <a:p>
            <a:r>
              <a:t>점퍼선. 그냥 전선입니다. 양쪽 끝이 뾰족한 걸로 두 개 챙기세요.</a:t>
            </a:r>
          </a:p>
          <a:p/>
          <a:p>
            <a:r>
              <a:t>[발문] 다 있는 사람? 없는 사람 손 들어 주세요.</a:t>
            </a:r>
          </a:p>
          <a:p/>
          <a:p>
            <a:r>
              <a:t>[지시] 지금 다 채워 준다. 중간에 발견하면 배선을 처음부터 다시 하게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브레드보드 — 납땜 없는 실험판</a:t>
            </a:r>
          </a:p>
          <a:p/>
          <a:p>
            <a:r>
              <a:t>브레드보드가 뭔지부터 봅시다. 이름이 좀 이상하죠. 옛날에 빵 자르는 나무 도마 위에 회로를 만들던 데서 온 이름입니다.</a:t>
            </a:r>
          </a:p>
          <a:p/>
          <a:p>
            <a:r>
              <a:t>원래 회로를 만들려면 납땜을 해야 합니다. 인두를 달궈서 납을 녹여 부품을 기판에 붙이는 거예요. 문제는, 한 번 붙이면 떼기가 아주 번거롭습니다.</a:t>
            </a:r>
          </a:p>
          <a:p/>
          <a:p>
            <a:r>
              <a:t>브레드보드는 그냥 꽂습니다. 틀리면 뽑아서 다시 꽂으면 돼요. 그래서 설계하고 실험하는 단계에서 씁니다.</a:t>
            </a:r>
          </a:p>
          <a:p/>
          <a:p>
            <a:r>
              <a:t>[지시] 오른쪽 표 세 번째 줄을 짚는다.</a:t>
            </a:r>
          </a:p>
          <a:p/>
          <a:p>
            <a:r>
              <a:t>오늘 여러분은 분명히 몇 번 틀릴 겁니다. 괜찮습니다. 뽑아서 다시 꽂으면 돼요. 그게 이 판을 쓰는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[5분] 브레드보드 안쪽은 이렇게 연결되어 있다</a:t>
            </a:r>
          </a:p>
          <a:p/>
          <a:p>
            <a:r>
              <a:t>오늘 가장 중요한 장입니다. 여기만 이해하면 나머지는 쉽습니다.</a:t>
            </a:r>
          </a:p>
          <a:p/>
          <a:p>
            <a:r>
              <a:t>브레드보드는 겉으로 보면 그냥 구멍이 잔뜩 뚫린 판이죠. 그런데 안쪽에 금속 클립이 들어 있어서, 어떤 구멍끼리는 이미 연결되어 있습니다. 규칙이 세 개예요.</a:t>
            </a:r>
          </a:p>
          <a:p/>
          <a:p>
            <a:r>
              <a:t>[지시] 화면의 붉은 표시를 하나씩 짚어 가며 설명한다.</a:t>
            </a:r>
          </a:p>
          <a:p/>
          <a:p>
            <a:r>
              <a:t>1번, 맨 위와 맨 아래 가장자리 두 줄. 여기는 가로로 쭉 연결되어 있습니다. 플러스 마이너스 표시가 있죠. 전원을 여러 부품에 나눠 줄 때 씁니다. 오늘은 안 씁니다.</a:t>
            </a:r>
          </a:p>
          <a:p/>
          <a:p>
            <a:r>
              <a:t>2번, 가운데 부분. 여기가 핵심인데, 세로로 다섯 칸씩 묶여 있습니다. 화면에 빨간 테두리로 표시한 부분이요. 이 다섯 구멍은 안에서 서로 붙어 있어요. 그러니까 여기 아무 데나 꽂아도 같은 곳에 꽂은 겁니다.</a:t>
            </a:r>
          </a:p>
          <a:p/>
          <a:p>
            <a:r>
              <a:t>3번, 가운데 홈. 이게 경계입니다. 홈 위와 아래는 연결이 끊겨 있어요. 파란 테두리 쪽은 빨간 쪽이랑 별개입니다.</a:t>
            </a:r>
          </a:p>
          <a:p/>
          <a:p>
            <a:r>
              <a:t>[발문] 그럼 부품 두 개를 연결하고 싶으면 어떻게 꽂아야 할까요?</a:t>
            </a:r>
          </a:p>
          <a:p/>
          <a:p>
            <a:r>
              <a:t>같은 세로줄에 꽂으면 됩니다. 반대로 연결하고 싶지 않으면 다른 줄에 꽂아야 해요. 이 한 문장이 오늘의 전부입니다.</a:t>
            </a:r>
          </a:p>
          <a:p/>
          <a:p>
            <a:r>
              <a:t>[활동] 짝과 서로 설명해 보기. 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회로는 전기가 도는 '길'이다</a:t>
            </a:r>
          </a:p>
          <a:p/>
          <a:p>
            <a:r>
              <a:t>회로라는 말이 어렵게 들리는데, 그냥 길입니다.</a:t>
            </a:r>
          </a:p>
          <a:p/>
          <a:p>
            <a:r>
              <a:t>전기가 어디선가 나와서, 부품을 지나서, 다시 돌아옵니다. 이 길이 한 바퀴 완성되어야 부품이 동작해요.</a:t>
            </a:r>
          </a:p>
          <a:p/>
          <a:p>
            <a:r>
              <a:t>오늘 우리가 만들 길은 화면에 있는 이겁니다. GP15에서 나와서, 저항을 지나고, LED를 지나서, GND로 돌아옵니다.</a:t>
            </a:r>
          </a:p>
          <a:p/>
          <a:p>
            <a:r>
              <a:t>[발문] 여기서 GND를 안 연결하면 어떻게 될까요?</a:t>
            </a:r>
          </a:p>
          <a:p/>
          <a:p>
            <a:r>
              <a:t>길이 안 닫힙니다. 전기가 돌 수가 없어요. 그래서 아무 일도 안 일어납니다. 1차시에 GND는 무조건 연결하라고 했던 게 이 얘기입니다.</a:t>
            </a:r>
          </a:p>
          <a:p/>
          <a:p>
            <a:r>
              <a:t>세 번째 줄이 오늘 실습에서 제일 자주 생기는 문제예요. 다리가 헐겁게 꽂혀 있거나, 한 칸 옆에 꽂혀 있으면 길이 끊깁니다. 안 켜지면 제일 먼저 이걸 의심하세요.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LED는 방향이 있습니다</a:t>
            </a:r>
          </a:p>
          <a:p/>
          <a:p>
            <a:r>
              <a:t>LED 하나 꺼내서 들여다보세요. 다리 두 개 길이가 다르죠?</a:t>
            </a:r>
          </a:p>
          <a:p/>
          <a:p>
            <a:r>
              <a:t>이게 우연이 아니라 표시입니다. 긴 다리가 플러스, 짧은 다리가 마이너스예요. 어려운 말로는 애노드와 캐소드라고 하는데, 오늘은 길다 짧다로만 기억하셔도 됩니다.</a:t>
            </a:r>
          </a:p>
          <a:p/>
          <a:p>
            <a:r>
              <a:t>LED는 한쪽 방향으로만 전기가 통합니다. 그래서 거꾸로 꽂으면 안 켜져요.</a:t>
            </a:r>
          </a:p>
          <a:p/>
          <a:p>
            <a:r>
              <a:t>[발문] 그럼 다리를 잘라서 길이가 같아지면 어떻게 구분하죠?</a:t>
            </a:r>
          </a:p>
          <a:p/>
          <a:p>
            <a:r>
              <a:t>몸통을 자세히 보세요. 동그란 테두리 중에 한 군데가 평평하게 깎여 있습니다. 그쪽이 짧은 다리, 마이너스입니다.</a:t>
            </a:r>
          </a:p>
          <a:p/>
          <a:p>
            <a:r>
              <a:t>[지시] 여기서 안심시켜 준다.</a:t>
            </a:r>
          </a:p>
          <a:p/>
          <a:p>
            <a:r>
              <a:t>그리고 걱정 하나 덜어 드릴게요. 거꾸로 꽂아도 LED가 망가지지는 않습니다. 그냥 안 켜질 뿐이에요. 뽑아서 뒤집어 꽂으면 됩니다. 그러니까 마음 놓고 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저항이 없으면 왜 안 되나?</a:t>
            </a:r>
          </a:p>
          <a:p/>
          <a:p>
            <a:r>
              <a:t>오늘 딱 하나만 기억하라고 한 그 얘기입니다.</a:t>
            </a:r>
          </a:p>
          <a:p/>
          <a:p>
            <a:r>
              <a:t>LED는 전구랑 달라요. 전구는 자기가 알아서 적당히 전기를 먹는데, LED는 그게 안 됩니다. 흐르는 만큼 다 받아들여요. 그러다 순식간에 타 버립니다.</a:t>
            </a:r>
          </a:p>
          <a:p/>
          <a:p>
            <a:r>
              <a:t>그래서 앞에 저항을 넣어서 '이만큼만 흘러라' 하고 제한을 걸어 주는 겁니다.</a:t>
            </a:r>
          </a:p>
          <a:p/>
          <a:p>
            <a:r>
              <a:t>[지시] 아래 계산 박스를 왼쪽부터 하나씩 짚는다.</a:t>
            </a:r>
          </a:p>
          <a:p/>
          <a:p>
            <a:r>
              <a:t>값이 왜 220옴인지 계산해 봅시다. 어렵지 않아요.</a:t>
            </a:r>
          </a:p>
          <a:p/>
          <a:p>
            <a:r>
              <a:t>GPIO에서 나오는 전압이 3.3볼트입니다. 그중에서 LED 자체가 2볼트 정도를 씁니다. 그럼 남는 게 1.3볼트죠. 이 1.3볼트를 저항이 감당합니다.</a:t>
            </a:r>
          </a:p>
          <a:p/>
          <a:p>
            <a:r>
              <a:t>LED에 흘리고 싶은 전류는 6밀리암페어 정도예요. 그럼 1.3 나누기 0.006 하면 약 216옴이 나옵니다.</a:t>
            </a:r>
          </a:p>
          <a:p/>
          <a:p>
            <a:r>
              <a:t>그런데 216옴짜리 저항은 안 팔아요. 그래서 가장 가까운 규격품인 220옴을 씁니다.</a:t>
            </a:r>
          </a:p>
          <a:p/>
          <a:p>
            <a:r>
              <a:t>[발문] 저항을 더 큰 걸 쓰면 어떻게 될까요? (답: 전류가 줄어서 더 어두워진다. 망가지지는 않는다)</a:t>
            </a:r>
          </a:p>
          <a:p/>
          <a:p>
            <a:r>
              <a:t>정리하면, 저항 없는 LED는 한 번이면 끝입니다. LED 앞에는 언제나 저항.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저항 색띠 읽는 법</a:t>
            </a:r>
          </a:p>
          <a:p/>
          <a:p>
            <a:r>
              <a:t>저항은 너무 작아서 숫자를 못 적습니다. 그래서 색깔 띠로 값을 표시해요.</a:t>
            </a:r>
          </a:p>
          <a:p/>
          <a:p>
            <a:r>
              <a:t>먼저 방향을 잡습니다. 금색 띠가 있는 쪽을 오른쪽으로 두세요. 그럼 왼쪽부터 1번, 2번, 3번 띠입니다.</a:t>
            </a:r>
          </a:p>
          <a:p/>
          <a:p>
            <a:r>
              <a:t>1번이 빨강, 숫자로 2입니다. 2번도 빨강, 역시 2. 그래서 앞 두 자리가 22가 됩니다.</a:t>
            </a:r>
          </a:p>
          <a:p/>
          <a:p>
            <a:r>
              <a:t>3번 갈색은 곱하기 10이라는 뜻이에요. 그래서 22 곱하기 10, 220옴입니다.</a:t>
            </a:r>
          </a:p>
          <a:p/>
          <a:p>
            <a:r>
              <a:t>마지막 금색은 오차예요. 플러스 마이너스 5퍼센트. 즉 209옴에서 231옴 사이라는 뜻인데, 실용적으로는 신경 안 써도 됩니다.</a:t>
            </a:r>
          </a:p>
          <a:p/>
          <a:p>
            <a:r>
              <a:t>[활동] 각자 저항을 들고 빨강 빨강 갈색인지 확인하게 한다. 30초.</a:t>
            </a:r>
          </a:p>
          <a:p/>
          <a:p>
            <a:r>
              <a:t>다 확인하셨나요? 색이 애매하면 옆 사람 것과 비교해 보세요. 오늘 나눠 드린 건 전부 같은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오늘 만들 회로</a:t>
            </a:r>
          </a:p>
          <a:p/>
          <a:p>
            <a:r>
              <a:t>이제 실제로 무엇을 어디에 꽂을지 봅시다.</a:t>
            </a:r>
          </a:p>
          <a:p/>
          <a:p>
            <a:r>
              <a:t>위쪽 그림이 전체 길입니다. GP15에서 나와서, 저항, LED를 지나 GND로 돌아옵니다.</a:t>
            </a:r>
          </a:p>
          <a:p/>
          <a:p>
            <a:r>
              <a:t>핀 위치를 먼저 확인하세요. GP15는 물리적으로 20번 핀입니다. USB 반대쪽 끝 왼쪽 맨 아래예요. GND는 그 위로 두 칸, 18번 핀입니다. 1차시에 나눠 드린 핀 배치도 인쇄물 꺼내서 확인하세요.</a:t>
            </a:r>
          </a:p>
          <a:p/>
          <a:p>
            <a:r>
              <a:t>[지시] 핀아웃 인쇄물을 다시 꺼내게 한다. 실물에서 20번과 18번을 손가락으로 짚게 한다.</a:t>
            </a:r>
          </a:p>
          <a:p/>
          <a:p>
            <a:r>
              <a:t>아래 표가 배선 순서입니다. 네 줄이에요.</a:t>
            </a:r>
          </a:p>
          <a:p/>
          <a:p>
            <a:r>
              <a:t>1번, 점퍼선으로 GP15와 브레드보드의 어떤 세로줄을 연결합니다. 이걸 A줄이라고 부를게요.</a:t>
            </a:r>
          </a:p>
          <a:p/>
          <a:p>
            <a:r>
              <a:t>2번, 저항 한쪽 다리를 A줄에, 다른 쪽 다리를 B줄에 꽂습니다. 저항은 방향이 없으니 아무렇게나 꽂아도 됩니다.</a:t>
            </a:r>
          </a:p>
          <a:p/>
          <a:p>
            <a:r>
              <a:t>3번, LED의 긴 다리를 B줄에, 짧은 다리를 C줄에 꽂습니다. 여기가 방향이 중요한 곳이에요.</a:t>
            </a:r>
          </a:p>
          <a:p/>
          <a:p>
            <a:r>
              <a:t>4번, 점퍼선으로 C줄과 GND를 연결합니다.</a:t>
            </a:r>
          </a:p>
          <a:p/>
          <a:p>
            <a:r>
              <a:t>[발문] 왜 저항과 LED가 B줄을 같이 쓰죠? (답: 같은 세로줄이니까 연결된 것 — 저항 끝과 LED 다리가 이어진다)</a:t>
            </a:r>
          </a:p>
          <a:p/>
          <a:p>
            <a:r>
              <a:t>맨 아래 작은 글씨. A, B, C는 그냥 이름입니다. 서로 다른 세로줄이기만 하면 몇 번째 줄이든 상관없어요.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배선하는 순서</a:t>
            </a:r>
          </a:p>
          <a:p/>
          <a:p>
            <a:r>
              <a:t>[지시] 여기서 다 같이 한 단계씩 진행한다. 한 단계 끝날 때마다 손을 들게 해서 속도를 맞춘다.</a:t>
            </a:r>
          </a:p>
          <a:p/>
          <a:p>
            <a:r>
              <a:t>1번. 케이블부터 뽑습니다. 지금 꽂혀 있는 사람은 뽑으세요. 전기가 흐르는 상태에서 배선을 만지면 순간적으로 합선이 날 수 있습니다.</a:t>
            </a:r>
          </a:p>
          <a:p/>
          <a:p>
            <a:r>
              <a:t>2번. 저항을 먼저 꽂습니다. 다리 두 개가 서로 다른 세로줄에 가도록요. 같은 줄에 두 다리를 다 꽂으면 저항이 아무 일도 안 하게 됩니다.</a:t>
            </a:r>
          </a:p>
          <a:p/>
          <a:p>
            <a:r>
              <a:t>[발문] 왜 그럴까요? (답: 같은 줄은 이미 연결되어 있으니 저항을 그냥 건너뛰는 셈이 된다)</a:t>
            </a:r>
          </a:p>
          <a:p/>
          <a:p>
            <a:r>
              <a:t>3번. LED입니다. 긴 다리를 저항 다리가 있는 줄에 같이 꽂으세요. 짧은 다리는 또 다른 줄에.</a:t>
            </a:r>
          </a:p>
          <a:p/>
          <a:p>
            <a:r>
              <a:t>4번. 점퍼선 두 개. 하나는 GP15에서 저항이 있는 첫 줄로, 다른 하나는 LED 짧은 다리 줄에서 GND로.</a:t>
            </a:r>
          </a:p>
          <a:p/>
          <a:p>
            <a:r>
              <a:t>5번. 다 꽂았으면 손 떼고 눈으로 확인합니다. LED 긴 다리 맞는지, GND 연결됐는지. 확인이 끝나면 그때 USB를 꽂습니다.</a:t>
            </a:r>
          </a:p>
          <a:p/>
          <a:p>
            <a:r>
              <a:t>[지시] 아래 붉은 박스를 강조한다. 헐겁게 꽂힌 다리가 오늘 실습 실패의 1위 원인이다.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새로 생긴 규칙</a:t>
            </a:r>
          </a:p>
          <a:p/>
          <a:p>
            <a:r>
              <a:t>[지시] 화면이 어두워지므로 자연스럽게 주의가 모인다. 여기서 한 번 멈춘다.</a:t>
            </a:r>
          </a:p>
          <a:p/>
          <a:p>
            <a:r>
              <a:t>1차시에 3.3볼트 규칙을 배웠죠. 그건 GPIO에 5볼트를 넣지 말라는 얘기였습니다. 오늘은 반대로 GPIO에서 전기가 나가는 상황이라 규칙이 하나 늘었습니다.</a:t>
            </a:r>
          </a:p>
          <a:p/>
          <a:p>
            <a:r>
              <a:t>오른쪽 빨간 쪽부터 봅시다. 네 가지입니다.</a:t>
            </a:r>
          </a:p>
          <a:p/>
          <a:p>
            <a:r>
              <a:t>첫째, 저항 없이 LED를 GPIO에 바로 꽂지 마세요. 오늘의 핵심입니다.</a:t>
            </a:r>
          </a:p>
          <a:p/>
          <a:p>
            <a:r>
              <a:t>둘째, LED를 3V3 핀에 직접 연결하지 마세요. 3V3은 항상 켜져 있는 전원이라 코드로 끌 수도 없고, 저항 없이 꽂으면 바로 탑니다.</a:t>
            </a:r>
          </a:p>
          <a:p/>
          <a:p>
            <a:r>
              <a:t>셋째, USB 꽂은 채로 점퍼선 옮기지 마세요. 1차시에도 한 얘기죠.</a:t>
            </a:r>
          </a:p>
          <a:p/>
          <a:p>
            <a:r>
              <a:t>넷째, GPIO 두 개를 점퍼선으로 그냥 연결하지 마세요. 하나가 HIGH고 하나가 LOW면 그대로 합선입니다.</a:t>
            </a:r>
          </a:p>
          <a:p/>
          <a:p>
            <a:r>
              <a:t>[지시] 다 같이 소리 내어 말하게 한다 — "LED 앞에는 언제나 저항"</a:t>
            </a:r>
          </a:p>
          <a:p/>
          <a:p>
            <a:r>
              <a:t>왼쪽 초록 쪽은 반대로 해야 할 것들이에요. 마지막 줄이 실용적입니다. 안 켜지면 화내지 말고 LED 방향부터 보세요. 열에 여섯은 그겁니다.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코드는 한 글자만 바뀝니다</a:t>
            </a:r>
          </a:p>
          <a:p/>
          <a:p>
            <a:r>
              <a:t>[지시] 회로가 완성된 학생부터 코드를 치게 한다. 아직 배선 중인 학생은 배선을 먼저 끝내게 한다.</a:t>
            </a:r>
          </a:p>
          <a:p/>
          <a:p>
            <a:r>
              <a:t>회로를 다 만들었으면 이제 코드입니다. 그런데 놀랄 정도로 간단해요.</a:t>
            </a:r>
          </a:p>
          <a:p/>
          <a:p>
            <a:r>
              <a:t>지난 시간 코드에서 딱 한 군데만 바꿉니다. 4행이요.</a:t>
            </a:r>
          </a:p>
          <a:p/>
          <a:p>
            <a:r>
              <a:t>지난 시간에는 따옴표 LED라고 썼죠. 그건 보드에 원래 붙어 있는 LED를 부르는 특별한 이름이었습니다. 오늘은 그 자리에 숫자 15를 씁니다. GP15 핀이라는 뜻이에요. 따옴표 없이 그냥 숫자입니다.</a:t>
            </a:r>
          </a:p>
          <a:p/>
          <a:p>
            <a:r>
              <a:t>[지시] 아래 비교 박스를 짚는다.</a:t>
            </a:r>
          </a:p>
          <a:p/>
          <a:p>
            <a:r>
              <a:t>정리하면 이겁니다. 내장 LED는 이름으로 부르고, 외부 부품은 핀 번호로 부릅니다. 앞으로 센서를 붙이든 모터를 붙이든 전부 핀 번호를 씁니다.</a:t>
            </a:r>
          </a:p>
          <a:p/>
          <a:p>
            <a:r>
              <a:t>8행은 0.5초로 바꿨어요. 지난번보다 두 배 빠릅니다. 실행하면 여러분이 만든 LED가 깜빡일 겁니다.</a:t>
            </a:r>
          </a:p>
          <a:p/>
          <a:p>
            <a:r>
              <a:t>[지시] F5로 실행하게 한다. 저장 위치는 Raspberry Pi Pico임을 다시 상기시킨다.</a:t>
            </a:r>
          </a:p>
          <a:p/>
          <a:p>
            <a:r>
              <a:t>[발문] 켜진 사람 손 들어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LED가 안 켜질 때</a:t>
            </a:r>
          </a:p>
          <a:p/>
          <a:p>
            <a:r>
              <a:t>[지시] 이 장을 띄워 두고 순회한다. 학생이 물어보면 답을 주지 말고 이 표를 위에서부터 같이 짚는다.</a:t>
            </a:r>
          </a:p>
          <a:p/>
          <a:p>
            <a:r>
              <a:t>안 켜지는 경우가 반은 될 겁니다. 정상이에요. 원인은 거의 정해져 있습니다.</a:t>
            </a:r>
          </a:p>
          <a:p/>
          <a:p>
            <a:r>
              <a:t>1번, LED 방향. 제일 흔합니다. 뽑아서 뒤집어 꽂아 보세요. 이거 하나로 절반이 해결됩니다.</a:t>
            </a:r>
          </a:p>
          <a:p/>
          <a:p>
            <a:r>
              <a:t>2번, GND 점퍼선. 빠져 있거나 엉뚱한 줄에 꽂혀 있는 경우입니다. 회로는 길이라고 했죠. GND가 없으면 길이 안 닫힙니다.</a:t>
            </a:r>
          </a:p>
          <a:p/>
          <a:p>
            <a:r>
              <a:t>3번, 다리가 덜 들어간 경우. 겉으로는 꽂힌 것처럼 보이는데 안에서 안 물린 겁니다. 꾹 눌러 보세요.</a:t>
            </a:r>
          </a:p>
          <a:p/>
          <a:p>
            <a:r>
              <a:t>4번, 코드는 도는데 반응이 없다면 핀 번호를 보세요. 코드는 15인데 실제로는 14번에 꽂았을 수 있습니다.</a:t>
            </a:r>
          </a:p>
          <a:p/>
          <a:p>
            <a:r>
              <a:t>5번, 아주 어둡게 켜진다면 저항이 너무 큰 겁니다. 색띠 다시 확인하세요.</a:t>
            </a:r>
          </a:p>
          <a:p/>
          <a:p>
            <a:r>
              <a:t>[지시] 맨 아래 줄을 강조한다. 배선을 만질 때는 USB부터 뽑는다.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신호등 만들기</a:t>
            </a:r>
          </a:p>
          <a:p/>
          <a:p>
            <a:r>
              <a:t>지금까지 만든 걸 확장해 봅시다. LED를 세 개로 늘려서 신호등을 만듭니다.</a:t>
            </a:r>
          </a:p>
          <a:p/>
          <a:p>
            <a:r>
              <a:t>미션 1. LED 세 개를 각각 다른 핀에 연결하세요. 빨강은 GP15, 노랑은 GP14, 초록은 GP13. 세 핀이 나란히 붙어 있어서 배선이 편합니다.</a:t>
            </a:r>
          </a:p>
          <a:p/>
          <a:p>
            <a:r>
              <a:t>[지시] 여기서 중요한 것을 강조한다.</a:t>
            </a:r>
          </a:p>
          <a:p/>
          <a:p>
            <a:r>
              <a:t>저항은 LED마다 하나씩 필요합니다. 세 개를 저항 하나에 몰아 쓰면 안 돼요. GND는 하나만 써도 됩니다. 브레드보드에서 세 LED의 짧은 다리를 같은 줄로 모아서 GND 점퍼선 하나로 연결하면 깔끔합니다.</a:t>
            </a:r>
          </a:p>
          <a:p/>
          <a:p>
            <a:r>
              <a:t>[발문] GND는 왜 하나만 있어도 될까요? (답: 돌아오는 길은 공유해도 되기 때문. 나가는 길만 따로 필요하다)</a:t>
            </a:r>
          </a:p>
          <a:p/>
          <a:p>
            <a:r>
              <a:t>미션 2. 코드를 따라 치세요. 빨강 3초, 초록 3초, 노랑 1초 순서입니다. 세미콜론은 한 줄에 여러 명령을 쓸 때 쓰는 건데, 줄을 나눠 써도 똑같이 동작합니다. 편한 대로 하세요.</a:t>
            </a:r>
          </a:p>
          <a:p/>
          <a:p>
            <a:r>
              <a:t>미션 3은 도전 과제입니다. 초록불이 꺼지기 직전에 깜빡이는 거요. 실제 횡단보도가 그렇게 되어 있죠. for 반복문을 쓰면 됩니다.</a:t>
            </a:r>
          </a:p>
          <a:p/>
          <a:p>
            <a:r>
              <a:t>[지시] 4분간 실습. 미션 2까지 끝낸 조는 미션 3으로 안내한다. 다 끝낸 조는 다른 조를 도와주게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문장으로 정리합니다.</a:t>
            </a:r>
          </a:p>
          <a:p/>
          <a:p>
            <a:r>
              <a:t>첫째, 브레드보드를 읽을 수 있게 됐습니다. 세로 5칸이 한 묶음, 중앙 홈이 경계. 이 두 문장이면 앞으로 나오는 모든 회로를 꽂을 수 있어요.</a:t>
            </a:r>
          </a:p>
          <a:p/>
          <a:p>
            <a:r>
              <a:t>둘째, 첫 회로를 직접 만들었습니다. 1차시에 배운 입력, 처리, 출력 중에 오늘도 출력이었죠. 다만 이번엔 보드 밖에 있는 출력이었습니다.</a:t>
            </a:r>
          </a:p>
          <a:p/>
          <a:p>
            <a:r>
              <a:t>셋째, 핀 번호로 부품을 제어했습니다. 앞으로 센서든 모터든 전부 이 방식입니다.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그리고 오늘 딱 하나. LED 앞에는 언제나 저항. 다음 시간에도, 학기 끝날 때까지 이건 변하지 않습니다.</a:t>
            </a:r>
          </a:p>
          <a:p/>
          <a:p>
            <a:r>
              <a:t>[지시] 부품을 키트에 정리해 담게 한다. 브레드보드에 꽂은 것은 그대로 두어도 되고, 보관이 어려우면 뽑아서 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버튼으로 입력 받기</a:t>
            </a:r>
          </a:p>
          <a:p/>
          <a:p>
            <a:r>
              <a:t>오늘까지 우리가 한 건 전부 '내보내기'였습니다. 코드가 시키는 대로 LED가 켜졌죠.</a:t>
            </a:r>
          </a:p>
          <a:p/>
          <a:p>
            <a:r>
              <a:t>다음 시간에는 반대입니다. 바깥에서 보드로 신호가 들어옵니다. 버튼을 누르면 그걸 코드가 읽는 거예요.</a:t>
            </a:r>
          </a:p>
          <a:p/>
          <a:p>
            <a:r>
              <a:t>오른쪽 코드 보세요. 오늘 코드에서 딱 한 단어만 다릅니다. Pin.OUT 자리에 Pin.IN이 들어가죠. 같은 GPIO 핀인데 방향만 반대로 쓰는 겁니다. 1차시에 GPIO는 입력으로도 출력으로도 쓸 수 있다고 했던 게 이 얘기입니다.</a:t>
            </a:r>
          </a:p>
          <a:p/>
          <a:p>
            <a:r>
              <a:t>그리고 풀업, 풀다운이라는 걸 배웁니다. 버튼을 안 누르고 있을 때 핀 값이 제멋대로 흔들리는 문제가 있는데, 그걸 잡아 주는 방법이에요.</a:t>
            </a:r>
          </a:p>
          <a:p/>
          <a:p>
            <a:r>
              <a:t>[마무리] 준비물은 오늘과 같습니다. 키트 그대로 가져오세요. 버튼과 10킬로옴 저항은 다음 시간에 나눠 드립니다.</a:t>
            </a:r>
          </a:p>
          <a:p/>
          <a:p>
            <a:r>
              <a:t>[지시] 다음 시간에 오늘 만든 LED 회로를 그대로 쓴다고 알려 준다. 브레드보드에 꽂은 채 보관할 수 있으면 그렇게 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브레드보드와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보드 밖으로 나가 첫 회로를 직접 만듭니다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브레드보드  ·  220Ω 저항  ·  LED 극성  ·  GP15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14884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3127248"/>
            <a:ext cx="3749039" cy="164592"/>
          </a:xfrm>
          <a:prstGeom prst="rect">
            <a:avLst/>
          </a:prstGeom>
          <a:solidFill>
            <a:srgbClr val="15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28431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4463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40496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96528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59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08592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64624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0656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76688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0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88752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44784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245059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8431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84463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40496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96528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52559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08592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64624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20656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76688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20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88752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44784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6" y="2706624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28431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84463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40496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96528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52559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08592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64624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20656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76688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32720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88752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44784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100816" y="2962656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28431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84463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40496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96528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52559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08592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564624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20656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76688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332720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88752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44784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00816" y="3401568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028431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84463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540496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796528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52559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308592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564624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820656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076688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332720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588752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844784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100816" y="3657600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028431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84463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540496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796528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052559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308592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564624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820656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076688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332720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88752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844784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100816" y="3913632"/>
            <a:ext cx="73152" cy="73152"/>
          </a:xfrm>
          <a:prstGeom prst="ellipse">
            <a:avLst/>
          </a:prstGeom>
          <a:solidFill>
            <a:srgbClr val="444A52"/>
          </a:solidFill>
          <a:ln w="5080">
            <a:solidFill>
              <a:srgbClr val="44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89520" y="2935224"/>
            <a:ext cx="502920" cy="64008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89520" y="3648456"/>
            <a:ext cx="502920" cy="64008"/>
          </a:xfrm>
          <a:prstGeom prst="rect">
            <a:avLst/>
          </a:prstGeom>
          <a:solidFill>
            <a:srgbClr val="6B7280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7072" y="2683764"/>
            <a:ext cx="219456" cy="45720"/>
          </a:xfrm>
          <a:prstGeom prst="rect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454896" y="2683764"/>
            <a:ext cx="219456" cy="45720"/>
          </a:xfrm>
          <a:prstGeom prst="rect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796528" y="2633472"/>
            <a:ext cx="658368" cy="146304"/>
          </a:xfrm>
          <a:prstGeom prst="roundRect">
            <a:avLst>
              <a:gd name="adj" fmla="val 35000"/>
            </a:avLst>
          </a:prstGeom>
          <a:solidFill>
            <a:srgbClr val="D8BE95"/>
          </a:solidFill>
          <a:ln w="9525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888699" y="2651760"/>
            <a:ext cx="46085" cy="109728"/>
          </a:xfrm>
          <a:prstGeom prst="rect">
            <a:avLst/>
          </a:prstGeom>
          <a:solidFill>
            <a:srgbClr val="C0392B"/>
          </a:solidFill>
          <a:ln w="50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987454" y="2651760"/>
            <a:ext cx="46085" cy="109728"/>
          </a:xfrm>
          <a:prstGeom prst="rect">
            <a:avLst/>
          </a:prstGeom>
          <a:solidFill>
            <a:srgbClr val="C0392B"/>
          </a:solidFill>
          <a:ln w="50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86209" y="2651760"/>
            <a:ext cx="46085" cy="109728"/>
          </a:xfrm>
          <a:prstGeom prst="rect">
            <a:avLst/>
          </a:prstGeom>
          <a:solidFill>
            <a:srgbClr val="8A5A2B"/>
          </a:solidFill>
          <a:ln w="508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23222" y="2651760"/>
            <a:ext cx="46085" cy="109728"/>
          </a:xfrm>
          <a:prstGeom prst="rect">
            <a:avLst/>
          </a:prstGeom>
          <a:solidFill>
            <a:srgbClr val="C8A24A"/>
          </a:solidFill>
          <a:ln w="5080">
            <a:solidFill>
              <a:srgbClr val="C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948672" y="2487168"/>
            <a:ext cx="457200" cy="457200"/>
          </a:xfrm>
          <a:prstGeom prst="ellipse">
            <a:avLst/>
          </a:prstGeom>
          <a:noFill/>
          <a:ln w="9525">
            <a:solidFill>
              <a:srgbClr val="FF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40112" y="2578608"/>
            <a:ext cx="274320" cy="274320"/>
          </a:xfrm>
          <a:prstGeom prst="ellipse">
            <a:avLst/>
          </a:prstGeom>
          <a:solidFill>
            <a:srgbClr val="FF5A64"/>
          </a:solidFill>
          <a:ln w="9525">
            <a:solidFill>
              <a:srgbClr val="FF8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113264" y="2843784"/>
            <a:ext cx="45720" cy="27432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222992" y="2843784"/>
            <a:ext cx="45720" cy="18288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브레드보드 읽기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구멍이 안쪽에서 어떻게 연결되는지 이해한다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LED의 극성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긴 다리와 짧은 다리를 구분해 올바른 방향으로 꽂는다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저항이 필요한 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왜 220Ω인지 계산으로 확인하고 색띠를 읽는다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첫 회로 배선하기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GP15 → 저항 → LED → GND 순서로 직접 연결한다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코드로 제어하기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 번호로 외부 LED를 깜빡이고 신호등을 만든다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2차시에는 환경을 갖추고 보드 안의 LED를 깜빡였습니다. 오늘은 보드 밖의 LED를 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Thonny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개발 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코드를 쓰고 보드로 보내는 프로그램입니다.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펌웨어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한 번뿐인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MicroPython은 이미 올라가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즉시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 줄씩 쳐서 바로 확인할 수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저장 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Raspberry Pi Pico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 컴퓨터가 아니라 보드에 저장합니다.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1차시의 3.3V 규칙은 오늘도 그대로입니다.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다만 오늘은 GPIO에서 전기를 '내보내는' 쪽이라 새로운 주의 사항이 하나 더 생깁니다.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쓸 부품 네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키트를 열어 아래 네 가지가 모두 있는지 먼저 확인하세요.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브레드보드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납땜 없이 부품을 꽂아 회로를 만드는 판입니다.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175" y="192024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3495" y="219456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3495" y="21945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495" y="274320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495" y="3127248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전기가 흐르면 빛나는 부품. 방향이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495" y="41605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1개 (실습 3개)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2550" y="192024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6870" y="219456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6870" y="21945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6870" y="274320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 220Ω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6870" y="3127248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전류를 줄여 LED와 핀을 보호합니다.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6870" y="41605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1개 (실습 3개)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5925" y="192024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0245" y="219456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0245" y="21945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0245" y="274320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0245" y="3127248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보드와 브레드보드를 잇는 전선입니다.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0245" y="41605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2개 (실습 4개)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확인하고 시작하세요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부품이 하나라도 없으면 지금 손을 들어 주세요. 배선을 시작한 뒤에 빠진 것을 발견하면 처음부터 다시 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브레드보드 — 납땜 없는 실험판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부품 다리를 구멍에 꽂기만 하면 연결됩니다. 잘못 꽂아도 뽑아서 다시 하면 그만입니다.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285232" cy="3291840"/>
          </a:xfrm>
          <a:prstGeom prst="roundRect">
            <a:avLst>
              <a:gd name="adj" fmla="val 3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8523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납땜으로 만들면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기판에 부품을 녹여 붙이는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128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브레드보드로 만들면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구멍에 꽂기만 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2724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인두와 납, 환기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272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12724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부품과 판만 있으면 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수정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65760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떼어 내기 어려움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65760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뽑아서 다시 꽂으면 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87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실수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18795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한 번 틀리면 되돌리기 힘듦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87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실수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18795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몇 번이든 다시 할 수 있음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183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718304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완성된 제품에 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183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718304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설계와 실험 단계에 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실수해도 괜찮다는 것이 브레드보드의 가장 큰 장점입니다. 오늘 마음 놓고 여러 번 꽂았다 뽑아 보세요.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브레드보드 안쪽은 이렇게 연결되어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겉으로는 구멍만 보이지만, 안쪽에는 금속 클립이 정해진 규칙으로 이어져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760720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21408"/>
            <a:ext cx="5074920" cy="3072384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12700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" y="2231136"/>
            <a:ext cx="4480560" cy="228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" y="2651760"/>
            <a:ext cx="4480560" cy="22860"/>
          </a:xfrm>
          <a:prstGeom prst="rect">
            <a:avLst/>
          </a:prstGeom>
          <a:solidFill>
            <a:srgbClr val="2F3C7E"/>
          </a:solidFill>
          <a:ln w="508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1288" y="4718304"/>
            <a:ext cx="4480560" cy="228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5138928"/>
            <a:ext cx="4480560" cy="22860"/>
          </a:xfrm>
          <a:prstGeom prst="rect">
            <a:avLst/>
          </a:prstGeom>
          <a:solidFill>
            <a:srgbClr val="2F3C7E"/>
          </a:solidFill>
          <a:ln w="508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639312"/>
            <a:ext cx="4892040" cy="146304"/>
          </a:xfrm>
          <a:prstGeom prst="rect">
            <a:avLst/>
          </a:prstGeom>
          <a:solidFill>
            <a:srgbClr val="E7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07008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6192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65376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4560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23744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52928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82112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11296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0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9663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98848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28032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57216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0" y="230428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07008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36192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65376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94560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23744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52928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82112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11296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0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69663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98848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28032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57216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86400" y="248716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7008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36192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65376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194560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23744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52928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82112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11296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840480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169663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98848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828032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57216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6400" y="28346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07008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536192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865376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94560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23744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52928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2112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11296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40480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169663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498848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28032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157216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86400" y="29992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207008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536192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65376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194560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23744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852928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182112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11296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40480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169663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98848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828032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157216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486400" y="31638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207008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36192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865376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194560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523744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852928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182112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511296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169663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498848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828032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157216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486400" y="332841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207008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536192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865376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194560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523744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852928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182112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11296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40480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169663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98848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28032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157216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486400" y="349300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207008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536192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865376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194560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523744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852928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182112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511296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840480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169663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498848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828032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157216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486400" y="38770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207008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536192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865376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194560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523744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852928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182112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511296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840480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169663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498848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828032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157216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86400" y="4041648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207008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536192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865376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194560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2523744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2852928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182112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511296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840480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169663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498848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828032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157216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486400" y="4206240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207008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536192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865376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194560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523744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852928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182112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511296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840480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169663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498848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828032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157216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486400" y="4370832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207008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536192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865376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194560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523744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852928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182112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511296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840480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169663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498848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828032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157216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486400" y="4535424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07008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536192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865376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194560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523744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852928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82112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11296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840480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169663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498848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828032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157216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486400" y="479145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207008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536192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865376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194560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523744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2852928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182112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511296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840480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169663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498848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828032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157216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486400" y="4974336"/>
            <a:ext cx="100584" cy="100584"/>
          </a:xfrm>
          <a:prstGeom prst="ellipse">
            <a:avLst/>
          </a:prstGeom>
          <a:solidFill>
            <a:srgbClr val="C9C2BA"/>
          </a:solidFill>
          <a:ln w="5080">
            <a:solidFill>
              <a:srgbClr val="C9C2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69264" y="2816352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69264" y="2980944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69264" y="314553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69264" y="3310128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69264" y="3474720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69264" y="3858768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f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69264" y="4023360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69264" y="4187952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h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69264" y="4352544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i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69264" y="451713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j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705856" y="2267712"/>
            <a:ext cx="2011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705856" y="2450592"/>
            <a:ext cx="2011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−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2816352" y="2788920"/>
            <a:ext cx="173736" cy="85039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2816352" y="3831336"/>
            <a:ext cx="173736" cy="85039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1161288" y="2258568"/>
            <a:ext cx="4480560" cy="18288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053328" y="2231136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053328" y="223113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25" name="Oval 224"/>
          <p:cNvSpPr/>
          <p:nvPr/>
        </p:nvSpPr>
        <p:spPr>
          <a:xfrm>
            <a:off x="6053328" y="3063240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053328" y="306324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27" name="Oval 226"/>
          <p:cNvSpPr/>
          <p:nvPr/>
        </p:nvSpPr>
        <p:spPr>
          <a:xfrm>
            <a:off x="6053328" y="3602736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053328" y="360273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9" name="Oval 228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223760" y="21214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전원 레일 — 가로로 길게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223760" y="2468879"/>
            <a:ext cx="4279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위아래 가장자리 두 줄은 한 줄 전체가 연결됩니다. + 와 − 로 표시되어 있고, 여러 부품에 전원을 나눠 줄 때 씁니다.</a:t>
            </a:r>
          </a:p>
        </p:txBody>
      </p:sp>
      <p:sp>
        <p:nvSpPr>
          <p:cNvPr id="233" name="Oval 232"/>
          <p:cNvSpPr/>
          <p:nvPr/>
        </p:nvSpPr>
        <p:spPr>
          <a:xfrm>
            <a:off x="672084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72084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223760" y="3218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세로 5칸 — 한 묶음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223760" y="3566160"/>
            <a:ext cx="4279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같은 세로줄의 다섯 구멍은 안쪽에서 서로 연결되어 있습니다. 부품 다리를 같은 줄에 꽂으면 연결된 것입니다.</a:t>
            </a:r>
          </a:p>
        </p:txBody>
      </p:sp>
      <p:sp>
        <p:nvSpPr>
          <p:cNvPr id="237" name="Oval 236"/>
          <p:cNvSpPr/>
          <p:nvPr/>
        </p:nvSpPr>
        <p:spPr>
          <a:xfrm>
            <a:off x="6720840" y="4297679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720840" y="4297679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223760" y="4315967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중앙 홈 — 경계선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223760" y="4663440"/>
            <a:ext cx="4279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홈의 위쪽과 아래쪽은 이어져 있지 않습니다. 같은 세로 위치라도 홈을 넘으면 별개의 묶음입니다.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정리하면 — 연결하고 싶으면 같은 세로줄에, 연결하고 싶지 않으면 다른 세로줄에 꽂습니다.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회로는 전기가 도는 '길'이다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전기는 출발점에서 나와 부품을 지나 돌아옵니다. 길이 한 군데라도 끊기면 아무 일도 일어나지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817352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07208" y="2450592"/>
            <a:ext cx="1051560" cy="50292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7208" y="2450592"/>
            <a:ext cx="10515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2679192"/>
            <a:ext cx="6858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44568" y="2450592"/>
            <a:ext cx="1234440" cy="502920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450592"/>
            <a:ext cx="12344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9008" y="2679192"/>
            <a:ext cx="6858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4808" y="2450592"/>
            <a:ext cx="1234440" cy="502920"/>
          </a:xfrm>
          <a:prstGeom prst="roundRect">
            <a:avLst>
              <a:gd name="adj" fmla="val 14000"/>
            </a:avLst>
          </a:prstGeom>
          <a:solidFill>
            <a:srgbClr val="FFF4F4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450592"/>
            <a:ext cx="12344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79192"/>
            <a:ext cx="6858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5048" y="2450592"/>
            <a:ext cx="1005840" cy="50292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450592"/>
            <a:ext cx="10058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3035808"/>
            <a:ext cx="12344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전류를 줄임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3035808"/>
            <a:ext cx="12344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빛으로 소비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2157984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157984"/>
            <a:ext cx="10058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도착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840480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8496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출발점은 GPIO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867912"/>
            <a:ext cx="7388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코드로 GP15를 HIGH로 만들면 그 핀에서 3.3V가 나옵니다.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498848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98848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507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도착점은 GND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526280"/>
            <a:ext cx="7388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전기는 반드시 GND로 돌아와야 합니다. GND를 빠뜨리면 아무것도 켜지지 않습니다.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5157216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157216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한 군데만 끊겨도 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184648"/>
            <a:ext cx="7388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다리가 헐겁거나 줄을 잘못 꽂으면 길이 끊깁니다. 오류의 대부분이 여기서 나옵니다.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POLARITY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LED는 방향이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LED는 한쪽 방향으로만 전기를 통과시킵니다. 거꾸로 꽂으면 켜지지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4846320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9642" y="2203338"/>
            <a:ext cx="969995" cy="969995"/>
          </a:xfrm>
          <a:prstGeom prst="ellipse">
            <a:avLst/>
          </a:prstGeom>
          <a:noFill/>
          <a:ln w="9525">
            <a:solidFill>
              <a:srgbClr val="FF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23744" y="2377440"/>
            <a:ext cx="621792" cy="621792"/>
          </a:xfrm>
          <a:prstGeom prst="ellipse">
            <a:avLst/>
          </a:prstGeom>
          <a:solidFill>
            <a:srgbClr val="FF5A64"/>
          </a:solidFill>
          <a:ln w="9525">
            <a:solidFill>
              <a:srgbClr val="FF8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88336" y="2962656"/>
            <a:ext cx="54864" cy="886968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44368" y="2962656"/>
            <a:ext cx="54864" cy="54864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3849624"/>
            <a:ext cx="777240" cy="18288"/>
          </a:xfrm>
          <a:prstGeom prst="rect">
            <a:avLst/>
          </a:prstGeom>
          <a:solidFill>
            <a:srgbClr val="DCD6D6"/>
          </a:solidFill>
          <a:ln w="508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7763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긴 다리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애노드 (+)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9776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짧은 다리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251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캐소드 (−)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긴 다리는 저항(GPIO) 쪽으로, 짧은 다리는 GND 쪽으로 꽂습니다.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75688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다리 길이로 구분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1023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새 LED는 한쪽 다리가 더 깁니다. 긴 쪽이 +입니다.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3108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3108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27248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다리를 잘랐다면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51023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몸통 아래쪽 테두리가 한 곳만 평평합니다. 그쪽이 −입니다.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5897880" y="41605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41605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78807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거꾸로 꽂으면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26280"/>
            <a:ext cx="51023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켜지지 않을 뿐 대부분 망가지지 않습니다. 다리를 바꿔 꽂으면 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안 켜졌을 때 가장 먼저 확인할 것도 이 방향입니다. 뽑아서 뒤집어 꽂아 보세요.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MOST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저항이 없으면 왜 안 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LED는 스스로 전류를 조절하지 못합니다. 흐르는 만큼 다 받아들이고, 그러다 타 버립니다.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285232" cy="1874519"/>
          </a:xfrm>
          <a:prstGeom prst="roundRect">
            <a:avLst>
              <a:gd name="adj" fmla="val 4500"/>
            </a:avLst>
          </a:prstGeom>
          <a:solidFill>
            <a:srgbClr val="FDF3F4"/>
          </a:solidFill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457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7627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 없이 연결하면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전류가 제한 없이 흘러 LED가 순식간에 탑니다.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GPIO 핀도 함께 손상될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85232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E6B45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7627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저항을 함께 넣으면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7004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전류를 안전한 크기로 줄여 줍니다.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LED도 GPIO 핀도 무사합니다.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10817352" cy="1417320"/>
          </a:xfrm>
          <a:prstGeom prst="roundRect">
            <a:avLst>
              <a:gd name="adj" fmla="val 4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그래서 220Ω을 씁니다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572000"/>
            <a:ext cx="118872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1188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3.3V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" y="5084064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572000"/>
            <a:ext cx="4114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572000"/>
            <a:ext cx="118872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572000"/>
            <a:ext cx="1188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2.0V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084064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LED가 쓰는 전압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572000"/>
            <a:ext cx="4114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572000"/>
            <a:ext cx="118872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572000"/>
            <a:ext cx="1188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6mA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084064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안전한 전류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572000"/>
            <a:ext cx="4114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572000"/>
            <a:ext cx="146304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4572000"/>
            <a:ext cx="146304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약 216Ω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084064"/>
            <a:ext cx="17373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계산 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572000"/>
            <a:ext cx="5029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4572000"/>
            <a:ext cx="128016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572000"/>
            <a:ext cx="128016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084064"/>
            <a:ext cx="15544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실제 규격품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 하나가 감당할 수 있는 전류는 10mA 안팎입니다. 220Ω을 쓰면 약 6mA가 흘러 넉넉히 안전합니다.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 색띠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저항에는 숫자 대신 색깔 띠가 그려져 있습니다. 220Ω은 빨강 · 빨강 · 갈색입니다.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55063" y="2994660"/>
            <a:ext cx="219456" cy="45720"/>
          </a:xfrm>
          <a:prstGeom prst="rect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00600" y="2994660"/>
            <a:ext cx="219456" cy="45720"/>
          </a:xfrm>
          <a:prstGeom prst="rect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2651760"/>
            <a:ext cx="2926080" cy="731520"/>
          </a:xfrm>
          <a:prstGeom prst="roundRect">
            <a:avLst>
              <a:gd name="adj" fmla="val 35000"/>
            </a:avLst>
          </a:prstGeom>
          <a:solidFill>
            <a:srgbClr val="E3C9A0"/>
          </a:solidFill>
          <a:ln w="9525">
            <a:solidFill>
              <a:srgbClr val="C0A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4171" y="2670048"/>
            <a:ext cx="204825" cy="694944"/>
          </a:xfrm>
          <a:prstGeom prst="rect">
            <a:avLst/>
          </a:prstGeom>
          <a:solidFill>
            <a:srgbClr val="C0392B"/>
          </a:solidFill>
          <a:ln w="50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23083" y="2670048"/>
            <a:ext cx="204825" cy="694944"/>
          </a:xfrm>
          <a:prstGeom prst="rect">
            <a:avLst/>
          </a:prstGeom>
          <a:solidFill>
            <a:srgbClr val="C0392B"/>
          </a:solidFill>
          <a:ln w="50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1995" y="2670048"/>
            <a:ext cx="204825" cy="694944"/>
          </a:xfrm>
          <a:prstGeom prst="rect">
            <a:avLst/>
          </a:prstGeom>
          <a:solidFill>
            <a:srgbClr val="8A5A2B"/>
          </a:solidFill>
          <a:ln w="508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5384" y="2670048"/>
            <a:ext cx="204825" cy="694944"/>
          </a:xfrm>
          <a:prstGeom prst="rect">
            <a:avLst/>
          </a:prstGeom>
          <a:solidFill>
            <a:srgbClr val="C8A24A"/>
          </a:solidFill>
          <a:ln w="5080">
            <a:solidFill>
              <a:srgbClr val="C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1136" y="3511296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511296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11296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2348" y="3511296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금색 띠가 오른쪽에 오도록 잡습니다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1226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1번 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084831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10312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빨강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122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숫자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32888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7919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2번 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26517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26700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빨강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791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숫자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99815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24612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3번 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218687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8A5A2B"/>
          </a:solidFill>
          <a:ln w="635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323697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갈색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461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× 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66744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8130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4번 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3785615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8A24A"/>
          </a:solidFill>
          <a:ln w="6350">
            <a:solidFill>
              <a:srgbClr val="C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4112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금색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81304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오차 ±5%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297680"/>
            <a:ext cx="5285232" cy="114300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4988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7914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2 2</a:t>
            </a:r>
            <a:r>
              <a:rPr sz="15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 ×  </a:t>
            </a:r>
            <a:r>
              <a:rPr sz="2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5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 =  </a:t>
            </a: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띠 색이 헷갈리면 저항을 하나 골라 옆 사람 것과 비교해 보세요. 오늘 쓰는 것은 모두 같은 값입니다.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만들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GP15에서 출발해 저항과 LED를 지나 GND로 돌아오는 길을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07208" y="2395728"/>
            <a:ext cx="1051560" cy="50292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7208" y="2395728"/>
            <a:ext cx="10515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103120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20번 핀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2624328"/>
            <a:ext cx="6858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4568" y="2395728"/>
            <a:ext cx="1234440" cy="502920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395728"/>
            <a:ext cx="12344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8" y="2624328"/>
            <a:ext cx="6858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8" y="2395728"/>
            <a:ext cx="1234440" cy="502920"/>
          </a:xfrm>
          <a:prstGeom prst="roundRect">
            <a:avLst>
              <a:gd name="adj" fmla="val 14000"/>
            </a:avLst>
          </a:prstGeom>
          <a:solidFill>
            <a:srgbClr val="FFF4F4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395728"/>
            <a:ext cx="12344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2624328"/>
            <a:ext cx="6858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5048" y="2395728"/>
            <a:ext cx="1005840" cy="50292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395728"/>
            <a:ext cx="10058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2103120"/>
            <a:ext cx="15544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18번 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8094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298094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1868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긴 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1868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짧은 다리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7588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675887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한쪽 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675887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다른 쪽 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68496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07822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7822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1056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11480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GP15 (20번 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23944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11480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브레드보드 세로줄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35424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4645152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4515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6725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 220Ω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68172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세로줄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690872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8172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세로줄 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102352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8680" y="5212080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5239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24865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세로줄 B — 긴 다리(+)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257800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24865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세로줄 C — 짧은 다리(−)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669279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8680" y="5779007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779007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58064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5815583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세로줄 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824727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5815583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(18번 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093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세로줄 A · B · C는 서로 다른 세로줄이면 어디든 괜찮습니다.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배선하는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순서를 지키면 사고가 나지 않습니다. 전원은 항상 마지막에 넣습니다.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 케이블을 뽑습니다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1305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전원이 없는 상태에서 배선을 시작합니다.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저항을 먼저 꽂습니다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6207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두 다리가 서로 다른 세로줄에 걸치도록 꽂습니다.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LED를 꽂습니다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59359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긴 다리는 저항과 같은 줄에, 짧은 다리는 다른 줄에.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 두 개를 연결합니다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325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GP15 → 저항 쪽 줄, LED 짧은 다리 쪽 줄 → GND.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확인한 뒤 USB를 연결합니다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05663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극성과 GND를 눈으로 한 번 더 보고 전원을 넣습니다.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다리가 헐거우면 안 됩니다.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부품 다리는 구멍에 끝까지 눌러 꽂아야 합니다. 절반만 들어가면 연결되지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새로 생긴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1차시의 3.3V 규칙에 더해, 전기를 내보내는 쪽에서 지켜야 할 것들입니다.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LED에는 반드시 저항을 함께 쓰기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전원을 뽑은 상태에서 배선 바꾸기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연결한 뒤 눈으로 한 번 더 확인하기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안 켜지면 먼저 LED 방향부터 보기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절대 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저항 없이 LED를 GPIO에 바로 꽂기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LED를 3V3 핀에 직접 연결하기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USB를 꽂은 채로 점퍼선 옮기기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GPIO 두 개를 점퍼선으로 직접 잇기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저항 없는 LED 한 번이면 GPIO 핀 하나를 잃을 수 있습니다. LED 앞에는 언제나 저항.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코드는 한 글자만 바뀝니다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회로가 준비되었다면 코드는 지난 시간 것과 거의 같습니다.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27889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blink_gp15.py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Pin(15, Pin.OUT)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85615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96512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led.toggle()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07408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sleep(0.5)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4행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574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15 는 GP15를 뜻합니다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33172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LED의 "LED" 자리에 핀 번호를 넣습니다.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706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6행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7706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무한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44952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전원이 꺼질 때까지 아래 두 줄을 반복합니다.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83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7행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4838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상태 뒤집기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758184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켜져 있으면 끄고, 꺼져 있으면 켭니다.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19709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8행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1970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0.5초 간격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471416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시간보다 두 배 빠르게 깜빡입니다.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29200"/>
            <a:ext cx="10817352" cy="10058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3036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2차시 코드와 비교하면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22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led = Pin("LED", Pin.OUT)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    →     </a:t>
            </a:r>
            <a:r>
              <a:rPr sz="13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led = Pin(15, Pin.OUT)</a:t>
            </a: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     내장 LED는 이름으로, 외부 부품은 핀 번호로 부릅니다.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LED가 안 켜질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위에서부터 순서대로 확인하세요. 대부분 세 번째 안에서 해결됩니다.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전혀 안 켜진다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LED 방향이 반대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LED를 뽑아 뒤집어 꽂습니다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전혀 안 켜진다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GND 점퍼선이 빠짐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짧은 다리 줄과 GND 연결을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전혀 안 켜진다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다리가 헐겁게 꽂힘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부품 다리를 끝까지 눌러 꽂습니다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코드는 도는데 조용하다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핀 번호가 다름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Pin(15)와 실제 꽂은 핀이 같은지 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아주 어둡게 켜진다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 값이 너무 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색띠가 빨강·빨강·갈색인지 확인합니다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배선을 바꿀 때는 반드시 USB를 먼저 뽑습니다. 확인만 하는 것은 꽂은 채로 해도 괜찮습니다.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신호등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 세 개를 각각 다른 핀에 연결해 신호등처럼 동작시켜 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669280" cy="32461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traffic.py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red    = Pin(15, Pin.OUT)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8416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yellow = Pin(14, Pin.OUT)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84448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green  = Pin(13, Pin.OUT)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8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red.on();    sleep(3); red.off()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green.on();  sleep(3); green.off()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36592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yellow.on(); sleep(1); yellow.off()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075688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 세 개를 연결한다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23160"/>
            <a:ext cx="4370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 GP15 · 노랑 GP14 · 초록 GP13. 각각 저항을 하나씩 붙입니다. GND는 하나를 함께 써도 됩니다.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6629400" y="3136391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136391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154679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순서대로 켜 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02151"/>
            <a:ext cx="4370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 3초 → 초록 3초 → 노랑 1초. 왼쪽 코드를 그대로 따라 쳐 보세요.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4215383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15383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33671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깜빡이는 초록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81144"/>
            <a:ext cx="4370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초록이 꺼지기 직전 1초 동안 빠르게 깜빡이게 해 보세요.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세미콜론(;)은 한 줄에 여러 명령을 쓸 때 씁니다. 줄을 나눠 써도 결과는 같습니다.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저항은 LED마다 하나씩 필요합니다. 세 개를 한 저항에 몰아 쓰면 안 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브레드보드를 읽고, 첫 회로를 만들고, 코드로 제어했습니다.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브레드보드를 읽었다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세로 5칸이 한 묶음이고, 중앙 홈이 경계라는 규칙을 배웠습니다.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첫 회로를 만들었다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GP15에서 저항과 LED를 지나 GND로 돌아오는 길을 직접 연결했습니다.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핀 번호로 제어했다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LED의 이름 대신 숫자 15를 써서 외부 부품을 켰습니다.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LED 앞에는 언제나 저항.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버튼으로 입력 받기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오늘은 내보내기만 했습니다. 다음 시간에는 바깥에서 들어오는 신호를 읽습니다.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디지털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GPIO를 입력(IN)으로 설정해 버튼이 눌렸는지 읽습니다.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풀업·풀다운 저항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버튼을 누르지 않았을 때 값이 흔들리지 않게 잡아 주는 방법입니다.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버튼으로 LED 켜기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 만든 LED 회로에 버튼을 더해 입력과 출력을 연결합니다.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4차시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9443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Pin(15, Pin.OUT)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1868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btn = Pin(16, Pin.IN)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9300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read a button on GP16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7763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OUT 자리에 IN이 들어갑니다. 같은 GPIO를 반대 방향으로 쓰는 것입니다.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(택트 스위치와 10kΩ 저항은 추가로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