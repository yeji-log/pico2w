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표지 — Raspberry Pi Pico 2 W 입문
[지시] 수업 시작 전 보드를 한 명당 하나씩 배부한다. 금속 부분을 만지기 전에 책상 프레임이나 의자 다리에 손을 한 번 대게 한다. 정전기로 칩이 손상될 수 있다.
자, 앞에 하나씩 받은 이 작은 보드를 한번 들어 보세요. 손가락 두 마디 정도밖에 안 되죠. 이름은 라즈베리파이 피코 투 더블유, Raspberry Pi Pico 2 W입니다. 오늘부터 우리가 다룰 물건입니다.
미리 말해 두면, 오늘은 코드를 거의 쓰지 않습니다. 컴퓨터도 아직 안 켭니다. 대신 이 보드가 도대체 어떤 물건인지, 그리고 어떻게 해야 이걸 망가뜨리지 않고 쓸 수 있는지를 배웁니다.
왜 이렇게 하냐면, 이 보드는 잘못 연결하면 한 번에 죽습니다. 되살릴 방법이 없어요. 그래서 첫 시간은 코드보다 안전이 먼저입니다. 다음 시간부터 본격적으로 코드를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오늘 배울 것
오늘 배울 내용은 다섯 가지입니다. 화면 같이 보면서 읽어 볼게요.
첫째, 마이크로컨트롤러가 뭔지. 둘째, 이 보드와 그 안에 든 칩. 여기서 여러분이 이미 써 본 아두이노 우노와 비교해 볼 겁니다. 셋째, 핀 40개를 읽는 법. 넷째, 3.3볼트 규칙과 안전 수칙. 다섯째, 앞으로 우리가 어디까지 갈 것인지.
이 중에서 오늘 딱 하나만 기억하고 가라고 하면 네 번째입니다. 3.3볼트. 이건 뒤에 가서 다시 얘기하겠습니다.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마이크로컨트롤러(MCU)란?
[발문] 컴퓨터라고 하면 뭐가 떠오르나요? (노트북, 데스크탑 등 자유롭게 답하게 한다)
네, 보통 그렇죠. 그럼 하나 물어볼게요. 세탁기 안에도 컴퓨터가 들어 있을까요? 엘리베이터는요? 신호등은요?
다 들어 있습니다. 다만 우리가 아는 그 컴퓨터는 아니고, 마이크로컨트롤러, 줄여서 MCU라고 부르는 아주 작은 컴퓨터가 들어 있습니다. 화면 왼쪽이 우리가 아는 컴퓨터, 오른쪽이 MCU입니다.
차이를 하나씩 보면, 가장 중요한 건 첫 줄입니다. 일반 컴퓨터는 윈도우 같은 운영체제가 있어야 돌아가요. 그런데 MCU는 운영체제가 없습니다. 여러분이 짠 코드가 전부입니다. 전원을 켜면 그 코드가 바로 실행되고, 끌 때까지 그것만 반복합니다.
그래서 부팅이 없고, 전기를 거의 안 먹고, 값도 쌉니다. 대신 만능은 아니에요. 정해진 일 하나를 정확히 반복하는 게 MCU의 역할입니다.
[활동] 집에 MCU가 들어 있을 것 같은 물건 세 개씩 말해 보기. 30초 정도.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임베디드 시스템은 이렇게 동작한다
MCU가 들어간 시스템을 임베디드 시스템이라고 부릅니다. 구조는 놀랄 만큼 단순해요. 화면에 있는 이 세 단계가 전부입니다.
입력, 처리, 출력. 바깥에서 정보를 받아서, 판단하고, 뭔가를 움직인다. 세탁기로 예를 들면 버튼을 누르는 게 입력, 어떤 코스로 돌릴지 정하는 게 처리, 모터를 돌리는 게 출력입니다.
앞으로 우리가 만드는 모든 게 이 틀 안에 들어갑니다. 온도를 재서 LED를 켜는 것도, 거리를 재서 경고음을 내는 것도 전부 입력, 처리, 출력이에요. 그러니까 새로운 걸 배울 때마다 '이건 셋 중에 뭐지?' 하고 생각해 보면 훨씬 쉽습니다.
그런데 이 보드는 여기에 한 단계를 더 붙일 수 있습니다. 통신이요. 처리한 결과를 와이파이로 내보내서 여러분 스마트폰에서 볼 수 있게 만드는 거죠. 그게 이번 학기 마지막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Raspberry Pi Pico 2 W
이제 보드 자체를 봅시다. 라즈베리파이 재단에서 만든 보드고요, 실제 크기가 가로 51밀리, 세로 21밀리입니다. 지금 손에 들고 계신 게 실물이니까 크기는 바로 느껴지실 거예요.
여러분이 받은 건 정확히는 헤더가 달린 버전, with headers라고 부르는 겁니다. 핀이 미리 납땜되어 있어서 브레드보드에 그냥 꽂아 쓸 수 있어요. 납땜 안 해도 됩니다.
[지시] 화면 오른쪽 특징 네 개를 짚어 준다.
특징은 네 가지입니다. 작고, 무선이 내장돼 있고, 파이썬으로 바로 코딩할 수 있고, 성능이 넉넉합니다. 이 중에 두 번째, 무선이 내장돼 있다는 게 이 보드의 진짜 무기인데 뒤에서 자세히 다루겠습니다.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RP2350 — 보드의 두뇌
보드 한가운데 검은 사각형 칩 보이시죠? 손가락으로 한번 짚어 보세요. 그게 RP2350이라는 칩이고, 이 보드의 두뇌입니다.
숫자 네 개만 보고 갈게요. CPU 코어가 두 개, 속도는 150메가헤르츠, 작업 공간인 SRAM이 520킬로바이트, 코드가 저장되는 플래시가 4메가바이트입니다.
이 숫자들 지금 외울 필요 전혀 없습니다. 시험 안 봅니다. 그냥 '이 작은 칩 안에 두뇌가 두 개나 들어 있구나' 정도만 느끼시면 됩니다.
숫자가 크다 작다는 건 비교 대상이 있어야 감이 오죠. 그래서 다음 장에서 여러분이 이미 써 본 보드랑 나란히 놓고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Arduino UNO와 무엇이 다를까?
여러분 아두이노 우노 써 봤죠. 그럼 이 표가 훨씬 잘 읽힐 겁니다. 왼쪽이 우노, 오른쪽 붉은 칸이 오늘 받은 피코입니다.
[발문] 표를 30초 정도 훑어보게 한 뒤 — 어느 항목이 가장 크게 차이 나 보이나요?
네, 보통 두 개를 고릅니다. 하나는 SRAM이에요. 2킬로바이트에서 520킬로바이트. 260배입니다. 다른 하나는 맨 아래쪽 무선 기능이고요. 우노는 아예 없습니다.
속도도 16메가에서 150메가니까 열 배 가까이 빨라졌고, 크기는 오히려 훨씬 작아졌습니다. 우노를 책상에 같이 올려놓고 보면 차이가 확 납니다.
[지시] 우노 실물이 있으면 나란히 놓고 보여 준다.
그런데 표에서 파란색으로 칠해진 줄이 하나 있죠. 아날로그 입력입니다. 여기는 우노가 6채널, 피코가 3채널이에요. 우노가 이깁니다. 이런 게 있어야 표가 정직한 겁니다. 새 보드가 모든 항목에서 다 이기는 건 아니에요.
그리고 로직 전압 줄, 우노는 5볼트고 피코는 3.3볼트입니다. 여기는 색깔을 안 칠했어요. 이건 좋고 나쁨의 문제가 아니라 그냥 다른 건데, 오늘 수업에서 제일 중요한 항목입니다. 조금 이따 다시 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[4분] 그래서 무엇을 할 수 있게 되나?
숫자는 숫자일 뿐이고, 중요한 건 그래서 뭐가 달라지느냐입니다. 세 가지로 정리했습니다.
첫째, 선을 끊습니다. 우노로 무선을 쓰려면 모듈을 따로 사서, 배선하고, 라이브러리 붙이고 한참 걸렸죠. 피코는 그게 보드 안에 이미 들어 있습니다. 코드 몇 줄이면 와이파이에 붙어요. 그러면 스마트폰으로 장치를 조종하고, 센서값을 웹에서 확인할 수 있게 됩니다.
둘째, 메모리가 260배 늘었습니다. 우노에서 문자열 몇 개 쓰다가 갑자기 프로그램이 이상하게 동작한 경험 있는 사람? 메모리가 부족해서 그런 겁니다. 이제는 웹페이지를 통째로 담아도 여유가 있어요.
셋째, 개발이 빨라집니다. 우노는 코드 한 줄 고칠 때마다 컴파일하고 업로드하고 기다렸죠. 마이크로파이썬은 저장하면 바로 실행됩니다. 심지어 한 줄씩 쳐 보면서 테스트도 돼요. 이게 생각보다 엄청난 차이입니다.
[지시] 하단 파란 박스를 반드시 짚는다.
마지막으로 하나만. 그렇다고 우노가 나쁜 보드라는 뜻은 아닙니다. 우노는 5볼트로 동작해서 5볼트짜리 부품을 그냥 꽂아도 되고, 전기적으로 훨씬 튼튼하고, 확장 실드도 많아요. 목적에 따라 고르는 거지 우열이 아닙니다. 그리고 방금 말한 '5볼트로 튼튼하다'는 게 왜 중요한지는 바로 뒤에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보드 구조 살펴보기
이제 실물이랑 화면을 같이 보면서 일곱 군데를 찾아보겠습니다. 손으로 직접 짚어 보세요.
1번, 한쪽 끝에 있는 마이크로 USB 단자. 여기로 전원도 들어오고 컴퓨터랑 연결도 합니다.
2번, 그 옆에 조그만 버튼. BOOTSEL이라고 쓰여 있습니다. 다음 시간에 마이크로파이썬 설치할 때 이 버튼을 누른 채로 케이블을 꽂을 겁니다. 지금은 위치만 기억하세요.
3번이 아까 본 RP2350 칩. 4번은 그 옆의 무선 모듈이고요. 5번, 아주 작은 초록색 LED 보이나요? 이게 우리가 다음 시간에 코드로 깜빡이게 만들 LED입니다.
6번, 보드 끝에 금색으로 지그재그 무늬 있는 부분. 이게 안테나입니다. 여기 중요한데, 실습할 때 안테나 부분을 손으로 덮거나 금속 위에 올려놓으면 와이파이가 잘 안 잡힙니다. 기억해 두세요.
7번, 양옆으로 쭉 나 있는 핀들. 이게 핀 헤더고, 센서나 부품을 연결하는 통로입니다.
[활동] 핀이 몇 개인지 한쪽씩 세어 보게 한다. 답이 나오면 다음 장으로 넘어간다. (한쪽 20개, 총 40개)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40핀 핀 배치도
네, 한쪽에 20개씩 총 40개죠. 이게 그 40개 핀이 각각 무슨 역할인지 그린 지도, 핀 배치도입니다. 핀아웃이라고도 부릅니다.
[지시] 이 장은 인쇄본을 나눠주고 함께 본다. 학기 내내 참고 자료로 쓰인다.
지금 이걸 다 외우려고 하지 마세요. 아무도 안 외웁니다. 저도 매번 찾아봐요. 오늘은 색깔 네 가지만 구분할 수 있으면 충분합니다.
빨간색은 전원 핀입니다. 전기를 주고받는 핀이에요. 회색은 GND, 접지입니다. 남색이 GPIO, 우리가 자유롭게 쓸 수 있는 핀이고요. 청록색은 GPIO 중에서도 아날로그 입력이 되는 특별한 핀 세 개입니다.
번호를 보면 왼쪽 위가 1번이고 아래로 내려가면서 20번, 그다음 오른쪽 아래가 21번이고 위로 올라가면서 40번입니다. 시계 반대 방향으로 도는 거예요. 실물 보드 뒷면에 1번 표시가 있으니까 한번 확인해 보세요.
[활동] GND가 몇 개인지 세어 보게 한다. (8개)
맨 아래 작은 글씨 하나만 짚고 갈게요. GP23, 24, 25번은 핀 헤더에 안 나와 있습니다. 무선 모듈이 내부에서 쓰고 있어서 그래요. 그래서 실제로 우리가 쓸 수 있는 GPIO는 26개입니다.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[4분] 전원 핀 이해하기
40개 중에서 전원 관련된 핀 네 종류만 먼저 확실히 잡고 갑시다. 여기서 실수하면 보드가 죽습니다.
40번 VBUS. USB로 들어온 5볼트가 그대로 나오는 핀입니다. 5볼트가 꼭 필요한 부품에 쓸 겁니다.
39번 VSYS. 이건 반대로 전원을 넣어 주는 핀이에요. 나중에 배터리로 돌리고 싶을 때 여기에 연결합니다.
36번 3V3, 괄호 열고 OUT. 보드가 만들어서 내보내 주는 3.3볼트입니다. 우리가 쓸 센서 대부분이 여기에 연결됩니다. 제일 자주 쓰게 될 핀이에요.
그리고 GND. 여덟 군데나 있죠. 모든 회로의 기준점입니다. 이게 왜 중요하냐면, 부품 하나 연결할 때 전원선만 연결하고 GND를 빼먹는 실수가 정말 많거든요. 그러면 아무리 코드가 맞아도 동작을 안 합니다.
정리하면 이겁니다. 센서는 3V3, 5볼트가 꼭 필요한 부품만 VBUS. 그리고 GND는 무조건 연결. 이 세 문장만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[4분] GPIO — 바깥 세상과 연결되는 통로
이제 GPIO입니다. General Purpose Input Output, 범용 입출력이라는 뜻이에요. 이름 그대로 입력으로도 쓸 수 있고 출력으로도 쓸 수 있는데, 어느 쪽으로 쓸지를 코드에서 정합니다.
입력으로 쓰면 바깥에서 들어오는 신호를 읽습니다. 버튼이 눌렸는지, 센서가 뭘 감지했는지 확인할 때죠. 출력으로 쓰면 반대로 신호를 내보냅니다. LED를 켜거나 모터 드라이버에 명령을 줄 때고요.
그런데 여기서 중요한 게 있습니다. 디지털 신호는 상태가 딱 두 개밖에 없어요. HIGH 아니면 LOW. 1 아니면 0. 켜짐 아니면 꺼짐.
HIGH일 때는 3.3볼트가 나오고, LOW일 때는 0볼트입니다. 중간이 없어요. 1.5볼트 같은 건 못 만듭니다.
[발문] 그럼 LED를 반쯤만 밝게 하려면 어떻게 해야 할까요?
네, 방법이 있습니다. PWM이라고 하는 건데, 아주 빠르게 켰다 껐다 반복해서 사람 눈에 중간처럼 보이게 만드는 기술이에요. 그건 5차시에 제대로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GPIO의 특수 기능
GPIO 중에는 단순한 켜고 끄기 말고 특별한 역할을 겸하는 핀들이 있습니다. 이름만 훑고 갈게요. 오늘 이해할 필요 없습니다.
ADC는 아날로그 입력입니다. 0에서 3.3볼트 사이의 값을 숫자로 바꿔 주는 기능이고, GP26, 27, 28 세 개만 됩니다. 아까 표에서 우노가 이겼던 그 항목이에요. 7차시에 배웁니다.
PWM은 방금 말한 그거고요, 5차시. I2C는 선 두 개로 여러 센서를 줄줄이 연결하는 통신 방식인데 8차시에 온습도 센서 하면서 나옵니다.
SPI랑 UART는 이번 학기 정규 수업에는 안 나옵니다. 그냥 이런 것도 있다는 것만 알아 두세요. 나중에 혼자 뭔가 만들 때 검색하다 보면 만나게 될 이름들입니다.
마지막 GND는 특수 기능은 아닌데 제일 중요해서 넣어 뒀습니다. 아까 말했죠, 무조건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[4분] Pico 2 W의 GPIO는 3.3V 입니다
[지시] 여기서 한 번 멈춘다. 화면이 어두워지므로 자연스럽게 주의가 모인다.
자, 오늘 딱 하나만 기억하라고 했던 그거입니다. 이 보드의 GPIO는 3.3볼트입니다.
아까 우노랑 비교할 때 우노는 5볼트라고 했죠. 여러분이 우노에서 쓰던 습관 그대로 5볼트 신호를 이 보드 GPIO에 넣으면, 칩이 손상됩니다. 되돌릴 방법 없어요. 새로 사야 합니다.
[지시] 다 같이 소리 내어 말하게 한다 — "GPIO에 5볼트 금지"
오른쪽 빨간 박스를 봅시다. 하면 안 되는 것 네 가지. GPIO에 5볼트 직접 넣기, GPIO에 모터 직접 연결하기, 3V3 핀에 외부 전원 넣기, 그리고 전원 켜진 상태로 배선 바꾸기.
왼쪽 초록 박스는 반대로 해도 되는 것들이고요. 여기서 마지막 줄, 배선 바꾸기 전에 USB부터 뽑기. 이게 습관이 되어야 합니다.
[발문] 그럼 우리가 5볼트짜리 센서를 쓰고 싶으면 어떻게 해야 할까요? (답: 못 쓰는 건 아니고, 레벨 변환이나 3.3V 지원 부품을 쓴다. 필요한 차시에 다룬다고만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실습 전 안전 수칙
앞장 내용을 실습 상황으로 옮겨서 네 가지로 정리했습니다.
하나, 전류 한계를 지킵니다. GPIO 하나에서 뽑아 쓸 수 있는 전류가 아주 작아요. 그래서 LED를 연결할 때는 반드시 저항을 같이 씁니다. 저항 없이 LED만 꽂으면 LED도 죽고 핀도 상합니다.
둘, 모터는 GPIO에 직접 연결하지 않습니다. DC 모터, 펌프, 팬 이런 건 전류를 훨씬 많이 먹어요. 반드시 모터 드라이버라는 부품을 중간에 넣습니다. 이건 10차시에 제대로 배웁니다.
셋, 배선은 전원을 끄고 바꿉니다. USB 꽂힌 상태로 점퍼선 옮기다가 순간 합선되면 그걸로 끝입니다.
넷, 연결하고 나서 한 번 더 확인합니다. 특히 VBUS랑 3V3 헷갈리지 않았는지, GND 빼먹지 않았는지. 이 두 가지만 확인해도 사고의 대부분이 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Pico 2 W의 'W' — 무선 기능
보드 이름 끝에 붙은 W가 뭘 뜻하는지 아시나요? Wireless, 무선입니다.
와이파이는 2.4기가헤르츠를 씁니다. 집이나 학교 공유기에 연결해서 IP 주소를 받을 수 있고요, 더 재밌는 건 이 작은 보드 안에서 웹 서버를 돌릴 수 있다는 겁니다. 여러분 휴대폰 브라우저로 이 보드에 접속하는 거예요.
블루투스도 5.2 버전이 들어 있는데, 이번 학기 정규 차시에는 안 넣었습니다. 12차시 안에 와이파이랑 블루투스를 둘 다 제대로 하기는 시간이 부족해서, 활용도가 높은 와이파이 쪽을 골랐습니다.
아래 흐름도가 우리가 12차시에 도달할 모습입니다. 센서가 값을 읽고, 피코가 처리하고, 와이파이로 보내고, 웹 서버가 받아서, 여러분 스마트폰에 표시됩니다. 지금은 멀어 보이겠지만 한 단계씩 가면 도착합니다.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Pico 2 W는 어떻게 프로그래밍할까?
이 보드를 프로그래밍하는 방법은 크게 두 가지입니다.
하나는 마이크로파이썬. 파이썬을 이런 작은 기기에서 쓸 수 있게 만든 버전인데, 문법이 쉽고 고치면 바로 실행돼서 배우기 좋습니다. 우리는 이걸로 갑니다.
다른 하나는 C와 C++ SDK입니다. 훨씬 빠르고 하드웨어를 세밀하게 다룰 수 있는데, 설치랑 빌드가 복잡해요.
오해하지 마실 건, C가 더 좋은 게 아니라 목적이 다른 겁니다. 나중에 성능이 정말 필요한 걸 만들게 되면 그때 넘어가면 됩니다.
다음 시간에는 Thonny라는 프로그램을 설치하고, 보드에 마이크로파이썬을 올린 다음 첫 코드를 실행할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[4분] 다음 시간에 만들 첫 코드
미리 맛만 보고 끝내겠습니다. 이게 다음 시간에 여러분이 직접 칠 코드입니다. 여덟 줄이에요.
1행이랑 2행은 필요한 기능을 가져오는 겁니다. 핀을 다루는 Pin, 시간을 다루는 sleep.
4행이 핵심인데, 아까 보드에서 찾았던 그 초록색 LED를 출력 역할로 설정하는 줄입니다.
6행 while True는 무한 반복이라는 뜻이고요, 그 아래 두 줄을 전원 끌 때까지 계속 돌립니다.
7행 toggle은 상태를 뒤집는다는 뜻이에요. 켜져 있으면 끄고, 꺼져 있으면 켭니다. 8행에서 1초 쉬고, 다시 7행으로 돌아가고. 그래서 1초마다 깜빡이는 겁니다.
[발문] 만약 8행 sleep(1)을 지우면 어떻게 될까요? (답: 너무 빨라서 깜빡임이 보이지 않고 계속 켜진 것처럼 보인다)
지금 이 코드가 완전히 이해 안 돼도 전혀 문제없습니다. 이런 모습이구나 정도만 기억하세요. 다음 시간에 한 줄씩 직접 치면서 다시 봅니다.
[마무리] 다음 시간 준비물 공지 — 노트북, 그리고 데이터 전송이 되는 마이크로 USB 케이블. 충전 전용 케이블은 안 됩니다. 보드는 걷어서 보관하거나, 각자 보관하게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E000A"/>
        </a:solidFill>
      </p:bgPr>
    </p:bg>
    <p:spTree>
      <p:nvGrpSpPr>
        <p:cNvPr id="1" name=""/>
        <p:cNvGrpSpPr/>
        <p:nvPr/>
      </p:nvGrpSpPr>
      <p:grpSpPr>
        <a:xfrm>
          <a:off x="0" y="0"/>
          <a:ext cx="0" cy="0"/>
          <a:chOff x="0" y="0"/>
          <a:chExt cx="0" cy="0"/>
        </a:xfrm>
      </p:grpSpPr>
      <p:sp>
        <p:nvSpPr>
          <p:cNvPr id="2" name="Text 0"/>
          <p:cNvSpPr/>
          <p:nvPr/>
        </p:nvSpPr>
        <p:spPr>
          <a:xfrm>
            <a:off x="685800" y="1417320"/>
            <a:ext cx="6766560" cy="292608"/>
          </a:xfrm>
          <a:prstGeom prst="rect">
            <a:avLst/>
          </a:prstGeom>
          <a:noFill/>
          <a:ln/>
        </p:spPr>
        <p:txBody>
          <a:bodyPr wrap="square" lIns="0" tIns="0" rIns="0" bIns="0" rtlCol="0" anchor="ctr"/>
          <a:lstStyle/>
          <a:p>
            <a:pPr indent="0" marL="0">
              <a:buNone/>
            </a:pPr>
            <a:r>
              <a:rPr lang="en-US" sz="1500" b="1" spc="200" kern="0" dirty="0">
                <a:solidFill>
                  <a:srgbClr val="F0A9AE"/>
                </a:solidFill>
                <a:latin typeface="맑은 고딕" pitchFamily="34" charset="0"/>
                <a:ea typeface="맑은 고딕" pitchFamily="34" charset="-122"/>
                <a:cs typeface="맑은 고딕" pitchFamily="34" charset="-120"/>
              </a:rPr>
              <a:t>임베디드 랩  ·  1차시</a:t>
            </a:r>
            <a:endParaRPr lang="en-US" sz="1500" dirty="0"/>
          </a:p>
        </p:txBody>
      </p:sp>
      <p:sp>
        <p:nvSpPr>
          <p:cNvPr id="3" name="Text 1"/>
          <p:cNvSpPr/>
          <p:nvPr/>
        </p:nvSpPr>
        <p:spPr>
          <a:xfrm>
            <a:off x="685800" y="1847088"/>
            <a:ext cx="6766560" cy="173736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맑은 고딕" pitchFamily="34" charset="0"/>
                <a:ea typeface="맑은 고딕" pitchFamily="34" charset="-122"/>
                <a:cs typeface="맑은 고딕" pitchFamily="34" charset="-120"/>
              </a:rPr>
              <a:t>Raspberry Pi</a:t>
            </a:r>
            <a:endParaRPr lang="en-US" sz="4600" dirty="0"/>
          </a:p>
          <a:p>
            <a:pPr indent="0" marL="0">
              <a:lnSpc>
                <a:spcPts val="5400"/>
              </a:lnSpc>
              <a:buNone/>
            </a:pPr>
            <a:r>
              <a:rPr lang="en-US" sz="4600" b="1" dirty="0">
                <a:solidFill>
                  <a:srgbClr val="FFFFFF"/>
                </a:solidFill>
                <a:latin typeface="맑은 고딕" pitchFamily="34" charset="0"/>
                <a:ea typeface="맑은 고딕" pitchFamily="34" charset="-122"/>
                <a:cs typeface="맑은 고딕" pitchFamily="34" charset="-120"/>
              </a:rPr>
              <a:t>Pico 2 W 입문</a:t>
            </a:r>
            <a:endParaRPr lang="en-US" sz="4600" dirty="0"/>
          </a:p>
        </p:txBody>
      </p:sp>
      <p:sp>
        <p:nvSpPr>
          <p:cNvPr id="4" name="Text 2"/>
          <p:cNvSpPr/>
          <p:nvPr/>
        </p:nvSpPr>
        <p:spPr>
          <a:xfrm>
            <a:off x="685800" y="3767328"/>
            <a:ext cx="6766560" cy="365760"/>
          </a:xfrm>
          <a:prstGeom prst="rect">
            <a:avLst/>
          </a:prstGeom>
          <a:noFill/>
          <a:ln/>
        </p:spPr>
        <p:txBody>
          <a:bodyPr wrap="square" lIns="0" tIns="0" rIns="0" bIns="0" rtlCol="0" anchor="ctr"/>
          <a:lstStyle/>
          <a:p>
            <a:pPr indent="0" marL="0">
              <a:buNone/>
            </a:pPr>
            <a:r>
              <a:rPr lang="en-US" sz="1600" dirty="0">
                <a:solidFill>
                  <a:srgbClr val="E8CDD0"/>
                </a:solidFill>
                <a:latin typeface="맑은 고딕" pitchFamily="34" charset="0"/>
                <a:ea typeface="맑은 고딕" pitchFamily="34" charset="-122"/>
                <a:cs typeface="맑은 고딕" pitchFamily="34" charset="-120"/>
              </a:rPr>
              <a:t>마이크로컨트롤러의 개념부터 보드 구조와 핀 배치까지</a:t>
            </a:r>
            <a:endParaRPr lang="en-US" sz="1600" dirty="0"/>
          </a:p>
        </p:txBody>
      </p:sp>
      <p:sp>
        <p:nvSpPr>
          <p:cNvPr id="5" name="Shape 3"/>
          <p:cNvSpPr/>
          <p:nvPr/>
        </p:nvSpPr>
        <p:spPr>
          <a:xfrm>
            <a:off x="685800" y="4343400"/>
            <a:ext cx="2011680" cy="0"/>
          </a:xfrm>
          <a:prstGeom prst="line">
            <a:avLst/>
          </a:prstGeom>
          <a:noFill/>
          <a:ln w="25400">
            <a:solidFill>
              <a:srgbClr val="C0505C"/>
            </a:solidFill>
            <a:prstDash val="solid"/>
          </a:ln>
        </p:spPr>
      </p:sp>
      <p:sp>
        <p:nvSpPr>
          <p:cNvPr id="6" name="Text 4"/>
          <p:cNvSpPr/>
          <p:nvPr/>
        </p:nvSpPr>
        <p:spPr>
          <a:xfrm>
            <a:off x="685800" y="4572000"/>
            <a:ext cx="6766560" cy="310896"/>
          </a:xfrm>
          <a:prstGeom prst="rect">
            <a:avLst/>
          </a:prstGeom>
          <a:noFill/>
          <a:ln/>
        </p:spPr>
        <p:txBody>
          <a:bodyPr wrap="square" lIns="0" tIns="0" rIns="0" bIns="0" rtlCol="0" anchor="ctr"/>
          <a:lstStyle/>
          <a:p>
            <a:pPr indent="0" marL="0">
              <a:buNone/>
            </a:pPr>
            <a:r>
              <a:rPr lang="en-US" sz="1300" dirty="0">
                <a:solidFill>
                  <a:srgbClr val="D9A7AC"/>
                </a:solidFill>
                <a:latin typeface="맑은 고딕" pitchFamily="34" charset="0"/>
                <a:ea typeface="맑은 고딕" pitchFamily="34" charset="-122"/>
                <a:cs typeface="맑은 고딕" pitchFamily="34" charset="-120"/>
              </a:rPr>
              <a:t>RP2350  ·  Wi-Fi  ·  Bluetooth 5.2  ·  MicroPython</a:t>
            </a:r>
            <a:endParaRPr lang="en-US" sz="1300" dirty="0"/>
          </a:p>
        </p:txBody>
      </p:sp>
      <p:sp>
        <p:nvSpPr>
          <p:cNvPr id="7" name="Shape 5"/>
          <p:cNvSpPr/>
          <p:nvPr/>
        </p:nvSpPr>
        <p:spPr>
          <a:xfrm>
            <a:off x="7635240" y="2697480"/>
            <a:ext cx="3931920" cy="1604865"/>
          </a:xfrm>
          <a:prstGeom prst="roundRect">
            <a:avLst>
              <a:gd name="adj" fmla="val 5698"/>
            </a:avLst>
          </a:prstGeom>
          <a:solidFill>
            <a:srgbClr val="23272B"/>
          </a:solidFill>
          <a:ln w="12700">
            <a:solidFill>
              <a:srgbClr val="0E1113"/>
            </a:solidFill>
            <a:prstDash val="solid"/>
          </a:ln>
        </p:spPr>
      </p:sp>
      <p:sp>
        <p:nvSpPr>
          <p:cNvPr id="8" name="Shape 6"/>
          <p:cNvSpPr/>
          <p:nvPr/>
        </p:nvSpPr>
        <p:spPr>
          <a:xfrm>
            <a:off x="7588057" y="3275232"/>
            <a:ext cx="294894" cy="449362"/>
          </a:xfrm>
          <a:prstGeom prst="roundRect">
            <a:avLst>
              <a:gd name="adj" fmla="val 15504"/>
            </a:avLst>
          </a:prstGeom>
          <a:solidFill>
            <a:srgbClr val="B9BEC4"/>
          </a:solidFill>
          <a:ln w="6350">
            <a:solidFill>
              <a:srgbClr val="8A9097"/>
            </a:solidFill>
            <a:prstDash val="solid"/>
          </a:ln>
        </p:spPr>
      </p:sp>
      <p:sp>
        <p:nvSpPr>
          <p:cNvPr id="9" name="Shape 7"/>
          <p:cNvSpPr/>
          <p:nvPr/>
        </p:nvSpPr>
        <p:spPr>
          <a:xfrm>
            <a:off x="9208008" y="3162891"/>
            <a:ext cx="674043" cy="674043"/>
          </a:xfrm>
          <a:prstGeom prst="rect">
            <a:avLst/>
          </a:prstGeom>
          <a:solidFill>
            <a:srgbClr val="0E1113"/>
          </a:solidFill>
          <a:ln w="9525">
            <a:solidFill>
              <a:srgbClr val="3A4046"/>
            </a:solidFill>
            <a:prstDash val="solid"/>
          </a:ln>
        </p:spPr>
      </p:sp>
      <p:sp>
        <p:nvSpPr>
          <p:cNvPr id="10" name="Text 8"/>
          <p:cNvSpPr/>
          <p:nvPr/>
        </p:nvSpPr>
        <p:spPr>
          <a:xfrm>
            <a:off x="9208008" y="3162891"/>
            <a:ext cx="674043" cy="674043"/>
          </a:xfrm>
          <a:prstGeom prst="rect">
            <a:avLst/>
          </a:prstGeom>
          <a:noFill/>
          <a:ln/>
        </p:spPr>
        <p:txBody>
          <a:bodyPr wrap="square" lIns="0" tIns="0" rIns="0" bIns="0" rtlCol="0" anchor="ctr"/>
          <a:lstStyle/>
          <a:p>
            <a:pPr algn="ctr" indent="0" marL="0">
              <a:buNone/>
            </a:pPr>
            <a:r>
              <a:rPr lang="en-US" sz="600" dirty="0">
                <a:solidFill>
                  <a:srgbClr val="9AA0A6"/>
                </a:solidFill>
                <a:latin typeface="Arial" pitchFamily="34" charset="0"/>
                <a:ea typeface="Arial" pitchFamily="34" charset="-122"/>
                <a:cs typeface="Arial" pitchFamily="34" charset="-120"/>
              </a:rPr>
              <a:t>RP2350</a:t>
            </a:r>
            <a:endParaRPr lang="en-US" sz="600" dirty="0"/>
          </a:p>
        </p:txBody>
      </p:sp>
      <p:sp>
        <p:nvSpPr>
          <p:cNvPr id="11" name="Shape 9"/>
          <p:cNvSpPr/>
          <p:nvPr/>
        </p:nvSpPr>
        <p:spPr>
          <a:xfrm>
            <a:off x="9994392" y="3146842"/>
            <a:ext cx="432511" cy="706141"/>
          </a:xfrm>
          <a:prstGeom prst="rect">
            <a:avLst/>
          </a:prstGeom>
          <a:solidFill>
            <a:srgbClr val="3A4046"/>
          </a:solidFill>
          <a:ln w="6350">
            <a:solidFill>
              <a:srgbClr val="50565C"/>
            </a:solidFill>
            <a:prstDash val="solid"/>
          </a:ln>
        </p:spPr>
      </p:sp>
      <p:sp>
        <p:nvSpPr>
          <p:cNvPr id="12" name="Shape 10"/>
          <p:cNvSpPr/>
          <p:nvPr/>
        </p:nvSpPr>
        <p:spPr>
          <a:xfrm>
            <a:off x="10997032" y="3018453"/>
            <a:ext cx="393192" cy="962919"/>
          </a:xfrm>
          <a:prstGeom prst="rect">
            <a:avLst/>
          </a:prstGeom>
          <a:solidFill>
            <a:srgbClr val="C8A24A"/>
          </a:solidFill>
          <a:ln w="12700">
            <a:solidFill>
              <a:srgbClr val="C8A24A"/>
            </a:solidFill>
            <a:prstDash val="solid"/>
          </a:ln>
        </p:spPr>
      </p:sp>
      <p:sp>
        <p:nvSpPr>
          <p:cNvPr id="13" name="Shape 11"/>
          <p:cNvSpPr/>
          <p:nvPr/>
        </p:nvSpPr>
        <p:spPr>
          <a:xfrm>
            <a:off x="8598560" y="3307329"/>
            <a:ext cx="216256" cy="385168"/>
          </a:xfrm>
          <a:prstGeom prst="roundRect">
            <a:avLst>
              <a:gd name="adj" fmla="val 12685"/>
            </a:avLst>
          </a:prstGeom>
          <a:solidFill>
            <a:srgbClr val="6B7280"/>
          </a:solidFill>
          <a:ln w="12700">
            <a:solidFill>
              <a:srgbClr val="6B7280"/>
            </a:solidFill>
            <a:prstDash val="solid"/>
          </a:ln>
        </p:spPr>
      </p:sp>
      <p:sp>
        <p:nvSpPr>
          <p:cNvPr id="14" name="Shape 12"/>
          <p:cNvSpPr/>
          <p:nvPr/>
        </p:nvSpPr>
        <p:spPr>
          <a:xfrm>
            <a:off x="10603840" y="3403621"/>
            <a:ext cx="86502" cy="86502"/>
          </a:xfrm>
          <a:prstGeom prst="ellipse">
            <a:avLst/>
          </a:prstGeom>
          <a:solidFill>
            <a:srgbClr val="63E06B"/>
          </a:solidFill>
          <a:ln w="12700">
            <a:solidFill>
              <a:srgbClr val="63E06B"/>
            </a:solidFill>
            <a:prstDash val="solid"/>
          </a:ln>
        </p:spPr>
      </p:sp>
      <p:sp>
        <p:nvSpPr>
          <p:cNvPr id="15" name="Shape 13"/>
          <p:cNvSpPr/>
          <p:nvPr/>
        </p:nvSpPr>
        <p:spPr>
          <a:xfrm>
            <a:off x="7812176" y="2769699"/>
            <a:ext cx="74706" cy="74706"/>
          </a:xfrm>
          <a:prstGeom prst="ellipse">
            <a:avLst/>
          </a:prstGeom>
          <a:solidFill>
            <a:srgbClr val="D8C089"/>
          </a:solidFill>
          <a:ln w="5080">
            <a:solidFill>
              <a:srgbClr val="8A7238"/>
            </a:solidFill>
            <a:prstDash val="solid"/>
          </a:ln>
        </p:spPr>
      </p:sp>
      <p:sp>
        <p:nvSpPr>
          <p:cNvPr id="16" name="Shape 14"/>
          <p:cNvSpPr/>
          <p:nvPr/>
        </p:nvSpPr>
        <p:spPr>
          <a:xfrm>
            <a:off x="7812176" y="4155420"/>
            <a:ext cx="74706" cy="74706"/>
          </a:xfrm>
          <a:prstGeom prst="ellipse">
            <a:avLst/>
          </a:prstGeom>
          <a:solidFill>
            <a:srgbClr val="D8C089"/>
          </a:solidFill>
          <a:ln w="5080">
            <a:solidFill>
              <a:srgbClr val="8A7238"/>
            </a:solidFill>
            <a:prstDash val="solid"/>
          </a:ln>
        </p:spPr>
      </p:sp>
      <p:sp>
        <p:nvSpPr>
          <p:cNvPr id="17" name="Shape 15"/>
          <p:cNvSpPr/>
          <p:nvPr/>
        </p:nvSpPr>
        <p:spPr>
          <a:xfrm>
            <a:off x="7996563" y="2769699"/>
            <a:ext cx="74706" cy="74706"/>
          </a:xfrm>
          <a:prstGeom prst="ellipse">
            <a:avLst/>
          </a:prstGeom>
          <a:solidFill>
            <a:srgbClr val="D8C089"/>
          </a:solidFill>
          <a:ln w="5080">
            <a:solidFill>
              <a:srgbClr val="8A7238"/>
            </a:solidFill>
            <a:prstDash val="solid"/>
          </a:ln>
        </p:spPr>
      </p:sp>
      <p:sp>
        <p:nvSpPr>
          <p:cNvPr id="18" name="Shape 16"/>
          <p:cNvSpPr/>
          <p:nvPr/>
        </p:nvSpPr>
        <p:spPr>
          <a:xfrm>
            <a:off x="7996563" y="4155420"/>
            <a:ext cx="74706" cy="74706"/>
          </a:xfrm>
          <a:prstGeom prst="ellipse">
            <a:avLst/>
          </a:prstGeom>
          <a:solidFill>
            <a:srgbClr val="D8C089"/>
          </a:solidFill>
          <a:ln w="5080">
            <a:solidFill>
              <a:srgbClr val="8A7238"/>
            </a:solidFill>
            <a:prstDash val="solid"/>
          </a:ln>
        </p:spPr>
      </p:sp>
      <p:sp>
        <p:nvSpPr>
          <p:cNvPr id="19" name="Shape 17"/>
          <p:cNvSpPr/>
          <p:nvPr/>
        </p:nvSpPr>
        <p:spPr>
          <a:xfrm>
            <a:off x="8180949" y="2769699"/>
            <a:ext cx="74706" cy="74706"/>
          </a:xfrm>
          <a:prstGeom prst="ellipse">
            <a:avLst/>
          </a:prstGeom>
          <a:solidFill>
            <a:srgbClr val="D8C089"/>
          </a:solidFill>
          <a:ln w="5080">
            <a:solidFill>
              <a:srgbClr val="8A7238"/>
            </a:solidFill>
            <a:prstDash val="solid"/>
          </a:ln>
        </p:spPr>
      </p:sp>
      <p:sp>
        <p:nvSpPr>
          <p:cNvPr id="20" name="Shape 18"/>
          <p:cNvSpPr/>
          <p:nvPr/>
        </p:nvSpPr>
        <p:spPr>
          <a:xfrm>
            <a:off x="8180949" y="4155420"/>
            <a:ext cx="74706" cy="74706"/>
          </a:xfrm>
          <a:prstGeom prst="ellipse">
            <a:avLst/>
          </a:prstGeom>
          <a:solidFill>
            <a:srgbClr val="D8C089"/>
          </a:solidFill>
          <a:ln w="5080">
            <a:solidFill>
              <a:srgbClr val="8A7238"/>
            </a:solidFill>
            <a:prstDash val="solid"/>
          </a:ln>
        </p:spPr>
      </p:sp>
      <p:sp>
        <p:nvSpPr>
          <p:cNvPr id="21" name="Shape 19"/>
          <p:cNvSpPr/>
          <p:nvPr/>
        </p:nvSpPr>
        <p:spPr>
          <a:xfrm>
            <a:off x="8365335" y="2769699"/>
            <a:ext cx="74706" cy="74706"/>
          </a:xfrm>
          <a:prstGeom prst="ellipse">
            <a:avLst/>
          </a:prstGeom>
          <a:solidFill>
            <a:srgbClr val="D8C089"/>
          </a:solidFill>
          <a:ln w="5080">
            <a:solidFill>
              <a:srgbClr val="8A7238"/>
            </a:solidFill>
            <a:prstDash val="solid"/>
          </a:ln>
        </p:spPr>
      </p:sp>
      <p:sp>
        <p:nvSpPr>
          <p:cNvPr id="22" name="Shape 20"/>
          <p:cNvSpPr/>
          <p:nvPr/>
        </p:nvSpPr>
        <p:spPr>
          <a:xfrm>
            <a:off x="8365335" y="4155420"/>
            <a:ext cx="74706" cy="74706"/>
          </a:xfrm>
          <a:prstGeom prst="ellipse">
            <a:avLst/>
          </a:prstGeom>
          <a:solidFill>
            <a:srgbClr val="D8C089"/>
          </a:solidFill>
          <a:ln w="5080">
            <a:solidFill>
              <a:srgbClr val="8A7238"/>
            </a:solidFill>
            <a:prstDash val="solid"/>
          </a:ln>
        </p:spPr>
      </p:sp>
      <p:sp>
        <p:nvSpPr>
          <p:cNvPr id="23" name="Shape 21"/>
          <p:cNvSpPr/>
          <p:nvPr/>
        </p:nvSpPr>
        <p:spPr>
          <a:xfrm>
            <a:off x="8549722" y="2769699"/>
            <a:ext cx="74706" cy="74706"/>
          </a:xfrm>
          <a:prstGeom prst="ellipse">
            <a:avLst/>
          </a:prstGeom>
          <a:solidFill>
            <a:srgbClr val="D8C089"/>
          </a:solidFill>
          <a:ln w="5080">
            <a:solidFill>
              <a:srgbClr val="8A7238"/>
            </a:solidFill>
            <a:prstDash val="solid"/>
          </a:ln>
        </p:spPr>
      </p:sp>
      <p:sp>
        <p:nvSpPr>
          <p:cNvPr id="24" name="Shape 22"/>
          <p:cNvSpPr/>
          <p:nvPr/>
        </p:nvSpPr>
        <p:spPr>
          <a:xfrm>
            <a:off x="8549722" y="4155420"/>
            <a:ext cx="74706" cy="74706"/>
          </a:xfrm>
          <a:prstGeom prst="ellipse">
            <a:avLst/>
          </a:prstGeom>
          <a:solidFill>
            <a:srgbClr val="D8C089"/>
          </a:solidFill>
          <a:ln w="5080">
            <a:solidFill>
              <a:srgbClr val="8A7238"/>
            </a:solidFill>
            <a:prstDash val="solid"/>
          </a:ln>
        </p:spPr>
      </p:sp>
      <p:sp>
        <p:nvSpPr>
          <p:cNvPr id="25" name="Shape 23"/>
          <p:cNvSpPr/>
          <p:nvPr/>
        </p:nvSpPr>
        <p:spPr>
          <a:xfrm>
            <a:off x="8734108" y="2769699"/>
            <a:ext cx="74706" cy="74706"/>
          </a:xfrm>
          <a:prstGeom prst="ellipse">
            <a:avLst/>
          </a:prstGeom>
          <a:solidFill>
            <a:srgbClr val="D8C089"/>
          </a:solidFill>
          <a:ln w="5080">
            <a:solidFill>
              <a:srgbClr val="8A7238"/>
            </a:solidFill>
            <a:prstDash val="solid"/>
          </a:ln>
        </p:spPr>
      </p:sp>
      <p:sp>
        <p:nvSpPr>
          <p:cNvPr id="26" name="Shape 24"/>
          <p:cNvSpPr/>
          <p:nvPr/>
        </p:nvSpPr>
        <p:spPr>
          <a:xfrm>
            <a:off x="8734108" y="4155420"/>
            <a:ext cx="74706" cy="74706"/>
          </a:xfrm>
          <a:prstGeom prst="ellipse">
            <a:avLst/>
          </a:prstGeom>
          <a:solidFill>
            <a:srgbClr val="D8C089"/>
          </a:solidFill>
          <a:ln w="5080">
            <a:solidFill>
              <a:srgbClr val="8A7238"/>
            </a:solidFill>
            <a:prstDash val="solid"/>
          </a:ln>
        </p:spPr>
      </p:sp>
      <p:sp>
        <p:nvSpPr>
          <p:cNvPr id="27" name="Shape 25"/>
          <p:cNvSpPr/>
          <p:nvPr/>
        </p:nvSpPr>
        <p:spPr>
          <a:xfrm>
            <a:off x="8918495" y="2769699"/>
            <a:ext cx="74706" cy="74706"/>
          </a:xfrm>
          <a:prstGeom prst="ellipse">
            <a:avLst/>
          </a:prstGeom>
          <a:solidFill>
            <a:srgbClr val="D8C089"/>
          </a:solidFill>
          <a:ln w="5080">
            <a:solidFill>
              <a:srgbClr val="8A7238"/>
            </a:solidFill>
            <a:prstDash val="solid"/>
          </a:ln>
        </p:spPr>
      </p:sp>
      <p:sp>
        <p:nvSpPr>
          <p:cNvPr id="28" name="Shape 26"/>
          <p:cNvSpPr/>
          <p:nvPr/>
        </p:nvSpPr>
        <p:spPr>
          <a:xfrm>
            <a:off x="8918495" y="4155420"/>
            <a:ext cx="74706" cy="74706"/>
          </a:xfrm>
          <a:prstGeom prst="ellipse">
            <a:avLst/>
          </a:prstGeom>
          <a:solidFill>
            <a:srgbClr val="D8C089"/>
          </a:solidFill>
          <a:ln w="5080">
            <a:solidFill>
              <a:srgbClr val="8A7238"/>
            </a:solidFill>
            <a:prstDash val="solid"/>
          </a:ln>
        </p:spPr>
      </p:sp>
      <p:sp>
        <p:nvSpPr>
          <p:cNvPr id="29" name="Shape 27"/>
          <p:cNvSpPr/>
          <p:nvPr/>
        </p:nvSpPr>
        <p:spPr>
          <a:xfrm>
            <a:off x="9102881" y="2769699"/>
            <a:ext cx="74706" cy="74706"/>
          </a:xfrm>
          <a:prstGeom prst="ellipse">
            <a:avLst/>
          </a:prstGeom>
          <a:solidFill>
            <a:srgbClr val="D8C089"/>
          </a:solidFill>
          <a:ln w="5080">
            <a:solidFill>
              <a:srgbClr val="8A7238"/>
            </a:solidFill>
            <a:prstDash val="solid"/>
          </a:ln>
        </p:spPr>
      </p:sp>
      <p:sp>
        <p:nvSpPr>
          <p:cNvPr id="30" name="Shape 28"/>
          <p:cNvSpPr/>
          <p:nvPr/>
        </p:nvSpPr>
        <p:spPr>
          <a:xfrm>
            <a:off x="9102881" y="4155420"/>
            <a:ext cx="74706" cy="74706"/>
          </a:xfrm>
          <a:prstGeom prst="ellipse">
            <a:avLst/>
          </a:prstGeom>
          <a:solidFill>
            <a:srgbClr val="D8C089"/>
          </a:solidFill>
          <a:ln w="5080">
            <a:solidFill>
              <a:srgbClr val="8A7238"/>
            </a:solidFill>
            <a:prstDash val="solid"/>
          </a:ln>
        </p:spPr>
      </p:sp>
      <p:sp>
        <p:nvSpPr>
          <p:cNvPr id="31" name="Shape 29"/>
          <p:cNvSpPr/>
          <p:nvPr/>
        </p:nvSpPr>
        <p:spPr>
          <a:xfrm>
            <a:off x="9287267" y="2769699"/>
            <a:ext cx="74706" cy="74706"/>
          </a:xfrm>
          <a:prstGeom prst="ellipse">
            <a:avLst/>
          </a:prstGeom>
          <a:solidFill>
            <a:srgbClr val="D8C089"/>
          </a:solidFill>
          <a:ln w="5080">
            <a:solidFill>
              <a:srgbClr val="8A7238"/>
            </a:solidFill>
            <a:prstDash val="solid"/>
          </a:ln>
        </p:spPr>
      </p:sp>
      <p:sp>
        <p:nvSpPr>
          <p:cNvPr id="32" name="Shape 30"/>
          <p:cNvSpPr/>
          <p:nvPr/>
        </p:nvSpPr>
        <p:spPr>
          <a:xfrm>
            <a:off x="9287267" y="4155420"/>
            <a:ext cx="74706" cy="74706"/>
          </a:xfrm>
          <a:prstGeom prst="ellipse">
            <a:avLst/>
          </a:prstGeom>
          <a:solidFill>
            <a:srgbClr val="D8C089"/>
          </a:solidFill>
          <a:ln w="5080">
            <a:solidFill>
              <a:srgbClr val="8A7238"/>
            </a:solidFill>
            <a:prstDash val="solid"/>
          </a:ln>
        </p:spPr>
      </p:sp>
      <p:sp>
        <p:nvSpPr>
          <p:cNvPr id="33" name="Shape 31"/>
          <p:cNvSpPr/>
          <p:nvPr/>
        </p:nvSpPr>
        <p:spPr>
          <a:xfrm>
            <a:off x="9471654" y="2769699"/>
            <a:ext cx="74706" cy="74706"/>
          </a:xfrm>
          <a:prstGeom prst="ellipse">
            <a:avLst/>
          </a:prstGeom>
          <a:solidFill>
            <a:srgbClr val="D8C089"/>
          </a:solidFill>
          <a:ln w="5080">
            <a:solidFill>
              <a:srgbClr val="8A7238"/>
            </a:solidFill>
            <a:prstDash val="solid"/>
          </a:ln>
        </p:spPr>
      </p:sp>
      <p:sp>
        <p:nvSpPr>
          <p:cNvPr id="34" name="Shape 32"/>
          <p:cNvSpPr/>
          <p:nvPr/>
        </p:nvSpPr>
        <p:spPr>
          <a:xfrm>
            <a:off x="9471654" y="4155420"/>
            <a:ext cx="74706" cy="74706"/>
          </a:xfrm>
          <a:prstGeom prst="ellipse">
            <a:avLst/>
          </a:prstGeom>
          <a:solidFill>
            <a:srgbClr val="D8C089"/>
          </a:solidFill>
          <a:ln w="5080">
            <a:solidFill>
              <a:srgbClr val="8A7238"/>
            </a:solidFill>
            <a:prstDash val="solid"/>
          </a:ln>
        </p:spPr>
      </p:sp>
      <p:sp>
        <p:nvSpPr>
          <p:cNvPr id="35" name="Shape 33"/>
          <p:cNvSpPr/>
          <p:nvPr/>
        </p:nvSpPr>
        <p:spPr>
          <a:xfrm>
            <a:off x="9656040" y="2769699"/>
            <a:ext cx="74706" cy="74706"/>
          </a:xfrm>
          <a:prstGeom prst="ellipse">
            <a:avLst/>
          </a:prstGeom>
          <a:solidFill>
            <a:srgbClr val="D8C089"/>
          </a:solidFill>
          <a:ln w="5080">
            <a:solidFill>
              <a:srgbClr val="8A7238"/>
            </a:solidFill>
            <a:prstDash val="solid"/>
          </a:ln>
        </p:spPr>
      </p:sp>
      <p:sp>
        <p:nvSpPr>
          <p:cNvPr id="36" name="Shape 34"/>
          <p:cNvSpPr/>
          <p:nvPr/>
        </p:nvSpPr>
        <p:spPr>
          <a:xfrm>
            <a:off x="9656040" y="4155420"/>
            <a:ext cx="74706" cy="74706"/>
          </a:xfrm>
          <a:prstGeom prst="ellipse">
            <a:avLst/>
          </a:prstGeom>
          <a:solidFill>
            <a:srgbClr val="D8C089"/>
          </a:solidFill>
          <a:ln w="5080">
            <a:solidFill>
              <a:srgbClr val="8A7238"/>
            </a:solidFill>
            <a:prstDash val="solid"/>
          </a:ln>
        </p:spPr>
      </p:sp>
      <p:sp>
        <p:nvSpPr>
          <p:cNvPr id="37" name="Shape 35"/>
          <p:cNvSpPr/>
          <p:nvPr/>
        </p:nvSpPr>
        <p:spPr>
          <a:xfrm>
            <a:off x="9840426" y="2769699"/>
            <a:ext cx="74706" cy="74706"/>
          </a:xfrm>
          <a:prstGeom prst="ellipse">
            <a:avLst/>
          </a:prstGeom>
          <a:solidFill>
            <a:srgbClr val="D8C089"/>
          </a:solidFill>
          <a:ln w="5080">
            <a:solidFill>
              <a:srgbClr val="8A7238"/>
            </a:solidFill>
            <a:prstDash val="solid"/>
          </a:ln>
        </p:spPr>
      </p:sp>
      <p:sp>
        <p:nvSpPr>
          <p:cNvPr id="38" name="Shape 36"/>
          <p:cNvSpPr/>
          <p:nvPr/>
        </p:nvSpPr>
        <p:spPr>
          <a:xfrm>
            <a:off x="9840426" y="4155420"/>
            <a:ext cx="74706" cy="74706"/>
          </a:xfrm>
          <a:prstGeom prst="ellipse">
            <a:avLst/>
          </a:prstGeom>
          <a:solidFill>
            <a:srgbClr val="D8C089"/>
          </a:solidFill>
          <a:ln w="5080">
            <a:solidFill>
              <a:srgbClr val="8A7238"/>
            </a:solidFill>
            <a:prstDash val="solid"/>
          </a:ln>
        </p:spPr>
      </p:sp>
      <p:sp>
        <p:nvSpPr>
          <p:cNvPr id="39" name="Shape 37"/>
          <p:cNvSpPr/>
          <p:nvPr/>
        </p:nvSpPr>
        <p:spPr>
          <a:xfrm>
            <a:off x="10024813" y="2769699"/>
            <a:ext cx="74706" cy="74706"/>
          </a:xfrm>
          <a:prstGeom prst="ellipse">
            <a:avLst/>
          </a:prstGeom>
          <a:solidFill>
            <a:srgbClr val="D8C089"/>
          </a:solidFill>
          <a:ln w="5080">
            <a:solidFill>
              <a:srgbClr val="8A7238"/>
            </a:solidFill>
            <a:prstDash val="solid"/>
          </a:ln>
        </p:spPr>
      </p:sp>
      <p:sp>
        <p:nvSpPr>
          <p:cNvPr id="40" name="Shape 38"/>
          <p:cNvSpPr/>
          <p:nvPr/>
        </p:nvSpPr>
        <p:spPr>
          <a:xfrm>
            <a:off x="10024813" y="4155420"/>
            <a:ext cx="74706" cy="74706"/>
          </a:xfrm>
          <a:prstGeom prst="ellipse">
            <a:avLst/>
          </a:prstGeom>
          <a:solidFill>
            <a:srgbClr val="D8C089"/>
          </a:solidFill>
          <a:ln w="5080">
            <a:solidFill>
              <a:srgbClr val="8A7238"/>
            </a:solidFill>
            <a:prstDash val="solid"/>
          </a:ln>
        </p:spPr>
      </p:sp>
      <p:sp>
        <p:nvSpPr>
          <p:cNvPr id="41" name="Shape 39"/>
          <p:cNvSpPr/>
          <p:nvPr/>
        </p:nvSpPr>
        <p:spPr>
          <a:xfrm>
            <a:off x="10209199" y="2769699"/>
            <a:ext cx="74706" cy="74706"/>
          </a:xfrm>
          <a:prstGeom prst="ellipse">
            <a:avLst/>
          </a:prstGeom>
          <a:solidFill>
            <a:srgbClr val="D8C089"/>
          </a:solidFill>
          <a:ln w="5080">
            <a:solidFill>
              <a:srgbClr val="8A7238"/>
            </a:solidFill>
            <a:prstDash val="solid"/>
          </a:ln>
        </p:spPr>
      </p:sp>
      <p:sp>
        <p:nvSpPr>
          <p:cNvPr id="42" name="Shape 40"/>
          <p:cNvSpPr/>
          <p:nvPr/>
        </p:nvSpPr>
        <p:spPr>
          <a:xfrm>
            <a:off x="10209199" y="4155420"/>
            <a:ext cx="74706" cy="74706"/>
          </a:xfrm>
          <a:prstGeom prst="ellipse">
            <a:avLst/>
          </a:prstGeom>
          <a:solidFill>
            <a:srgbClr val="D8C089"/>
          </a:solidFill>
          <a:ln w="5080">
            <a:solidFill>
              <a:srgbClr val="8A7238"/>
            </a:solidFill>
            <a:prstDash val="solid"/>
          </a:ln>
        </p:spPr>
      </p:sp>
      <p:sp>
        <p:nvSpPr>
          <p:cNvPr id="43" name="Shape 41"/>
          <p:cNvSpPr/>
          <p:nvPr/>
        </p:nvSpPr>
        <p:spPr>
          <a:xfrm>
            <a:off x="10393585" y="2769699"/>
            <a:ext cx="74706" cy="74706"/>
          </a:xfrm>
          <a:prstGeom prst="ellipse">
            <a:avLst/>
          </a:prstGeom>
          <a:solidFill>
            <a:srgbClr val="D8C089"/>
          </a:solidFill>
          <a:ln w="5080">
            <a:solidFill>
              <a:srgbClr val="8A7238"/>
            </a:solidFill>
            <a:prstDash val="solid"/>
          </a:ln>
        </p:spPr>
      </p:sp>
      <p:sp>
        <p:nvSpPr>
          <p:cNvPr id="44" name="Shape 42"/>
          <p:cNvSpPr/>
          <p:nvPr/>
        </p:nvSpPr>
        <p:spPr>
          <a:xfrm>
            <a:off x="10393585" y="4155420"/>
            <a:ext cx="74706" cy="74706"/>
          </a:xfrm>
          <a:prstGeom prst="ellipse">
            <a:avLst/>
          </a:prstGeom>
          <a:solidFill>
            <a:srgbClr val="D8C089"/>
          </a:solidFill>
          <a:ln w="5080">
            <a:solidFill>
              <a:srgbClr val="8A7238"/>
            </a:solidFill>
            <a:prstDash val="solid"/>
          </a:ln>
        </p:spPr>
      </p:sp>
      <p:sp>
        <p:nvSpPr>
          <p:cNvPr id="45" name="Shape 43"/>
          <p:cNvSpPr/>
          <p:nvPr/>
        </p:nvSpPr>
        <p:spPr>
          <a:xfrm>
            <a:off x="10577972" y="2769699"/>
            <a:ext cx="74706" cy="74706"/>
          </a:xfrm>
          <a:prstGeom prst="ellipse">
            <a:avLst/>
          </a:prstGeom>
          <a:solidFill>
            <a:srgbClr val="D8C089"/>
          </a:solidFill>
          <a:ln w="5080">
            <a:solidFill>
              <a:srgbClr val="8A7238"/>
            </a:solidFill>
            <a:prstDash val="solid"/>
          </a:ln>
        </p:spPr>
      </p:sp>
      <p:sp>
        <p:nvSpPr>
          <p:cNvPr id="46" name="Shape 44"/>
          <p:cNvSpPr/>
          <p:nvPr/>
        </p:nvSpPr>
        <p:spPr>
          <a:xfrm>
            <a:off x="10577972" y="4155420"/>
            <a:ext cx="74706" cy="74706"/>
          </a:xfrm>
          <a:prstGeom prst="ellipse">
            <a:avLst/>
          </a:prstGeom>
          <a:solidFill>
            <a:srgbClr val="D8C089"/>
          </a:solidFill>
          <a:ln w="5080">
            <a:solidFill>
              <a:srgbClr val="8A7238"/>
            </a:solidFill>
            <a:prstDash val="solid"/>
          </a:ln>
        </p:spPr>
      </p:sp>
      <p:sp>
        <p:nvSpPr>
          <p:cNvPr id="47" name="Shape 45"/>
          <p:cNvSpPr/>
          <p:nvPr/>
        </p:nvSpPr>
        <p:spPr>
          <a:xfrm>
            <a:off x="10762358" y="2769699"/>
            <a:ext cx="74706" cy="74706"/>
          </a:xfrm>
          <a:prstGeom prst="ellipse">
            <a:avLst/>
          </a:prstGeom>
          <a:solidFill>
            <a:srgbClr val="D8C089"/>
          </a:solidFill>
          <a:ln w="5080">
            <a:solidFill>
              <a:srgbClr val="8A7238"/>
            </a:solidFill>
            <a:prstDash val="solid"/>
          </a:ln>
        </p:spPr>
      </p:sp>
      <p:sp>
        <p:nvSpPr>
          <p:cNvPr id="48" name="Shape 46"/>
          <p:cNvSpPr/>
          <p:nvPr/>
        </p:nvSpPr>
        <p:spPr>
          <a:xfrm>
            <a:off x="10762358" y="4155420"/>
            <a:ext cx="74706" cy="74706"/>
          </a:xfrm>
          <a:prstGeom prst="ellipse">
            <a:avLst/>
          </a:prstGeom>
          <a:solidFill>
            <a:srgbClr val="D8C089"/>
          </a:solidFill>
          <a:ln w="5080">
            <a:solidFill>
              <a:srgbClr val="8A7238"/>
            </a:solidFill>
            <a:prstDash val="solid"/>
          </a:ln>
        </p:spPr>
      </p:sp>
      <p:sp>
        <p:nvSpPr>
          <p:cNvPr id="49" name="Shape 47"/>
          <p:cNvSpPr/>
          <p:nvPr/>
        </p:nvSpPr>
        <p:spPr>
          <a:xfrm>
            <a:off x="10946744" y="2769699"/>
            <a:ext cx="74706" cy="74706"/>
          </a:xfrm>
          <a:prstGeom prst="ellipse">
            <a:avLst/>
          </a:prstGeom>
          <a:solidFill>
            <a:srgbClr val="D8C089"/>
          </a:solidFill>
          <a:ln w="5080">
            <a:solidFill>
              <a:srgbClr val="8A7238"/>
            </a:solidFill>
            <a:prstDash val="solid"/>
          </a:ln>
        </p:spPr>
      </p:sp>
      <p:sp>
        <p:nvSpPr>
          <p:cNvPr id="50" name="Shape 48"/>
          <p:cNvSpPr/>
          <p:nvPr/>
        </p:nvSpPr>
        <p:spPr>
          <a:xfrm>
            <a:off x="10946744" y="4155420"/>
            <a:ext cx="74706" cy="74706"/>
          </a:xfrm>
          <a:prstGeom prst="ellipse">
            <a:avLst/>
          </a:prstGeom>
          <a:solidFill>
            <a:srgbClr val="D8C089"/>
          </a:solidFill>
          <a:ln w="5080">
            <a:solidFill>
              <a:srgbClr val="8A7238"/>
            </a:solidFill>
            <a:prstDash val="solid"/>
          </a:ln>
        </p:spPr>
      </p:sp>
      <p:sp>
        <p:nvSpPr>
          <p:cNvPr id="51" name="Shape 49"/>
          <p:cNvSpPr/>
          <p:nvPr/>
        </p:nvSpPr>
        <p:spPr>
          <a:xfrm>
            <a:off x="11131131" y="2769699"/>
            <a:ext cx="74706" cy="74706"/>
          </a:xfrm>
          <a:prstGeom prst="ellipse">
            <a:avLst/>
          </a:prstGeom>
          <a:solidFill>
            <a:srgbClr val="D8C089"/>
          </a:solidFill>
          <a:ln w="5080">
            <a:solidFill>
              <a:srgbClr val="8A7238"/>
            </a:solidFill>
            <a:prstDash val="solid"/>
          </a:ln>
        </p:spPr>
      </p:sp>
      <p:sp>
        <p:nvSpPr>
          <p:cNvPr id="52" name="Shape 50"/>
          <p:cNvSpPr/>
          <p:nvPr/>
        </p:nvSpPr>
        <p:spPr>
          <a:xfrm>
            <a:off x="11131131" y="4155420"/>
            <a:ext cx="74706" cy="74706"/>
          </a:xfrm>
          <a:prstGeom prst="ellipse">
            <a:avLst/>
          </a:prstGeom>
          <a:solidFill>
            <a:srgbClr val="D8C089"/>
          </a:solidFill>
          <a:ln w="5080">
            <a:solidFill>
              <a:srgbClr val="8A7238"/>
            </a:solidFill>
            <a:prstDash val="solid"/>
          </a:ln>
        </p:spPr>
      </p:sp>
      <p:sp>
        <p:nvSpPr>
          <p:cNvPr id="53" name="Shape 51"/>
          <p:cNvSpPr/>
          <p:nvPr/>
        </p:nvSpPr>
        <p:spPr>
          <a:xfrm>
            <a:off x="11315517" y="2769699"/>
            <a:ext cx="74706" cy="74706"/>
          </a:xfrm>
          <a:prstGeom prst="ellipse">
            <a:avLst/>
          </a:prstGeom>
          <a:solidFill>
            <a:srgbClr val="D8C089"/>
          </a:solidFill>
          <a:ln w="5080">
            <a:solidFill>
              <a:srgbClr val="8A7238"/>
            </a:solidFill>
            <a:prstDash val="solid"/>
          </a:ln>
        </p:spPr>
      </p:sp>
      <p:sp>
        <p:nvSpPr>
          <p:cNvPr id="54" name="Shape 52"/>
          <p:cNvSpPr/>
          <p:nvPr/>
        </p:nvSpPr>
        <p:spPr>
          <a:xfrm>
            <a:off x="11315517" y="4155420"/>
            <a:ext cx="74706" cy="74706"/>
          </a:xfrm>
          <a:prstGeom prst="ellipse">
            <a:avLst/>
          </a:prstGeom>
          <a:solidFill>
            <a:srgbClr val="D8C089"/>
          </a:solidFill>
          <a:ln w="5080">
            <a:solidFill>
              <a:srgbClr val="8A723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LEARNING OBJECTIVES</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오늘 배울 것</a:t>
            </a:r>
            <a:endParaRPr lang="en-US" sz="3000" dirty="0"/>
          </a:p>
        </p:txBody>
      </p:sp>
      <p:sp>
        <p:nvSpPr>
          <p:cNvPr id="4" name="Shape 2"/>
          <p:cNvSpPr/>
          <p:nvPr/>
        </p:nvSpPr>
        <p:spPr>
          <a:xfrm>
            <a:off x="685800" y="1481328"/>
            <a:ext cx="10817352" cy="841248"/>
          </a:xfrm>
          <a:prstGeom prst="roundRect">
            <a:avLst>
              <a:gd name="adj" fmla="val 6522"/>
            </a:avLst>
          </a:prstGeom>
          <a:solidFill>
            <a:srgbClr val="FFFFFF"/>
          </a:solidFill>
          <a:ln w="12700">
            <a:solidFill>
              <a:srgbClr val="DCD6D6"/>
            </a:solidFill>
            <a:prstDash val="solid"/>
          </a:ln>
        </p:spPr>
      </p:sp>
      <p:sp>
        <p:nvSpPr>
          <p:cNvPr id="5" name="Shape 3"/>
          <p:cNvSpPr/>
          <p:nvPr/>
        </p:nvSpPr>
        <p:spPr>
          <a:xfrm>
            <a:off x="960120" y="1700784"/>
            <a:ext cx="402336" cy="402336"/>
          </a:xfrm>
          <a:prstGeom prst="ellipse">
            <a:avLst/>
          </a:prstGeom>
          <a:solidFill>
            <a:srgbClr val="990011"/>
          </a:solidFill>
          <a:ln w="12700">
            <a:solidFill>
              <a:srgbClr val="990011"/>
            </a:solidFill>
            <a:prstDash val="solid"/>
          </a:ln>
        </p:spPr>
      </p:sp>
      <p:sp>
        <p:nvSpPr>
          <p:cNvPr id="6" name="Text 4"/>
          <p:cNvSpPr/>
          <p:nvPr/>
        </p:nvSpPr>
        <p:spPr>
          <a:xfrm>
            <a:off x="960120" y="1700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01</a:t>
            </a:r>
            <a:endParaRPr lang="en-US" sz="1200" dirty="0"/>
          </a:p>
        </p:txBody>
      </p:sp>
      <p:sp>
        <p:nvSpPr>
          <p:cNvPr id="7" name="Text 5"/>
          <p:cNvSpPr/>
          <p:nvPr/>
        </p:nvSpPr>
        <p:spPr>
          <a:xfrm>
            <a:off x="1554480" y="1627632"/>
            <a:ext cx="420624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마이크로컨트롤러란 무엇인가</a:t>
            </a:r>
            <a:endParaRPr lang="en-US" sz="1500" dirty="0"/>
          </a:p>
        </p:txBody>
      </p:sp>
      <p:sp>
        <p:nvSpPr>
          <p:cNvPr id="8" name="Text 6"/>
          <p:cNvSpPr/>
          <p:nvPr/>
        </p:nvSpPr>
        <p:spPr>
          <a:xfrm>
            <a:off x="1554480" y="1956816"/>
            <a:ext cx="7772400" cy="274320"/>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PC와 무엇이 다른지, 어디에 쓰이는지 이해한다</a:t>
            </a:r>
            <a:endParaRPr lang="en-US" sz="1250" dirty="0"/>
          </a:p>
        </p:txBody>
      </p:sp>
      <p:sp>
        <p:nvSpPr>
          <p:cNvPr id="9" name="Shape 7"/>
          <p:cNvSpPr/>
          <p:nvPr/>
        </p:nvSpPr>
        <p:spPr>
          <a:xfrm>
            <a:off x="685800" y="2432304"/>
            <a:ext cx="10817352" cy="841248"/>
          </a:xfrm>
          <a:prstGeom prst="roundRect">
            <a:avLst>
              <a:gd name="adj" fmla="val 6522"/>
            </a:avLst>
          </a:prstGeom>
          <a:solidFill>
            <a:srgbClr val="FFFFFF"/>
          </a:solidFill>
          <a:ln w="12700">
            <a:solidFill>
              <a:srgbClr val="DCD6D6"/>
            </a:solidFill>
            <a:prstDash val="solid"/>
          </a:ln>
        </p:spPr>
      </p:sp>
      <p:sp>
        <p:nvSpPr>
          <p:cNvPr id="10" name="Shape 8"/>
          <p:cNvSpPr/>
          <p:nvPr/>
        </p:nvSpPr>
        <p:spPr>
          <a:xfrm>
            <a:off x="960120" y="2651760"/>
            <a:ext cx="402336" cy="402336"/>
          </a:xfrm>
          <a:prstGeom prst="ellipse">
            <a:avLst/>
          </a:prstGeom>
          <a:solidFill>
            <a:srgbClr val="990011"/>
          </a:solidFill>
          <a:ln w="12700">
            <a:solidFill>
              <a:srgbClr val="990011"/>
            </a:solidFill>
            <a:prstDash val="solid"/>
          </a:ln>
        </p:spPr>
      </p:sp>
      <p:sp>
        <p:nvSpPr>
          <p:cNvPr id="11" name="Text 9"/>
          <p:cNvSpPr/>
          <p:nvPr/>
        </p:nvSpPr>
        <p:spPr>
          <a:xfrm>
            <a:off x="960120" y="26517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02</a:t>
            </a:r>
            <a:endParaRPr lang="en-US" sz="1200" dirty="0"/>
          </a:p>
        </p:txBody>
      </p:sp>
      <p:sp>
        <p:nvSpPr>
          <p:cNvPr id="12" name="Text 10"/>
          <p:cNvSpPr/>
          <p:nvPr/>
        </p:nvSpPr>
        <p:spPr>
          <a:xfrm>
            <a:off x="1554480" y="2578608"/>
            <a:ext cx="420624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Pico 2 W와 Arduino UNO</a:t>
            </a:r>
            <a:endParaRPr lang="en-US" sz="1500" dirty="0"/>
          </a:p>
        </p:txBody>
      </p:sp>
      <p:sp>
        <p:nvSpPr>
          <p:cNvPr id="13" name="Text 11"/>
          <p:cNvSpPr/>
          <p:nvPr/>
        </p:nvSpPr>
        <p:spPr>
          <a:xfrm>
            <a:off x="1554480" y="2907792"/>
            <a:ext cx="7772400" cy="274320"/>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성능과 기능을 비교해 무엇이 달라지는지 안다</a:t>
            </a:r>
            <a:endParaRPr lang="en-US" sz="1250" dirty="0"/>
          </a:p>
        </p:txBody>
      </p:sp>
      <p:sp>
        <p:nvSpPr>
          <p:cNvPr id="14" name="Shape 12"/>
          <p:cNvSpPr/>
          <p:nvPr/>
        </p:nvSpPr>
        <p:spPr>
          <a:xfrm>
            <a:off x="685800" y="3383280"/>
            <a:ext cx="10817352" cy="841248"/>
          </a:xfrm>
          <a:prstGeom prst="roundRect">
            <a:avLst>
              <a:gd name="adj" fmla="val 6522"/>
            </a:avLst>
          </a:prstGeom>
          <a:solidFill>
            <a:srgbClr val="FFFFFF"/>
          </a:solidFill>
          <a:ln w="12700">
            <a:solidFill>
              <a:srgbClr val="DCD6D6"/>
            </a:solidFill>
            <a:prstDash val="solid"/>
          </a:ln>
        </p:spPr>
      </p:sp>
      <p:sp>
        <p:nvSpPr>
          <p:cNvPr id="15" name="Shape 13"/>
          <p:cNvSpPr/>
          <p:nvPr/>
        </p:nvSpPr>
        <p:spPr>
          <a:xfrm>
            <a:off x="960120" y="3602736"/>
            <a:ext cx="402336" cy="402336"/>
          </a:xfrm>
          <a:prstGeom prst="ellipse">
            <a:avLst/>
          </a:prstGeom>
          <a:solidFill>
            <a:srgbClr val="990011"/>
          </a:solidFill>
          <a:ln w="12700">
            <a:solidFill>
              <a:srgbClr val="990011"/>
            </a:solidFill>
            <a:prstDash val="solid"/>
          </a:ln>
        </p:spPr>
      </p:sp>
      <p:sp>
        <p:nvSpPr>
          <p:cNvPr id="16" name="Text 14"/>
          <p:cNvSpPr/>
          <p:nvPr/>
        </p:nvSpPr>
        <p:spPr>
          <a:xfrm>
            <a:off x="960120" y="360273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03</a:t>
            </a:r>
            <a:endParaRPr lang="en-US" sz="1200" dirty="0"/>
          </a:p>
        </p:txBody>
      </p:sp>
      <p:sp>
        <p:nvSpPr>
          <p:cNvPr id="17" name="Text 15"/>
          <p:cNvSpPr/>
          <p:nvPr/>
        </p:nvSpPr>
        <p:spPr>
          <a:xfrm>
            <a:off x="1554480" y="3529584"/>
            <a:ext cx="420624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40핀 핀 배치 읽기</a:t>
            </a:r>
            <a:endParaRPr lang="en-US" sz="1500" dirty="0"/>
          </a:p>
        </p:txBody>
      </p:sp>
      <p:sp>
        <p:nvSpPr>
          <p:cNvPr id="18" name="Text 16"/>
          <p:cNvSpPr/>
          <p:nvPr/>
        </p:nvSpPr>
        <p:spPr>
          <a:xfrm>
            <a:off x="1554480" y="3858768"/>
            <a:ext cx="7772400" cy="274320"/>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전원 핀과 GPIO를 구분하고 위치를 찾는다</a:t>
            </a:r>
            <a:endParaRPr lang="en-US" sz="1250" dirty="0"/>
          </a:p>
        </p:txBody>
      </p:sp>
      <p:sp>
        <p:nvSpPr>
          <p:cNvPr id="19" name="Shape 17"/>
          <p:cNvSpPr/>
          <p:nvPr/>
        </p:nvSpPr>
        <p:spPr>
          <a:xfrm>
            <a:off x="685800" y="4334256"/>
            <a:ext cx="10817352" cy="841248"/>
          </a:xfrm>
          <a:prstGeom prst="roundRect">
            <a:avLst>
              <a:gd name="adj" fmla="val 6522"/>
            </a:avLst>
          </a:prstGeom>
          <a:solidFill>
            <a:srgbClr val="FFFFFF"/>
          </a:solidFill>
          <a:ln w="12700">
            <a:solidFill>
              <a:srgbClr val="DCD6D6"/>
            </a:solidFill>
            <a:prstDash val="solid"/>
          </a:ln>
        </p:spPr>
      </p:sp>
      <p:sp>
        <p:nvSpPr>
          <p:cNvPr id="20" name="Shape 18"/>
          <p:cNvSpPr/>
          <p:nvPr/>
        </p:nvSpPr>
        <p:spPr>
          <a:xfrm>
            <a:off x="960120" y="4553712"/>
            <a:ext cx="402336" cy="402336"/>
          </a:xfrm>
          <a:prstGeom prst="ellipse">
            <a:avLst/>
          </a:prstGeom>
          <a:solidFill>
            <a:srgbClr val="990011"/>
          </a:solidFill>
          <a:ln w="12700">
            <a:solidFill>
              <a:srgbClr val="990011"/>
            </a:solidFill>
            <a:prstDash val="solid"/>
          </a:ln>
        </p:spPr>
      </p:sp>
      <p:sp>
        <p:nvSpPr>
          <p:cNvPr id="21" name="Text 19"/>
          <p:cNvSpPr/>
          <p:nvPr/>
        </p:nvSpPr>
        <p:spPr>
          <a:xfrm>
            <a:off x="960120" y="455371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04</a:t>
            </a:r>
            <a:endParaRPr lang="en-US" sz="1200" dirty="0"/>
          </a:p>
        </p:txBody>
      </p:sp>
      <p:sp>
        <p:nvSpPr>
          <p:cNvPr id="22" name="Text 20"/>
          <p:cNvSpPr/>
          <p:nvPr/>
        </p:nvSpPr>
        <p:spPr>
          <a:xfrm>
            <a:off x="1554480" y="4480560"/>
            <a:ext cx="420624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3.3V 로직과 안전 수칙</a:t>
            </a:r>
            <a:endParaRPr lang="en-US" sz="1500" dirty="0"/>
          </a:p>
        </p:txBody>
      </p:sp>
      <p:sp>
        <p:nvSpPr>
          <p:cNvPr id="23" name="Text 21"/>
          <p:cNvSpPr/>
          <p:nvPr/>
        </p:nvSpPr>
        <p:spPr>
          <a:xfrm>
            <a:off x="1554480" y="4809744"/>
            <a:ext cx="7772400" cy="274320"/>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보드를 망가뜨리지 않는 규칙을 익힌다</a:t>
            </a:r>
            <a:endParaRPr lang="en-US" sz="1250" dirty="0"/>
          </a:p>
        </p:txBody>
      </p:sp>
      <p:sp>
        <p:nvSpPr>
          <p:cNvPr id="24" name="Shape 22"/>
          <p:cNvSpPr/>
          <p:nvPr/>
        </p:nvSpPr>
        <p:spPr>
          <a:xfrm>
            <a:off x="685800" y="5285232"/>
            <a:ext cx="10817352" cy="841248"/>
          </a:xfrm>
          <a:prstGeom prst="roundRect">
            <a:avLst>
              <a:gd name="adj" fmla="val 6522"/>
            </a:avLst>
          </a:prstGeom>
          <a:solidFill>
            <a:srgbClr val="FFFFFF"/>
          </a:solidFill>
          <a:ln w="12700">
            <a:solidFill>
              <a:srgbClr val="DCD6D6"/>
            </a:solidFill>
            <a:prstDash val="solid"/>
          </a:ln>
        </p:spPr>
      </p:sp>
      <p:sp>
        <p:nvSpPr>
          <p:cNvPr id="25" name="Shape 23"/>
          <p:cNvSpPr/>
          <p:nvPr/>
        </p:nvSpPr>
        <p:spPr>
          <a:xfrm>
            <a:off x="960120" y="5504688"/>
            <a:ext cx="402336" cy="402336"/>
          </a:xfrm>
          <a:prstGeom prst="ellipse">
            <a:avLst/>
          </a:prstGeom>
          <a:solidFill>
            <a:srgbClr val="990011"/>
          </a:solidFill>
          <a:ln w="12700">
            <a:solidFill>
              <a:srgbClr val="990011"/>
            </a:solidFill>
            <a:prstDash val="solid"/>
          </a:ln>
        </p:spPr>
      </p:sp>
      <p:sp>
        <p:nvSpPr>
          <p:cNvPr id="26" name="Text 24"/>
          <p:cNvSpPr/>
          <p:nvPr/>
        </p:nvSpPr>
        <p:spPr>
          <a:xfrm>
            <a:off x="960120" y="55046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05</a:t>
            </a:r>
            <a:endParaRPr lang="en-US" sz="1200" dirty="0"/>
          </a:p>
        </p:txBody>
      </p:sp>
      <p:sp>
        <p:nvSpPr>
          <p:cNvPr id="27" name="Text 25"/>
          <p:cNvSpPr/>
          <p:nvPr/>
        </p:nvSpPr>
        <p:spPr>
          <a:xfrm>
            <a:off x="1554480" y="5431536"/>
            <a:ext cx="420624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앞으로의 학습 흐름</a:t>
            </a:r>
            <a:endParaRPr lang="en-US" sz="1500" dirty="0"/>
          </a:p>
        </p:txBody>
      </p:sp>
      <p:sp>
        <p:nvSpPr>
          <p:cNvPr id="28" name="Text 26"/>
          <p:cNvSpPr/>
          <p:nvPr/>
        </p:nvSpPr>
        <p:spPr>
          <a:xfrm>
            <a:off x="1554480" y="5760720"/>
            <a:ext cx="7772400" cy="274320"/>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MicroPython과 무선 기능을 미리 살펴본다</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CONCEPT</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마이크로컨트롤러(MCU)란?</a:t>
            </a:r>
            <a:endParaRPr lang="en-US" sz="3000" dirty="0"/>
          </a:p>
        </p:txBody>
      </p:sp>
      <p:sp>
        <p:nvSpPr>
          <p:cNvPr id="4" name="Text 2"/>
          <p:cNvSpPr/>
          <p:nvPr/>
        </p:nvSpPr>
        <p:spPr>
          <a:xfrm>
            <a:off x="685800" y="1371600"/>
            <a:ext cx="10789920" cy="45720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하나의 칩 안에 CPU·메모리·입출력 장치를 모두 담아, 특정한 일 하나를 반복해서 처리하도록 만든 아주 작은 컴퓨터입니다.</a:t>
            </a:r>
            <a:endParaRPr lang="en-US" sz="1500" dirty="0"/>
          </a:p>
        </p:txBody>
      </p:sp>
      <p:sp>
        <p:nvSpPr>
          <p:cNvPr id="5" name="Shape 3"/>
          <p:cNvSpPr/>
          <p:nvPr/>
        </p:nvSpPr>
        <p:spPr>
          <a:xfrm>
            <a:off x="685800" y="2011680"/>
            <a:ext cx="5212080" cy="3566160"/>
          </a:xfrm>
          <a:prstGeom prst="roundRect">
            <a:avLst>
              <a:gd name="adj" fmla="val 1538"/>
            </a:avLst>
          </a:prstGeom>
          <a:solidFill>
            <a:srgbClr val="FFFFFF"/>
          </a:solidFill>
          <a:ln w="12700">
            <a:solidFill>
              <a:srgbClr val="DCD6D6"/>
            </a:solidFill>
            <a:prstDash val="solid"/>
          </a:ln>
        </p:spPr>
      </p:sp>
      <p:sp>
        <p:nvSpPr>
          <p:cNvPr id="6" name="Shape 4"/>
          <p:cNvSpPr/>
          <p:nvPr/>
        </p:nvSpPr>
        <p:spPr>
          <a:xfrm>
            <a:off x="1005840" y="2304288"/>
            <a:ext cx="457200" cy="457200"/>
          </a:xfrm>
          <a:prstGeom prst="ellipse">
            <a:avLst/>
          </a:prstGeom>
          <a:solidFill>
            <a:srgbClr val="6B7280"/>
          </a:solidFill>
          <a:ln w="12700">
            <a:solidFill>
              <a:srgbClr val="6B7280"/>
            </a:solidFill>
            <a:prstDash val="solid"/>
          </a:ln>
        </p:spPr>
      </p:sp>
      <p:sp>
        <p:nvSpPr>
          <p:cNvPr id="7" name="Text 5"/>
          <p:cNvSpPr/>
          <p:nvPr/>
        </p:nvSpPr>
        <p:spPr>
          <a:xfrm>
            <a:off x="1005840" y="230428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PC</a:t>
            </a:r>
            <a:endParaRPr lang="en-US" sz="1100" dirty="0"/>
          </a:p>
        </p:txBody>
      </p:sp>
      <p:sp>
        <p:nvSpPr>
          <p:cNvPr id="8" name="Text 6"/>
          <p:cNvSpPr/>
          <p:nvPr/>
        </p:nvSpPr>
        <p:spPr>
          <a:xfrm>
            <a:off x="1600200" y="2395728"/>
            <a:ext cx="3840480" cy="310896"/>
          </a:xfrm>
          <a:prstGeom prst="rect">
            <a:avLst/>
          </a:prstGeom>
          <a:noFill/>
          <a:ln/>
        </p:spPr>
        <p:txBody>
          <a:bodyPr wrap="square" lIns="0" tIns="0" rIns="0" bIns="0" rtlCol="0" anchor="t"/>
          <a:lstStyle/>
          <a:p>
            <a:pPr indent="0" marL="0">
              <a:buNone/>
            </a:pPr>
            <a:r>
              <a:rPr lang="en-US" sz="1800" b="1" dirty="0">
                <a:solidFill>
                  <a:srgbClr val="1F2328"/>
                </a:solidFill>
                <a:latin typeface="맑은 고딕" pitchFamily="34" charset="0"/>
                <a:ea typeface="맑은 고딕" pitchFamily="34" charset="-122"/>
                <a:cs typeface="맑은 고딕" pitchFamily="34" charset="-120"/>
              </a:rPr>
              <a:t>일반 컴퓨터</a:t>
            </a:r>
            <a:endParaRPr lang="en-US" sz="1800" dirty="0"/>
          </a:p>
        </p:txBody>
      </p:sp>
      <p:sp>
        <p:nvSpPr>
          <p:cNvPr id="9" name="Text 7"/>
          <p:cNvSpPr/>
          <p:nvPr/>
        </p:nvSpPr>
        <p:spPr>
          <a:xfrm>
            <a:off x="1005840" y="3017520"/>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운영체제</a:t>
            </a:r>
            <a:endParaRPr lang="en-US" sz="1200" dirty="0"/>
          </a:p>
        </p:txBody>
      </p:sp>
      <p:sp>
        <p:nvSpPr>
          <p:cNvPr id="10" name="Text 8"/>
          <p:cNvSpPr/>
          <p:nvPr/>
        </p:nvSpPr>
        <p:spPr>
          <a:xfrm>
            <a:off x="2423160" y="3017520"/>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Windows, macOS 등이 필요</a:t>
            </a:r>
            <a:endParaRPr lang="en-US" sz="1250" dirty="0"/>
          </a:p>
        </p:txBody>
      </p:sp>
      <p:sp>
        <p:nvSpPr>
          <p:cNvPr id="11" name="Text 9"/>
          <p:cNvSpPr/>
          <p:nvPr/>
        </p:nvSpPr>
        <p:spPr>
          <a:xfrm>
            <a:off x="1005840" y="3493008"/>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역할</a:t>
            </a:r>
            <a:endParaRPr lang="en-US" sz="1200" dirty="0"/>
          </a:p>
        </p:txBody>
      </p:sp>
      <p:sp>
        <p:nvSpPr>
          <p:cNvPr id="12" name="Text 10"/>
          <p:cNvSpPr/>
          <p:nvPr/>
        </p:nvSpPr>
        <p:spPr>
          <a:xfrm>
            <a:off x="2423160" y="3493008"/>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무엇이든 할 수 있는 만능</a:t>
            </a:r>
            <a:endParaRPr lang="en-US" sz="1250" dirty="0"/>
          </a:p>
        </p:txBody>
      </p:sp>
      <p:sp>
        <p:nvSpPr>
          <p:cNvPr id="13" name="Text 11"/>
          <p:cNvSpPr/>
          <p:nvPr/>
        </p:nvSpPr>
        <p:spPr>
          <a:xfrm>
            <a:off x="1005840" y="3968496"/>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부팅</a:t>
            </a:r>
            <a:endParaRPr lang="en-US" sz="1200" dirty="0"/>
          </a:p>
        </p:txBody>
      </p:sp>
      <p:sp>
        <p:nvSpPr>
          <p:cNvPr id="14" name="Text 12"/>
          <p:cNvSpPr/>
          <p:nvPr/>
        </p:nvSpPr>
        <p:spPr>
          <a:xfrm>
            <a:off x="2423160" y="3968496"/>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켜는 데 수십 초</a:t>
            </a:r>
            <a:endParaRPr lang="en-US" sz="1250" dirty="0"/>
          </a:p>
        </p:txBody>
      </p:sp>
      <p:sp>
        <p:nvSpPr>
          <p:cNvPr id="15" name="Text 13"/>
          <p:cNvSpPr/>
          <p:nvPr/>
        </p:nvSpPr>
        <p:spPr>
          <a:xfrm>
            <a:off x="1005840" y="4443984"/>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소비 전력</a:t>
            </a:r>
            <a:endParaRPr lang="en-US" sz="1200" dirty="0"/>
          </a:p>
        </p:txBody>
      </p:sp>
      <p:sp>
        <p:nvSpPr>
          <p:cNvPr id="16" name="Text 14"/>
          <p:cNvSpPr/>
          <p:nvPr/>
        </p:nvSpPr>
        <p:spPr>
          <a:xfrm>
            <a:off x="2423160" y="4443984"/>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수십 ~ 수백 W</a:t>
            </a:r>
            <a:endParaRPr lang="en-US" sz="1250" dirty="0"/>
          </a:p>
        </p:txBody>
      </p:sp>
      <p:sp>
        <p:nvSpPr>
          <p:cNvPr id="17" name="Text 15"/>
          <p:cNvSpPr/>
          <p:nvPr/>
        </p:nvSpPr>
        <p:spPr>
          <a:xfrm>
            <a:off x="1005840" y="4919472"/>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가격</a:t>
            </a:r>
            <a:endParaRPr lang="en-US" sz="1200" dirty="0"/>
          </a:p>
        </p:txBody>
      </p:sp>
      <p:sp>
        <p:nvSpPr>
          <p:cNvPr id="18" name="Text 16"/>
          <p:cNvSpPr/>
          <p:nvPr/>
        </p:nvSpPr>
        <p:spPr>
          <a:xfrm>
            <a:off x="2423160" y="4919472"/>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수십만 원 이상</a:t>
            </a:r>
            <a:endParaRPr lang="en-US" sz="1250" dirty="0"/>
          </a:p>
        </p:txBody>
      </p:sp>
      <p:sp>
        <p:nvSpPr>
          <p:cNvPr id="19" name="Shape 17"/>
          <p:cNvSpPr/>
          <p:nvPr/>
        </p:nvSpPr>
        <p:spPr>
          <a:xfrm>
            <a:off x="6291072" y="2011680"/>
            <a:ext cx="5212080" cy="3566160"/>
          </a:xfrm>
          <a:prstGeom prst="roundRect">
            <a:avLst>
              <a:gd name="adj" fmla="val 1538"/>
            </a:avLst>
          </a:prstGeom>
          <a:solidFill>
            <a:srgbClr val="F7F2F2"/>
          </a:solidFill>
          <a:ln w="12700">
            <a:solidFill>
              <a:srgbClr val="DCD6D6"/>
            </a:solidFill>
            <a:prstDash val="solid"/>
          </a:ln>
        </p:spPr>
      </p:sp>
      <p:sp>
        <p:nvSpPr>
          <p:cNvPr id="20" name="Shape 18"/>
          <p:cNvSpPr/>
          <p:nvPr/>
        </p:nvSpPr>
        <p:spPr>
          <a:xfrm>
            <a:off x="6611112" y="2304288"/>
            <a:ext cx="457200" cy="457200"/>
          </a:xfrm>
          <a:prstGeom prst="ellipse">
            <a:avLst/>
          </a:prstGeom>
          <a:solidFill>
            <a:srgbClr val="990011"/>
          </a:solidFill>
          <a:ln w="12700">
            <a:solidFill>
              <a:srgbClr val="990011"/>
            </a:solidFill>
            <a:prstDash val="solid"/>
          </a:ln>
        </p:spPr>
      </p:sp>
      <p:sp>
        <p:nvSpPr>
          <p:cNvPr id="21" name="Text 19"/>
          <p:cNvSpPr/>
          <p:nvPr/>
        </p:nvSpPr>
        <p:spPr>
          <a:xfrm>
            <a:off x="6611112" y="230428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MCU</a:t>
            </a:r>
            <a:endParaRPr lang="en-US" sz="1000" dirty="0"/>
          </a:p>
        </p:txBody>
      </p:sp>
      <p:sp>
        <p:nvSpPr>
          <p:cNvPr id="22" name="Text 20"/>
          <p:cNvSpPr/>
          <p:nvPr/>
        </p:nvSpPr>
        <p:spPr>
          <a:xfrm>
            <a:off x="7205472" y="2395728"/>
            <a:ext cx="3840480" cy="310896"/>
          </a:xfrm>
          <a:prstGeom prst="rect">
            <a:avLst/>
          </a:prstGeom>
          <a:noFill/>
          <a:ln/>
        </p:spPr>
        <p:txBody>
          <a:bodyPr wrap="square" lIns="0" tIns="0" rIns="0" bIns="0" rtlCol="0" anchor="t"/>
          <a:lstStyle/>
          <a:p>
            <a:pPr indent="0" marL="0">
              <a:buNone/>
            </a:pPr>
            <a:r>
              <a:rPr lang="en-US" sz="1800" b="1" dirty="0">
                <a:solidFill>
                  <a:srgbClr val="990011"/>
                </a:solidFill>
                <a:latin typeface="맑은 고딕" pitchFamily="34" charset="0"/>
                <a:ea typeface="맑은 고딕" pitchFamily="34" charset="-122"/>
                <a:cs typeface="맑은 고딕" pitchFamily="34" charset="-120"/>
              </a:rPr>
              <a:t>마이크로컨트롤러</a:t>
            </a:r>
            <a:endParaRPr lang="en-US" sz="1800" dirty="0"/>
          </a:p>
        </p:txBody>
      </p:sp>
      <p:sp>
        <p:nvSpPr>
          <p:cNvPr id="23" name="Text 21"/>
          <p:cNvSpPr/>
          <p:nvPr/>
        </p:nvSpPr>
        <p:spPr>
          <a:xfrm>
            <a:off x="6611112" y="3017520"/>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운영체제</a:t>
            </a:r>
            <a:endParaRPr lang="en-US" sz="1200" dirty="0"/>
          </a:p>
        </p:txBody>
      </p:sp>
      <p:sp>
        <p:nvSpPr>
          <p:cNvPr id="24" name="Text 22"/>
          <p:cNvSpPr/>
          <p:nvPr/>
        </p:nvSpPr>
        <p:spPr>
          <a:xfrm>
            <a:off x="8028432" y="3017520"/>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없어도 됨 · 내 코드가 곧 전부</a:t>
            </a:r>
            <a:endParaRPr lang="en-US" sz="1250" dirty="0"/>
          </a:p>
        </p:txBody>
      </p:sp>
      <p:sp>
        <p:nvSpPr>
          <p:cNvPr id="25" name="Text 23"/>
          <p:cNvSpPr/>
          <p:nvPr/>
        </p:nvSpPr>
        <p:spPr>
          <a:xfrm>
            <a:off x="6611112" y="3493008"/>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역할</a:t>
            </a:r>
            <a:endParaRPr lang="en-US" sz="1200" dirty="0"/>
          </a:p>
        </p:txBody>
      </p:sp>
      <p:sp>
        <p:nvSpPr>
          <p:cNvPr id="26" name="Text 24"/>
          <p:cNvSpPr/>
          <p:nvPr/>
        </p:nvSpPr>
        <p:spPr>
          <a:xfrm>
            <a:off x="8028432" y="3493008"/>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정해진 일 하나를 정확히</a:t>
            </a:r>
            <a:endParaRPr lang="en-US" sz="1250" dirty="0"/>
          </a:p>
        </p:txBody>
      </p:sp>
      <p:sp>
        <p:nvSpPr>
          <p:cNvPr id="27" name="Text 25"/>
          <p:cNvSpPr/>
          <p:nvPr/>
        </p:nvSpPr>
        <p:spPr>
          <a:xfrm>
            <a:off x="6611112" y="3968496"/>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부팅</a:t>
            </a:r>
            <a:endParaRPr lang="en-US" sz="1200" dirty="0"/>
          </a:p>
        </p:txBody>
      </p:sp>
      <p:sp>
        <p:nvSpPr>
          <p:cNvPr id="28" name="Text 26"/>
          <p:cNvSpPr/>
          <p:nvPr/>
        </p:nvSpPr>
        <p:spPr>
          <a:xfrm>
            <a:off x="8028432" y="3968496"/>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전원 켜면 즉시 동작</a:t>
            </a:r>
            <a:endParaRPr lang="en-US" sz="1250" dirty="0"/>
          </a:p>
        </p:txBody>
      </p:sp>
      <p:sp>
        <p:nvSpPr>
          <p:cNvPr id="29" name="Text 27"/>
          <p:cNvSpPr/>
          <p:nvPr/>
        </p:nvSpPr>
        <p:spPr>
          <a:xfrm>
            <a:off x="6611112" y="4443984"/>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소비 전력</a:t>
            </a:r>
            <a:endParaRPr lang="en-US" sz="1200" dirty="0"/>
          </a:p>
        </p:txBody>
      </p:sp>
      <p:sp>
        <p:nvSpPr>
          <p:cNvPr id="30" name="Text 28"/>
          <p:cNvSpPr/>
          <p:nvPr/>
        </p:nvSpPr>
        <p:spPr>
          <a:xfrm>
            <a:off x="8028432" y="4443984"/>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0.1 W 안팎</a:t>
            </a:r>
            <a:endParaRPr lang="en-US" sz="1250" dirty="0"/>
          </a:p>
        </p:txBody>
      </p:sp>
      <p:sp>
        <p:nvSpPr>
          <p:cNvPr id="31" name="Text 29"/>
          <p:cNvSpPr/>
          <p:nvPr/>
        </p:nvSpPr>
        <p:spPr>
          <a:xfrm>
            <a:off x="6611112" y="4919472"/>
            <a:ext cx="1371600" cy="274320"/>
          </a:xfrm>
          <a:prstGeom prst="rect">
            <a:avLst/>
          </a:prstGeom>
          <a:noFill/>
          <a:ln/>
        </p:spPr>
        <p:txBody>
          <a:bodyPr wrap="square" lIns="0" tIns="0" rIns="0" bIns="0" rtlCol="0" anchor="t"/>
          <a:lstStyle/>
          <a:p>
            <a:pPr indent="0" marL="0">
              <a:buNone/>
            </a:pPr>
            <a:r>
              <a:rPr lang="en-US" sz="1200" b="1" dirty="0">
                <a:solidFill>
                  <a:srgbClr val="6B7280"/>
                </a:solidFill>
                <a:latin typeface="맑은 고딕" pitchFamily="34" charset="0"/>
                <a:ea typeface="맑은 고딕" pitchFamily="34" charset="-122"/>
                <a:cs typeface="맑은 고딕" pitchFamily="34" charset="-120"/>
              </a:rPr>
              <a:t>가격</a:t>
            </a:r>
            <a:endParaRPr lang="en-US" sz="1200" dirty="0"/>
          </a:p>
        </p:txBody>
      </p:sp>
      <p:sp>
        <p:nvSpPr>
          <p:cNvPr id="32" name="Text 30"/>
          <p:cNvSpPr/>
          <p:nvPr/>
        </p:nvSpPr>
        <p:spPr>
          <a:xfrm>
            <a:off x="8028432" y="4919472"/>
            <a:ext cx="3291840" cy="274320"/>
          </a:xfrm>
          <a:prstGeom prst="rect">
            <a:avLst/>
          </a:prstGeom>
          <a:noFill/>
          <a:ln/>
        </p:spPr>
        <p:txBody>
          <a:bodyPr wrap="square" lIns="0" tIns="0" rIns="0" bIns="0" rtlCol="0" anchor="t"/>
          <a:lstStyle/>
          <a:p>
            <a:pPr indent="0" marL="0">
              <a:buNone/>
            </a:pPr>
            <a:r>
              <a:rPr lang="en-US" sz="1250" dirty="0">
                <a:solidFill>
                  <a:srgbClr val="1F2328"/>
                </a:solidFill>
                <a:latin typeface="맑은 고딕" pitchFamily="34" charset="0"/>
                <a:ea typeface="맑은 고딕" pitchFamily="34" charset="-122"/>
                <a:cs typeface="맑은 고딕" pitchFamily="34" charset="-120"/>
              </a:rPr>
              <a:t>수천 ~ 수만 원</a:t>
            </a:r>
            <a:endParaRPr lang="en-US" sz="1250" dirty="0"/>
          </a:p>
        </p:txBody>
      </p:sp>
      <p:sp>
        <p:nvSpPr>
          <p:cNvPr id="33" name="Text 31"/>
          <p:cNvSpPr/>
          <p:nvPr/>
        </p:nvSpPr>
        <p:spPr>
          <a:xfrm>
            <a:off x="685800" y="5806440"/>
            <a:ext cx="10789920" cy="365760"/>
          </a:xfrm>
          <a:prstGeom prst="rect">
            <a:avLst/>
          </a:prstGeom>
          <a:noFill/>
          <a:ln/>
        </p:spPr>
        <p:txBody>
          <a:bodyPr wrap="square" lIns="0" tIns="0" rIns="0" bIns="0" rtlCol="0" anchor="t"/>
          <a:lstStyle/>
          <a:p>
            <a:pPr indent="0" marL="0">
              <a:buNone/>
            </a:pPr>
            <a:r>
              <a:rPr lang="en-US" sz="1300" i="1" dirty="0">
                <a:solidFill>
                  <a:srgbClr val="990011"/>
                </a:solidFill>
                <a:latin typeface="맑은 고딕" pitchFamily="34" charset="0"/>
                <a:ea typeface="맑은 고딕" pitchFamily="34" charset="-122"/>
                <a:cs typeface="맑은 고딕" pitchFamily="34" charset="-120"/>
              </a:rPr>
              <a:t>가전제품, 자동차, 엘리베이터, 세탁기, 신호등 — 우리 주변 대부분의 전자기기 안에는 MCU가 들어 있습니다.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STRUCTURE</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임베디드 시스템은 이렇게 동작한다</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앞으로 만드는 모든 것이 이 세 단계의 반복입니다.</a:t>
            </a:r>
            <a:endParaRPr lang="en-US" sz="1500" dirty="0"/>
          </a:p>
        </p:txBody>
      </p:sp>
      <p:sp>
        <p:nvSpPr>
          <p:cNvPr id="5" name="Shape 3"/>
          <p:cNvSpPr/>
          <p:nvPr/>
        </p:nvSpPr>
        <p:spPr>
          <a:xfrm>
            <a:off x="1188720" y="2286000"/>
            <a:ext cx="2880360" cy="2286000"/>
          </a:xfrm>
          <a:prstGeom prst="roundRect">
            <a:avLst>
              <a:gd name="adj" fmla="val 2400"/>
            </a:avLst>
          </a:prstGeom>
          <a:solidFill>
            <a:srgbClr val="FFFFFF"/>
          </a:solidFill>
          <a:ln w="19050">
            <a:solidFill>
              <a:srgbClr val="2F3C7E"/>
            </a:solidFill>
            <a:prstDash val="solid"/>
          </a:ln>
        </p:spPr>
      </p:sp>
      <p:sp>
        <p:nvSpPr>
          <p:cNvPr id="6" name="Text 4"/>
          <p:cNvSpPr/>
          <p:nvPr/>
        </p:nvSpPr>
        <p:spPr>
          <a:xfrm>
            <a:off x="1188720" y="2615184"/>
            <a:ext cx="2880360" cy="237744"/>
          </a:xfrm>
          <a:prstGeom prst="rect">
            <a:avLst/>
          </a:prstGeom>
          <a:noFill/>
          <a:ln/>
        </p:spPr>
        <p:txBody>
          <a:bodyPr wrap="square" lIns="0" tIns="0" rIns="0" bIns="0" rtlCol="0" anchor="t"/>
          <a:lstStyle/>
          <a:p>
            <a:pPr algn="ctr" indent="0" marL="0">
              <a:buNone/>
            </a:pPr>
            <a:r>
              <a:rPr lang="en-US" sz="1100" b="1" spc="200" kern="0" dirty="0">
                <a:solidFill>
                  <a:srgbClr val="2F3C7E"/>
                </a:solidFill>
                <a:latin typeface="맑은 고딕" pitchFamily="34" charset="0"/>
                <a:ea typeface="맑은 고딕" pitchFamily="34" charset="-122"/>
                <a:cs typeface="맑은 고딕" pitchFamily="34" charset="-120"/>
              </a:rPr>
              <a:t>INPUT</a:t>
            </a:r>
            <a:endParaRPr lang="en-US" sz="1100" dirty="0"/>
          </a:p>
        </p:txBody>
      </p:sp>
      <p:sp>
        <p:nvSpPr>
          <p:cNvPr id="7" name="Text 5"/>
          <p:cNvSpPr/>
          <p:nvPr/>
        </p:nvSpPr>
        <p:spPr>
          <a:xfrm>
            <a:off x="1188720" y="2907792"/>
            <a:ext cx="2880360" cy="475488"/>
          </a:xfrm>
          <a:prstGeom prst="rect">
            <a:avLst/>
          </a:prstGeom>
          <a:noFill/>
          <a:ln/>
        </p:spPr>
        <p:txBody>
          <a:bodyPr wrap="square" lIns="0" tIns="0" rIns="0" bIns="0" rtlCol="0" anchor="t"/>
          <a:lstStyle/>
          <a:p>
            <a:pPr algn="ctr" indent="0" marL="0">
              <a:buNone/>
            </a:pPr>
            <a:r>
              <a:rPr lang="en-US" sz="2800" b="1" dirty="0">
                <a:solidFill>
                  <a:srgbClr val="1F2328"/>
                </a:solidFill>
                <a:latin typeface="맑은 고딕" pitchFamily="34" charset="0"/>
                <a:ea typeface="맑은 고딕" pitchFamily="34" charset="-122"/>
                <a:cs typeface="맑은 고딕" pitchFamily="34" charset="-120"/>
              </a:rPr>
              <a:t>입력</a:t>
            </a:r>
            <a:endParaRPr lang="en-US" sz="2800" dirty="0"/>
          </a:p>
        </p:txBody>
      </p:sp>
      <p:sp>
        <p:nvSpPr>
          <p:cNvPr id="8" name="Text 6"/>
          <p:cNvSpPr/>
          <p:nvPr/>
        </p:nvSpPr>
        <p:spPr>
          <a:xfrm>
            <a:off x="1417320" y="3566160"/>
            <a:ext cx="2423160" cy="822960"/>
          </a:xfrm>
          <a:prstGeom prst="rect">
            <a:avLst/>
          </a:prstGeom>
          <a:noFill/>
          <a:ln/>
        </p:spPr>
        <p:txBody>
          <a:bodyPr wrap="square" lIns="0" tIns="0" rIns="0" bIns="0" rtlCol="0" anchor="t"/>
          <a:lstStyle/>
          <a:p>
            <a:pPr algn="ctr" indent="0" marL="0">
              <a:lnSpc>
                <a:spcPts val="1900"/>
              </a:lnSpc>
              <a:buNone/>
            </a:pPr>
            <a:r>
              <a:rPr lang="en-US" sz="1250" dirty="0">
                <a:solidFill>
                  <a:srgbClr val="6B7280"/>
                </a:solidFill>
                <a:latin typeface="맑은 고딕" pitchFamily="34" charset="0"/>
                <a:ea typeface="맑은 고딕" pitchFamily="34" charset="-122"/>
                <a:cs typeface="맑은 고딕" pitchFamily="34" charset="-120"/>
              </a:rPr>
              <a:t>버튼, 온습도 센서,</a:t>
            </a:r>
            <a:endParaRPr lang="en-US" sz="1250" dirty="0"/>
          </a:p>
          <a:p>
            <a:pPr algn="ctr" indent="0" marL="0">
              <a:lnSpc>
                <a:spcPts val="1900"/>
              </a:lnSpc>
              <a:buNone/>
            </a:pPr>
            <a:r>
              <a:rPr lang="en-US" sz="1250" dirty="0">
                <a:solidFill>
                  <a:srgbClr val="6B7280"/>
                </a:solidFill>
                <a:latin typeface="맑은 고딕" pitchFamily="34" charset="0"/>
                <a:ea typeface="맑은 고딕" pitchFamily="34" charset="-122"/>
                <a:cs typeface="맑은 고딕" pitchFamily="34" charset="-120"/>
              </a:rPr>
              <a:t>초음파 센서, 가변저항</a:t>
            </a:r>
            <a:endParaRPr lang="en-US" sz="1250" dirty="0"/>
          </a:p>
        </p:txBody>
      </p:sp>
      <p:sp>
        <p:nvSpPr>
          <p:cNvPr id="9" name="Shape 7"/>
          <p:cNvSpPr/>
          <p:nvPr/>
        </p:nvSpPr>
        <p:spPr>
          <a:xfrm>
            <a:off x="4215384" y="3227832"/>
            <a:ext cx="566928" cy="402336"/>
          </a:xfrm>
          <a:prstGeom prst="rightArrow">
            <a:avLst/>
          </a:prstGeom>
          <a:solidFill>
            <a:srgbClr val="DCD6D6"/>
          </a:solidFill>
          <a:ln w="12700">
            <a:solidFill>
              <a:srgbClr val="333333"/>
            </a:solidFill>
            <a:prstDash val="solid"/>
          </a:ln>
        </p:spPr>
      </p:sp>
      <p:sp>
        <p:nvSpPr>
          <p:cNvPr id="10" name="Shape 8"/>
          <p:cNvSpPr/>
          <p:nvPr/>
        </p:nvSpPr>
        <p:spPr>
          <a:xfrm>
            <a:off x="4928616" y="2286000"/>
            <a:ext cx="2880360" cy="2286000"/>
          </a:xfrm>
          <a:prstGeom prst="roundRect">
            <a:avLst>
              <a:gd name="adj" fmla="val 2400"/>
            </a:avLst>
          </a:prstGeom>
          <a:solidFill>
            <a:srgbClr val="990011"/>
          </a:solidFill>
          <a:ln w="19050">
            <a:solidFill>
              <a:srgbClr val="990011"/>
            </a:solidFill>
            <a:prstDash val="solid"/>
          </a:ln>
        </p:spPr>
      </p:sp>
      <p:sp>
        <p:nvSpPr>
          <p:cNvPr id="11" name="Text 9"/>
          <p:cNvSpPr/>
          <p:nvPr/>
        </p:nvSpPr>
        <p:spPr>
          <a:xfrm>
            <a:off x="4928616" y="2615184"/>
            <a:ext cx="2880360" cy="237744"/>
          </a:xfrm>
          <a:prstGeom prst="rect">
            <a:avLst/>
          </a:prstGeom>
          <a:noFill/>
          <a:ln/>
        </p:spPr>
        <p:txBody>
          <a:bodyPr wrap="square" lIns="0" tIns="0" rIns="0" bIns="0" rtlCol="0" anchor="t"/>
          <a:lstStyle/>
          <a:p>
            <a:pPr algn="ctr" indent="0" marL="0">
              <a:buNone/>
            </a:pPr>
            <a:r>
              <a:rPr lang="en-US" sz="1100" b="1" spc="200" kern="0" dirty="0">
                <a:solidFill>
                  <a:srgbClr val="F0A9AE"/>
                </a:solidFill>
                <a:latin typeface="맑은 고딕" pitchFamily="34" charset="0"/>
                <a:ea typeface="맑은 고딕" pitchFamily="34" charset="-122"/>
                <a:cs typeface="맑은 고딕" pitchFamily="34" charset="-120"/>
              </a:rPr>
              <a:t>PROCESS</a:t>
            </a:r>
            <a:endParaRPr lang="en-US" sz="1100" dirty="0"/>
          </a:p>
        </p:txBody>
      </p:sp>
      <p:sp>
        <p:nvSpPr>
          <p:cNvPr id="12" name="Text 10"/>
          <p:cNvSpPr/>
          <p:nvPr/>
        </p:nvSpPr>
        <p:spPr>
          <a:xfrm>
            <a:off x="4928616" y="2907792"/>
            <a:ext cx="2880360" cy="475488"/>
          </a:xfrm>
          <a:prstGeom prst="rect">
            <a:avLst/>
          </a:prstGeom>
          <a:noFill/>
          <a:ln/>
        </p:spPr>
        <p:txBody>
          <a:bodyPr wrap="square" lIns="0" tIns="0" rIns="0" bIns="0" rtlCol="0" anchor="t"/>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처리</a:t>
            </a:r>
            <a:endParaRPr lang="en-US" sz="2800" dirty="0"/>
          </a:p>
        </p:txBody>
      </p:sp>
      <p:sp>
        <p:nvSpPr>
          <p:cNvPr id="13" name="Text 11"/>
          <p:cNvSpPr/>
          <p:nvPr/>
        </p:nvSpPr>
        <p:spPr>
          <a:xfrm>
            <a:off x="5157216" y="3566160"/>
            <a:ext cx="2423160" cy="822960"/>
          </a:xfrm>
          <a:prstGeom prst="rect">
            <a:avLst/>
          </a:prstGeom>
          <a:noFill/>
          <a:ln/>
        </p:spPr>
        <p:txBody>
          <a:bodyPr wrap="square" lIns="0" tIns="0" rIns="0" bIns="0" rtlCol="0" anchor="t"/>
          <a:lstStyle/>
          <a:p>
            <a:pPr algn="ctr" indent="0" marL="0">
              <a:lnSpc>
                <a:spcPts val="1900"/>
              </a:lnSpc>
              <a:buNone/>
            </a:pPr>
            <a:r>
              <a:rPr lang="en-US" sz="1250" dirty="0">
                <a:solidFill>
                  <a:srgbClr val="F2D9DC"/>
                </a:solidFill>
                <a:latin typeface="맑은 고딕" pitchFamily="34" charset="0"/>
                <a:ea typeface="맑은 고딕" pitchFamily="34" charset="-122"/>
                <a:cs typeface="맑은 고딕" pitchFamily="34" charset="-120"/>
              </a:rPr>
              <a:t>Pico 2 W가 값을 읽고</a:t>
            </a:r>
            <a:endParaRPr lang="en-US" sz="1250" dirty="0"/>
          </a:p>
          <a:p>
            <a:pPr algn="ctr" indent="0" marL="0">
              <a:lnSpc>
                <a:spcPts val="1900"/>
              </a:lnSpc>
              <a:buNone/>
            </a:pPr>
            <a:r>
              <a:rPr lang="en-US" sz="1250" dirty="0">
                <a:solidFill>
                  <a:srgbClr val="F2D9DC"/>
                </a:solidFill>
                <a:latin typeface="맑은 고딕" pitchFamily="34" charset="0"/>
                <a:ea typeface="맑은 고딕" pitchFamily="34" charset="-122"/>
                <a:cs typeface="맑은 고딕" pitchFamily="34" charset="-120"/>
              </a:rPr>
              <a:t>조건에 따라 판단</a:t>
            </a:r>
            <a:endParaRPr lang="en-US" sz="1250" dirty="0"/>
          </a:p>
        </p:txBody>
      </p:sp>
      <p:sp>
        <p:nvSpPr>
          <p:cNvPr id="14" name="Shape 12"/>
          <p:cNvSpPr/>
          <p:nvPr/>
        </p:nvSpPr>
        <p:spPr>
          <a:xfrm>
            <a:off x="7955280" y="3227832"/>
            <a:ext cx="566928" cy="402336"/>
          </a:xfrm>
          <a:prstGeom prst="rightArrow">
            <a:avLst/>
          </a:prstGeom>
          <a:solidFill>
            <a:srgbClr val="DCD6D6"/>
          </a:solidFill>
          <a:ln w="12700">
            <a:solidFill>
              <a:srgbClr val="333333"/>
            </a:solidFill>
            <a:prstDash val="solid"/>
          </a:ln>
        </p:spPr>
      </p:sp>
      <p:sp>
        <p:nvSpPr>
          <p:cNvPr id="15" name="Shape 13"/>
          <p:cNvSpPr/>
          <p:nvPr/>
        </p:nvSpPr>
        <p:spPr>
          <a:xfrm>
            <a:off x="8668512" y="2286000"/>
            <a:ext cx="2880360" cy="2286000"/>
          </a:xfrm>
          <a:prstGeom prst="roundRect">
            <a:avLst>
              <a:gd name="adj" fmla="val 2400"/>
            </a:avLst>
          </a:prstGeom>
          <a:solidFill>
            <a:srgbClr val="FFFFFF"/>
          </a:solidFill>
          <a:ln w="19050">
            <a:solidFill>
              <a:srgbClr val="0B7285"/>
            </a:solidFill>
            <a:prstDash val="solid"/>
          </a:ln>
        </p:spPr>
      </p:sp>
      <p:sp>
        <p:nvSpPr>
          <p:cNvPr id="16" name="Text 14"/>
          <p:cNvSpPr/>
          <p:nvPr/>
        </p:nvSpPr>
        <p:spPr>
          <a:xfrm>
            <a:off x="8668512" y="2615184"/>
            <a:ext cx="2880360" cy="237744"/>
          </a:xfrm>
          <a:prstGeom prst="rect">
            <a:avLst/>
          </a:prstGeom>
          <a:noFill/>
          <a:ln/>
        </p:spPr>
        <p:txBody>
          <a:bodyPr wrap="square" lIns="0" tIns="0" rIns="0" bIns="0" rtlCol="0" anchor="t"/>
          <a:lstStyle/>
          <a:p>
            <a:pPr algn="ctr" indent="0" marL="0">
              <a:buNone/>
            </a:pPr>
            <a:r>
              <a:rPr lang="en-US" sz="1100" b="1" spc="200" kern="0" dirty="0">
                <a:solidFill>
                  <a:srgbClr val="0B7285"/>
                </a:solidFill>
                <a:latin typeface="맑은 고딕" pitchFamily="34" charset="0"/>
                <a:ea typeface="맑은 고딕" pitchFamily="34" charset="-122"/>
                <a:cs typeface="맑은 고딕" pitchFamily="34" charset="-120"/>
              </a:rPr>
              <a:t>OUTPUT</a:t>
            </a:r>
            <a:endParaRPr lang="en-US" sz="1100" dirty="0"/>
          </a:p>
        </p:txBody>
      </p:sp>
      <p:sp>
        <p:nvSpPr>
          <p:cNvPr id="17" name="Text 15"/>
          <p:cNvSpPr/>
          <p:nvPr/>
        </p:nvSpPr>
        <p:spPr>
          <a:xfrm>
            <a:off x="8668512" y="2907792"/>
            <a:ext cx="2880360" cy="475488"/>
          </a:xfrm>
          <a:prstGeom prst="rect">
            <a:avLst/>
          </a:prstGeom>
          <a:noFill/>
          <a:ln/>
        </p:spPr>
        <p:txBody>
          <a:bodyPr wrap="square" lIns="0" tIns="0" rIns="0" bIns="0" rtlCol="0" anchor="t"/>
          <a:lstStyle/>
          <a:p>
            <a:pPr algn="ctr" indent="0" marL="0">
              <a:buNone/>
            </a:pPr>
            <a:r>
              <a:rPr lang="en-US" sz="2800" b="1" dirty="0">
                <a:solidFill>
                  <a:srgbClr val="1F2328"/>
                </a:solidFill>
                <a:latin typeface="맑은 고딕" pitchFamily="34" charset="0"/>
                <a:ea typeface="맑은 고딕" pitchFamily="34" charset="-122"/>
                <a:cs typeface="맑은 고딕" pitchFamily="34" charset="-120"/>
              </a:rPr>
              <a:t>출력</a:t>
            </a:r>
            <a:endParaRPr lang="en-US" sz="2800" dirty="0"/>
          </a:p>
        </p:txBody>
      </p:sp>
      <p:sp>
        <p:nvSpPr>
          <p:cNvPr id="18" name="Text 16"/>
          <p:cNvSpPr/>
          <p:nvPr/>
        </p:nvSpPr>
        <p:spPr>
          <a:xfrm>
            <a:off x="8897112" y="3566160"/>
            <a:ext cx="2423160" cy="822960"/>
          </a:xfrm>
          <a:prstGeom prst="rect">
            <a:avLst/>
          </a:prstGeom>
          <a:noFill/>
          <a:ln/>
        </p:spPr>
        <p:txBody>
          <a:bodyPr wrap="square" lIns="0" tIns="0" rIns="0" bIns="0" rtlCol="0" anchor="t"/>
          <a:lstStyle/>
          <a:p>
            <a:pPr algn="ctr" indent="0" marL="0">
              <a:lnSpc>
                <a:spcPts val="1900"/>
              </a:lnSpc>
              <a:buNone/>
            </a:pPr>
            <a:r>
              <a:rPr lang="en-US" sz="1250" dirty="0">
                <a:solidFill>
                  <a:srgbClr val="6B7280"/>
                </a:solidFill>
                <a:latin typeface="맑은 고딕" pitchFamily="34" charset="0"/>
                <a:ea typeface="맑은 고딕" pitchFamily="34" charset="-122"/>
                <a:cs typeface="맑은 고딕" pitchFamily="34" charset="-120"/>
              </a:rPr>
              <a:t>LED, RGB LED,</a:t>
            </a:r>
            <a:endParaRPr lang="en-US" sz="1250" dirty="0"/>
          </a:p>
          <a:p>
            <a:pPr algn="ctr" indent="0" marL="0">
              <a:lnSpc>
                <a:spcPts val="1900"/>
              </a:lnSpc>
              <a:buNone/>
            </a:pPr>
            <a:r>
              <a:rPr lang="en-US" sz="1250" dirty="0">
                <a:solidFill>
                  <a:srgbClr val="6B7280"/>
                </a:solidFill>
                <a:latin typeface="맑은 고딕" pitchFamily="34" charset="0"/>
                <a:ea typeface="맑은 고딕" pitchFamily="34" charset="-122"/>
                <a:cs typeface="맑은 고딕" pitchFamily="34" charset="-120"/>
              </a:rPr>
              <a:t>모터, 부저</a:t>
            </a:r>
            <a:endParaRPr lang="en-US" sz="1250" dirty="0"/>
          </a:p>
        </p:txBody>
      </p:sp>
      <p:sp>
        <p:nvSpPr>
          <p:cNvPr id="19" name="Shape 17"/>
          <p:cNvSpPr/>
          <p:nvPr/>
        </p:nvSpPr>
        <p:spPr>
          <a:xfrm>
            <a:off x="1188720" y="4983480"/>
            <a:ext cx="10058400" cy="1051560"/>
          </a:xfrm>
          <a:prstGeom prst="roundRect">
            <a:avLst>
              <a:gd name="adj" fmla="val 5217"/>
            </a:avLst>
          </a:prstGeom>
          <a:solidFill>
            <a:srgbClr val="F7F2F2"/>
          </a:solidFill>
          <a:ln w="12700">
            <a:solidFill>
              <a:srgbClr val="DCD6D6"/>
            </a:solidFill>
            <a:prstDash val="solid"/>
          </a:ln>
        </p:spPr>
      </p:sp>
      <p:sp>
        <p:nvSpPr>
          <p:cNvPr id="20" name="Text 18"/>
          <p:cNvSpPr/>
          <p:nvPr/>
        </p:nvSpPr>
        <p:spPr>
          <a:xfrm>
            <a:off x="1508760" y="5193792"/>
            <a:ext cx="9418320" cy="310896"/>
          </a:xfrm>
          <a:prstGeom prst="rect">
            <a:avLst/>
          </a:prstGeom>
          <a:noFill/>
          <a:ln/>
        </p:spPr>
        <p:txBody>
          <a:bodyPr wrap="square" lIns="0" tIns="0" rIns="0" bIns="0" rtlCol="0" anchor="t"/>
          <a:lstStyle/>
          <a:p>
            <a:pPr indent="0" marL="0">
              <a:buNone/>
            </a:pPr>
            <a:r>
              <a:rPr lang="en-US" sz="1500" b="1" dirty="0">
                <a:solidFill>
                  <a:srgbClr val="990011"/>
                </a:solidFill>
                <a:latin typeface="맑은 고딕" pitchFamily="34" charset="0"/>
                <a:ea typeface="맑은 고딕" pitchFamily="34" charset="-122"/>
                <a:cs typeface="맑은 고딕" pitchFamily="34" charset="-120"/>
              </a:rPr>
              <a:t>여기에 Pico 2 W는 한 단계를 더 붙일 수 있습니다  →  통신(Wi-Fi)</a:t>
            </a:r>
            <a:endParaRPr lang="en-US" sz="1500" dirty="0"/>
          </a:p>
        </p:txBody>
      </p:sp>
      <p:sp>
        <p:nvSpPr>
          <p:cNvPr id="21" name="Text 19"/>
          <p:cNvSpPr/>
          <p:nvPr/>
        </p:nvSpPr>
        <p:spPr>
          <a:xfrm>
            <a:off x="1508760" y="5522976"/>
            <a:ext cx="9418320" cy="310896"/>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센서로 읽은 값을 스마트폰이나 PC에서 확인하고, 반대로 웹에서 장치를 제어할 수 있게 됩니다. (10~12차시)</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MEET THE BOARD</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Raspberry Pi Pico 2 W</a:t>
            </a:r>
            <a:endParaRPr lang="en-US" sz="3000" dirty="0"/>
          </a:p>
        </p:txBody>
      </p:sp>
      <p:sp>
        <p:nvSpPr>
          <p:cNvPr id="4" name="Text 2"/>
          <p:cNvSpPr/>
          <p:nvPr/>
        </p:nvSpPr>
        <p:spPr>
          <a:xfrm>
            <a:off x="685800" y="1371600"/>
            <a:ext cx="10789920" cy="402336"/>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라즈베리파이 재단이 만든 소형 마이크로컨트롤러 보드입니다. 우리는 헤더 핀이 미리 납땜된 버전(with headers)을 사용합니다.</a:t>
            </a:r>
            <a:endParaRPr lang="en-US" sz="1500" dirty="0"/>
          </a:p>
        </p:txBody>
      </p:sp>
      <p:sp>
        <p:nvSpPr>
          <p:cNvPr id="5" name="Shape 3"/>
          <p:cNvSpPr/>
          <p:nvPr/>
        </p:nvSpPr>
        <p:spPr>
          <a:xfrm>
            <a:off x="1417320" y="2148840"/>
            <a:ext cx="6035040" cy="2463282"/>
          </a:xfrm>
          <a:prstGeom prst="roundRect">
            <a:avLst>
              <a:gd name="adj" fmla="val 3712"/>
            </a:avLst>
          </a:prstGeom>
          <a:solidFill>
            <a:srgbClr val="23272B"/>
          </a:solidFill>
          <a:ln w="12700">
            <a:solidFill>
              <a:srgbClr val="0E1113"/>
            </a:solidFill>
            <a:prstDash val="solid"/>
          </a:ln>
        </p:spPr>
      </p:sp>
      <p:sp>
        <p:nvSpPr>
          <p:cNvPr id="6" name="Shape 4"/>
          <p:cNvSpPr/>
          <p:nvPr/>
        </p:nvSpPr>
        <p:spPr>
          <a:xfrm>
            <a:off x="1344900" y="3035621"/>
            <a:ext cx="452628" cy="689719"/>
          </a:xfrm>
          <a:prstGeom prst="roundRect">
            <a:avLst>
              <a:gd name="adj" fmla="val 10101"/>
            </a:avLst>
          </a:prstGeom>
          <a:solidFill>
            <a:srgbClr val="B9BEC4"/>
          </a:solidFill>
          <a:ln w="6350">
            <a:solidFill>
              <a:srgbClr val="8A9097"/>
            </a:solidFill>
            <a:prstDash val="solid"/>
          </a:ln>
        </p:spPr>
      </p:sp>
      <p:sp>
        <p:nvSpPr>
          <p:cNvPr id="7" name="Shape 5"/>
          <p:cNvSpPr/>
          <p:nvPr/>
        </p:nvSpPr>
        <p:spPr>
          <a:xfrm>
            <a:off x="3831336" y="2863192"/>
            <a:ext cx="1034578" cy="1034578"/>
          </a:xfrm>
          <a:prstGeom prst="rect">
            <a:avLst/>
          </a:prstGeom>
          <a:solidFill>
            <a:srgbClr val="0E1113"/>
          </a:solidFill>
          <a:ln w="9525">
            <a:solidFill>
              <a:srgbClr val="3A4046"/>
            </a:solidFill>
            <a:prstDash val="solid"/>
          </a:ln>
        </p:spPr>
      </p:sp>
      <p:sp>
        <p:nvSpPr>
          <p:cNvPr id="8" name="Text 6"/>
          <p:cNvSpPr/>
          <p:nvPr/>
        </p:nvSpPr>
        <p:spPr>
          <a:xfrm>
            <a:off x="3831336" y="2863192"/>
            <a:ext cx="1034578" cy="1034578"/>
          </a:xfrm>
          <a:prstGeom prst="rect">
            <a:avLst/>
          </a:prstGeom>
          <a:noFill/>
          <a:ln/>
        </p:spPr>
        <p:txBody>
          <a:bodyPr wrap="square" lIns="0" tIns="0" rIns="0" bIns="0" rtlCol="0" anchor="ctr"/>
          <a:lstStyle/>
          <a:p>
            <a:pPr algn="ctr" indent="0" marL="0">
              <a:buNone/>
            </a:pPr>
            <a:r>
              <a:rPr lang="en-US" sz="600" dirty="0">
                <a:solidFill>
                  <a:srgbClr val="9AA0A6"/>
                </a:solidFill>
                <a:latin typeface="Arial" pitchFamily="34" charset="0"/>
                <a:ea typeface="Arial" pitchFamily="34" charset="-122"/>
                <a:cs typeface="Arial" pitchFamily="34" charset="-120"/>
              </a:rPr>
              <a:t>RP2350</a:t>
            </a:r>
            <a:endParaRPr lang="en-US" sz="600" dirty="0"/>
          </a:p>
        </p:txBody>
      </p:sp>
      <p:sp>
        <p:nvSpPr>
          <p:cNvPr id="9" name="Shape 7"/>
          <p:cNvSpPr/>
          <p:nvPr/>
        </p:nvSpPr>
        <p:spPr>
          <a:xfrm>
            <a:off x="5038344" y="2838559"/>
            <a:ext cx="663854" cy="1083844"/>
          </a:xfrm>
          <a:prstGeom prst="rect">
            <a:avLst/>
          </a:prstGeom>
          <a:solidFill>
            <a:srgbClr val="3A4046"/>
          </a:solidFill>
          <a:ln w="6350">
            <a:solidFill>
              <a:srgbClr val="50565C"/>
            </a:solidFill>
            <a:prstDash val="solid"/>
          </a:ln>
        </p:spPr>
      </p:sp>
      <p:sp>
        <p:nvSpPr>
          <p:cNvPr id="10" name="Shape 8"/>
          <p:cNvSpPr/>
          <p:nvPr/>
        </p:nvSpPr>
        <p:spPr>
          <a:xfrm>
            <a:off x="6577279" y="2641496"/>
            <a:ext cx="603504" cy="1477969"/>
          </a:xfrm>
          <a:prstGeom prst="rect">
            <a:avLst/>
          </a:prstGeom>
          <a:solidFill>
            <a:srgbClr val="C8A24A"/>
          </a:solidFill>
          <a:ln w="12700">
            <a:solidFill>
              <a:srgbClr val="C8A24A"/>
            </a:solidFill>
            <a:prstDash val="solid"/>
          </a:ln>
        </p:spPr>
      </p:sp>
      <p:sp>
        <p:nvSpPr>
          <p:cNvPr id="11" name="Shape 9"/>
          <p:cNvSpPr/>
          <p:nvPr/>
        </p:nvSpPr>
        <p:spPr>
          <a:xfrm>
            <a:off x="2895905" y="3084887"/>
            <a:ext cx="331927" cy="591188"/>
          </a:xfrm>
          <a:prstGeom prst="roundRect">
            <a:avLst>
              <a:gd name="adj" fmla="val 8264"/>
            </a:avLst>
          </a:prstGeom>
          <a:solidFill>
            <a:srgbClr val="6B7280"/>
          </a:solidFill>
          <a:ln w="12700">
            <a:solidFill>
              <a:srgbClr val="6B7280"/>
            </a:solidFill>
            <a:prstDash val="solid"/>
          </a:ln>
        </p:spPr>
      </p:sp>
      <p:sp>
        <p:nvSpPr>
          <p:cNvPr id="12" name="Shape 10"/>
          <p:cNvSpPr/>
          <p:nvPr/>
        </p:nvSpPr>
        <p:spPr>
          <a:xfrm>
            <a:off x="5973775" y="3232684"/>
            <a:ext cx="132771" cy="132771"/>
          </a:xfrm>
          <a:prstGeom prst="ellipse">
            <a:avLst/>
          </a:prstGeom>
          <a:solidFill>
            <a:srgbClr val="63E06B"/>
          </a:solidFill>
          <a:ln w="12700">
            <a:solidFill>
              <a:srgbClr val="63E06B"/>
            </a:solidFill>
            <a:prstDash val="solid"/>
          </a:ln>
        </p:spPr>
      </p:sp>
      <p:sp>
        <p:nvSpPr>
          <p:cNvPr id="13" name="Shape 11"/>
          <p:cNvSpPr/>
          <p:nvPr/>
        </p:nvSpPr>
        <p:spPr>
          <a:xfrm>
            <a:off x="1688897" y="2259688"/>
            <a:ext cx="114666" cy="114666"/>
          </a:xfrm>
          <a:prstGeom prst="ellipse">
            <a:avLst/>
          </a:prstGeom>
          <a:solidFill>
            <a:srgbClr val="D8C089"/>
          </a:solidFill>
          <a:ln w="5080">
            <a:solidFill>
              <a:srgbClr val="8A7238"/>
            </a:solidFill>
            <a:prstDash val="solid"/>
          </a:ln>
        </p:spPr>
      </p:sp>
      <p:sp>
        <p:nvSpPr>
          <p:cNvPr id="14" name="Shape 12"/>
          <p:cNvSpPr/>
          <p:nvPr/>
        </p:nvSpPr>
        <p:spPr>
          <a:xfrm>
            <a:off x="1688897" y="4386608"/>
            <a:ext cx="114666" cy="114666"/>
          </a:xfrm>
          <a:prstGeom prst="ellipse">
            <a:avLst/>
          </a:prstGeom>
          <a:solidFill>
            <a:srgbClr val="D8C089"/>
          </a:solidFill>
          <a:ln w="5080">
            <a:solidFill>
              <a:srgbClr val="8A7238"/>
            </a:solidFill>
            <a:prstDash val="solid"/>
          </a:ln>
        </p:spPr>
      </p:sp>
      <p:sp>
        <p:nvSpPr>
          <p:cNvPr id="15" name="Shape 13"/>
          <p:cNvSpPr/>
          <p:nvPr/>
        </p:nvSpPr>
        <p:spPr>
          <a:xfrm>
            <a:off x="1971908" y="2259688"/>
            <a:ext cx="114666" cy="114666"/>
          </a:xfrm>
          <a:prstGeom prst="ellipse">
            <a:avLst/>
          </a:prstGeom>
          <a:solidFill>
            <a:srgbClr val="D8C089"/>
          </a:solidFill>
          <a:ln w="5080">
            <a:solidFill>
              <a:srgbClr val="8A7238"/>
            </a:solidFill>
            <a:prstDash val="solid"/>
          </a:ln>
        </p:spPr>
      </p:sp>
      <p:sp>
        <p:nvSpPr>
          <p:cNvPr id="16" name="Shape 14"/>
          <p:cNvSpPr/>
          <p:nvPr/>
        </p:nvSpPr>
        <p:spPr>
          <a:xfrm>
            <a:off x="1971908" y="4386608"/>
            <a:ext cx="114666" cy="114666"/>
          </a:xfrm>
          <a:prstGeom prst="ellipse">
            <a:avLst/>
          </a:prstGeom>
          <a:solidFill>
            <a:srgbClr val="D8C089"/>
          </a:solidFill>
          <a:ln w="5080">
            <a:solidFill>
              <a:srgbClr val="8A7238"/>
            </a:solidFill>
            <a:prstDash val="solid"/>
          </a:ln>
        </p:spPr>
      </p:sp>
      <p:sp>
        <p:nvSpPr>
          <p:cNvPr id="17" name="Shape 15"/>
          <p:cNvSpPr/>
          <p:nvPr/>
        </p:nvSpPr>
        <p:spPr>
          <a:xfrm>
            <a:off x="2254920" y="2259688"/>
            <a:ext cx="114666" cy="114666"/>
          </a:xfrm>
          <a:prstGeom prst="ellipse">
            <a:avLst/>
          </a:prstGeom>
          <a:solidFill>
            <a:srgbClr val="D8C089"/>
          </a:solidFill>
          <a:ln w="5080">
            <a:solidFill>
              <a:srgbClr val="8A7238"/>
            </a:solidFill>
            <a:prstDash val="solid"/>
          </a:ln>
        </p:spPr>
      </p:sp>
      <p:sp>
        <p:nvSpPr>
          <p:cNvPr id="18" name="Shape 16"/>
          <p:cNvSpPr/>
          <p:nvPr/>
        </p:nvSpPr>
        <p:spPr>
          <a:xfrm>
            <a:off x="2254920" y="4386608"/>
            <a:ext cx="114666" cy="114666"/>
          </a:xfrm>
          <a:prstGeom prst="ellipse">
            <a:avLst/>
          </a:prstGeom>
          <a:solidFill>
            <a:srgbClr val="D8C089"/>
          </a:solidFill>
          <a:ln w="5080">
            <a:solidFill>
              <a:srgbClr val="8A7238"/>
            </a:solidFill>
            <a:prstDash val="solid"/>
          </a:ln>
        </p:spPr>
      </p:sp>
      <p:sp>
        <p:nvSpPr>
          <p:cNvPr id="19" name="Shape 17"/>
          <p:cNvSpPr/>
          <p:nvPr/>
        </p:nvSpPr>
        <p:spPr>
          <a:xfrm>
            <a:off x="2537932" y="2259688"/>
            <a:ext cx="114666" cy="114666"/>
          </a:xfrm>
          <a:prstGeom prst="ellipse">
            <a:avLst/>
          </a:prstGeom>
          <a:solidFill>
            <a:srgbClr val="D8C089"/>
          </a:solidFill>
          <a:ln w="5080">
            <a:solidFill>
              <a:srgbClr val="8A7238"/>
            </a:solidFill>
            <a:prstDash val="solid"/>
          </a:ln>
        </p:spPr>
      </p:sp>
      <p:sp>
        <p:nvSpPr>
          <p:cNvPr id="20" name="Shape 18"/>
          <p:cNvSpPr/>
          <p:nvPr/>
        </p:nvSpPr>
        <p:spPr>
          <a:xfrm>
            <a:off x="2537932" y="4386608"/>
            <a:ext cx="114666" cy="114666"/>
          </a:xfrm>
          <a:prstGeom prst="ellipse">
            <a:avLst/>
          </a:prstGeom>
          <a:solidFill>
            <a:srgbClr val="D8C089"/>
          </a:solidFill>
          <a:ln w="5080">
            <a:solidFill>
              <a:srgbClr val="8A7238"/>
            </a:solidFill>
            <a:prstDash val="solid"/>
          </a:ln>
        </p:spPr>
      </p:sp>
      <p:sp>
        <p:nvSpPr>
          <p:cNvPr id="21" name="Shape 19"/>
          <p:cNvSpPr/>
          <p:nvPr/>
        </p:nvSpPr>
        <p:spPr>
          <a:xfrm>
            <a:off x="2820943" y="2259688"/>
            <a:ext cx="114666" cy="114666"/>
          </a:xfrm>
          <a:prstGeom prst="ellipse">
            <a:avLst/>
          </a:prstGeom>
          <a:solidFill>
            <a:srgbClr val="D8C089"/>
          </a:solidFill>
          <a:ln w="5080">
            <a:solidFill>
              <a:srgbClr val="8A7238"/>
            </a:solidFill>
            <a:prstDash val="solid"/>
          </a:ln>
        </p:spPr>
      </p:sp>
      <p:sp>
        <p:nvSpPr>
          <p:cNvPr id="22" name="Shape 20"/>
          <p:cNvSpPr/>
          <p:nvPr/>
        </p:nvSpPr>
        <p:spPr>
          <a:xfrm>
            <a:off x="2820943" y="4386608"/>
            <a:ext cx="114666" cy="114666"/>
          </a:xfrm>
          <a:prstGeom prst="ellipse">
            <a:avLst/>
          </a:prstGeom>
          <a:solidFill>
            <a:srgbClr val="D8C089"/>
          </a:solidFill>
          <a:ln w="5080">
            <a:solidFill>
              <a:srgbClr val="8A7238"/>
            </a:solidFill>
            <a:prstDash val="solid"/>
          </a:ln>
        </p:spPr>
      </p:sp>
      <p:sp>
        <p:nvSpPr>
          <p:cNvPr id="23" name="Shape 21"/>
          <p:cNvSpPr/>
          <p:nvPr/>
        </p:nvSpPr>
        <p:spPr>
          <a:xfrm>
            <a:off x="3103955" y="2259688"/>
            <a:ext cx="114666" cy="114666"/>
          </a:xfrm>
          <a:prstGeom prst="ellipse">
            <a:avLst/>
          </a:prstGeom>
          <a:solidFill>
            <a:srgbClr val="D8C089"/>
          </a:solidFill>
          <a:ln w="5080">
            <a:solidFill>
              <a:srgbClr val="8A7238"/>
            </a:solidFill>
            <a:prstDash val="solid"/>
          </a:ln>
        </p:spPr>
      </p:sp>
      <p:sp>
        <p:nvSpPr>
          <p:cNvPr id="24" name="Shape 22"/>
          <p:cNvSpPr/>
          <p:nvPr/>
        </p:nvSpPr>
        <p:spPr>
          <a:xfrm>
            <a:off x="3103955" y="4386608"/>
            <a:ext cx="114666" cy="114666"/>
          </a:xfrm>
          <a:prstGeom prst="ellipse">
            <a:avLst/>
          </a:prstGeom>
          <a:solidFill>
            <a:srgbClr val="D8C089"/>
          </a:solidFill>
          <a:ln w="5080">
            <a:solidFill>
              <a:srgbClr val="8A7238"/>
            </a:solidFill>
            <a:prstDash val="solid"/>
          </a:ln>
        </p:spPr>
      </p:sp>
      <p:sp>
        <p:nvSpPr>
          <p:cNvPr id="25" name="Shape 23"/>
          <p:cNvSpPr/>
          <p:nvPr/>
        </p:nvSpPr>
        <p:spPr>
          <a:xfrm>
            <a:off x="3386966" y="2259688"/>
            <a:ext cx="114666" cy="114666"/>
          </a:xfrm>
          <a:prstGeom prst="ellipse">
            <a:avLst/>
          </a:prstGeom>
          <a:solidFill>
            <a:srgbClr val="D8C089"/>
          </a:solidFill>
          <a:ln w="5080">
            <a:solidFill>
              <a:srgbClr val="8A7238"/>
            </a:solidFill>
            <a:prstDash val="solid"/>
          </a:ln>
        </p:spPr>
      </p:sp>
      <p:sp>
        <p:nvSpPr>
          <p:cNvPr id="26" name="Shape 24"/>
          <p:cNvSpPr/>
          <p:nvPr/>
        </p:nvSpPr>
        <p:spPr>
          <a:xfrm>
            <a:off x="3386966" y="4386608"/>
            <a:ext cx="114666" cy="114666"/>
          </a:xfrm>
          <a:prstGeom prst="ellipse">
            <a:avLst/>
          </a:prstGeom>
          <a:solidFill>
            <a:srgbClr val="D8C089"/>
          </a:solidFill>
          <a:ln w="5080">
            <a:solidFill>
              <a:srgbClr val="8A7238"/>
            </a:solidFill>
            <a:prstDash val="solid"/>
          </a:ln>
        </p:spPr>
      </p:sp>
      <p:sp>
        <p:nvSpPr>
          <p:cNvPr id="27" name="Shape 25"/>
          <p:cNvSpPr/>
          <p:nvPr/>
        </p:nvSpPr>
        <p:spPr>
          <a:xfrm>
            <a:off x="3669978" y="2259688"/>
            <a:ext cx="114666" cy="114666"/>
          </a:xfrm>
          <a:prstGeom prst="ellipse">
            <a:avLst/>
          </a:prstGeom>
          <a:solidFill>
            <a:srgbClr val="D8C089"/>
          </a:solidFill>
          <a:ln w="5080">
            <a:solidFill>
              <a:srgbClr val="8A7238"/>
            </a:solidFill>
            <a:prstDash val="solid"/>
          </a:ln>
        </p:spPr>
      </p:sp>
      <p:sp>
        <p:nvSpPr>
          <p:cNvPr id="28" name="Shape 26"/>
          <p:cNvSpPr/>
          <p:nvPr/>
        </p:nvSpPr>
        <p:spPr>
          <a:xfrm>
            <a:off x="3669978" y="4386608"/>
            <a:ext cx="114666" cy="114666"/>
          </a:xfrm>
          <a:prstGeom prst="ellipse">
            <a:avLst/>
          </a:prstGeom>
          <a:solidFill>
            <a:srgbClr val="D8C089"/>
          </a:solidFill>
          <a:ln w="5080">
            <a:solidFill>
              <a:srgbClr val="8A7238"/>
            </a:solidFill>
            <a:prstDash val="solid"/>
          </a:ln>
        </p:spPr>
      </p:sp>
      <p:sp>
        <p:nvSpPr>
          <p:cNvPr id="29" name="Shape 27"/>
          <p:cNvSpPr/>
          <p:nvPr/>
        </p:nvSpPr>
        <p:spPr>
          <a:xfrm>
            <a:off x="3952990" y="2259688"/>
            <a:ext cx="114666" cy="114666"/>
          </a:xfrm>
          <a:prstGeom prst="ellipse">
            <a:avLst/>
          </a:prstGeom>
          <a:solidFill>
            <a:srgbClr val="D8C089"/>
          </a:solidFill>
          <a:ln w="5080">
            <a:solidFill>
              <a:srgbClr val="8A7238"/>
            </a:solidFill>
            <a:prstDash val="solid"/>
          </a:ln>
        </p:spPr>
      </p:sp>
      <p:sp>
        <p:nvSpPr>
          <p:cNvPr id="30" name="Shape 28"/>
          <p:cNvSpPr/>
          <p:nvPr/>
        </p:nvSpPr>
        <p:spPr>
          <a:xfrm>
            <a:off x="3952990" y="4386608"/>
            <a:ext cx="114666" cy="114666"/>
          </a:xfrm>
          <a:prstGeom prst="ellipse">
            <a:avLst/>
          </a:prstGeom>
          <a:solidFill>
            <a:srgbClr val="D8C089"/>
          </a:solidFill>
          <a:ln w="5080">
            <a:solidFill>
              <a:srgbClr val="8A7238"/>
            </a:solidFill>
            <a:prstDash val="solid"/>
          </a:ln>
        </p:spPr>
      </p:sp>
      <p:sp>
        <p:nvSpPr>
          <p:cNvPr id="31" name="Shape 29"/>
          <p:cNvSpPr/>
          <p:nvPr/>
        </p:nvSpPr>
        <p:spPr>
          <a:xfrm>
            <a:off x="4236001" y="2259688"/>
            <a:ext cx="114666" cy="114666"/>
          </a:xfrm>
          <a:prstGeom prst="ellipse">
            <a:avLst/>
          </a:prstGeom>
          <a:solidFill>
            <a:srgbClr val="D8C089"/>
          </a:solidFill>
          <a:ln w="5080">
            <a:solidFill>
              <a:srgbClr val="8A7238"/>
            </a:solidFill>
            <a:prstDash val="solid"/>
          </a:ln>
        </p:spPr>
      </p:sp>
      <p:sp>
        <p:nvSpPr>
          <p:cNvPr id="32" name="Shape 30"/>
          <p:cNvSpPr/>
          <p:nvPr/>
        </p:nvSpPr>
        <p:spPr>
          <a:xfrm>
            <a:off x="4236001" y="4386608"/>
            <a:ext cx="114666" cy="114666"/>
          </a:xfrm>
          <a:prstGeom prst="ellipse">
            <a:avLst/>
          </a:prstGeom>
          <a:solidFill>
            <a:srgbClr val="D8C089"/>
          </a:solidFill>
          <a:ln w="5080">
            <a:solidFill>
              <a:srgbClr val="8A7238"/>
            </a:solidFill>
            <a:prstDash val="solid"/>
          </a:ln>
        </p:spPr>
      </p:sp>
      <p:sp>
        <p:nvSpPr>
          <p:cNvPr id="33" name="Shape 31"/>
          <p:cNvSpPr/>
          <p:nvPr/>
        </p:nvSpPr>
        <p:spPr>
          <a:xfrm>
            <a:off x="4519013" y="2259688"/>
            <a:ext cx="114666" cy="114666"/>
          </a:xfrm>
          <a:prstGeom prst="ellipse">
            <a:avLst/>
          </a:prstGeom>
          <a:solidFill>
            <a:srgbClr val="D8C089"/>
          </a:solidFill>
          <a:ln w="5080">
            <a:solidFill>
              <a:srgbClr val="8A7238"/>
            </a:solidFill>
            <a:prstDash val="solid"/>
          </a:ln>
        </p:spPr>
      </p:sp>
      <p:sp>
        <p:nvSpPr>
          <p:cNvPr id="34" name="Shape 32"/>
          <p:cNvSpPr/>
          <p:nvPr/>
        </p:nvSpPr>
        <p:spPr>
          <a:xfrm>
            <a:off x="4519013" y="4386608"/>
            <a:ext cx="114666" cy="114666"/>
          </a:xfrm>
          <a:prstGeom prst="ellipse">
            <a:avLst/>
          </a:prstGeom>
          <a:solidFill>
            <a:srgbClr val="D8C089"/>
          </a:solidFill>
          <a:ln w="5080">
            <a:solidFill>
              <a:srgbClr val="8A7238"/>
            </a:solidFill>
            <a:prstDash val="solid"/>
          </a:ln>
        </p:spPr>
      </p:sp>
      <p:sp>
        <p:nvSpPr>
          <p:cNvPr id="35" name="Shape 33"/>
          <p:cNvSpPr/>
          <p:nvPr/>
        </p:nvSpPr>
        <p:spPr>
          <a:xfrm>
            <a:off x="4802025" y="2259688"/>
            <a:ext cx="114666" cy="114666"/>
          </a:xfrm>
          <a:prstGeom prst="ellipse">
            <a:avLst/>
          </a:prstGeom>
          <a:solidFill>
            <a:srgbClr val="D8C089"/>
          </a:solidFill>
          <a:ln w="5080">
            <a:solidFill>
              <a:srgbClr val="8A7238"/>
            </a:solidFill>
            <a:prstDash val="solid"/>
          </a:ln>
        </p:spPr>
      </p:sp>
      <p:sp>
        <p:nvSpPr>
          <p:cNvPr id="36" name="Shape 34"/>
          <p:cNvSpPr/>
          <p:nvPr/>
        </p:nvSpPr>
        <p:spPr>
          <a:xfrm>
            <a:off x="4802025" y="4386608"/>
            <a:ext cx="114666" cy="114666"/>
          </a:xfrm>
          <a:prstGeom prst="ellipse">
            <a:avLst/>
          </a:prstGeom>
          <a:solidFill>
            <a:srgbClr val="D8C089"/>
          </a:solidFill>
          <a:ln w="5080">
            <a:solidFill>
              <a:srgbClr val="8A7238"/>
            </a:solidFill>
            <a:prstDash val="solid"/>
          </a:ln>
        </p:spPr>
      </p:sp>
      <p:sp>
        <p:nvSpPr>
          <p:cNvPr id="37" name="Shape 35"/>
          <p:cNvSpPr/>
          <p:nvPr/>
        </p:nvSpPr>
        <p:spPr>
          <a:xfrm>
            <a:off x="5085036" y="2259688"/>
            <a:ext cx="114666" cy="114666"/>
          </a:xfrm>
          <a:prstGeom prst="ellipse">
            <a:avLst/>
          </a:prstGeom>
          <a:solidFill>
            <a:srgbClr val="D8C089"/>
          </a:solidFill>
          <a:ln w="5080">
            <a:solidFill>
              <a:srgbClr val="8A7238"/>
            </a:solidFill>
            <a:prstDash val="solid"/>
          </a:ln>
        </p:spPr>
      </p:sp>
      <p:sp>
        <p:nvSpPr>
          <p:cNvPr id="38" name="Shape 36"/>
          <p:cNvSpPr/>
          <p:nvPr/>
        </p:nvSpPr>
        <p:spPr>
          <a:xfrm>
            <a:off x="5085036" y="4386608"/>
            <a:ext cx="114666" cy="114666"/>
          </a:xfrm>
          <a:prstGeom prst="ellipse">
            <a:avLst/>
          </a:prstGeom>
          <a:solidFill>
            <a:srgbClr val="D8C089"/>
          </a:solidFill>
          <a:ln w="5080">
            <a:solidFill>
              <a:srgbClr val="8A7238"/>
            </a:solidFill>
            <a:prstDash val="solid"/>
          </a:ln>
        </p:spPr>
      </p:sp>
      <p:sp>
        <p:nvSpPr>
          <p:cNvPr id="39" name="Shape 37"/>
          <p:cNvSpPr/>
          <p:nvPr/>
        </p:nvSpPr>
        <p:spPr>
          <a:xfrm>
            <a:off x="5368048" y="2259688"/>
            <a:ext cx="114666" cy="114666"/>
          </a:xfrm>
          <a:prstGeom prst="ellipse">
            <a:avLst/>
          </a:prstGeom>
          <a:solidFill>
            <a:srgbClr val="D8C089"/>
          </a:solidFill>
          <a:ln w="5080">
            <a:solidFill>
              <a:srgbClr val="8A7238"/>
            </a:solidFill>
            <a:prstDash val="solid"/>
          </a:ln>
        </p:spPr>
      </p:sp>
      <p:sp>
        <p:nvSpPr>
          <p:cNvPr id="40" name="Shape 38"/>
          <p:cNvSpPr/>
          <p:nvPr/>
        </p:nvSpPr>
        <p:spPr>
          <a:xfrm>
            <a:off x="5368048" y="4386608"/>
            <a:ext cx="114666" cy="114666"/>
          </a:xfrm>
          <a:prstGeom prst="ellipse">
            <a:avLst/>
          </a:prstGeom>
          <a:solidFill>
            <a:srgbClr val="D8C089"/>
          </a:solidFill>
          <a:ln w="5080">
            <a:solidFill>
              <a:srgbClr val="8A7238"/>
            </a:solidFill>
            <a:prstDash val="solid"/>
          </a:ln>
        </p:spPr>
      </p:sp>
      <p:sp>
        <p:nvSpPr>
          <p:cNvPr id="41" name="Shape 39"/>
          <p:cNvSpPr/>
          <p:nvPr/>
        </p:nvSpPr>
        <p:spPr>
          <a:xfrm>
            <a:off x="5651059" y="2259688"/>
            <a:ext cx="114666" cy="114666"/>
          </a:xfrm>
          <a:prstGeom prst="ellipse">
            <a:avLst/>
          </a:prstGeom>
          <a:solidFill>
            <a:srgbClr val="D8C089"/>
          </a:solidFill>
          <a:ln w="5080">
            <a:solidFill>
              <a:srgbClr val="8A7238"/>
            </a:solidFill>
            <a:prstDash val="solid"/>
          </a:ln>
        </p:spPr>
      </p:sp>
      <p:sp>
        <p:nvSpPr>
          <p:cNvPr id="42" name="Shape 40"/>
          <p:cNvSpPr/>
          <p:nvPr/>
        </p:nvSpPr>
        <p:spPr>
          <a:xfrm>
            <a:off x="5651059" y="4386608"/>
            <a:ext cx="114666" cy="114666"/>
          </a:xfrm>
          <a:prstGeom prst="ellipse">
            <a:avLst/>
          </a:prstGeom>
          <a:solidFill>
            <a:srgbClr val="D8C089"/>
          </a:solidFill>
          <a:ln w="5080">
            <a:solidFill>
              <a:srgbClr val="8A7238"/>
            </a:solidFill>
            <a:prstDash val="solid"/>
          </a:ln>
        </p:spPr>
      </p:sp>
      <p:sp>
        <p:nvSpPr>
          <p:cNvPr id="43" name="Shape 41"/>
          <p:cNvSpPr/>
          <p:nvPr/>
        </p:nvSpPr>
        <p:spPr>
          <a:xfrm>
            <a:off x="5934071" y="2259688"/>
            <a:ext cx="114666" cy="114666"/>
          </a:xfrm>
          <a:prstGeom prst="ellipse">
            <a:avLst/>
          </a:prstGeom>
          <a:solidFill>
            <a:srgbClr val="D8C089"/>
          </a:solidFill>
          <a:ln w="5080">
            <a:solidFill>
              <a:srgbClr val="8A7238"/>
            </a:solidFill>
            <a:prstDash val="solid"/>
          </a:ln>
        </p:spPr>
      </p:sp>
      <p:sp>
        <p:nvSpPr>
          <p:cNvPr id="44" name="Shape 42"/>
          <p:cNvSpPr/>
          <p:nvPr/>
        </p:nvSpPr>
        <p:spPr>
          <a:xfrm>
            <a:off x="5934071" y="4386608"/>
            <a:ext cx="114666" cy="114666"/>
          </a:xfrm>
          <a:prstGeom prst="ellipse">
            <a:avLst/>
          </a:prstGeom>
          <a:solidFill>
            <a:srgbClr val="D8C089"/>
          </a:solidFill>
          <a:ln w="5080">
            <a:solidFill>
              <a:srgbClr val="8A7238"/>
            </a:solidFill>
            <a:prstDash val="solid"/>
          </a:ln>
        </p:spPr>
      </p:sp>
      <p:sp>
        <p:nvSpPr>
          <p:cNvPr id="45" name="Shape 43"/>
          <p:cNvSpPr/>
          <p:nvPr/>
        </p:nvSpPr>
        <p:spPr>
          <a:xfrm>
            <a:off x="6217083" y="2259688"/>
            <a:ext cx="114666" cy="114666"/>
          </a:xfrm>
          <a:prstGeom prst="ellipse">
            <a:avLst/>
          </a:prstGeom>
          <a:solidFill>
            <a:srgbClr val="D8C089"/>
          </a:solidFill>
          <a:ln w="5080">
            <a:solidFill>
              <a:srgbClr val="8A7238"/>
            </a:solidFill>
            <a:prstDash val="solid"/>
          </a:ln>
        </p:spPr>
      </p:sp>
      <p:sp>
        <p:nvSpPr>
          <p:cNvPr id="46" name="Shape 44"/>
          <p:cNvSpPr/>
          <p:nvPr/>
        </p:nvSpPr>
        <p:spPr>
          <a:xfrm>
            <a:off x="6217083" y="4386608"/>
            <a:ext cx="114666" cy="114666"/>
          </a:xfrm>
          <a:prstGeom prst="ellipse">
            <a:avLst/>
          </a:prstGeom>
          <a:solidFill>
            <a:srgbClr val="D8C089"/>
          </a:solidFill>
          <a:ln w="5080">
            <a:solidFill>
              <a:srgbClr val="8A7238"/>
            </a:solidFill>
            <a:prstDash val="solid"/>
          </a:ln>
        </p:spPr>
      </p:sp>
      <p:sp>
        <p:nvSpPr>
          <p:cNvPr id="47" name="Shape 45"/>
          <p:cNvSpPr/>
          <p:nvPr/>
        </p:nvSpPr>
        <p:spPr>
          <a:xfrm>
            <a:off x="6500094" y="2259688"/>
            <a:ext cx="114666" cy="114666"/>
          </a:xfrm>
          <a:prstGeom prst="ellipse">
            <a:avLst/>
          </a:prstGeom>
          <a:solidFill>
            <a:srgbClr val="D8C089"/>
          </a:solidFill>
          <a:ln w="5080">
            <a:solidFill>
              <a:srgbClr val="8A7238"/>
            </a:solidFill>
            <a:prstDash val="solid"/>
          </a:ln>
        </p:spPr>
      </p:sp>
      <p:sp>
        <p:nvSpPr>
          <p:cNvPr id="48" name="Shape 46"/>
          <p:cNvSpPr/>
          <p:nvPr/>
        </p:nvSpPr>
        <p:spPr>
          <a:xfrm>
            <a:off x="6500094" y="4386608"/>
            <a:ext cx="114666" cy="114666"/>
          </a:xfrm>
          <a:prstGeom prst="ellipse">
            <a:avLst/>
          </a:prstGeom>
          <a:solidFill>
            <a:srgbClr val="D8C089"/>
          </a:solidFill>
          <a:ln w="5080">
            <a:solidFill>
              <a:srgbClr val="8A7238"/>
            </a:solidFill>
            <a:prstDash val="solid"/>
          </a:ln>
        </p:spPr>
      </p:sp>
      <p:sp>
        <p:nvSpPr>
          <p:cNvPr id="49" name="Shape 47"/>
          <p:cNvSpPr/>
          <p:nvPr/>
        </p:nvSpPr>
        <p:spPr>
          <a:xfrm>
            <a:off x="6783106" y="2259688"/>
            <a:ext cx="114666" cy="114666"/>
          </a:xfrm>
          <a:prstGeom prst="ellipse">
            <a:avLst/>
          </a:prstGeom>
          <a:solidFill>
            <a:srgbClr val="D8C089"/>
          </a:solidFill>
          <a:ln w="5080">
            <a:solidFill>
              <a:srgbClr val="8A7238"/>
            </a:solidFill>
            <a:prstDash val="solid"/>
          </a:ln>
        </p:spPr>
      </p:sp>
      <p:sp>
        <p:nvSpPr>
          <p:cNvPr id="50" name="Shape 48"/>
          <p:cNvSpPr/>
          <p:nvPr/>
        </p:nvSpPr>
        <p:spPr>
          <a:xfrm>
            <a:off x="6783106" y="4386608"/>
            <a:ext cx="114666" cy="114666"/>
          </a:xfrm>
          <a:prstGeom prst="ellipse">
            <a:avLst/>
          </a:prstGeom>
          <a:solidFill>
            <a:srgbClr val="D8C089"/>
          </a:solidFill>
          <a:ln w="5080">
            <a:solidFill>
              <a:srgbClr val="8A7238"/>
            </a:solidFill>
            <a:prstDash val="solid"/>
          </a:ln>
        </p:spPr>
      </p:sp>
      <p:sp>
        <p:nvSpPr>
          <p:cNvPr id="51" name="Shape 49"/>
          <p:cNvSpPr/>
          <p:nvPr/>
        </p:nvSpPr>
        <p:spPr>
          <a:xfrm>
            <a:off x="7066117" y="2259688"/>
            <a:ext cx="114666" cy="114666"/>
          </a:xfrm>
          <a:prstGeom prst="ellipse">
            <a:avLst/>
          </a:prstGeom>
          <a:solidFill>
            <a:srgbClr val="D8C089"/>
          </a:solidFill>
          <a:ln w="5080">
            <a:solidFill>
              <a:srgbClr val="8A7238"/>
            </a:solidFill>
            <a:prstDash val="solid"/>
          </a:ln>
        </p:spPr>
      </p:sp>
      <p:sp>
        <p:nvSpPr>
          <p:cNvPr id="52" name="Shape 50"/>
          <p:cNvSpPr/>
          <p:nvPr/>
        </p:nvSpPr>
        <p:spPr>
          <a:xfrm>
            <a:off x="7066117" y="4386608"/>
            <a:ext cx="114666" cy="114666"/>
          </a:xfrm>
          <a:prstGeom prst="ellipse">
            <a:avLst/>
          </a:prstGeom>
          <a:solidFill>
            <a:srgbClr val="D8C089"/>
          </a:solidFill>
          <a:ln w="5080">
            <a:solidFill>
              <a:srgbClr val="8A7238"/>
            </a:solidFill>
            <a:prstDash val="solid"/>
          </a:ln>
        </p:spPr>
      </p:sp>
      <p:sp>
        <p:nvSpPr>
          <p:cNvPr id="53" name="Text 51"/>
          <p:cNvSpPr/>
          <p:nvPr/>
        </p:nvSpPr>
        <p:spPr>
          <a:xfrm>
            <a:off x="1417320" y="4813290"/>
            <a:ext cx="6035040" cy="274320"/>
          </a:xfrm>
          <a:prstGeom prst="rect">
            <a:avLst/>
          </a:prstGeom>
          <a:noFill/>
          <a:ln/>
        </p:spPr>
        <p:txBody>
          <a:bodyPr wrap="square" lIns="0" tIns="0" rIns="0" bIns="0" rtlCol="0" anchor="t"/>
          <a:lstStyle/>
          <a:p>
            <a:pPr algn="ctr" indent="0" marL="0">
              <a:buNone/>
            </a:pPr>
            <a:r>
              <a:rPr lang="en-US" sz="1200" i="1" dirty="0">
                <a:solidFill>
                  <a:srgbClr val="6B7280"/>
                </a:solidFill>
                <a:latin typeface="맑은 고딕" pitchFamily="34" charset="0"/>
                <a:ea typeface="맑은 고딕" pitchFamily="34" charset="-122"/>
                <a:cs typeface="맑은 고딕" pitchFamily="34" charset="-120"/>
              </a:rPr>
              <a:t>실제 크기 51 × 21 mm · 손가락 두 마디 정도</a:t>
            </a:r>
            <a:endParaRPr lang="en-US" sz="1200" dirty="0"/>
          </a:p>
        </p:txBody>
      </p:sp>
      <p:sp>
        <p:nvSpPr>
          <p:cNvPr id="54" name="Shape 52"/>
          <p:cNvSpPr/>
          <p:nvPr/>
        </p:nvSpPr>
        <p:spPr>
          <a:xfrm>
            <a:off x="7818120" y="2057400"/>
            <a:ext cx="3685032" cy="914400"/>
          </a:xfrm>
          <a:prstGeom prst="roundRect">
            <a:avLst>
              <a:gd name="adj" fmla="val 6000"/>
            </a:avLst>
          </a:prstGeom>
          <a:solidFill>
            <a:srgbClr val="FFFFFF"/>
          </a:solidFill>
          <a:ln w="12700">
            <a:solidFill>
              <a:srgbClr val="DCD6D6"/>
            </a:solidFill>
            <a:prstDash val="solid"/>
          </a:ln>
        </p:spPr>
      </p:sp>
      <p:sp>
        <p:nvSpPr>
          <p:cNvPr id="55" name="Text 53"/>
          <p:cNvSpPr/>
          <p:nvPr/>
        </p:nvSpPr>
        <p:spPr>
          <a:xfrm>
            <a:off x="8092440" y="2203704"/>
            <a:ext cx="3108960" cy="274320"/>
          </a:xfrm>
          <a:prstGeom prst="rect">
            <a:avLst/>
          </a:prstGeom>
          <a:noFill/>
          <a:ln/>
        </p:spPr>
        <p:txBody>
          <a:bodyPr wrap="square" lIns="0" tIns="0" rIns="0" bIns="0" rtlCol="0" anchor="t"/>
          <a:lstStyle/>
          <a:p>
            <a:pPr indent="0" marL="0">
              <a:buNone/>
            </a:pPr>
            <a:r>
              <a:rPr lang="en-US" sz="1500" b="1" dirty="0">
                <a:solidFill>
                  <a:srgbClr val="990011"/>
                </a:solidFill>
                <a:latin typeface="맑은 고딕" pitchFamily="34" charset="0"/>
                <a:ea typeface="맑은 고딕" pitchFamily="34" charset="-122"/>
                <a:cs typeface="맑은 고딕" pitchFamily="34" charset="-120"/>
              </a:rPr>
              <a:t>작다</a:t>
            </a:r>
            <a:endParaRPr lang="en-US" sz="1500" dirty="0"/>
          </a:p>
        </p:txBody>
      </p:sp>
      <p:sp>
        <p:nvSpPr>
          <p:cNvPr id="56" name="Text 54"/>
          <p:cNvSpPr/>
          <p:nvPr/>
        </p:nvSpPr>
        <p:spPr>
          <a:xfrm>
            <a:off x="8092440" y="2514600"/>
            <a:ext cx="3200400" cy="365760"/>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맑은 고딕" pitchFamily="34" charset="0"/>
                <a:ea typeface="맑은 고딕" pitchFamily="34" charset="-122"/>
                <a:cs typeface="맑은 고딕" pitchFamily="34" charset="-120"/>
              </a:rPr>
              <a:t>브레드보드에 그대로 꽂아 쓸 수 있는 크기</a:t>
            </a:r>
            <a:endParaRPr lang="en-US" sz="1150" dirty="0"/>
          </a:p>
        </p:txBody>
      </p:sp>
      <p:sp>
        <p:nvSpPr>
          <p:cNvPr id="57" name="Shape 55"/>
          <p:cNvSpPr/>
          <p:nvPr/>
        </p:nvSpPr>
        <p:spPr>
          <a:xfrm>
            <a:off x="7818120" y="3081528"/>
            <a:ext cx="3685032" cy="914400"/>
          </a:xfrm>
          <a:prstGeom prst="roundRect">
            <a:avLst>
              <a:gd name="adj" fmla="val 6000"/>
            </a:avLst>
          </a:prstGeom>
          <a:solidFill>
            <a:srgbClr val="FFFFFF"/>
          </a:solidFill>
          <a:ln w="12700">
            <a:solidFill>
              <a:srgbClr val="DCD6D6"/>
            </a:solidFill>
            <a:prstDash val="solid"/>
          </a:ln>
        </p:spPr>
      </p:sp>
      <p:sp>
        <p:nvSpPr>
          <p:cNvPr id="58" name="Text 56"/>
          <p:cNvSpPr/>
          <p:nvPr/>
        </p:nvSpPr>
        <p:spPr>
          <a:xfrm>
            <a:off x="8092440" y="3227832"/>
            <a:ext cx="3108960" cy="274320"/>
          </a:xfrm>
          <a:prstGeom prst="rect">
            <a:avLst/>
          </a:prstGeom>
          <a:noFill/>
          <a:ln/>
        </p:spPr>
        <p:txBody>
          <a:bodyPr wrap="square" lIns="0" tIns="0" rIns="0" bIns="0" rtlCol="0" anchor="t"/>
          <a:lstStyle/>
          <a:p>
            <a:pPr indent="0" marL="0">
              <a:buNone/>
            </a:pPr>
            <a:r>
              <a:rPr lang="en-US" sz="1500" b="1" dirty="0">
                <a:solidFill>
                  <a:srgbClr val="990011"/>
                </a:solidFill>
                <a:latin typeface="맑은 고딕" pitchFamily="34" charset="0"/>
                <a:ea typeface="맑은 고딕" pitchFamily="34" charset="-122"/>
                <a:cs typeface="맑은 고딕" pitchFamily="34" charset="-120"/>
              </a:rPr>
              <a:t>무선</a:t>
            </a:r>
            <a:endParaRPr lang="en-US" sz="1500" dirty="0"/>
          </a:p>
        </p:txBody>
      </p:sp>
      <p:sp>
        <p:nvSpPr>
          <p:cNvPr id="59" name="Text 57"/>
          <p:cNvSpPr/>
          <p:nvPr/>
        </p:nvSpPr>
        <p:spPr>
          <a:xfrm>
            <a:off x="8092440" y="3538728"/>
            <a:ext cx="3200400" cy="365760"/>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맑은 고딕" pitchFamily="34" charset="0"/>
                <a:ea typeface="맑은 고딕" pitchFamily="34" charset="-122"/>
                <a:cs typeface="맑은 고딕" pitchFamily="34" charset="-120"/>
              </a:rPr>
              <a:t>Wi-Fi와 Bluetooth가 보드에 내장</a:t>
            </a:r>
            <a:endParaRPr lang="en-US" sz="1150" dirty="0"/>
          </a:p>
        </p:txBody>
      </p:sp>
      <p:sp>
        <p:nvSpPr>
          <p:cNvPr id="60" name="Shape 58"/>
          <p:cNvSpPr/>
          <p:nvPr/>
        </p:nvSpPr>
        <p:spPr>
          <a:xfrm>
            <a:off x="7818120" y="4105656"/>
            <a:ext cx="3685032" cy="914400"/>
          </a:xfrm>
          <a:prstGeom prst="roundRect">
            <a:avLst>
              <a:gd name="adj" fmla="val 6000"/>
            </a:avLst>
          </a:prstGeom>
          <a:solidFill>
            <a:srgbClr val="FFFFFF"/>
          </a:solidFill>
          <a:ln w="12700">
            <a:solidFill>
              <a:srgbClr val="DCD6D6"/>
            </a:solidFill>
            <a:prstDash val="solid"/>
          </a:ln>
        </p:spPr>
      </p:sp>
      <p:sp>
        <p:nvSpPr>
          <p:cNvPr id="61" name="Text 59"/>
          <p:cNvSpPr/>
          <p:nvPr/>
        </p:nvSpPr>
        <p:spPr>
          <a:xfrm>
            <a:off x="8092440" y="4251960"/>
            <a:ext cx="3108960" cy="274320"/>
          </a:xfrm>
          <a:prstGeom prst="rect">
            <a:avLst/>
          </a:prstGeom>
          <a:noFill/>
          <a:ln/>
        </p:spPr>
        <p:txBody>
          <a:bodyPr wrap="square" lIns="0" tIns="0" rIns="0" bIns="0" rtlCol="0" anchor="t"/>
          <a:lstStyle/>
          <a:p>
            <a:pPr indent="0" marL="0">
              <a:buNone/>
            </a:pPr>
            <a:r>
              <a:rPr lang="en-US" sz="1500" b="1" dirty="0">
                <a:solidFill>
                  <a:srgbClr val="990011"/>
                </a:solidFill>
                <a:latin typeface="맑은 고딕" pitchFamily="34" charset="0"/>
                <a:ea typeface="맑은 고딕" pitchFamily="34" charset="-122"/>
                <a:cs typeface="맑은 고딕" pitchFamily="34" charset="-120"/>
              </a:rPr>
              <a:t>쉽다</a:t>
            </a:r>
            <a:endParaRPr lang="en-US" sz="1500" dirty="0"/>
          </a:p>
        </p:txBody>
      </p:sp>
      <p:sp>
        <p:nvSpPr>
          <p:cNvPr id="62" name="Text 60"/>
          <p:cNvSpPr/>
          <p:nvPr/>
        </p:nvSpPr>
        <p:spPr>
          <a:xfrm>
            <a:off x="8092440" y="4562856"/>
            <a:ext cx="3200400" cy="365760"/>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맑은 고딕" pitchFamily="34" charset="0"/>
                <a:ea typeface="맑은 고딕" pitchFamily="34" charset="-122"/>
                <a:cs typeface="맑은 고딕" pitchFamily="34" charset="-120"/>
              </a:rPr>
              <a:t>MicroPython으로 바로 코딩 가능</a:t>
            </a:r>
            <a:endParaRPr lang="en-US" sz="1150" dirty="0"/>
          </a:p>
        </p:txBody>
      </p:sp>
      <p:sp>
        <p:nvSpPr>
          <p:cNvPr id="63" name="Shape 61"/>
          <p:cNvSpPr/>
          <p:nvPr/>
        </p:nvSpPr>
        <p:spPr>
          <a:xfrm>
            <a:off x="7818120" y="5129784"/>
            <a:ext cx="3685032" cy="914400"/>
          </a:xfrm>
          <a:prstGeom prst="roundRect">
            <a:avLst>
              <a:gd name="adj" fmla="val 6000"/>
            </a:avLst>
          </a:prstGeom>
          <a:solidFill>
            <a:srgbClr val="FFFFFF"/>
          </a:solidFill>
          <a:ln w="12700">
            <a:solidFill>
              <a:srgbClr val="DCD6D6"/>
            </a:solidFill>
            <a:prstDash val="solid"/>
          </a:ln>
        </p:spPr>
      </p:sp>
      <p:sp>
        <p:nvSpPr>
          <p:cNvPr id="64" name="Text 62"/>
          <p:cNvSpPr/>
          <p:nvPr/>
        </p:nvSpPr>
        <p:spPr>
          <a:xfrm>
            <a:off x="8092440" y="5276088"/>
            <a:ext cx="3108960" cy="274320"/>
          </a:xfrm>
          <a:prstGeom prst="rect">
            <a:avLst/>
          </a:prstGeom>
          <a:noFill/>
          <a:ln/>
        </p:spPr>
        <p:txBody>
          <a:bodyPr wrap="square" lIns="0" tIns="0" rIns="0" bIns="0" rtlCol="0" anchor="t"/>
          <a:lstStyle/>
          <a:p>
            <a:pPr indent="0" marL="0">
              <a:buNone/>
            </a:pPr>
            <a:r>
              <a:rPr lang="en-US" sz="1500" b="1" dirty="0">
                <a:solidFill>
                  <a:srgbClr val="990011"/>
                </a:solidFill>
                <a:latin typeface="맑은 고딕" pitchFamily="34" charset="0"/>
                <a:ea typeface="맑은 고딕" pitchFamily="34" charset="-122"/>
                <a:cs typeface="맑은 고딕" pitchFamily="34" charset="-120"/>
              </a:rPr>
              <a:t>강하다</a:t>
            </a:r>
            <a:endParaRPr lang="en-US" sz="1500" dirty="0"/>
          </a:p>
        </p:txBody>
      </p:sp>
      <p:sp>
        <p:nvSpPr>
          <p:cNvPr id="65" name="Text 63"/>
          <p:cNvSpPr/>
          <p:nvPr/>
        </p:nvSpPr>
        <p:spPr>
          <a:xfrm>
            <a:off x="8092440" y="5586984"/>
            <a:ext cx="3200400" cy="365760"/>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맑은 고딕" pitchFamily="34" charset="0"/>
                <a:ea typeface="맑은 고딕" pitchFamily="34" charset="-122"/>
                <a:cs typeface="맑은 고딕" pitchFamily="34" charset="-120"/>
              </a:rPr>
              <a:t>듀얼 코어 · 이전 세대보다 넉넉한 성능</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E000A"/>
        </a:solidFill>
      </p:bgPr>
    </p:bg>
    <p:spTree>
      <p:nvGrpSpPr>
        <p:cNvPr id="1" name=""/>
        <p:cNvGrpSpPr/>
        <p:nvPr/>
      </p:nvGrpSpPr>
      <p:grpSpPr>
        <a:xfrm>
          <a:off x="0" y="0"/>
          <a:ext cx="0" cy="0"/>
          <a:chOff x="0" y="0"/>
          <a:chExt cx="0" cy="0"/>
        </a:xfrm>
      </p:grpSpPr>
      <p:sp>
        <p:nvSpPr>
          <p:cNvPr id="2" name="Text 0"/>
          <p:cNvSpPr/>
          <p:nvPr/>
        </p:nvSpPr>
        <p:spPr>
          <a:xfrm>
            <a:off x="685800" y="685800"/>
            <a:ext cx="10789920" cy="256032"/>
          </a:xfrm>
          <a:prstGeom prst="rect">
            <a:avLst/>
          </a:prstGeom>
          <a:noFill/>
          <a:ln/>
        </p:spPr>
        <p:txBody>
          <a:bodyPr wrap="square" lIns="0" tIns="0" rIns="0" bIns="0" rtlCol="0" anchor="ctr"/>
          <a:lstStyle/>
          <a:p>
            <a:pPr indent="0" marL="0">
              <a:buNone/>
            </a:pPr>
            <a:r>
              <a:rPr lang="en-US" sz="1200" b="1" spc="200" kern="0" dirty="0">
                <a:solidFill>
                  <a:srgbClr val="F0A9AE"/>
                </a:solidFill>
                <a:latin typeface="맑은 고딕" pitchFamily="34" charset="0"/>
                <a:ea typeface="맑은 고딕" pitchFamily="34" charset="-122"/>
                <a:cs typeface="맑은 고딕" pitchFamily="34" charset="-120"/>
              </a:rPr>
              <a:t>THE BRAIN</a:t>
            </a:r>
            <a:endParaRPr lang="en-US" sz="1200" dirty="0"/>
          </a:p>
        </p:txBody>
      </p:sp>
      <p:sp>
        <p:nvSpPr>
          <p:cNvPr id="3" name="Text 1"/>
          <p:cNvSpPr/>
          <p:nvPr/>
        </p:nvSpPr>
        <p:spPr>
          <a:xfrm>
            <a:off x="685800" y="960120"/>
            <a:ext cx="10789920" cy="566928"/>
          </a:xfrm>
          <a:prstGeom prst="rect">
            <a:avLst/>
          </a:prstGeom>
          <a:noFill/>
          <a:ln/>
        </p:spPr>
        <p:txBody>
          <a:bodyPr wrap="square" lIns="0" tIns="0" rIns="0" bIns="0" rtlCol="0" anchor="ctr"/>
          <a:lstStyle/>
          <a:p>
            <a:pPr indent="0" marL="0">
              <a:buNone/>
            </a:pPr>
            <a:r>
              <a:rPr lang="en-US" sz="3000" b="1" dirty="0">
                <a:solidFill>
                  <a:srgbClr val="FFFFFF"/>
                </a:solidFill>
                <a:latin typeface="맑은 고딕" pitchFamily="34" charset="0"/>
                <a:ea typeface="맑은 고딕" pitchFamily="34" charset="-122"/>
                <a:cs typeface="맑은 고딕" pitchFamily="34" charset="-120"/>
              </a:rPr>
              <a:t>RP2350 — 보드의 두뇌</a:t>
            </a:r>
            <a:endParaRPr lang="en-US" sz="3000" dirty="0"/>
          </a:p>
        </p:txBody>
      </p:sp>
      <p:sp>
        <p:nvSpPr>
          <p:cNvPr id="4" name="Text 2"/>
          <p:cNvSpPr/>
          <p:nvPr/>
        </p:nvSpPr>
        <p:spPr>
          <a:xfrm>
            <a:off x="685800" y="1627632"/>
            <a:ext cx="10789920" cy="365760"/>
          </a:xfrm>
          <a:prstGeom prst="rect">
            <a:avLst/>
          </a:prstGeom>
          <a:noFill/>
          <a:ln/>
        </p:spPr>
        <p:txBody>
          <a:bodyPr wrap="square" lIns="0" tIns="0" rIns="0" bIns="0" rtlCol="0" anchor="ctr"/>
          <a:lstStyle/>
          <a:p>
            <a:pPr indent="0" marL="0">
              <a:buNone/>
            </a:pPr>
            <a:r>
              <a:rPr lang="en-US" sz="1400" dirty="0">
                <a:solidFill>
                  <a:srgbClr val="E0B4B8"/>
                </a:solidFill>
                <a:latin typeface="맑은 고딕" pitchFamily="34" charset="0"/>
                <a:ea typeface="맑은 고딕" pitchFamily="34" charset="-122"/>
                <a:cs typeface="맑은 고딕" pitchFamily="34" charset="-120"/>
              </a:rPr>
              <a:t>보드 한가운데 있는 검은 사각형 칩 하나가 CPU와 메모리를 모두 담고 있습니다.</a:t>
            </a:r>
            <a:endParaRPr lang="en-US" sz="1400" dirty="0"/>
          </a:p>
        </p:txBody>
      </p:sp>
      <p:sp>
        <p:nvSpPr>
          <p:cNvPr id="5" name="Shape 3"/>
          <p:cNvSpPr/>
          <p:nvPr/>
        </p:nvSpPr>
        <p:spPr>
          <a:xfrm>
            <a:off x="685800" y="2331720"/>
            <a:ext cx="2587752" cy="2542032"/>
          </a:xfrm>
          <a:prstGeom prst="roundRect">
            <a:avLst>
              <a:gd name="adj" fmla="val 2158"/>
            </a:avLst>
          </a:prstGeom>
          <a:solidFill>
            <a:srgbClr val="731019"/>
          </a:solidFill>
          <a:ln w="12700">
            <a:solidFill>
              <a:srgbClr val="8E2029"/>
            </a:solidFill>
            <a:prstDash val="solid"/>
          </a:ln>
        </p:spPr>
      </p:sp>
      <p:sp>
        <p:nvSpPr>
          <p:cNvPr id="6" name="Text 4"/>
          <p:cNvSpPr/>
          <p:nvPr/>
        </p:nvSpPr>
        <p:spPr>
          <a:xfrm>
            <a:off x="914400" y="2606040"/>
            <a:ext cx="2130552" cy="822960"/>
          </a:xfrm>
          <a:prstGeom prst="rect">
            <a:avLst/>
          </a:prstGeom>
          <a:noFill/>
          <a:ln/>
        </p:spPr>
        <p:txBody>
          <a:bodyPr wrap="square" lIns="0" tIns="0" rIns="0" bIns="0" rtlCol="0" anchor="ctr"/>
          <a:lstStyle/>
          <a:p>
            <a:pPr algn="ctr" indent="0" marL="0">
              <a:buNone/>
            </a:pPr>
            <a:r>
              <a:rPr lang="en-US" sz="5000" b="1" dirty="0">
                <a:solidFill>
                  <a:srgbClr val="FFFFFF"/>
                </a:solidFill>
                <a:latin typeface="맑은 고딕" pitchFamily="34" charset="0"/>
                <a:ea typeface="맑은 고딕" pitchFamily="34" charset="-122"/>
                <a:cs typeface="맑은 고딕" pitchFamily="34" charset="-120"/>
              </a:rPr>
              <a:t>2</a:t>
            </a:r>
            <a:pPr algn="ctr" indent="0" marL="0">
              <a:buNone/>
            </a:pPr>
            <a:r>
              <a:rPr lang="en-US" sz="1700" b="1" dirty="0">
                <a:solidFill>
                  <a:srgbClr val="F0A9AE"/>
                </a:solidFill>
                <a:latin typeface="맑은 고딕" pitchFamily="34" charset="0"/>
                <a:ea typeface="맑은 고딕" pitchFamily="34" charset="-122"/>
                <a:cs typeface="맑은 고딕" pitchFamily="34" charset="-120"/>
              </a:rPr>
              <a:t> 개</a:t>
            </a:r>
            <a:endParaRPr lang="en-US" sz="5000" dirty="0"/>
          </a:p>
        </p:txBody>
      </p:sp>
      <p:sp>
        <p:nvSpPr>
          <p:cNvPr id="7" name="Text 5"/>
          <p:cNvSpPr/>
          <p:nvPr/>
        </p:nvSpPr>
        <p:spPr>
          <a:xfrm>
            <a:off x="868680" y="3520440"/>
            <a:ext cx="2221992"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CPU 코어</a:t>
            </a:r>
            <a:endParaRPr lang="en-US" sz="1500" dirty="0"/>
          </a:p>
        </p:txBody>
      </p:sp>
      <p:sp>
        <p:nvSpPr>
          <p:cNvPr id="8" name="Text 6"/>
          <p:cNvSpPr/>
          <p:nvPr/>
        </p:nvSpPr>
        <p:spPr>
          <a:xfrm>
            <a:off x="941832" y="3913632"/>
            <a:ext cx="2075688" cy="777240"/>
          </a:xfrm>
          <a:prstGeom prst="rect">
            <a:avLst/>
          </a:prstGeom>
          <a:noFill/>
          <a:ln/>
        </p:spPr>
        <p:txBody>
          <a:bodyPr wrap="square" lIns="0" tIns="0" rIns="0" bIns="0" rtlCol="0" anchor="ctr"/>
          <a:lstStyle/>
          <a:p>
            <a:pPr algn="ctr" indent="0" marL="0">
              <a:lnSpc>
                <a:spcPts val="1600"/>
              </a:lnSpc>
              <a:buNone/>
            </a:pPr>
            <a:r>
              <a:rPr lang="en-US" sz="1150" dirty="0">
                <a:solidFill>
                  <a:srgbClr val="DDA9AD"/>
                </a:solidFill>
                <a:latin typeface="맑은 고딕" pitchFamily="34" charset="0"/>
                <a:ea typeface="맑은 고딕" pitchFamily="34" charset="-122"/>
                <a:cs typeface="맑은 고딕" pitchFamily="34" charset="-120"/>
              </a:rPr>
              <a:t>Arm Cortex-M33 듀얼 코어</a:t>
            </a:r>
            <a:endParaRPr lang="en-US" sz="1150" dirty="0"/>
          </a:p>
        </p:txBody>
      </p:sp>
      <p:sp>
        <p:nvSpPr>
          <p:cNvPr id="9" name="Shape 7"/>
          <p:cNvSpPr/>
          <p:nvPr/>
        </p:nvSpPr>
        <p:spPr>
          <a:xfrm>
            <a:off x="3493008" y="2331720"/>
            <a:ext cx="2587752" cy="2542032"/>
          </a:xfrm>
          <a:prstGeom prst="roundRect">
            <a:avLst>
              <a:gd name="adj" fmla="val 2158"/>
            </a:avLst>
          </a:prstGeom>
          <a:solidFill>
            <a:srgbClr val="731019"/>
          </a:solidFill>
          <a:ln w="12700">
            <a:solidFill>
              <a:srgbClr val="8E2029"/>
            </a:solidFill>
            <a:prstDash val="solid"/>
          </a:ln>
        </p:spPr>
      </p:sp>
      <p:sp>
        <p:nvSpPr>
          <p:cNvPr id="10" name="Text 8"/>
          <p:cNvSpPr/>
          <p:nvPr/>
        </p:nvSpPr>
        <p:spPr>
          <a:xfrm>
            <a:off x="3721608" y="2606040"/>
            <a:ext cx="2130552" cy="822960"/>
          </a:xfrm>
          <a:prstGeom prst="rect">
            <a:avLst/>
          </a:prstGeom>
          <a:noFill/>
          <a:ln/>
        </p:spPr>
        <p:txBody>
          <a:bodyPr wrap="square" lIns="0" tIns="0" rIns="0" bIns="0" rtlCol="0" anchor="ctr"/>
          <a:lstStyle/>
          <a:p>
            <a:pPr algn="ctr" indent="0" marL="0">
              <a:buNone/>
            </a:pPr>
            <a:r>
              <a:rPr lang="en-US" sz="5000" b="1" dirty="0">
                <a:solidFill>
                  <a:srgbClr val="FFFFFF"/>
                </a:solidFill>
                <a:latin typeface="맑은 고딕" pitchFamily="34" charset="0"/>
                <a:ea typeface="맑은 고딕" pitchFamily="34" charset="-122"/>
                <a:cs typeface="맑은 고딕" pitchFamily="34" charset="-120"/>
              </a:rPr>
              <a:t>150</a:t>
            </a:r>
            <a:pPr algn="ctr" indent="0" marL="0">
              <a:buNone/>
            </a:pPr>
            <a:r>
              <a:rPr lang="en-US" sz="1700" b="1" dirty="0">
                <a:solidFill>
                  <a:srgbClr val="F0A9AE"/>
                </a:solidFill>
                <a:latin typeface="맑은 고딕" pitchFamily="34" charset="0"/>
                <a:ea typeface="맑은 고딕" pitchFamily="34" charset="-122"/>
                <a:cs typeface="맑은 고딕" pitchFamily="34" charset="-120"/>
              </a:rPr>
              <a:t> MHz</a:t>
            </a:r>
            <a:endParaRPr lang="en-US" sz="5000" dirty="0"/>
          </a:p>
        </p:txBody>
      </p:sp>
      <p:sp>
        <p:nvSpPr>
          <p:cNvPr id="11" name="Text 9"/>
          <p:cNvSpPr/>
          <p:nvPr/>
        </p:nvSpPr>
        <p:spPr>
          <a:xfrm>
            <a:off x="3675888" y="3520440"/>
            <a:ext cx="2221992"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동작 속도</a:t>
            </a:r>
            <a:endParaRPr lang="en-US" sz="1500" dirty="0"/>
          </a:p>
        </p:txBody>
      </p:sp>
      <p:sp>
        <p:nvSpPr>
          <p:cNvPr id="12" name="Text 10"/>
          <p:cNvSpPr/>
          <p:nvPr/>
        </p:nvSpPr>
        <p:spPr>
          <a:xfrm>
            <a:off x="3749040" y="3913632"/>
            <a:ext cx="2075688" cy="777240"/>
          </a:xfrm>
          <a:prstGeom prst="rect">
            <a:avLst/>
          </a:prstGeom>
          <a:noFill/>
          <a:ln/>
        </p:spPr>
        <p:txBody>
          <a:bodyPr wrap="square" lIns="0" tIns="0" rIns="0" bIns="0" rtlCol="0" anchor="ctr"/>
          <a:lstStyle/>
          <a:p>
            <a:pPr algn="ctr" indent="0" marL="0">
              <a:lnSpc>
                <a:spcPts val="1600"/>
              </a:lnSpc>
              <a:buNone/>
            </a:pPr>
            <a:r>
              <a:rPr lang="en-US" sz="1150" dirty="0">
                <a:solidFill>
                  <a:srgbClr val="DDA9AD"/>
                </a:solidFill>
                <a:latin typeface="맑은 고딕" pitchFamily="34" charset="0"/>
                <a:ea typeface="맑은 고딕" pitchFamily="34" charset="-122"/>
                <a:cs typeface="맑은 고딕" pitchFamily="34" charset="-120"/>
              </a:rPr>
              <a:t>1초에 1억 5천만 번 연산</a:t>
            </a:r>
            <a:endParaRPr lang="en-US" sz="1150" dirty="0"/>
          </a:p>
        </p:txBody>
      </p:sp>
      <p:sp>
        <p:nvSpPr>
          <p:cNvPr id="13" name="Shape 11"/>
          <p:cNvSpPr/>
          <p:nvPr/>
        </p:nvSpPr>
        <p:spPr>
          <a:xfrm>
            <a:off x="6300216" y="2331720"/>
            <a:ext cx="2587752" cy="2542032"/>
          </a:xfrm>
          <a:prstGeom prst="roundRect">
            <a:avLst>
              <a:gd name="adj" fmla="val 2158"/>
            </a:avLst>
          </a:prstGeom>
          <a:solidFill>
            <a:srgbClr val="731019"/>
          </a:solidFill>
          <a:ln w="12700">
            <a:solidFill>
              <a:srgbClr val="8E2029"/>
            </a:solidFill>
            <a:prstDash val="solid"/>
          </a:ln>
        </p:spPr>
      </p:sp>
      <p:sp>
        <p:nvSpPr>
          <p:cNvPr id="14" name="Text 12"/>
          <p:cNvSpPr/>
          <p:nvPr/>
        </p:nvSpPr>
        <p:spPr>
          <a:xfrm>
            <a:off x="6528816" y="2606040"/>
            <a:ext cx="2130552" cy="822960"/>
          </a:xfrm>
          <a:prstGeom prst="rect">
            <a:avLst/>
          </a:prstGeom>
          <a:noFill/>
          <a:ln/>
        </p:spPr>
        <p:txBody>
          <a:bodyPr wrap="square" lIns="0" tIns="0" rIns="0" bIns="0" rtlCol="0" anchor="ctr"/>
          <a:lstStyle/>
          <a:p>
            <a:pPr algn="ctr" indent="0" marL="0">
              <a:buNone/>
            </a:pPr>
            <a:r>
              <a:rPr lang="en-US" sz="5000" b="1" dirty="0">
                <a:solidFill>
                  <a:srgbClr val="FFFFFF"/>
                </a:solidFill>
                <a:latin typeface="맑은 고딕" pitchFamily="34" charset="0"/>
                <a:ea typeface="맑은 고딕" pitchFamily="34" charset="-122"/>
                <a:cs typeface="맑은 고딕" pitchFamily="34" charset="-120"/>
              </a:rPr>
              <a:t>520</a:t>
            </a:r>
            <a:pPr algn="ctr" indent="0" marL="0">
              <a:buNone/>
            </a:pPr>
            <a:r>
              <a:rPr lang="en-US" sz="1700" b="1" dirty="0">
                <a:solidFill>
                  <a:srgbClr val="F0A9AE"/>
                </a:solidFill>
                <a:latin typeface="맑은 고딕" pitchFamily="34" charset="0"/>
                <a:ea typeface="맑은 고딕" pitchFamily="34" charset="-122"/>
                <a:cs typeface="맑은 고딕" pitchFamily="34" charset="-120"/>
              </a:rPr>
              <a:t> KB</a:t>
            </a:r>
            <a:endParaRPr lang="en-US" sz="5000" dirty="0"/>
          </a:p>
        </p:txBody>
      </p:sp>
      <p:sp>
        <p:nvSpPr>
          <p:cNvPr id="15" name="Text 13"/>
          <p:cNvSpPr/>
          <p:nvPr/>
        </p:nvSpPr>
        <p:spPr>
          <a:xfrm>
            <a:off x="6483096" y="3520440"/>
            <a:ext cx="2221992"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SRAM</a:t>
            </a:r>
            <a:endParaRPr lang="en-US" sz="1500" dirty="0"/>
          </a:p>
        </p:txBody>
      </p:sp>
      <p:sp>
        <p:nvSpPr>
          <p:cNvPr id="16" name="Text 14"/>
          <p:cNvSpPr/>
          <p:nvPr/>
        </p:nvSpPr>
        <p:spPr>
          <a:xfrm>
            <a:off x="6556248" y="3913632"/>
            <a:ext cx="2075688" cy="777240"/>
          </a:xfrm>
          <a:prstGeom prst="rect">
            <a:avLst/>
          </a:prstGeom>
          <a:noFill/>
          <a:ln/>
        </p:spPr>
        <p:txBody>
          <a:bodyPr wrap="square" lIns="0" tIns="0" rIns="0" bIns="0" rtlCol="0" anchor="ctr"/>
          <a:lstStyle/>
          <a:p>
            <a:pPr algn="ctr" indent="0" marL="0">
              <a:lnSpc>
                <a:spcPts val="1600"/>
              </a:lnSpc>
              <a:buNone/>
            </a:pPr>
            <a:r>
              <a:rPr lang="en-US" sz="1150" dirty="0">
                <a:solidFill>
                  <a:srgbClr val="DDA9AD"/>
                </a:solidFill>
                <a:latin typeface="맑은 고딕" pitchFamily="34" charset="0"/>
                <a:ea typeface="맑은 고딕" pitchFamily="34" charset="-122"/>
                <a:cs typeface="맑은 고딕" pitchFamily="34" charset="-120"/>
              </a:rPr>
              <a:t>프로그램이 실행되는 작업 공간</a:t>
            </a:r>
            <a:endParaRPr lang="en-US" sz="1150" dirty="0"/>
          </a:p>
        </p:txBody>
      </p:sp>
      <p:sp>
        <p:nvSpPr>
          <p:cNvPr id="17" name="Shape 15"/>
          <p:cNvSpPr/>
          <p:nvPr/>
        </p:nvSpPr>
        <p:spPr>
          <a:xfrm>
            <a:off x="9107424" y="2331720"/>
            <a:ext cx="2587752" cy="2542032"/>
          </a:xfrm>
          <a:prstGeom prst="roundRect">
            <a:avLst>
              <a:gd name="adj" fmla="val 2158"/>
            </a:avLst>
          </a:prstGeom>
          <a:solidFill>
            <a:srgbClr val="731019"/>
          </a:solidFill>
          <a:ln w="12700">
            <a:solidFill>
              <a:srgbClr val="8E2029"/>
            </a:solidFill>
            <a:prstDash val="solid"/>
          </a:ln>
        </p:spPr>
      </p:sp>
      <p:sp>
        <p:nvSpPr>
          <p:cNvPr id="18" name="Text 16"/>
          <p:cNvSpPr/>
          <p:nvPr/>
        </p:nvSpPr>
        <p:spPr>
          <a:xfrm>
            <a:off x="9336024" y="2606040"/>
            <a:ext cx="2130552" cy="822960"/>
          </a:xfrm>
          <a:prstGeom prst="rect">
            <a:avLst/>
          </a:prstGeom>
          <a:noFill/>
          <a:ln/>
        </p:spPr>
        <p:txBody>
          <a:bodyPr wrap="square" lIns="0" tIns="0" rIns="0" bIns="0" rtlCol="0" anchor="ctr"/>
          <a:lstStyle/>
          <a:p>
            <a:pPr algn="ctr" indent="0" marL="0">
              <a:buNone/>
            </a:pPr>
            <a:r>
              <a:rPr lang="en-US" sz="5000" b="1" dirty="0">
                <a:solidFill>
                  <a:srgbClr val="FFFFFF"/>
                </a:solidFill>
                <a:latin typeface="맑은 고딕" pitchFamily="34" charset="0"/>
                <a:ea typeface="맑은 고딕" pitchFamily="34" charset="-122"/>
                <a:cs typeface="맑은 고딕" pitchFamily="34" charset="-120"/>
              </a:rPr>
              <a:t>4</a:t>
            </a:r>
            <a:pPr algn="ctr" indent="0" marL="0">
              <a:buNone/>
            </a:pPr>
            <a:r>
              <a:rPr lang="en-US" sz="1700" b="1" dirty="0">
                <a:solidFill>
                  <a:srgbClr val="F0A9AE"/>
                </a:solidFill>
                <a:latin typeface="맑은 고딕" pitchFamily="34" charset="0"/>
                <a:ea typeface="맑은 고딕" pitchFamily="34" charset="-122"/>
                <a:cs typeface="맑은 고딕" pitchFamily="34" charset="-120"/>
              </a:rPr>
              <a:t> MB</a:t>
            </a:r>
            <a:endParaRPr lang="en-US" sz="5000" dirty="0"/>
          </a:p>
        </p:txBody>
      </p:sp>
      <p:sp>
        <p:nvSpPr>
          <p:cNvPr id="19" name="Text 17"/>
          <p:cNvSpPr/>
          <p:nvPr/>
        </p:nvSpPr>
        <p:spPr>
          <a:xfrm>
            <a:off x="9290304" y="3520440"/>
            <a:ext cx="2221992"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플래시 메모리</a:t>
            </a:r>
            <a:endParaRPr lang="en-US" sz="1500" dirty="0"/>
          </a:p>
        </p:txBody>
      </p:sp>
      <p:sp>
        <p:nvSpPr>
          <p:cNvPr id="20" name="Text 18"/>
          <p:cNvSpPr/>
          <p:nvPr/>
        </p:nvSpPr>
        <p:spPr>
          <a:xfrm>
            <a:off x="9363456" y="3913632"/>
            <a:ext cx="2075688" cy="777240"/>
          </a:xfrm>
          <a:prstGeom prst="rect">
            <a:avLst/>
          </a:prstGeom>
          <a:noFill/>
          <a:ln/>
        </p:spPr>
        <p:txBody>
          <a:bodyPr wrap="square" lIns="0" tIns="0" rIns="0" bIns="0" rtlCol="0" anchor="ctr"/>
          <a:lstStyle/>
          <a:p>
            <a:pPr algn="ctr" indent="0" marL="0">
              <a:lnSpc>
                <a:spcPts val="1600"/>
              </a:lnSpc>
              <a:buNone/>
            </a:pPr>
            <a:r>
              <a:rPr lang="en-US" sz="1150" dirty="0">
                <a:solidFill>
                  <a:srgbClr val="DDA9AD"/>
                </a:solidFill>
                <a:latin typeface="맑은 고딕" pitchFamily="34" charset="0"/>
                <a:ea typeface="맑은 고딕" pitchFamily="34" charset="-122"/>
                <a:cs typeface="맑은 고딕" pitchFamily="34" charset="-120"/>
              </a:rPr>
              <a:t>코드가 저장되는 공간</a:t>
            </a:r>
            <a:endParaRPr lang="en-US" sz="1150" dirty="0"/>
          </a:p>
        </p:txBody>
      </p:sp>
      <p:sp>
        <p:nvSpPr>
          <p:cNvPr id="21" name="Text 19"/>
          <p:cNvSpPr/>
          <p:nvPr/>
        </p:nvSpPr>
        <p:spPr>
          <a:xfrm>
            <a:off x="685800" y="5257800"/>
            <a:ext cx="10789920" cy="365760"/>
          </a:xfrm>
          <a:prstGeom prst="rect">
            <a:avLst/>
          </a:prstGeom>
          <a:noFill/>
          <a:ln/>
        </p:spPr>
        <p:txBody>
          <a:bodyPr wrap="square" lIns="0" tIns="0" rIns="0" bIns="0" rtlCol="0" anchor="ctr"/>
          <a:lstStyle/>
          <a:p>
            <a:pPr indent="0" marL="0">
              <a:buNone/>
            </a:pPr>
            <a:r>
              <a:rPr lang="en-US" sz="1350" dirty="0">
                <a:solidFill>
                  <a:srgbClr val="E8CDD0"/>
                </a:solidFill>
                <a:latin typeface="맑은 고딕" pitchFamily="34" charset="0"/>
                <a:ea typeface="맑은 고딕" pitchFamily="34" charset="-122"/>
                <a:cs typeface="맑은 고딕" pitchFamily="34" charset="-120"/>
              </a:rPr>
              <a:t>여기에 별도의 무선 칩이 더해져 Wi-Fi(2.4GHz)와 Bluetooth 5.2 / BLE를 담당합니다.</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COMPARISON</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Arduino UNO와 무엇이 다를까?</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이미 다뤄 본 Arduino UNO와 나란히 놓고 보면 Pico 2 W의 성격이 분명해집니다.</a:t>
            </a:r>
            <a:endParaRPr lang="en-US" sz="1500" dirty="0"/>
          </a:p>
        </p:txBody>
      </p:sp>
      <p:sp>
        <p:nvSpPr>
          <p:cNvPr id="5" name="Shape 3"/>
          <p:cNvSpPr/>
          <p:nvPr/>
        </p:nvSpPr>
        <p:spPr>
          <a:xfrm>
            <a:off x="6903720" y="1828800"/>
            <a:ext cx="4507992" cy="4558284"/>
          </a:xfrm>
          <a:prstGeom prst="roundRect">
            <a:avLst>
              <a:gd name="adj" fmla="val 1014"/>
            </a:avLst>
          </a:prstGeom>
          <a:solidFill>
            <a:srgbClr val="F7F2F2"/>
          </a:solidFill>
          <a:ln w="12700">
            <a:solidFill>
              <a:srgbClr val="E8D6D8"/>
            </a:solidFill>
            <a:prstDash val="solid"/>
          </a:ln>
        </p:spPr>
      </p:sp>
      <p:sp>
        <p:nvSpPr>
          <p:cNvPr id="6" name="Text 4"/>
          <p:cNvSpPr/>
          <p:nvPr/>
        </p:nvSpPr>
        <p:spPr>
          <a:xfrm>
            <a:off x="3017520" y="1947672"/>
            <a:ext cx="3794760" cy="329184"/>
          </a:xfrm>
          <a:prstGeom prst="rect">
            <a:avLst/>
          </a:prstGeom>
          <a:noFill/>
          <a:ln/>
        </p:spPr>
        <p:txBody>
          <a:bodyPr wrap="square" lIns="0" tIns="0" rIns="0" bIns="0" rtlCol="0" anchor="t"/>
          <a:lstStyle/>
          <a:p>
            <a:pPr indent="0" marL="0">
              <a:buNone/>
            </a:pPr>
            <a:r>
              <a:rPr lang="en-US" sz="1500" b="1" dirty="0">
                <a:solidFill>
                  <a:srgbClr val="6B7280"/>
                </a:solidFill>
                <a:latin typeface="맑은 고딕" pitchFamily="34" charset="0"/>
                <a:ea typeface="맑은 고딕" pitchFamily="34" charset="-122"/>
                <a:cs typeface="맑은 고딕" pitchFamily="34" charset="-120"/>
              </a:rPr>
              <a:t>Arduino UNO R3</a:t>
            </a:r>
            <a:endParaRPr lang="en-US" sz="1500" dirty="0"/>
          </a:p>
        </p:txBody>
      </p:sp>
      <p:sp>
        <p:nvSpPr>
          <p:cNvPr id="7" name="Text 5"/>
          <p:cNvSpPr/>
          <p:nvPr/>
        </p:nvSpPr>
        <p:spPr>
          <a:xfrm>
            <a:off x="7159752" y="1947672"/>
            <a:ext cx="4142232" cy="329184"/>
          </a:xfrm>
          <a:prstGeom prst="rect">
            <a:avLst/>
          </a:prstGeom>
          <a:noFill/>
          <a:ln/>
        </p:spPr>
        <p:txBody>
          <a:bodyPr wrap="square" lIns="0" tIns="0" rIns="0" bIns="0" rtlCol="0" anchor="t"/>
          <a:lstStyle/>
          <a:p>
            <a:pPr indent="0" marL="0">
              <a:buNone/>
            </a:pPr>
            <a:r>
              <a:rPr lang="en-US" sz="1500" b="1" dirty="0">
                <a:solidFill>
                  <a:srgbClr val="990011"/>
                </a:solidFill>
                <a:latin typeface="맑은 고딕" pitchFamily="34" charset="0"/>
                <a:ea typeface="맑은 고딕" pitchFamily="34" charset="-122"/>
                <a:cs typeface="맑은 고딕" pitchFamily="34" charset="-120"/>
              </a:rPr>
              <a:t>Raspberry Pi Pico 2 W</a:t>
            </a:r>
            <a:endParaRPr lang="en-US" sz="1500" dirty="0"/>
          </a:p>
        </p:txBody>
      </p:sp>
      <p:sp>
        <p:nvSpPr>
          <p:cNvPr id="8" name="Shape 6"/>
          <p:cNvSpPr/>
          <p:nvPr/>
        </p:nvSpPr>
        <p:spPr>
          <a:xfrm>
            <a:off x="685800" y="2377440"/>
            <a:ext cx="6172200" cy="0"/>
          </a:xfrm>
          <a:prstGeom prst="line">
            <a:avLst/>
          </a:prstGeom>
          <a:noFill/>
          <a:ln w="15875">
            <a:solidFill>
              <a:srgbClr val="C9C0C0"/>
            </a:solidFill>
            <a:prstDash val="solid"/>
          </a:ln>
        </p:spPr>
      </p:sp>
      <p:sp>
        <p:nvSpPr>
          <p:cNvPr id="9" name="Text 7"/>
          <p:cNvSpPr/>
          <p:nvPr/>
        </p:nvSpPr>
        <p:spPr>
          <a:xfrm>
            <a:off x="685800" y="2487168"/>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프로세서</a:t>
            </a:r>
            <a:endParaRPr lang="en-US" sz="1250" dirty="0"/>
          </a:p>
        </p:txBody>
      </p:sp>
      <p:sp>
        <p:nvSpPr>
          <p:cNvPr id="10" name="Text 8"/>
          <p:cNvSpPr/>
          <p:nvPr/>
        </p:nvSpPr>
        <p:spPr>
          <a:xfrm>
            <a:off x="3017520" y="2487168"/>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ATmega328P · 8비트</a:t>
            </a:r>
            <a:endParaRPr lang="en-US" sz="1300" dirty="0"/>
          </a:p>
        </p:txBody>
      </p:sp>
      <p:sp>
        <p:nvSpPr>
          <p:cNvPr id="11" name="Text 9"/>
          <p:cNvSpPr/>
          <p:nvPr/>
        </p:nvSpPr>
        <p:spPr>
          <a:xfrm>
            <a:off x="7159752" y="2487168"/>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RP2350 · 32비트 듀얼 코어</a:t>
            </a:r>
            <a:endParaRPr lang="en-US" sz="1300" dirty="0"/>
          </a:p>
        </p:txBody>
      </p:sp>
      <p:sp>
        <p:nvSpPr>
          <p:cNvPr id="12" name="Shape 10"/>
          <p:cNvSpPr/>
          <p:nvPr/>
        </p:nvSpPr>
        <p:spPr>
          <a:xfrm>
            <a:off x="685800" y="2866644"/>
            <a:ext cx="6172200" cy="406908"/>
          </a:xfrm>
          <a:prstGeom prst="rect">
            <a:avLst/>
          </a:prstGeom>
          <a:solidFill>
            <a:srgbClr val="F6F4F4"/>
          </a:solidFill>
          <a:ln w="6350">
            <a:solidFill>
              <a:srgbClr val="F6F4F4"/>
            </a:solidFill>
            <a:prstDash val="solid"/>
          </a:ln>
        </p:spPr>
      </p:sp>
      <p:sp>
        <p:nvSpPr>
          <p:cNvPr id="13" name="Text 11"/>
          <p:cNvSpPr/>
          <p:nvPr/>
        </p:nvSpPr>
        <p:spPr>
          <a:xfrm>
            <a:off x="685800" y="2930652"/>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동작 속도</a:t>
            </a:r>
            <a:endParaRPr lang="en-US" sz="1250" dirty="0"/>
          </a:p>
        </p:txBody>
      </p:sp>
      <p:sp>
        <p:nvSpPr>
          <p:cNvPr id="14" name="Text 12"/>
          <p:cNvSpPr/>
          <p:nvPr/>
        </p:nvSpPr>
        <p:spPr>
          <a:xfrm>
            <a:off x="3017520" y="2930652"/>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16 MHz</a:t>
            </a:r>
            <a:endParaRPr lang="en-US" sz="1300" dirty="0"/>
          </a:p>
        </p:txBody>
      </p:sp>
      <p:sp>
        <p:nvSpPr>
          <p:cNvPr id="15" name="Text 13"/>
          <p:cNvSpPr/>
          <p:nvPr/>
        </p:nvSpPr>
        <p:spPr>
          <a:xfrm>
            <a:off x="7159752" y="2930652"/>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150 MHz</a:t>
            </a:r>
            <a:endParaRPr lang="en-US" sz="1300" dirty="0"/>
          </a:p>
        </p:txBody>
      </p:sp>
      <p:sp>
        <p:nvSpPr>
          <p:cNvPr id="16" name="Text 14"/>
          <p:cNvSpPr/>
          <p:nvPr/>
        </p:nvSpPr>
        <p:spPr>
          <a:xfrm>
            <a:off x="685800" y="3374136"/>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SRAM</a:t>
            </a:r>
            <a:endParaRPr lang="en-US" sz="1250" dirty="0"/>
          </a:p>
        </p:txBody>
      </p:sp>
      <p:sp>
        <p:nvSpPr>
          <p:cNvPr id="17" name="Text 15"/>
          <p:cNvSpPr/>
          <p:nvPr/>
        </p:nvSpPr>
        <p:spPr>
          <a:xfrm>
            <a:off x="3017520" y="3374136"/>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2 KB</a:t>
            </a:r>
            <a:endParaRPr lang="en-US" sz="1300" dirty="0"/>
          </a:p>
        </p:txBody>
      </p:sp>
      <p:sp>
        <p:nvSpPr>
          <p:cNvPr id="18" name="Text 16"/>
          <p:cNvSpPr/>
          <p:nvPr/>
        </p:nvSpPr>
        <p:spPr>
          <a:xfrm>
            <a:off x="7159752" y="3374136"/>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520 KB</a:t>
            </a:r>
            <a:endParaRPr lang="en-US" sz="1300" dirty="0"/>
          </a:p>
        </p:txBody>
      </p:sp>
      <p:sp>
        <p:nvSpPr>
          <p:cNvPr id="19" name="Shape 17"/>
          <p:cNvSpPr/>
          <p:nvPr/>
        </p:nvSpPr>
        <p:spPr>
          <a:xfrm>
            <a:off x="685800" y="3753612"/>
            <a:ext cx="6172200" cy="406908"/>
          </a:xfrm>
          <a:prstGeom prst="rect">
            <a:avLst/>
          </a:prstGeom>
          <a:solidFill>
            <a:srgbClr val="F6F4F4"/>
          </a:solidFill>
          <a:ln w="6350">
            <a:solidFill>
              <a:srgbClr val="F6F4F4"/>
            </a:solidFill>
            <a:prstDash val="solid"/>
          </a:ln>
        </p:spPr>
      </p:sp>
      <p:sp>
        <p:nvSpPr>
          <p:cNvPr id="20" name="Text 18"/>
          <p:cNvSpPr/>
          <p:nvPr/>
        </p:nvSpPr>
        <p:spPr>
          <a:xfrm>
            <a:off x="685800" y="3817620"/>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플래시 메모리</a:t>
            </a:r>
            <a:endParaRPr lang="en-US" sz="1250" dirty="0"/>
          </a:p>
        </p:txBody>
      </p:sp>
      <p:sp>
        <p:nvSpPr>
          <p:cNvPr id="21" name="Text 19"/>
          <p:cNvSpPr/>
          <p:nvPr/>
        </p:nvSpPr>
        <p:spPr>
          <a:xfrm>
            <a:off x="3017520" y="3817620"/>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32 KB</a:t>
            </a:r>
            <a:endParaRPr lang="en-US" sz="1300" dirty="0"/>
          </a:p>
        </p:txBody>
      </p:sp>
      <p:sp>
        <p:nvSpPr>
          <p:cNvPr id="22" name="Text 20"/>
          <p:cNvSpPr/>
          <p:nvPr/>
        </p:nvSpPr>
        <p:spPr>
          <a:xfrm>
            <a:off x="7159752" y="3817620"/>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4 MB</a:t>
            </a:r>
            <a:endParaRPr lang="en-US" sz="1300" dirty="0"/>
          </a:p>
        </p:txBody>
      </p:sp>
      <p:sp>
        <p:nvSpPr>
          <p:cNvPr id="23" name="Text 21"/>
          <p:cNvSpPr/>
          <p:nvPr/>
        </p:nvSpPr>
        <p:spPr>
          <a:xfrm>
            <a:off x="685800" y="4261104"/>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GPIO</a:t>
            </a:r>
            <a:endParaRPr lang="en-US" sz="1250" dirty="0"/>
          </a:p>
        </p:txBody>
      </p:sp>
      <p:sp>
        <p:nvSpPr>
          <p:cNvPr id="24" name="Text 22"/>
          <p:cNvSpPr/>
          <p:nvPr/>
        </p:nvSpPr>
        <p:spPr>
          <a:xfrm>
            <a:off x="3017520" y="4261104"/>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20개 (디지털 14 + 아날로그 6)</a:t>
            </a:r>
            <a:endParaRPr lang="en-US" sz="1300" dirty="0"/>
          </a:p>
        </p:txBody>
      </p:sp>
      <p:sp>
        <p:nvSpPr>
          <p:cNvPr id="25" name="Text 23"/>
          <p:cNvSpPr/>
          <p:nvPr/>
        </p:nvSpPr>
        <p:spPr>
          <a:xfrm>
            <a:off x="7159752" y="4261104"/>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26개</a:t>
            </a:r>
            <a:endParaRPr lang="en-US" sz="1300" dirty="0"/>
          </a:p>
        </p:txBody>
      </p:sp>
      <p:sp>
        <p:nvSpPr>
          <p:cNvPr id="26" name="Shape 24"/>
          <p:cNvSpPr/>
          <p:nvPr/>
        </p:nvSpPr>
        <p:spPr>
          <a:xfrm>
            <a:off x="685800" y="4640580"/>
            <a:ext cx="6172200" cy="406908"/>
          </a:xfrm>
          <a:prstGeom prst="rect">
            <a:avLst/>
          </a:prstGeom>
          <a:solidFill>
            <a:srgbClr val="F6F4F4"/>
          </a:solidFill>
          <a:ln w="6350">
            <a:solidFill>
              <a:srgbClr val="F6F4F4"/>
            </a:solidFill>
            <a:prstDash val="solid"/>
          </a:ln>
        </p:spPr>
      </p:sp>
      <p:sp>
        <p:nvSpPr>
          <p:cNvPr id="27" name="Text 25"/>
          <p:cNvSpPr/>
          <p:nvPr/>
        </p:nvSpPr>
        <p:spPr>
          <a:xfrm>
            <a:off x="685800" y="4704588"/>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아날로그 입력</a:t>
            </a:r>
            <a:endParaRPr lang="en-US" sz="1250" dirty="0"/>
          </a:p>
        </p:txBody>
      </p:sp>
      <p:sp>
        <p:nvSpPr>
          <p:cNvPr id="28" name="Text 26"/>
          <p:cNvSpPr/>
          <p:nvPr/>
        </p:nvSpPr>
        <p:spPr>
          <a:xfrm>
            <a:off x="3017520" y="4704588"/>
            <a:ext cx="3794760" cy="292608"/>
          </a:xfrm>
          <a:prstGeom prst="rect">
            <a:avLst/>
          </a:prstGeom>
          <a:noFill/>
          <a:ln/>
        </p:spPr>
        <p:txBody>
          <a:bodyPr wrap="square" lIns="0" tIns="0" rIns="0" bIns="0" rtlCol="0" anchor="t"/>
          <a:lstStyle/>
          <a:p>
            <a:pPr indent="0" marL="0">
              <a:buNone/>
            </a:pPr>
            <a:r>
              <a:rPr lang="en-US" sz="1300" b="1" dirty="0">
                <a:solidFill>
                  <a:srgbClr val="2F3C7E"/>
                </a:solidFill>
                <a:latin typeface="맑은 고딕" pitchFamily="34" charset="0"/>
                <a:ea typeface="맑은 고딕" pitchFamily="34" charset="-122"/>
                <a:cs typeface="맑은 고딕" pitchFamily="34" charset="-120"/>
              </a:rPr>
              <a:t>6채널 · 10비트</a:t>
            </a:r>
            <a:endParaRPr lang="en-US" sz="1300" dirty="0"/>
          </a:p>
        </p:txBody>
      </p:sp>
      <p:sp>
        <p:nvSpPr>
          <p:cNvPr id="29" name="Text 27"/>
          <p:cNvSpPr/>
          <p:nvPr/>
        </p:nvSpPr>
        <p:spPr>
          <a:xfrm>
            <a:off x="7159752" y="4704588"/>
            <a:ext cx="4142232"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3채널 · 12비트</a:t>
            </a:r>
            <a:endParaRPr lang="en-US" sz="1300" dirty="0"/>
          </a:p>
        </p:txBody>
      </p:sp>
      <p:sp>
        <p:nvSpPr>
          <p:cNvPr id="30" name="Text 28"/>
          <p:cNvSpPr/>
          <p:nvPr/>
        </p:nvSpPr>
        <p:spPr>
          <a:xfrm>
            <a:off x="685800" y="5148072"/>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로직 전압</a:t>
            </a:r>
            <a:endParaRPr lang="en-US" sz="1250" dirty="0"/>
          </a:p>
        </p:txBody>
      </p:sp>
      <p:sp>
        <p:nvSpPr>
          <p:cNvPr id="31" name="Text 29"/>
          <p:cNvSpPr/>
          <p:nvPr/>
        </p:nvSpPr>
        <p:spPr>
          <a:xfrm>
            <a:off x="3017520" y="5148072"/>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5V</a:t>
            </a:r>
            <a:endParaRPr lang="en-US" sz="1300" dirty="0"/>
          </a:p>
        </p:txBody>
      </p:sp>
      <p:sp>
        <p:nvSpPr>
          <p:cNvPr id="32" name="Text 30"/>
          <p:cNvSpPr/>
          <p:nvPr/>
        </p:nvSpPr>
        <p:spPr>
          <a:xfrm>
            <a:off x="7159752" y="5148072"/>
            <a:ext cx="4142232"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3.3V</a:t>
            </a:r>
            <a:endParaRPr lang="en-US" sz="1300" dirty="0"/>
          </a:p>
        </p:txBody>
      </p:sp>
      <p:sp>
        <p:nvSpPr>
          <p:cNvPr id="33" name="Shape 31"/>
          <p:cNvSpPr/>
          <p:nvPr/>
        </p:nvSpPr>
        <p:spPr>
          <a:xfrm>
            <a:off x="685800" y="5527548"/>
            <a:ext cx="6172200" cy="406908"/>
          </a:xfrm>
          <a:prstGeom prst="rect">
            <a:avLst/>
          </a:prstGeom>
          <a:solidFill>
            <a:srgbClr val="F6F4F4"/>
          </a:solidFill>
          <a:ln w="6350">
            <a:solidFill>
              <a:srgbClr val="F6F4F4"/>
            </a:solidFill>
            <a:prstDash val="solid"/>
          </a:ln>
        </p:spPr>
      </p:sp>
      <p:sp>
        <p:nvSpPr>
          <p:cNvPr id="34" name="Text 32"/>
          <p:cNvSpPr/>
          <p:nvPr/>
        </p:nvSpPr>
        <p:spPr>
          <a:xfrm>
            <a:off x="685800" y="5591556"/>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무선 기능</a:t>
            </a:r>
            <a:endParaRPr lang="en-US" sz="1250" dirty="0"/>
          </a:p>
        </p:txBody>
      </p:sp>
      <p:sp>
        <p:nvSpPr>
          <p:cNvPr id="35" name="Text 33"/>
          <p:cNvSpPr/>
          <p:nvPr/>
        </p:nvSpPr>
        <p:spPr>
          <a:xfrm>
            <a:off x="3017520" y="5591556"/>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없음 (별도 모듈 필요)</a:t>
            </a:r>
            <a:endParaRPr lang="en-US" sz="1300" dirty="0"/>
          </a:p>
        </p:txBody>
      </p:sp>
      <p:sp>
        <p:nvSpPr>
          <p:cNvPr id="36" name="Text 34"/>
          <p:cNvSpPr/>
          <p:nvPr/>
        </p:nvSpPr>
        <p:spPr>
          <a:xfrm>
            <a:off x="7159752" y="5591556"/>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Wi-Fi + Bluetooth 5.2 내장</a:t>
            </a:r>
            <a:endParaRPr lang="en-US" sz="1300" dirty="0"/>
          </a:p>
        </p:txBody>
      </p:sp>
      <p:sp>
        <p:nvSpPr>
          <p:cNvPr id="37" name="Text 35"/>
          <p:cNvSpPr/>
          <p:nvPr/>
        </p:nvSpPr>
        <p:spPr>
          <a:xfrm>
            <a:off x="685800" y="6035040"/>
            <a:ext cx="2148840" cy="292608"/>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크기</a:t>
            </a:r>
            <a:endParaRPr lang="en-US" sz="1250" dirty="0"/>
          </a:p>
        </p:txBody>
      </p:sp>
      <p:sp>
        <p:nvSpPr>
          <p:cNvPr id="38" name="Text 36"/>
          <p:cNvSpPr/>
          <p:nvPr/>
        </p:nvSpPr>
        <p:spPr>
          <a:xfrm>
            <a:off x="3017520" y="6035040"/>
            <a:ext cx="3794760" cy="292608"/>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69 × 53 mm</a:t>
            </a:r>
            <a:endParaRPr lang="en-US" sz="1300" dirty="0"/>
          </a:p>
        </p:txBody>
      </p:sp>
      <p:sp>
        <p:nvSpPr>
          <p:cNvPr id="39" name="Text 37"/>
          <p:cNvSpPr/>
          <p:nvPr/>
        </p:nvSpPr>
        <p:spPr>
          <a:xfrm>
            <a:off x="7159752" y="6035040"/>
            <a:ext cx="4142232"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51 × 21 mm</a:t>
            </a:r>
            <a:endParaRPr lang="en-US" sz="1300" dirty="0"/>
          </a:p>
        </p:txBody>
      </p:sp>
      <p:sp>
        <p:nvSpPr>
          <p:cNvPr id="40" name="Text 38"/>
          <p:cNvSpPr/>
          <p:nvPr/>
        </p:nvSpPr>
        <p:spPr>
          <a:xfrm>
            <a:off x="685800" y="6473952"/>
            <a:ext cx="10789920" cy="274320"/>
          </a:xfrm>
          <a:prstGeom prst="rect">
            <a:avLst/>
          </a:prstGeom>
          <a:noFill/>
          <a:ln/>
        </p:spPr>
        <p:txBody>
          <a:bodyPr wrap="square" lIns="0" tIns="0" rIns="0" bIns="0" rtlCol="0" anchor="t"/>
          <a:lstStyle/>
          <a:p>
            <a:pPr indent="0" marL="0">
              <a:buNone/>
            </a:pPr>
            <a:r>
              <a:rPr lang="en-US" sz="1100" i="1" dirty="0">
                <a:solidFill>
                  <a:srgbClr val="6B7280"/>
                </a:solidFill>
                <a:latin typeface="맑은 고딕" pitchFamily="34" charset="0"/>
                <a:ea typeface="맑은 고딕" pitchFamily="34" charset="-122"/>
                <a:cs typeface="맑은 고딕" pitchFamily="34" charset="-120"/>
              </a:rPr>
              <a:t>파란 글씨는 UNO가 앞서는 항목입니다. 아날로그 입력 채널 수는 UNO가 더 많습니다.</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WHY PICO 2 W</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그래서 무엇을 할 수 있게 되나?</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숫자보다 중요한 것은 그 차이가 만들어 내는 결과입니다.</a:t>
            </a:r>
            <a:endParaRPr lang="en-US" sz="1500" dirty="0"/>
          </a:p>
        </p:txBody>
      </p:sp>
      <p:sp>
        <p:nvSpPr>
          <p:cNvPr id="5" name="Shape 3"/>
          <p:cNvSpPr/>
          <p:nvPr/>
        </p:nvSpPr>
        <p:spPr>
          <a:xfrm>
            <a:off x="685800" y="1965960"/>
            <a:ext cx="3520440" cy="3246120"/>
          </a:xfrm>
          <a:prstGeom prst="roundRect">
            <a:avLst>
              <a:gd name="adj" fmla="val 1972"/>
            </a:avLst>
          </a:prstGeom>
          <a:solidFill>
            <a:srgbClr val="FFFFFF"/>
          </a:solidFill>
          <a:ln w="19050">
            <a:solidFill>
              <a:srgbClr val="990011"/>
            </a:solidFill>
            <a:prstDash val="solid"/>
          </a:ln>
        </p:spPr>
      </p:sp>
      <p:sp>
        <p:nvSpPr>
          <p:cNvPr id="6" name="Text 4"/>
          <p:cNvSpPr/>
          <p:nvPr/>
        </p:nvSpPr>
        <p:spPr>
          <a:xfrm>
            <a:off x="960120" y="2240280"/>
            <a:ext cx="2971800" cy="457200"/>
          </a:xfrm>
          <a:prstGeom prst="rect">
            <a:avLst/>
          </a:prstGeom>
          <a:noFill/>
          <a:ln/>
        </p:spPr>
        <p:txBody>
          <a:bodyPr wrap="square" lIns="0" tIns="0" rIns="0" bIns="0" rtlCol="0" anchor="t"/>
          <a:lstStyle/>
          <a:p>
            <a:pPr indent="0" marL="0">
              <a:buNone/>
            </a:pPr>
            <a:r>
              <a:rPr lang="en-US" sz="2600" b="1" dirty="0">
                <a:solidFill>
                  <a:srgbClr val="990011"/>
                </a:solidFill>
                <a:latin typeface="맑은 고딕" pitchFamily="34" charset="0"/>
                <a:ea typeface="맑은 고딕" pitchFamily="34" charset="-122"/>
                <a:cs typeface="맑은 고딕" pitchFamily="34" charset="-120"/>
              </a:rPr>
              <a:t>선을 끊는다</a:t>
            </a:r>
            <a:endParaRPr lang="en-US" sz="2600" dirty="0"/>
          </a:p>
        </p:txBody>
      </p:sp>
      <p:sp>
        <p:nvSpPr>
          <p:cNvPr id="7" name="Text 5"/>
          <p:cNvSpPr/>
          <p:nvPr/>
        </p:nvSpPr>
        <p:spPr>
          <a:xfrm>
            <a:off x="960120" y="2743200"/>
            <a:ext cx="29718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무선이 기본</a:t>
            </a:r>
            <a:endParaRPr lang="en-US" sz="1500" dirty="0"/>
          </a:p>
        </p:txBody>
      </p:sp>
      <p:sp>
        <p:nvSpPr>
          <p:cNvPr id="8" name="Text 6"/>
          <p:cNvSpPr/>
          <p:nvPr/>
        </p:nvSpPr>
        <p:spPr>
          <a:xfrm>
            <a:off x="960120" y="3154680"/>
            <a:ext cx="2971800" cy="1371600"/>
          </a:xfrm>
          <a:prstGeom prst="rect">
            <a:avLst/>
          </a:prstGeom>
          <a:noFill/>
          <a:ln/>
        </p:spPr>
        <p:txBody>
          <a:bodyPr wrap="square" lIns="0" tIns="0" rIns="0" bIns="0" rtlCol="0" anchor="t"/>
          <a:lstStyle/>
          <a:p>
            <a:pPr indent="0" marL="0">
              <a:lnSpc>
                <a:spcPts val="1800"/>
              </a:lnSpc>
              <a:buNone/>
            </a:pPr>
            <a:r>
              <a:rPr lang="en-US" sz="1200" dirty="0">
                <a:solidFill>
                  <a:srgbClr val="6B7280"/>
                </a:solidFill>
                <a:latin typeface="맑은 고딕" pitchFamily="34" charset="0"/>
                <a:ea typeface="맑은 고딕" pitchFamily="34" charset="-122"/>
                <a:cs typeface="맑은 고딕" pitchFamily="34" charset="-120"/>
              </a:rPr>
              <a:t>UNO에서 무선을 쓰려면 별도 모듈을 사서 배선하고 라이브러리를 붙여야 했습니다. Pico 2 W는 보드에 내장되어 있어 코드 몇 줄이면 됩니다.</a:t>
            </a:r>
            <a:endParaRPr lang="en-US" sz="1200" dirty="0"/>
          </a:p>
        </p:txBody>
      </p:sp>
      <p:sp>
        <p:nvSpPr>
          <p:cNvPr id="9" name="Shape 7"/>
          <p:cNvSpPr/>
          <p:nvPr/>
        </p:nvSpPr>
        <p:spPr>
          <a:xfrm>
            <a:off x="960120" y="4453128"/>
            <a:ext cx="2971800" cy="0"/>
          </a:xfrm>
          <a:prstGeom prst="line">
            <a:avLst/>
          </a:prstGeom>
          <a:noFill/>
          <a:ln w="12700">
            <a:solidFill>
              <a:srgbClr val="DCD6D6"/>
            </a:solidFill>
            <a:prstDash val="solid"/>
          </a:ln>
        </p:spPr>
      </p:sp>
      <p:sp>
        <p:nvSpPr>
          <p:cNvPr id="10" name="Text 8"/>
          <p:cNvSpPr/>
          <p:nvPr/>
        </p:nvSpPr>
        <p:spPr>
          <a:xfrm>
            <a:off x="960120" y="4572000"/>
            <a:ext cx="2971800" cy="548640"/>
          </a:xfrm>
          <a:prstGeom prst="rect">
            <a:avLst/>
          </a:prstGeom>
          <a:noFill/>
          <a:ln/>
        </p:spPr>
        <p:txBody>
          <a:bodyPr wrap="square" lIns="0" tIns="0" rIns="0" bIns="0" rtlCol="0" anchor="t"/>
          <a:lstStyle/>
          <a:p>
            <a:pPr indent="0" marL="0">
              <a:lnSpc>
                <a:spcPts val="1700"/>
              </a:lnSpc>
              <a:buNone/>
            </a:pPr>
            <a:r>
              <a:rPr lang="en-US" sz="1200" b="1" dirty="0">
                <a:solidFill>
                  <a:srgbClr val="990011"/>
                </a:solidFill>
                <a:latin typeface="맑은 고딕" pitchFamily="34" charset="0"/>
                <a:ea typeface="맑은 고딕" pitchFamily="34" charset="-122"/>
                <a:cs typeface="맑은 고딕" pitchFamily="34" charset="-120"/>
              </a:rPr>
              <a:t>스마트폰으로 장치를 제어하고, 센서값을 웹에서 확인</a:t>
            </a:r>
            <a:endParaRPr lang="en-US" sz="1200" dirty="0"/>
          </a:p>
        </p:txBody>
      </p:sp>
      <p:sp>
        <p:nvSpPr>
          <p:cNvPr id="11" name="Shape 9"/>
          <p:cNvSpPr/>
          <p:nvPr/>
        </p:nvSpPr>
        <p:spPr>
          <a:xfrm>
            <a:off x="4352544" y="1965960"/>
            <a:ext cx="3520440" cy="3246120"/>
          </a:xfrm>
          <a:prstGeom prst="roundRect">
            <a:avLst>
              <a:gd name="adj" fmla="val 1972"/>
            </a:avLst>
          </a:prstGeom>
          <a:solidFill>
            <a:srgbClr val="FFFFFF"/>
          </a:solidFill>
          <a:ln w="19050">
            <a:solidFill>
              <a:srgbClr val="990011"/>
            </a:solidFill>
            <a:prstDash val="solid"/>
          </a:ln>
        </p:spPr>
      </p:sp>
      <p:sp>
        <p:nvSpPr>
          <p:cNvPr id="12" name="Text 10"/>
          <p:cNvSpPr/>
          <p:nvPr/>
        </p:nvSpPr>
        <p:spPr>
          <a:xfrm>
            <a:off x="4626864" y="2240280"/>
            <a:ext cx="2971800" cy="457200"/>
          </a:xfrm>
          <a:prstGeom prst="rect">
            <a:avLst/>
          </a:prstGeom>
          <a:noFill/>
          <a:ln/>
        </p:spPr>
        <p:txBody>
          <a:bodyPr wrap="square" lIns="0" tIns="0" rIns="0" bIns="0" rtlCol="0" anchor="t"/>
          <a:lstStyle/>
          <a:p>
            <a:pPr indent="0" marL="0">
              <a:buNone/>
            </a:pPr>
            <a:r>
              <a:rPr lang="en-US" sz="2600" b="1" dirty="0">
                <a:solidFill>
                  <a:srgbClr val="990011"/>
                </a:solidFill>
                <a:latin typeface="맑은 고딕" pitchFamily="34" charset="0"/>
                <a:ea typeface="맑은 고딕" pitchFamily="34" charset="-122"/>
                <a:cs typeface="맑은 고딕" pitchFamily="34" charset="-120"/>
              </a:rPr>
              <a:t>260배</a:t>
            </a:r>
            <a:endParaRPr lang="en-US" sz="2600" dirty="0"/>
          </a:p>
        </p:txBody>
      </p:sp>
      <p:sp>
        <p:nvSpPr>
          <p:cNvPr id="13" name="Text 11"/>
          <p:cNvSpPr/>
          <p:nvPr/>
        </p:nvSpPr>
        <p:spPr>
          <a:xfrm>
            <a:off x="4626864" y="2743200"/>
            <a:ext cx="29718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넉넉한 메모리</a:t>
            </a:r>
            <a:endParaRPr lang="en-US" sz="1500" dirty="0"/>
          </a:p>
        </p:txBody>
      </p:sp>
      <p:sp>
        <p:nvSpPr>
          <p:cNvPr id="14" name="Text 12"/>
          <p:cNvSpPr/>
          <p:nvPr/>
        </p:nvSpPr>
        <p:spPr>
          <a:xfrm>
            <a:off x="4626864" y="3154680"/>
            <a:ext cx="2971800" cy="1371600"/>
          </a:xfrm>
          <a:prstGeom prst="rect">
            <a:avLst/>
          </a:prstGeom>
          <a:noFill/>
          <a:ln/>
        </p:spPr>
        <p:txBody>
          <a:bodyPr wrap="square" lIns="0" tIns="0" rIns="0" bIns="0" rtlCol="0" anchor="t"/>
          <a:lstStyle/>
          <a:p>
            <a:pPr indent="0" marL="0">
              <a:lnSpc>
                <a:spcPts val="1800"/>
              </a:lnSpc>
              <a:buNone/>
            </a:pPr>
            <a:r>
              <a:rPr lang="en-US" sz="1200" dirty="0">
                <a:solidFill>
                  <a:srgbClr val="6B7280"/>
                </a:solidFill>
                <a:latin typeface="맑은 고딕" pitchFamily="34" charset="0"/>
                <a:ea typeface="맑은 고딕" pitchFamily="34" charset="-122"/>
                <a:cs typeface="맑은 고딕" pitchFamily="34" charset="-120"/>
              </a:rPr>
              <a:t>SRAM이 2KB에서 520KB로 늘었습니다. UNO에서는 문자열 몇 개만 써도 메모리가 부족했지만, 이제는 웹 페이지를 통째로 담을 수 있습니다.</a:t>
            </a:r>
            <a:endParaRPr lang="en-US" sz="1200" dirty="0"/>
          </a:p>
        </p:txBody>
      </p:sp>
      <p:sp>
        <p:nvSpPr>
          <p:cNvPr id="15" name="Shape 13"/>
          <p:cNvSpPr/>
          <p:nvPr/>
        </p:nvSpPr>
        <p:spPr>
          <a:xfrm>
            <a:off x="4626864" y="4453128"/>
            <a:ext cx="2971800" cy="0"/>
          </a:xfrm>
          <a:prstGeom prst="line">
            <a:avLst/>
          </a:prstGeom>
          <a:noFill/>
          <a:ln w="12700">
            <a:solidFill>
              <a:srgbClr val="DCD6D6"/>
            </a:solidFill>
            <a:prstDash val="solid"/>
          </a:ln>
        </p:spPr>
      </p:sp>
      <p:sp>
        <p:nvSpPr>
          <p:cNvPr id="16" name="Text 14"/>
          <p:cNvSpPr/>
          <p:nvPr/>
        </p:nvSpPr>
        <p:spPr>
          <a:xfrm>
            <a:off x="4626864" y="4572000"/>
            <a:ext cx="2971800" cy="548640"/>
          </a:xfrm>
          <a:prstGeom prst="rect">
            <a:avLst/>
          </a:prstGeom>
          <a:noFill/>
          <a:ln/>
        </p:spPr>
        <p:txBody>
          <a:bodyPr wrap="square" lIns="0" tIns="0" rIns="0" bIns="0" rtlCol="0" anchor="t"/>
          <a:lstStyle/>
          <a:p>
            <a:pPr indent="0" marL="0">
              <a:lnSpc>
                <a:spcPts val="1700"/>
              </a:lnSpc>
              <a:buNone/>
            </a:pPr>
            <a:r>
              <a:rPr lang="en-US" sz="1200" b="1" dirty="0">
                <a:solidFill>
                  <a:srgbClr val="990011"/>
                </a:solidFill>
                <a:latin typeface="맑은 고딕" pitchFamily="34" charset="0"/>
                <a:ea typeface="맑은 고딕" pitchFamily="34" charset="-122"/>
                <a:cs typeface="맑은 고딕" pitchFamily="34" charset="-120"/>
              </a:rPr>
              <a:t>보드 안에서 웹 서버 실행, 여러 센서 동시 처리</a:t>
            </a:r>
            <a:endParaRPr lang="en-US" sz="1200" dirty="0"/>
          </a:p>
        </p:txBody>
      </p:sp>
      <p:sp>
        <p:nvSpPr>
          <p:cNvPr id="17" name="Shape 15"/>
          <p:cNvSpPr/>
          <p:nvPr/>
        </p:nvSpPr>
        <p:spPr>
          <a:xfrm>
            <a:off x="8019288" y="1965960"/>
            <a:ext cx="3520440" cy="3246120"/>
          </a:xfrm>
          <a:prstGeom prst="roundRect">
            <a:avLst>
              <a:gd name="adj" fmla="val 1972"/>
            </a:avLst>
          </a:prstGeom>
          <a:solidFill>
            <a:srgbClr val="FFFFFF"/>
          </a:solidFill>
          <a:ln w="19050">
            <a:solidFill>
              <a:srgbClr val="990011"/>
            </a:solidFill>
            <a:prstDash val="solid"/>
          </a:ln>
        </p:spPr>
      </p:sp>
      <p:sp>
        <p:nvSpPr>
          <p:cNvPr id="18" name="Text 16"/>
          <p:cNvSpPr/>
          <p:nvPr/>
        </p:nvSpPr>
        <p:spPr>
          <a:xfrm>
            <a:off x="8293608" y="2240280"/>
            <a:ext cx="2971800" cy="457200"/>
          </a:xfrm>
          <a:prstGeom prst="rect">
            <a:avLst/>
          </a:prstGeom>
          <a:noFill/>
          <a:ln/>
        </p:spPr>
        <p:txBody>
          <a:bodyPr wrap="square" lIns="0" tIns="0" rIns="0" bIns="0" rtlCol="0" anchor="t"/>
          <a:lstStyle/>
          <a:p>
            <a:pPr indent="0" marL="0">
              <a:buNone/>
            </a:pPr>
            <a:r>
              <a:rPr lang="en-US" sz="2600" b="1" dirty="0">
                <a:solidFill>
                  <a:srgbClr val="990011"/>
                </a:solidFill>
                <a:latin typeface="맑은 고딕" pitchFamily="34" charset="0"/>
                <a:ea typeface="맑은 고딕" pitchFamily="34" charset="-122"/>
                <a:cs typeface="맑은 고딕" pitchFamily="34" charset="-120"/>
              </a:rPr>
              <a:t>즉시 실행</a:t>
            </a:r>
            <a:endParaRPr lang="en-US" sz="2600" dirty="0"/>
          </a:p>
        </p:txBody>
      </p:sp>
      <p:sp>
        <p:nvSpPr>
          <p:cNvPr id="19" name="Text 17"/>
          <p:cNvSpPr/>
          <p:nvPr/>
        </p:nvSpPr>
        <p:spPr>
          <a:xfrm>
            <a:off x="8293608" y="2743200"/>
            <a:ext cx="29718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빠른 개발</a:t>
            </a:r>
            <a:endParaRPr lang="en-US" sz="1500" dirty="0"/>
          </a:p>
        </p:txBody>
      </p:sp>
      <p:sp>
        <p:nvSpPr>
          <p:cNvPr id="20" name="Text 18"/>
          <p:cNvSpPr/>
          <p:nvPr/>
        </p:nvSpPr>
        <p:spPr>
          <a:xfrm>
            <a:off x="8293608" y="3154680"/>
            <a:ext cx="2971800" cy="1371600"/>
          </a:xfrm>
          <a:prstGeom prst="rect">
            <a:avLst/>
          </a:prstGeom>
          <a:noFill/>
          <a:ln/>
        </p:spPr>
        <p:txBody>
          <a:bodyPr wrap="square" lIns="0" tIns="0" rIns="0" bIns="0" rtlCol="0" anchor="t"/>
          <a:lstStyle/>
          <a:p>
            <a:pPr indent="0" marL="0">
              <a:lnSpc>
                <a:spcPts val="1800"/>
              </a:lnSpc>
              <a:buNone/>
            </a:pPr>
            <a:r>
              <a:rPr lang="en-US" sz="1200" dirty="0">
                <a:solidFill>
                  <a:srgbClr val="6B7280"/>
                </a:solidFill>
                <a:latin typeface="맑은 고딕" pitchFamily="34" charset="0"/>
                <a:ea typeface="맑은 고딕" pitchFamily="34" charset="-122"/>
                <a:cs typeface="맑은 고딕" pitchFamily="34" charset="-120"/>
              </a:rPr>
              <a:t>UNO는 코드를 고칠 때마다 컴파일하고 업로드해야 했습니다. MicroPython은 저장하면 바로 실행되고, 한 줄씩 테스트해 볼 수도 있습니다.</a:t>
            </a:r>
            <a:endParaRPr lang="en-US" sz="1200" dirty="0"/>
          </a:p>
        </p:txBody>
      </p:sp>
      <p:sp>
        <p:nvSpPr>
          <p:cNvPr id="21" name="Shape 19"/>
          <p:cNvSpPr/>
          <p:nvPr/>
        </p:nvSpPr>
        <p:spPr>
          <a:xfrm>
            <a:off x="8293608" y="4453128"/>
            <a:ext cx="2971800" cy="0"/>
          </a:xfrm>
          <a:prstGeom prst="line">
            <a:avLst/>
          </a:prstGeom>
          <a:noFill/>
          <a:ln w="12700">
            <a:solidFill>
              <a:srgbClr val="DCD6D6"/>
            </a:solidFill>
            <a:prstDash val="solid"/>
          </a:ln>
        </p:spPr>
      </p:sp>
      <p:sp>
        <p:nvSpPr>
          <p:cNvPr id="22" name="Text 20"/>
          <p:cNvSpPr/>
          <p:nvPr/>
        </p:nvSpPr>
        <p:spPr>
          <a:xfrm>
            <a:off x="8293608" y="4572000"/>
            <a:ext cx="2971800" cy="548640"/>
          </a:xfrm>
          <a:prstGeom prst="rect">
            <a:avLst/>
          </a:prstGeom>
          <a:noFill/>
          <a:ln/>
        </p:spPr>
        <p:txBody>
          <a:bodyPr wrap="square" lIns="0" tIns="0" rIns="0" bIns="0" rtlCol="0" anchor="t"/>
          <a:lstStyle/>
          <a:p>
            <a:pPr indent="0" marL="0">
              <a:lnSpc>
                <a:spcPts val="1700"/>
              </a:lnSpc>
              <a:buNone/>
            </a:pPr>
            <a:r>
              <a:rPr lang="en-US" sz="1200" b="1" dirty="0">
                <a:solidFill>
                  <a:srgbClr val="990011"/>
                </a:solidFill>
                <a:latin typeface="맑은 고딕" pitchFamily="34" charset="0"/>
                <a:ea typeface="맑은 고딕" pitchFamily="34" charset="-122"/>
                <a:cs typeface="맑은 고딕" pitchFamily="34" charset="-120"/>
              </a:rPr>
              <a:t>시행착오가 빨라지고, 오류 원인을 찾기 쉬워짐</a:t>
            </a:r>
            <a:endParaRPr lang="en-US" sz="1200" dirty="0"/>
          </a:p>
        </p:txBody>
      </p:sp>
      <p:sp>
        <p:nvSpPr>
          <p:cNvPr id="23" name="Shape 21"/>
          <p:cNvSpPr/>
          <p:nvPr/>
        </p:nvSpPr>
        <p:spPr>
          <a:xfrm>
            <a:off x="685800" y="5440680"/>
            <a:ext cx="10817352" cy="1051560"/>
          </a:xfrm>
          <a:prstGeom prst="roundRect">
            <a:avLst>
              <a:gd name="adj" fmla="val 5217"/>
            </a:avLst>
          </a:prstGeom>
          <a:solidFill>
            <a:srgbClr val="F7F2F2"/>
          </a:solidFill>
          <a:ln w="12700">
            <a:solidFill>
              <a:srgbClr val="DCD6D6"/>
            </a:solidFill>
            <a:prstDash val="solid"/>
          </a:ln>
        </p:spPr>
      </p:sp>
      <p:sp>
        <p:nvSpPr>
          <p:cNvPr id="24" name="Text 22"/>
          <p:cNvSpPr/>
          <p:nvPr/>
        </p:nvSpPr>
        <p:spPr>
          <a:xfrm>
            <a:off x="1051560" y="5605272"/>
            <a:ext cx="5486400" cy="292608"/>
          </a:xfrm>
          <a:prstGeom prst="rect">
            <a:avLst/>
          </a:prstGeom>
          <a:noFill/>
          <a:ln/>
        </p:spPr>
        <p:txBody>
          <a:bodyPr wrap="square" lIns="0" tIns="0" rIns="0" bIns="0" rtlCol="0" anchor="t"/>
          <a:lstStyle/>
          <a:p>
            <a:pPr indent="0" marL="0">
              <a:buNone/>
            </a:pPr>
            <a:r>
              <a:rPr lang="en-US" sz="1400" b="1" dirty="0">
                <a:solidFill>
                  <a:srgbClr val="2F3C7E"/>
                </a:solidFill>
                <a:latin typeface="맑은 고딕" pitchFamily="34" charset="0"/>
                <a:ea typeface="맑은 고딕" pitchFamily="34" charset="-122"/>
                <a:cs typeface="맑은 고딕" pitchFamily="34" charset="-120"/>
              </a:rPr>
              <a:t>그렇다고 UNO가 뒤떨어진 보드는 아닙니다</a:t>
            </a:r>
            <a:endParaRPr lang="en-US" sz="1400" dirty="0"/>
          </a:p>
        </p:txBody>
      </p:sp>
      <p:sp>
        <p:nvSpPr>
          <p:cNvPr id="25" name="Text 23"/>
          <p:cNvSpPr/>
          <p:nvPr/>
        </p:nvSpPr>
        <p:spPr>
          <a:xfrm>
            <a:off x="1051560" y="5925312"/>
            <a:ext cx="10058400" cy="329184"/>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UNO는 5V로 동작해 5V 부품을 그대로 연결할 수 있고, 전기적으로 더 튼튼하며, 확장 실드 생태계가 넓습니다. 목적에 따라 고르는 것이지 우열이 아닙니다.</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ANATOMY</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보드 구조 살펴보기</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실물 보드를 들고 아래 일곱 곳을 직접 찾아봅시다.</a:t>
            </a:r>
            <a:endParaRPr lang="en-US" sz="1500" dirty="0"/>
          </a:p>
        </p:txBody>
      </p:sp>
      <p:sp>
        <p:nvSpPr>
          <p:cNvPr id="5" name="Shape 3"/>
          <p:cNvSpPr/>
          <p:nvPr/>
        </p:nvSpPr>
        <p:spPr>
          <a:xfrm>
            <a:off x="3305556" y="1810512"/>
            <a:ext cx="5577840" cy="2276669"/>
          </a:xfrm>
          <a:prstGeom prst="roundRect">
            <a:avLst>
              <a:gd name="adj" fmla="val 4016"/>
            </a:avLst>
          </a:prstGeom>
          <a:solidFill>
            <a:srgbClr val="23272B"/>
          </a:solidFill>
          <a:ln w="12700">
            <a:solidFill>
              <a:srgbClr val="0E1113"/>
            </a:solidFill>
            <a:prstDash val="solid"/>
          </a:ln>
        </p:spPr>
      </p:sp>
      <p:sp>
        <p:nvSpPr>
          <p:cNvPr id="6" name="Shape 4"/>
          <p:cNvSpPr/>
          <p:nvPr/>
        </p:nvSpPr>
        <p:spPr>
          <a:xfrm>
            <a:off x="3238622" y="2630113"/>
            <a:ext cx="418338" cy="637467"/>
          </a:xfrm>
          <a:prstGeom prst="roundRect">
            <a:avLst>
              <a:gd name="adj" fmla="val 10929"/>
            </a:avLst>
          </a:prstGeom>
          <a:solidFill>
            <a:srgbClr val="B9BEC4"/>
          </a:solidFill>
          <a:ln w="6350">
            <a:solidFill>
              <a:srgbClr val="8A9097"/>
            </a:solidFill>
            <a:prstDash val="solid"/>
          </a:ln>
        </p:spPr>
      </p:sp>
      <p:sp>
        <p:nvSpPr>
          <p:cNvPr id="7" name="Shape 5"/>
          <p:cNvSpPr/>
          <p:nvPr/>
        </p:nvSpPr>
        <p:spPr>
          <a:xfrm>
            <a:off x="5536692" y="2470746"/>
            <a:ext cx="956201" cy="956201"/>
          </a:xfrm>
          <a:prstGeom prst="rect">
            <a:avLst/>
          </a:prstGeom>
          <a:solidFill>
            <a:srgbClr val="0E1113"/>
          </a:solidFill>
          <a:ln w="9525">
            <a:solidFill>
              <a:srgbClr val="3A4046"/>
            </a:solidFill>
            <a:prstDash val="solid"/>
          </a:ln>
        </p:spPr>
      </p:sp>
      <p:sp>
        <p:nvSpPr>
          <p:cNvPr id="8" name="Text 6"/>
          <p:cNvSpPr/>
          <p:nvPr/>
        </p:nvSpPr>
        <p:spPr>
          <a:xfrm>
            <a:off x="5536692" y="2470746"/>
            <a:ext cx="956201" cy="956201"/>
          </a:xfrm>
          <a:prstGeom prst="rect">
            <a:avLst/>
          </a:prstGeom>
          <a:noFill/>
          <a:ln/>
        </p:spPr>
        <p:txBody>
          <a:bodyPr wrap="square" lIns="0" tIns="0" rIns="0" bIns="0" rtlCol="0" anchor="ctr"/>
          <a:lstStyle/>
          <a:p>
            <a:pPr algn="ctr" indent="0" marL="0">
              <a:buNone/>
            </a:pPr>
            <a:r>
              <a:rPr lang="en-US" sz="600" dirty="0">
                <a:solidFill>
                  <a:srgbClr val="9AA0A6"/>
                </a:solidFill>
                <a:latin typeface="Arial" pitchFamily="34" charset="0"/>
                <a:ea typeface="Arial" pitchFamily="34" charset="-122"/>
                <a:cs typeface="Arial" pitchFamily="34" charset="-120"/>
              </a:rPr>
              <a:t>RP2350</a:t>
            </a:r>
            <a:endParaRPr lang="en-US" sz="600" dirty="0"/>
          </a:p>
        </p:txBody>
      </p:sp>
      <p:sp>
        <p:nvSpPr>
          <p:cNvPr id="9" name="Shape 7"/>
          <p:cNvSpPr/>
          <p:nvPr/>
        </p:nvSpPr>
        <p:spPr>
          <a:xfrm>
            <a:off x="6652260" y="2447979"/>
            <a:ext cx="613562" cy="1001735"/>
          </a:xfrm>
          <a:prstGeom prst="rect">
            <a:avLst/>
          </a:prstGeom>
          <a:solidFill>
            <a:srgbClr val="3A4046"/>
          </a:solidFill>
          <a:ln w="6350">
            <a:solidFill>
              <a:srgbClr val="50565C"/>
            </a:solidFill>
            <a:prstDash val="solid"/>
          </a:ln>
        </p:spPr>
      </p:sp>
      <p:sp>
        <p:nvSpPr>
          <p:cNvPr id="10" name="Shape 8"/>
          <p:cNvSpPr/>
          <p:nvPr/>
        </p:nvSpPr>
        <p:spPr>
          <a:xfrm>
            <a:off x="8074609" y="2265846"/>
            <a:ext cx="557784" cy="1366002"/>
          </a:xfrm>
          <a:prstGeom prst="rect">
            <a:avLst/>
          </a:prstGeom>
          <a:solidFill>
            <a:srgbClr val="C8A24A"/>
          </a:solidFill>
          <a:ln w="12700">
            <a:solidFill>
              <a:srgbClr val="C8A24A"/>
            </a:solidFill>
            <a:prstDash val="solid"/>
          </a:ln>
        </p:spPr>
      </p:sp>
      <p:sp>
        <p:nvSpPr>
          <p:cNvPr id="11" name="Shape 9"/>
          <p:cNvSpPr/>
          <p:nvPr/>
        </p:nvSpPr>
        <p:spPr>
          <a:xfrm>
            <a:off x="4672127" y="2675646"/>
            <a:ext cx="306781" cy="546401"/>
          </a:xfrm>
          <a:prstGeom prst="roundRect">
            <a:avLst>
              <a:gd name="adj" fmla="val 8942"/>
            </a:avLst>
          </a:prstGeom>
          <a:solidFill>
            <a:srgbClr val="6B7280"/>
          </a:solidFill>
          <a:ln w="12700">
            <a:solidFill>
              <a:srgbClr val="6B7280"/>
            </a:solidFill>
            <a:prstDash val="solid"/>
          </a:ln>
        </p:spPr>
      </p:sp>
      <p:sp>
        <p:nvSpPr>
          <p:cNvPr id="12" name="Shape 10"/>
          <p:cNvSpPr/>
          <p:nvPr/>
        </p:nvSpPr>
        <p:spPr>
          <a:xfrm>
            <a:off x="7516825" y="2812247"/>
            <a:ext cx="122712" cy="122712"/>
          </a:xfrm>
          <a:prstGeom prst="ellipse">
            <a:avLst/>
          </a:prstGeom>
          <a:solidFill>
            <a:srgbClr val="63E06B"/>
          </a:solidFill>
          <a:ln w="12700">
            <a:solidFill>
              <a:srgbClr val="63E06B"/>
            </a:solidFill>
            <a:prstDash val="solid"/>
          </a:ln>
        </p:spPr>
      </p:sp>
      <p:sp>
        <p:nvSpPr>
          <p:cNvPr id="13" name="Shape 11"/>
          <p:cNvSpPr/>
          <p:nvPr/>
        </p:nvSpPr>
        <p:spPr>
          <a:xfrm>
            <a:off x="3556559" y="1912962"/>
            <a:ext cx="105979" cy="105979"/>
          </a:xfrm>
          <a:prstGeom prst="ellipse">
            <a:avLst/>
          </a:prstGeom>
          <a:solidFill>
            <a:srgbClr val="D8C089"/>
          </a:solidFill>
          <a:ln w="5080">
            <a:solidFill>
              <a:srgbClr val="8A7238"/>
            </a:solidFill>
            <a:prstDash val="solid"/>
          </a:ln>
        </p:spPr>
      </p:sp>
      <p:sp>
        <p:nvSpPr>
          <p:cNvPr id="14" name="Shape 12"/>
          <p:cNvSpPr/>
          <p:nvPr/>
        </p:nvSpPr>
        <p:spPr>
          <a:xfrm>
            <a:off x="3556559" y="3878752"/>
            <a:ext cx="105979" cy="105979"/>
          </a:xfrm>
          <a:prstGeom prst="ellipse">
            <a:avLst/>
          </a:prstGeom>
          <a:solidFill>
            <a:srgbClr val="D8C089"/>
          </a:solidFill>
          <a:ln w="5080">
            <a:solidFill>
              <a:srgbClr val="8A7238"/>
            </a:solidFill>
            <a:prstDash val="solid"/>
          </a:ln>
        </p:spPr>
      </p:sp>
      <p:sp>
        <p:nvSpPr>
          <p:cNvPr id="15" name="Shape 13"/>
          <p:cNvSpPr/>
          <p:nvPr/>
        </p:nvSpPr>
        <p:spPr>
          <a:xfrm>
            <a:off x="3818130" y="1912962"/>
            <a:ext cx="105979" cy="105979"/>
          </a:xfrm>
          <a:prstGeom prst="ellipse">
            <a:avLst/>
          </a:prstGeom>
          <a:solidFill>
            <a:srgbClr val="D8C089"/>
          </a:solidFill>
          <a:ln w="5080">
            <a:solidFill>
              <a:srgbClr val="8A7238"/>
            </a:solidFill>
            <a:prstDash val="solid"/>
          </a:ln>
        </p:spPr>
      </p:sp>
      <p:sp>
        <p:nvSpPr>
          <p:cNvPr id="16" name="Shape 14"/>
          <p:cNvSpPr/>
          <p:nvPr/>
        </p:nvSpPr>
        <p:spPr>
          <a:xfrm>
            <a:off x="3818130" y="3878752"/>
            <a:ext cx="105979" cy="105979"/>
          </a:xfrm>
          <a:prstGeom prst="ellipse">
            <a:avLst/>
          </a:prstGeom>
          <a:solidFill>
            <a:srgbClr val="D8C089"/>
          </a:solidFill>
          <a:ln w="5080">
            <a:solidFill>
              <a:srgbClr val="8A7238"/>
            </a:solidFill>
            <a:prstDash val="solid"/>
          </a:ln>
        </p:spPr>
      </p:sp>
      <p:sp>
        <p:nvSpPr>
          <p:cNvPr id="17" name="Shape 15"/>
          <p:cNvSpPr/>
          <p:nvPr/>
        </p:nvSpPr>
        <p:spPr>
          <a:xfrm>
            <a:off x="4079701" y="1912962"/>
            <a:ext cx="105979" cy="105979"/>
          </a:xfrm>
          <a:prstGeom prst="ellipse">
            <a:avLst/>
          </a:prstGeom>
          <a:solidFill>
            <a:srgbClr val="D8C089"/>
          </a:solidFill>
          <a:ln w="5080">
            <a:solidFill>
              <a:srgbClr val="8A7238"/>
            </a:solidFill>
            <a:prstDash val="solid"/>
          </a:ln>
        </p:spPr>
      </p:sp>
      <p:sp>
        <p:nvSpPr>
          <p:cNvPr id="18" name="Shape 16"/>
          <p:cNvSpPr/>
          <p:nvPr/>
        </p:nvSpPr>
        <p:spPr>
          <a:xfrm>
            <a:off x="4079701" y="3878752"/>
            <a:ext cx="105979" cy="105979"/>
          </a:xfrm>
          <a:prstGeom prst="ellipse">
            <a:avLst/>
          </a:prstGeom>
          <a:solidFill>
            <a:srgbClr val="D8C089"/>
          </a:solidFill>
          <a:ln w="5080">
            <a:solidFill>
              <a:srgbClr val="8A7238"/>
            </a:solidFill>
            <a:prstDash val="solid"/>
          </a:ln>
        </p:spPr>
      </p:sp>
      <p:sp>
        <p:nvSpPr>
          <p:cNvPr id="19" name="Shape 17"/>
          <p:cNvSpPr/>
          <p:nvPr/>
        </p:nvSpPr>
        <p:spPr>
          <a:xfrm>
            <a:off x="4341273" y="1912962"/>
            <a:ext cx="105979" cy="105979"/>
          </a:xfrm>
          <a:prstGeom prst="ellipse">
            <a:avLst/>
          </a:prstGeom>
          <a:solidFill>
            <a:srgbClr val="D8C089"/>
          </a:solidFill>
          <a:ln w="5080">
            <a:solidFill>
              <a:srgbClr val="8A7238"/>
            </a:solidFill>
            <a:prstDash val="solid"/>
          </a:ln>
        </p:spPr>
      </p:sp>
      <p:sp>
        <p:nvSpPr>
          <p:cNvPr id="20" name="Shape 18"/>
          <p:cNvSpPr/>
          <p:nvPr/>
        </p:nvSpPr>
        <p:spPr>
          <a:xfrm>
            <a:off x="4341273" y="3878752"/>
            <a:ext cx="105979" cy="105979"/>
          </a:xfrm>
          <a:prstGeom prst="ellipse">
            <a:avLst/>
          </a:prstGeom>
          <a:solidFill>
            <a:srgbClr val="D8C089"/>
          </a:solidFill>
          <a:ln w="5080">
            <a:solidFill>
              <a:srgbClr val="8A7238"/>
            </a:solidFill>
            <a:prstDash val="solid"/>
          </a:ln>
        </p:spPr>
      </p:sp>
      <p:sp>
        <p:nvSpPr>
          <p:cNvPr id="21" name="Shape 19"/>
          <p:cNvSpPr/>
          <p:nvPr/>
        </p:nvSpPr>
        <p:spPr>
          <a:xfrm>
            <a:off x="4602844" y="1912962"/>
            <a:ext cx="105979" cy="105979"/>
          </a:xfrm>
          <a:prstGeom prst="ellipse">
            <a:avLst/>
          </a:prstGeom>
          <a:solidFill>
            <a:srgbClr val="D8C089"/>
          </a:solidFill>
          <a:ln w="5080">
            <a:solidFill>
              <a:srgbClr val="8A7238"/>
            </a:solidFill>
            <a:prstDash val="solid"/>
          </a:ln>
        </p:spPr>
      </p:sp>
      <p:sp>
        <p:nvSpPr>
          <p:cNvPr id="22" name="Shape 20"/>
          <p:cNvSpPr/>
          <p:nvPr/>
        </p:nvSpPr>
        <p:spPr>
          <a:xfrm>
            <a:off x="4602844" y="3878752"/>
            <a:ext cx="105979" cy="105979"/>
          </a:xfrm>
          <a:prstGeom prst="ellipse">
            <a:avLst/>
          </a:prstGeom>
          <a:solidFill>
            <a:srgbClr val="D8C089"/>
          </a:solidFill>
          <a:ln w="5080">
            <a:solidFill>
              <a:srgbClr val="8A7238"/>
            </a:solidFill>
            <a:prstDash val="solid"/>
          </a:ln>
        </p:spPr>
      </p:sp>
      <p:sp>
        <p:nvSpPr>
          <p:cNvPr id="23" name="Shape 21"/>
          <p:cNvSpPr/>
          <p:nvPr/>
        </p:nvSpPr>
        <p:spPr>
          <a:xfrm>
            <a:off x="4864415" y="1912962"/>
            <a:ext cx="105979" cy="105979"/>
          </a:xfrm>
          <a:prstGeom prst="ellipse">
            <a:avLst/>
          </a:prstGeom>
          <a:solidFill>
            <a:srgbClr val="D8C089"/>
          </a:solidFill>
          <a:ln w="5080">
            <a:solidFill>
              <a:srgbClr val="8A7238"/>
            </a:solidFill>
            <a:prstDash val="solid"/>
          </a:ln>
        </p:spPr>
      </p:sp>
      <p:sp>
        <p:nvSpPr>
          <p:cNvPr id="24" name="Shape 22"/>
          <p:cNvSpPr/>
          <p:nvPr/>
        </p:nvSpPr>
        <p:spPr>
          <a:xfrm>
            <a:off x="4864415" y="3878752"/>
            <a:ext cx="105979" cy="105979"/>
          </a:xfrm>
          <a:prstGeom prst="ellipse">
            <a:avLst/>
          </a:prstGeom>
          <a:solidFill>
            <a:srgbClr val="D8C089"/>
          </a:solidFill>
          <a:ln w="5080">
            <a:solidFill>
              <a:srgbClr val="8A7238"/>
            </a:solidFill>
            <a:prstDash val="solid"/>
          </a:ln>
        </p:spPr>
      </p:sp>
      <p:sp>
        <p:nvSpPr>
          <p:cNvPr id="25" name="Shape 23"/>
          <p:cNvSpPr/>
          <p:nvPr/>
        </p:nvSpPr>
        <p:spPr>
          <a:xfrm>
            <a:off x="5125987" y="1912962"/>
            <a:ext cx="105979" cy="105979"/>
          </a:xfrm>
          <a:prstGeom prst="ellipse">
            <a:avLst/>
          </a:prstGeom>
          <a:solidFill>
            <a:srgbClr val="D8C089"/>
          </a:solidFill>
          <a:ln w="5080">
            <a:solidFill>
              <a:srgbClr val="8A7238"/>
            </a:solidFill>
            <a:prstDash val="solid"/>
          </a:ln>
        </p:spPr>
      </p:sp>
      <p:sp>
        <p:nvSpPr>
          <p:cNvPr id="26" name="Shape 24"/>
          <p:cNvSpPr/>
          <p:nvPr/>
        </p:nvSpPr>
        <p:spPr>
          <a:xfrm>
            <a:off x="5125987" y="3878752"/>
            <a:ext cx="105979" cy="105979"/>
          </a:xfrm>
          <a:prstGeom prst="ellipse">
            <a:avLst/>
          </a:prstGeom>
          <a:solidFill>
            <a:srgbClr val="D8C089"/>
          </a:solidFill>
          <a:ln w="5080">
            <a:solidFill>
              <a:srgbClr val="8A7238"/>
            </a:solidFill>
            <a:prstDash val="solid"/>
          </a:ln>
        </p:spPr>
      </p:sp>
      <p:sp>
        <p:nvSpPr>
          <p:cNvPr id="27" name="Shape 25"/>
          <p:cNvSpPr/>
          <p:nvPr/>
        </p:nvSpPr>
        <p:spPr>
          <a:xfrm>
            <a:off x="5387558" y="1912962"/>
            <a:ext cx="105979" cy="105979"/>
          </a:xfrm>
          <a:prstGeom prst="ellipse">
            <a:avLst/>
          </a:prstGeom>
          <a:solidFill>
            <a:srgbClr val="D8C089"/>
          </a:solidFill>
          <a:ln w="5080">
            <a:solidFill>
              <a:srgbClr val="8A7238"/>
            </a:solidFill>
            <a:prstDash val="solid"/>
          </a:ln>
        </p:spPr>
      </p:sp>
      <p:sp>
        <p:nvSpPr>
          <p:cNvPr id="28" name="Shape 26"/>
          <p:cNvSpPr/>
          <p:nvPr/>
        </p:nvSpPr>
        <p:spPr>
          <a:xfrm>
            <a:off x="5387558" y="3878752"/>
            <a:ext cx="105979" cy="105979"/>
          </a:xfrm>
          <a:prstGeom prst="ellipse">
            <a:avLst/>
          </a:prstGeom>
          <a:solidFill>
            <a:srgbClr val="D8C089"/>
          </a:solidFill>
          <a:ln w="5080">
            <a:solidFill>
              <a:srgbClr val="8A7238"/>
            </a:solidFill>
            <a:prstDash val="solid"/>
          </a:ln>
        </p:spPr>
      </p:sp>
      <p:sp>
        <p:nvSpPr>
          <p:cNvPr id="29" name="Shape 27"/>
          <p:cNvSpPr/>
          <p:nvPr/>
        </p:nvSpPr>
        <p:spPr>
          <a:xfrm>
            <a:off x="5649130" y="1912962"/>
            <a:ext cx="105979" cy="105979"/>
          </a:xfrm>
          <a:prstGeom prst="ellipse">
            <a:avLst/>
          </a:prstGeom>
          <a:solidFill>
            <a:srgbClr val="D8C089"/>
          </a:solidFill>
          <a:ln w="5080">
            <a:solidFill>
              <a:srgbClr val="8A7238"/>
            </a:solidFill>
            <a:prstDash val="solid"/>
          </a:ln>
        </p:spPr>
      </p:sp>
      <p:sp>
        <p:nvSpPr>
          <p:cNvPr id="30" name="Shape 28"/>
          <p:cNvSpPr/>
          <p:nvPr/>
        </p:nvSpPr>
        <p:spPr>
          <a:xfrm>
            <a:off x="5649130" y="3878752"/>
            <a:ext cx="105979" cy="105979"/>
          </a:xfrm>
          <a:prstGeom prst="ellipse">
            <a:avLst/>
          </a:prstGeom>
          <a:solidFill>
            <a:srgbClr val="D8C089"/>
          </a:solidFill>
          <a:ln w="5080">
            <a:solidFill>
              <a:srgbClr val="8A7238"/>
            </a:solidFill>
            <a:prstDash val="solid"/>
          </a:ln>
        </p:spPr>
      </p:sp>
      <p:sp>
        <p:nvSpPr>
          <p:cNvPr id="31" name="Shape 29"/>
          <p:cNvSpPr/>
          <p:nvPr/>
        </p:nvSpPr>
        <p:spPr>
          <a:xfrm>
            <a:off x="5910701" y="1912962"/>
            <a:ext cx="105979" cy="105979"/>
          </a:xfrm>
          <a:prstGeom prst="ellipse">
            <a:avLst/>
          </a:prstGeom>
          <a:solidFill>
            <a:srgbClr val="D8C089"/>
          </a:solidFill>
          <a:ln w="5080">
            <a:solidFill>
              <a:srgbClr val="8A7238"/>
            </a:solidFill>
            <a:prstDash val="solid"/>
          </a:ln>
        </p:spPr>
      </p:sp>
      <p:sp>
        <p:nvSpPr>
          <p:cNvPr id="32" name="Shape 30"/>
          <p:cNvSpPr/>
          <p:nvPr/>
        </p:nvSpPr>
        <p:spPr>
          <a:xfrm>
            <a:off x="5910701" y="3878752"/>
            <a:ext cx="105979" cy="105979"/>
          </a:xfrm>
          <a:prstGeom prst="ellipse">
            <a:avLst/>
          </a:prstGeom>
          <a:solidFill>
            <a:srgbClr val="D8C089"/>
          </a:solidFill>
          <a:ln w="5080">
            <a:solidFill>
              <a:srgbClr val="8A7238"/>
            </a:solidFill>
            <a:prstDash val="solid"/>
          </a:ln>
        </p:spPr>
      </p:sp>
      <p:sp>
        <p:nvSpPr>
          <p:cNvPr id="33" name="Shape 31"/>
          <p:cNvSpPr/>
          <p:nvPr/>
        </p:nvSpPr>
        <p:spPr>
          <a:xfrm>
            <a:off x="6172272" y="1912962"/>
            <a:ext cx="105979" cy="105979"/>
          </a:xfrm>
          <a:prstGeom prst="ellipse">
            <a:avLst/>
          </a:prstGeom>
          <a:solidFill>
            <a:srgbClr val="D8C089"/>
          </a:solidFill>
          <a:ln w="5080">
            <a:solidFill>
              <a:srgbClr val="8A7238"/>
            </a:solidFill>
            <a:prstDash val="solid"/>
          </a:ln>
        </p:spPr>
      </p:sp>
      <p:sp>
        <p:nvSpPr>
          <p:cNvPr id="34" name="Shape 32"/>
          <p:cNvSpPr/>
          <p:nvPr/>
        </p:nvSpPr>
        <p:spPr>
          <a:xfrm>
            <a:off x="6172272" y="3878752"/>
            <a:ext cx="105979" cy="105979"/>
          </a:xfrm>
          <a:prstGeom prst="ellipse">
            <a:avLst/>
          </a:prstGeom>
          <a:solidFill>
            <a:srgbClr val="D8C089"/>
          </a:solidFill>
          <a:ln w="5080">
            <a:solidFill>
              <a:srgbClr val="8A7238"/>
            </a:solidFill>
            <a:prstDash val="solid"/>
          </a:ln>
        </p:spPr>
      </p:sp>
      <p:sp>
        <p:nvSpPr>
          <p:cNvPr id="35" name="Shape 33"/>
          <p:cNvSpPr/>
          <p:nvPr/>
        </p:nvSpPr>
        <p:spPr>
          <a:xfrm>
            <a:off x="6433844" y="1912962"/>
            <a:ext cx="105979" cy="105979"/>
          </a:xfrm>
          <a:prstGeom prst="ellipse">
            <a:avLst/>
          </a:prstGeom>
          <a:solidFill>
            <a:srgbClr val="D8C089"/>
          </a:solidFill>
          <a:ln w="5080">
            <a:solidFill>
              <a:srgbClr val="8A7238"/>
            </a:solidFill>
            <a:prstDash val="solid"/>
          </a:ln>
        </p:spPr>
      </p:sp>
      <p:sp>
        <p:nvSpPr>
          <p:cNvPr id="36" name="Shape 34"/>
          <p:cNvSpPr/>
          <p:nvPr/>
        </p:nvSpPr>
        <p:spPr>
          <a:xfrm>
            <a:off x="6433844" y="3878752"/>
            <a:ext cx="105979" cy="105979"/>
          </a:xfrm>
          <a:prstGeom prst="ellipse">
            <a:avLst/>
          </a:prstGeom>
          <a:solidFill>
            <a:srgbClr val="D8C089"/>
          </a:solidFill>
          <a:ln w="5080">
            <a:solidFill>
              <a:srgbClr val="8A7238"/>
            </a:solidFill>
            <a:prstDash val="solid"/>
          </a:ln>
        </p:spPr>
      </p:sp>
      <p:sp>
        <p:nvSpPr>
          <p:cNvPr id="37" name="Shape 35"/>
          <p:cNvSpPr/>
          <p:nvPr/>
        </p:nvSpPr>
        <p:spPr>
          <a:xfrm>
            <a:off x="6695415" y="1912962"/>
            <a:ext cx="105979" cy="105979"/>
          </a:xfrm>
          <a:prstGeom prst="ellipse">
            <a:avLst/>
          </a:prstGeom>
          <a:solidFill>
            <a:srgbClr val="D8C089"/>
          </a:solidFill>
          <a:ln w="5080">
            <a:solidFill>
              <a:srgbClr val="8A7238"/>
            </a:solidFill>
            <a:prstDash val="solid"/>
          </a:ln>
        </p:spPr>
      </p:sp>
      <p:sp>
        <p:nvSpPr>
          <p:cNvPr id="38" name="Shape 36"/>
          <p:cNvSpPr/>
          <p:nvPr/>
        </p:nvSpPr>
        <p:spPr>
          <a:xfrm>
            <a:off x="6695415" y="3878752"/>
            <a:ext cx="105979" cy="105979"/>
          </a:xfrm>
          <a:prstGeom prst="ellipse">
            <a:avLst/>
          </a:prstGeom>
          <a:solidFill>
            <a:srgbClr val="D8C089"/>
          </a:solidFill>
          <a:ln w="5080">
            <a:solidFill>
              <a:srgbClr val="8A7238"/>
            </a:solidFill>
            <a:prstDash val="solid"/>
          </a:ln>
        </p:spPr>
      </p:sp>
      <p:sp>
        <p:nvSpPr>
          <p:cNvPr id="39" name="Shape 37"/>
          <p:cNvSpPr/>
          <p:nvPr/>
        </p:nvSpPr>
        <p:spPr>
          <a:xfrm>
            <a:off x="6956986" y="1912962"/>
            <a:ext cx="105979" cy="105979"/>
          </a:xfrm>
          <a:prstGeom prst="ellipse">
            <a:avLst/>
          </a:prstGeom>
          <a:solidFill>
            <a:srgbClr val="D8C089"/>
          </a:solidFill>
          <a:ln w="5080">
            <a:solidFill>
              <a:srgbClr val="8A7238"/>
            </a:solidFill>
            <a:prstDash val="solid"/>
          </a:ln>
        </p:spPr>
      </p:sp>
      <p:sp>
        <p:nvSpPr>
          <p:cNvPr id="40" name="Shape 38"/>
          <p:cNvSpPr/>
          <p:nvPr/>
        </p:nvSpPr>
        <p:spPr>
          <a:xfrm>
            <a:off x="6956986" y="3878752"/>
            <a:ext cx="105979" cy="105979"/>
          </a:xfrm>
          <a:prstGeom prst="ellipse">
            <a:avLst/>
          </a:prstGeom>
          <a:solidFill>
            <a:srgbClr val="D8C089"/>
          </a:solidFill>
          <a:ln w="5080">
            <a:solidFill>
              <a:srgbClr val="8A7238"/>
            </a:solidFill>
            <a:prstDash val="solid"/>
          </a:ln>
        </p:spPr>
      </p:sp>
      <p:sp>
        <p:nvSpPr>
          <p:cNvPr id="41" name="Shape 39"/>
          <p:cNvSpPr/>
          <p:nvPr/>
        </p:nvSpPr>
        <p:spPr>
          <a:xfrm>
            <a:off x="7218558" y="1912962"/>
            <a:ext cx="105979" cy="105979"/>
          </a:xfrm>
          <a:prstGeom prst="ellipse">
            <a:avLst/>
          </a:prstGeom>
          <a:solidFill>
            <a:srgbClr val="D8C089"/>
          </a:solidFill>
          <a:ln w="5080">
            <a:solidFill>
              <a:srgbClr val="8A7238"/>
            </a:solidFill>
            <a:prstDash val="solid"/>
          </a:ln>
        </p:spPr>
      </p:sp>
      <p:sp>
        <p:nvSpPr>
          <p:cNvPr id="42" name="Shape 40"/>
          <p:cNvSpPr/>
          <p:nvPr/>
        </p:nvSpPr>
        <p:spPr>
          <a:xfrm>
            <a:off x="7218558" y="3878752"/>
            <a:ext cx="105979" cy="105979"/>
          </a:xfrm>
          <a:prstGeom prst="ellipse">
            <a:avLst/>
          </a:prstGeom>
          <a:solidFill>
            <a:srgbClr val="D8C089"/>
          </a:solidFill>
          <a:ln w="5080">
            <a:solidFill>
              <a:srgbClr val="8A7238"/>
            </a:solidFill>
            <a:prstDash val="solid"/>
          </a:ln>
        </p:spPr>
      </p:sp>
      <p:sp>
        <p:nvSpPr>
          <p:cNvPr id="43" name="Shape 41"/>
          <p:cNvSpPr/>
          <p:nvPr/>
        </p:nvSpPr>
        <p:spPr>
          <a:xfrm>
            <a:off x="7480129" y="1912962"/>
            <a:ext cx="105979" cy="105979"/>
          </a:xfrm>
          <a:prstGeom prst="ellipse">
            <a:avLst/>
          </a:prstGeom>
          <a:solidFill>
            <a:srgbClr val="D8C089"/>
          </a:solidFill>
          <a:ln w="5080">
            <a:solidFill>
              <a:srgbClr val="8A7238"/>
            </a:solidFill>
            <a:prstDash val="solid"/>
          </a:ln>
        </p:spPr>
      </p:sp>
      <p:sp>
        <p:nvSpPr>
          <p:cNvPr id="44" name="Shape 42"/>
          <p:cNvSpPr/>
          <p:nvPr/>
        </p:nvSpPr>
        <p:spPr>
          <a:xfrm>
            <a:off x="7480129" y="3878752"/>
            <a:ext cx="105979" cy="105979"/>
          </a:xfrm>
          <a:prstGeom prst="ellipse">
            <a:avLst/>
          </a:prstGeom>
          <a:solidFill>
            <a:srgbClr val="D8C089"/>
          </a:solidFill>
          <a:ln w="5080">
            <a:solidFill>
              <a:srgbClr val="8A7238"/>
            </a:solidFill>
            <a:prstDash val="solid"/>
          </a:ln>
        </p:spPr>
      </p:sp>
      <p:sp>
        <p:nvSpPr>
          <p:cNvPr id="45" name="Shape 43"/>
          <p:cNvSpPr/>
          <p:nvPr/>
        </p:nvSpPr>
        <p:spPr>
          <a:xfrm>
            <a:off x="7741700" y="1912962"/>
            <a:ext cx="105979" cy="105979"/>
          </a:xfrm>
          <a:prstGeom prst="ellipse">
            <a:avLst/>
          </a:prstGeom>
          <a:solidFill>
            <a:srgbClr val="D8C089"/>
          </a:solidFill>
          <a:ln w="5080">
            <a:solidFill>
              <a:srgbClr val="8A7238"/>
            </a:solidFill>
            <a:prstDash val="solid"/>
          </a:ln>
        </p:spPr>
      </p:sp>
      <p:sp>
        <p:nvSpPr>
          <p:cNvPr id="46" name="Shape 44"/>
          <p:cNvSpPr/>
          <p:nvPr/>
        </p:nvSpPr>
        <p:spPr>
          <a:xfrm>
            <a:off x="7741700" y="3878752"/>
            <a:ext cx="105979" cy="105979"/>
          </a:xfrm>
          <a:prstGeom prst="ellipse">
            <a:avLst/>
          </a:prstGeom>
          <a:solidFill>
            <a:srgbClr val="D8C089"/>
          </a:solidFill>
          <a:ln w="5080">
            <a:solidFill>
              <a:srgbClr val="8A7238"/>
            </a:solidFill>
            <a:prstDash val="solid"/>
          </a:ln>
        </p:spPr>
      </p:sp>
      <p:sp>
        <p:nvSpPr>
          <p:cNvPr id="47" name="Shape 45"/>
          <p:cNvSpPr/>
          <p:nvPr/>
        </p:nvSpPr>
        <p:spPr>
          <a:xfrm>
            <a:off x="8003272" y="1912962"/>
            <a:ext cx="105979" cy="105979"/>
          </a:xfrm>
          <a:prstGeom prst="ellipse">
            <a:avLst/>
          </a:prstGeom>
          <a:solidFill>
            <a:srgbClr val="D8C089"/>
          </a:solidFill>
          <a:ln w="5080">
            <a:solidFill>
              <a:srgbClr val="8A7238"/>
            </a:solidFill>
            <a:prstDash val="solid"/>
          </a:ln>
        </p:spPr>
      </p:sp>
      <p:sp>
        <p:nvSpPr>
          <p:cNvPr id="48" name="Shape 46"/>
          <p:cNvSpPr/>
          <p:nvPr/>
        </p:nvSpPr>
        <p:spPr>
          <a:xfrm>
            <a:off x="8003272" y="3878752"/>
            <a:ext cx="105979" cy="105979"/>
          </a:xfrm>
          <a:prstGeom prst="ellipse">
            <a:avLst/>
          </a:prstGeom>
          <a:solidFill>
            <a:srgbClr val="D8C089"/>
          </a:solidFill>
          <a:ln w="5080">
            <a:solidFill>
              <a:srgbClr val="8A7238"/>
            </a:solidFill>
            <a:prstDash val="solid"/>
          </a:ln>
        </p:spPr>
      </p:sp>
      <p:sp>
        <p:nvSpPr>
          <p:cNvPr id="49" name="Shape 47"/>
          <p:cNvSpPr/>
          <p:nvPr/>
        </p:nvSpPr>
        <p:spPr>
          <a:xfrm>
            <a:off x="8264843" y="1912962"/>
            <a:ext cx="105979" cy="105979"/>
          </a:xfrm>
          <a:prstGeom prst="ellipse">
            <a:avLst/>
          </a:prstGeom>
          <a:solidFill>
            <a:srgbClr val="D8C089"/>
          </a:solidFill>
          <a:ln w="5080">
            <a:solidFill>
              <a:srgbClr val="8A7238"/>
            </a:solidFill>
            <a:prstDash val="solid"/>
          </a:ln>
        </p:spPr>
      </p:sp>
      <p:sp>
        <p:nvSpPr>
          <p:cNvPr id="50" name="Shape 48"/>
          <p:cNvSpPr/>
          <p:nvPr/>
        </p:nvSpPr>
        <p:spPr>
          <a:xfrm>
            <a:off x="8264843" y="3878752"/>
            <a:ext cx="105979" cy="105979"/>
          </a:xfrm>
          <a:prstGeom prst="ellipse">
            <a:avLst/>
          </a:prstGeom>
          <a:solidFill>
            <a:srgbClr val="D8C089"/>
          </a:solidFill>
          <a:ln w="5080">
            <a:solidFill>
              <a:srgbClr val="8A7238"/>
            </a:solidFill>
            <a:prstDash val="solid"/>
          </a:ln>
        </p:spPr>
      </p:sp>
      <p:sp>
        <p:nvSpPr>
          <p:cNvPr id="51" name="Shape 49"/>
          <p:cNvSpPr/>
          <p:nvPr/>
        </p:nvSpPr>
        <p:spPr>
          <a:xfrm>
            <a:off x="8526414" y="1912962"/>
            <a:ext cx="105979" cy="105979"/>
          </a:xfrm>
          <a:prstGeom prst="ellipse">
            <a:avLst/>
          </a:prstGeom>
          <a:solidFill>
            <a:srgbClr val="D8C089"/>
          </a:solidFill>
          <a:ln w="5080">
            <a:solidFill>
              <a:srgbClr val="8A7238"/>
            </a:solidFill>
            <a:prstDash val="solid"/>
          </a:ln>
        </p:spPr>
      </p:sp>
      <p:sp>
        <p:nvSpPr>
          <p:cNvPr id="52" name="Shape 50"/>
          <p:cNvSpPr/>
          <p:nvPr/>
        </p:nvSpPr>
        <p:spPr>
          <a:xfrm>
            <a:off x="8526414" y="3878752"/>
            <a:ext cx="105979" cy="105979"/>
          </a:xfrm>
          <a:prstGeom prst="ellipse">
            <a:avLst/>
          </a:prstGeom>
          <a:solidFill>
            <a:srgbClr val="D8C089"/>
          </a:solidFill>
          <a:ln w="5080">
            <a:solidFill>
              <a:srgbClr val="8A7238"/>
            </a:solidFill>
            <a:prstDash val="solid"/>
          </a:ln>
        </p:spPr>
      </p:sp>
      <p:sp>
        <p:nvSpPr>
          <p:cNvPr id="53" name="Shape 51"/>
          <p:cNvSpPr/>
          <p:nvPr/>
        </p:nvSpPr>
        <p:spPr>
          <a:xfrm>
            <a:off x="3278124" y="2766713"/>
            <a:ext cx="274320" cy="274320"/>
          </a:xfrm>
          <a:prstGeom prst="ellipse">
            <a:avLst/>
          </a:prstGeom>
          <a:solidFill>
            <a:srgbClr val="990011"/>
          </a:solidFill>
          <a:ln w="12700">
            <a:solidFill>
              <a:srgbClr val="990011"/>
            </a:solidFill>
            <a:prstDash val="solid"/>
          </a:ln>
        </p:spPr>
      </p:sp>
      <p:sp>
        <p:nvSpPr>
          <p:cNvPr id="54" name="Text 52"/>
          <p:cNvSpPr/>
          <p:nvPr/>
        </p:nvSpPr>
        <p:spPr>
          <a:xfrm>
            <a:off x="3278124" y="2766713"/>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1</a:t>
            </a:r>
            <a:endParaRPr lang="en-US" sz="1000" dirty="0"/>
          </a:p>
        </p:txBody>
      </p:sp>
      <p:sp>
        <p:nvSpPr>
          <p:cNvPr id="55" name="Shape 53"/>
          <p:cNvSpPr/>
          <p:nvPr/>
        </p:nvSpPr>
        <p:spPr>
          <a:xfrm>
            <a:off x="4672127" y="2084832"/>
            <a:ext cx="274320" cy="274320"/>
          </a:xfrm>
          <a:prstGeom prst="ellipse">
            <a:avLst/>
          </a:prstGeom>
          <a:solidFill>
            <a:srgbClr val="990011"/>
          </a:solidFill>
          <a:ln w="12700">
            <a:solidFill>
              <a:srgbClr val="990011"/>
            </a:solidFill>
            <a:prstDash val="solid"/>
          </a:ln>
        </p:spPr>
      </p:sp>
      <p:sp>
        <p:nvSpPr>
          <p:cNvPr id="56" name="Text 54"/>
          <p:cNvSpPr/>
          <p:nvPr/>
        </p:nvSpPr>
        <p:spPr>
          <a:xfrm>
            <a:off x="4672127"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2</a:t>
            </a:r>
            <a:endParaRPr lang="en-US" sz="1000" dirty="0"/>
          </a:p>
        </p:txBody>
      </p:sp>
      <p:sp>
        <p:nvSpPr>
          <p:cNvPr id="57" name="Shape 55"/>
          <p:cNvSpPr/>
          <p:nvPr/>
        </p:nvSpPr>
        <p:spPr>
          <a:xfrm>
            <a:off x="5676138" y="2084832"/>
            <a:ext cx="274320" cy="274320"/>
          </a:xfrm>
          <a:prstGeom prst="ellipse">
            <a:avLst/>
          </a:prstGeom>
          <a:solidFill>
            <a:srgbClr val="990011"/>
          </a:solidFill>
          <a:ln w="12700">
            <a:solidFill>
              <a:srgbClr val="990011"/>
            </a:solidFill>
            <a:prstDash val="solid"/>
          </a:ln>
        </p:spPr>
      </p:sp>
      <p:sp>
        <p:nvSpPr>
          <p:cNvPr id="58" name="Text 56"/>
          <p:cNvSpPr/>
          <p:nvPr/>
        </p:nvSpPr>
        <p:spPr>
          <a:xfrm>
            <a:off x="5676138"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3</a:t>
            </a:r>
            <a:endParaRPr lang="en-US" sz="1000" dirty="0"/>
          </a:p>
        </p:txBody>
      </p:sp>
      <p:sp>
        <p:nvSpPr>
          <p:cNvPr id="59" name="Shape 57"/>
          <p:cNvSpPr/>
          <p:nvPr/>
        </p:nvSpPr>
        <p:spPr>
          <a:xfrm>
            <a:off x="6791706" y="2084832"/>
            <a:ext cx="274320" cy="274320"/>
          </a:xfrm>
          <a:prstGeom prst="ellipse">
            <a:avLst/>
          </a:prstGeom>
          <a:solidFill>
            <a:srgbClr val="990011"/>
          </a:solidFill>
          <a:ln w="12700">
            <a:solidFill>
              <a:srgbClr val="990011"/>
            </a:solidFill>
            <a:prstDash val="solid"/>
          </a:ln>
        </p:spPr>
      </p:sp>
      <p:sp>
        <p:nvSpPr>
          <p:cNvPr id="60" name="Text 58"/>
          <p:cNvSpPr/>
          <p:nvPr/>
        </p:nvSpPr>
        <p:spPr>
          <a:xfrm>
            <a:off x="6791706"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4</a:t>
            </a:r>
            <a:endParaRPr lang="en-US" sz="1000" dirty="0"/>
          </a:p>
        </p:txBody>
      </p:sp>
      <p:sp>
        <p:nvSpPr>
          <p:cNvPr id="61" name="Shape 59"/>
          <p:cNvSpPr/>
          <p:nvPr/>
        </p:nvSpPr>
        <p:spPr>
          <a:xfrm>
            <a:off x="7461047" y="2084832"/>
            <a:ext cx="274320" cy="274320"/>
          </a:xfrm>
          <a:prstGeom prst="ellipse">
            <a:avLst/>
          </a:prstGeom>
          <a:solidFill>
            <a:srgbClr val="990011"/>
          </a:solidFill>
          <a:ln w="12700">
            <a:solidFill>
              <a:srgbClr val="990011"/>
            </a:solidFill>
            <a:prstDash val="solid"/>
          </a:ln>
        </p:spPr>
      </p:sp>
      <p:sp>
        <p:nvSpPr>
          <p:cNvPr id="62" name="Text 60"/>
          <p:cNvSpPr/>
          <p:nvPr/>
        </p:nvSpPr>
        <p:spPr>
          <a:xfrm>
            <a:off x="7461047"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5</a:t>
            </a:r>
            <a:endParaRPr lang="en-US" sz="1000" dirty="0"/>
          </a:p>
        </p:txBody>
      </p:sp>
      <p:sp>
        <p:nvSpPr>
          <p:cNvPr id="63" name="Shape 61"/>
          <p:cNvSpPr/>
          <p:nvPr/>
        </p:nvSpPr>
        <p:spPr>
          <a:xfrm>
            <a:off x="8186166" y="2084832"/>
            <a:ext cx="274320" cy="274320"/>
          </a:xfrm>
          <a:prstGeom prst="ellipse">
            <a:avLst/>
          </a:prstGeom>
          <a:solidFill>
            <a:srgbClr val="990011"/>
          </a:solidFill>
          <a:ln w="12700">
            <a:solidFill>
              <a:srgbClr val="990011"/>
            </a:solidFill>
            <a:prstDash val="solid"/>
          </a:ln>
        </p:spPr>
      </p:sp>
      <p:sp>
        <p:nvSpPr>
          <p:cNvPr id="64" name="Text 62"/>
          <p:cNvSpPr/>
          <p:nvPr/>
        </p:nvSpPr>
        <p:spPr>
          <a:xfrm>
            <a:off x="8186166"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6</a:t>
            </a:r>
            <a:endParaRPr lang="en-US" sz="1000" dirty="0"/>
          </a:p>
        </p:txBody>
      </p:sp>
      <p:sp>
        <p:nvSpPr>
          <p:cNvPr id="65" name="Shape 63"/>
          <p:cNvSpPr/>
          <p:nvPr/>
        </p:nvSpPr>
        <p:spPr>
          <a:xfrm>
            <a:off x="3640226" y="3538541"/>
            <a:ext cx="274320" cy="274320"/>
          </a:xfrm>
          <a:prstGeom prst="ellipse">
            <a:avLst/>
          </a:prstGeom>
          <a:solidFill>
            <a:srgbClr val="990011"/>
          </a:solidFill>
          <a:ln w="12700">
            <a:solidFill>
              <a:srgbClr val="990011"/>
            </a:solidFill>
            <a:prstDash val="solid"/>
          </a:ln>
        </p:spPr>
      </p:sp>
      <p:sp>
        <p:nvSpPr>
          <p:cNvPr id="66" name="Text 64"/>
          <p:cNvSpPr/>
          <p:nvPr/>
        </p:nvSpPr>
        <p:spPr>
          <a:xfrm>
            <a:off x="3640226" y="3538541"/>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7</a:t>
            </a:r>
            <a:endParaRPr lang="en-US" sz="1000" dirty="0"/>
          </a:p>
        </p:txBody>
      </p:sp>
      <p:sp>
        <p:nvSpPr>
          <p:cNvPr id="67" name="Shape 65"/>
          <p:cNvSpPr/>
          <p:nvPr/>
        </p:nvSpPr>
        <p:spPr>
          <a:xfrm>
            <a:off x="685800" y="4526280"/>
            <a:ext cx="274320" cy="274320"/>
          </a:xfrm>
          <a:prstGeom prst="ellipse">
            <a:avLst/>
          </a:prstGeom>
          <a:solidFill>
            <a:srgbClr val="2F3C7E"/>
          </a:solidFill>
          <a:ln w="12700">
            <a:solidFill>
              <a:srgbClr val="2F3C7E"/>
            </a:solidFill>
            <a:prstDash val="solid"/>
          </a:ln>
        </p:spPr>
      </p:sp>
      <p:sp>
        <p:nvSpPr>
          <p:cNvPr id="68" name="Text 66"/>
          <p:cNvSpPr/>
          <p:nvPr/>
        </p:nvSpPr>
        <p:spPr>
          <a:xfrm>
            <a:off x="685800" y="45262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1</a:t>
            </a:r>
            <a:endParaRPr lang="en-US" sz="1000" dirty="0"/>
          </a:p>
        </p:txBody>
      </p:sp>
      <p:sp>
        <p:nvSpPr>
          <p:cNvPr id="69" name="Text 67"/>
          <p:cNvSpPr/>
          <p:nvPr/>
        </p:nvSpPr>
        <p:spPr>
          <a:xfrm>
            <a:off x="1069848" y="4498848"/>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micro USB 단자</a:t>
            </a:r>
            <a:endParaRPr lang="en-US" sz="1300" dirty="0"/>
          </a:p>
        </p:txBody>
      </p:sp>
      <p:sp>
        <p:nvSpPr>
          <p:cNvPr id="70" name="Text 68"/>
          <p:cNvSpPr/>
          <p:nvPr/>
        </p:nvSpPr>
        <p:spPr>
          <a:xfrm>
            <a:off x="1069848" y="4764024"/>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전원 공급과 PC 연결을 함께 담당</a:t>
            </a:r>
            <a:endParaRPr lang="en-US" sz="1050" dirty="0"/>
          </a:p>
        </p:txBody>
      </p:sp>
      <p:sp>
        <p:nvSpPr>
          <p:cNvPr id="71" name="Shape 69"/>
          <p:cNvSpPr/>
          <p:nvPr/>
        </p:nvSpPr>
        <p:spPr>
          <a:xfrm>
            <a:off x="4325112" y="4526280"/>
            <a:ext cx="274320" cy="274320"/>
          </a:xfrm>
          <a:prstGeom prst="ellipse">
            <a:avLst/>
          </a:prstGeom>
          <a:solidFill>
            <a:srgbClr val="2F3C7E"/>
          </a:solidFill>
          <a:ln w="12700">
            <a:solidFill>
              <a:srgbClr val="2F3C7E"/>
            </a:solidFill>
            <a:prstDash val="solid"/>
          </a:ln>
        </p:spPr>
      </p:sp>
      <p:sp>
        <p:nvSpPr>
          <p:cNvPr id="72" name="Text 70"/>
          <p:cNvSpPr/>
          <p:nvPr/>
        </p:nvSpPr>
        <p:spPr>
          <a:xfrm>
            <a:off x="4325112" y="45262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2</a:t>
            </a:r>
            <a:endParaRPr lang="en-US" sz="1000" dirty="0"/>
          </a:p>
        </p:txBody>
      </p:sp>
      <p:sp>
        <p:nvSpPr>
          <p:cNvPr id="73" name="Text 71"/>
          <p:cNvSpPr/>
          <p:nvPr/>
        </p:nvSpPr>
        <p:spPr>
          <a:xfrm>
            <a:off x="4709160" y="4498848"/>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BOOTSEL 버튼</a:t>
            </a:r>
            <a:endParaRPr lang="en-US" sz="1300" dirty="0"/>
          </a:p>
        </p:txBody>
      </p:sp>
      <p:sp>
        <p:nvSpPr>
          <p:cNvPr id="74" name="Text 72"/>
          <p:cNvSpPr/>
          <p:nvPr/>
        </p:nvSpPr>
        <p:spPr>
          <a:xfrm>
            <a:off x="4709160" y="4764024"/>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펌웨어를 설치할 때 누르는 버튼</a:t>
            </a:r>
            <a:endParaRPr lang="en-US" sz="1050" dirty="0"/>
          </a:p>
        </p:txBody>
      </p:sp>
      <p:sp>
        <p:nvSpPr>
          <p:cNvPr id="75" name="Shape 73"/>
          <p:cNvSpPr/>
          <p:nvPr/>
        </p:nvSpPr>
        <p:spPr>
          <a:xfrm>
            <a:off x="7964424" y="4526280"/>
            <a:ext cx="274320" cy="274320"/>
          </a:xfrm>
          <a:prstGeom prst="ellipse">
            <a:avLst/>
          </a:prstGeom>
          <a:solidFill>
            <a:srgbClr val="2F3C7E"/>
          </a:solidFill>
          <a:ln w="12700">
            <a:solidFill>
              <a:srgbClr val="2F3C7E"/>
            </a:solidFill>
            <a:prstDash val="solid"/>
          </a:ln>
        </p:spPr>
      </p:sp>
      <p:sp>
        <p:nvSpPr>
          <p:cNvPr id="76" name="Text 74"/>
          <p:cNvSpPr/>
          <p:nvPr/>
        </p:nvSpPr>
        <p:spPr>
          <a:xfrm>
            <a:off x="7964424" y="45262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3</a:t>
            </a:r>
            <a:endParaRPr lang="en-US" sz="1000" dirty="0"/>
          </a:p>
        </p:txBody>
      </p:sp>
      <p:sp>
        <p:nvSpPr>
          <p:cNvPr id="77" name="Text 75"/>
          <p:cNvSpPr/>
          <p:nvPr/>
        </p:nvSpPr>
        <p:spPr>
          <a:xfrm>
            <a:off x="8348472" y="4498848"/>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RP2350 칩</a:t>
            </a:r>
            <a:endParaRPr lang="en-US" sz="1300" dirty="0"/>
          </a:p>
        </p:txBody>
      </p:sp>
      <p:sp>
        <p:nvSpPr>
          <p:cNvPr id="78" name="Text 76"/>
          <p:cNvSpPr/>
          <p:nvPr/>
        </p:nvSpPr>
        <p:spPr>
          <a:xfrm>
            <a:off x="8348472" y="4764024"/>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CPU와 메모리가 들어 있는 두뇌</a:t>
            </a:r>
            <a:endParaRPr lang="en-US" sz="1050" dirty="0"/>
          </a:p>
        </p:txBody>
      </p:sp>
      <p:sp>
        <p:nvSpPr>
          <p:cNvPr id="79" name="Shape 77"/>
          <p:cNvSpPr/>
          <p:nvPr/>
        </p:nvSpPr>
        <p:spPr>
          <a:xfrm>
            <a:off x="685800" y="5202936"/>
            <a:ext cx="274320" cy="274320"/>
          </a:xfrm>
          <a:prstGeom prst="ellipse">
            <a:avLst/>
          </a:prstGeom>
          <a:solidFill>
            <a:srgbClr val="2F3C7E"/>
          </a:solidFill>
          <a:ln w="12700">
            <a:solidFill>
              <a:srgbClr val="2F3C7E"/>
            </a:solidFill>
            <a:prstDash val="solid"/>
          </a:ln>
        </p:spPr>
      </p:sp>
      <p:sp>
        <p:nvSpPr>
          <p:cNvPr id="80" name="Text 78"/>
          <p:cNvSpPr/>
          <p:nvPr/>
        </p:nvSpPr>
        <p:spPr>
          <a:xfrm>
            <a:off x="685800" y="5202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4</a:t>
            </a:r>
            <a:endParaRPr lang="en-US" sz="1000" dirty="0"/>
          </a:p>
        </p:txBody>
      </p:sp>
      <p:sp>
        <p:nvSpPr>
          <p:cNvPr id="81" name="Text 79"/>
          <p:cNvSpPr/>
          <p:nvPr/>
        </p:nvSpPr>
        <p:spPr>
          <a:xfrm>
            <a:off x="1069848" y="5175504"/>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무선 모듈</a:t>
            </a:r>
            <a:endParaRPr lang="en-US" sz="1300" dirty="0"/>
          </a:p>
        </p:txBody>
      </p:sp>
      <p:sp>
        <p:nvSpPr>
          <p:cNvPr id="82" name="Text 80"/>
          <p:cNvSpPr/>
          <p:nvPr/>
        </p:nvSpPr>
        <p:spPr>
          <a:xfrm>
            <a:off x="1069848" y="5440680"/>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Wi-Fi와 Bluetooth 담당</a:t>
            </a:r>
            <a:endParaRPr lang="en-US" sz="1050" dirty="0"/>
          </a:p>
        </p:txBody>
      </p:sp>
      <p:sp>
        <p:nvSpPr>
          <p:cNvPr id="83" name="Shape 81"/>
          <p:cNvSpPr/>
          <p:nvPr/>
        </p:nvSpPr>
        <p:spPr>
          <a:xfrm>
            <a:off x="4325112" y="5202936"/>
            <a:ext cx="274320" cy="274320"/>
          </a:xfrm>
          <a:prstGeom prst="ellipse">
            <a:avLst/>
          </a:prstGeom>
          <a:solidFill>
            <a:srgbClr val="2F3C7E"/>
          </a:solidFill>
          <a:ln w="12700">
            <a:solidFill>
              <a:srgbClr val="2F3C7E"/>
            </a:solidFill>
            <a:prstDash val="solid"/>
          </a:ln>
        </p:spPr>
      </p:sp>
      <p:sp>
        <p:nvSpPr>
          <p:cNvPr id="84" name="Text 82"/>
          <p:cNvSpPr/>
          <p:nvPr/>
        </p:nvSpPr>
        <p:spPr>
          <a:xfrm>
            <a:off x="4325112" y="5202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5</a:t>
            </a:r>
            <a:endParaRPr lang="en-US" sz="1000" dirty="0"/>
          </a:p>
        </p:txBody>
      </p:sp>
      <p:sp>
        <p:nvSpPr>
          <p:cNvPr id="85" name="Text 83"/>
          <p:cNvSpPr/>
          <p:nvPr/>
        </p:nvSpPr>
        <p:spPr>
          <a:xfrm>
            <a:off x="4709160" y="5175504"/>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내장 LED</a:t>
            </a:r>
            <a:endParaRPr lang="en-US" sz="1300" dirty="0"/>
          </a:p>
        </p:txBody>
      </p:sp>
      <p:sp>
        <p:nvSpPr>
          <p:cNvPr id="86" name="Text 84"/>
          <p:cNvSpPr/>
          <p:nvPr/>
        </p:nvSpPr>
        <p:spPr>
          <a:xfrm>
            <a:off x="4709160" y="5440680"/>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코드로 켜고 끌 수 있는 초록 LED</a:t>
            </a:r>
            <a:endParaRPr lang="en-US" sz="1050" dirty="0"/>
          </a:p>
        </p:txBody>
      </p:sp>
      <p:sp>
        <p:nvSpPr>
          <p:cNvPr id="87" name="Shape 85"/>
          <p:cNvSpPr/>
          <p:nvPr/>
        </p:nvSpPr>
        <p:spPr>
          <a:xfrm>
            <a:off x="7964424" y="5202936"/>
            <a:ext cx="274320" cy="274320"/>
          </a:xfrm>
          <a:prstGeom prst="ellipse">
            <a:avLst/>
          </a:prstGeom>
          <a:solidFill>
            <a:srgbClr val="2F3C7E"/>
          </a:solidFill>
          <a:ln w="12700">
            <a:solidFill>
              <a:srgbClr val="2F3C7E"/>
            </a:solidFill>
            <a:prstDash val="solid"/>
          </a:ln>
        </p:spPr>
      </p:sp>
      <p:sp>
        <p:nvSpPr>
          <p:cNvPr id="88" name="Text 86"/>
          <p:cNvSpPr/>
          <p:nvPr/>
        </p:nvSpPr>
        <p:spPr>
          <a:xfrm>
            <a:off x="7964424" y="5202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6</a:t>
            </a:r>
            <a:endParaRPr lang="en-US" sz="1000" dirty="0"/>
          </a:p>
        </p:txBody>
      </p:sp>
      <p:sp>
        <p:nvSpPr>
          <p:cNvPr id="89" name="Text 87"/>
          <p:cNvSpPr/>
          <p:nvPr/>
        </p:nvSpPr>
        <p:spPr>
          <a:xfrm>
            <a:off x="8348472" y="5175504"/>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안테나</a:t>
            </a:r>
            <a:endParaRPr lang="en-US" sz="1300" dirty="0"/>
          </a:p>
        </p:txBody>
      </p:sp>
      <p:sp>
        <p:nvSpPr>
          <p:cNvPr id="90" name="Text 88"/>
          <p:cNvSpPr/>
          <p:nvPr/>
        </p:nvSpPr>
        <p:spPr>
          <a:xfrm>
            <a:off x="8348472" y="5440680"/>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금색 패턴 · 손이나 금속으로 덮지 않기</a:t>
            </a:r>
            <a:endParaRPr lang="en-US" sz="1050" dirty="0"/>
          </a:p>
        </p:txBody>
      </p:sp>
      <p:sp>
        <p:nvSpPr>
          <p:cNvPr id="91" name="Shape 89"/>
          <p:cNvSpPr/>
          <p:nvPr/>
        </p:nvSpPr>
        <p:spPr>
          <a:xfrm>
            <a:off x="685800" y="5879592"/>
            <a:ext cx="274320" cy="274320"/>
          </a:xfrm>
          <a:prstGeom prst="ellipse">
            <a:avLst/>
          </a:prstGeom>
          <a:solidFill>
            <a:srgbClr val="2F3C7E"/>
          </a:solidFill>
          <a:ln w="12700">
            <a:solidFill>
              <a:srgbClr val="2F3C7E"/>
            </a:solidFill>
            <a:prstDash val="solid"/>
          </a:ln>
        </p:spPr>
      </p:sp>
      <p:sp>
        <p:nvSpPr>
          <p:cNvPr id="92" name="Text 90"/>
          <p:cNvSpPr/>
          <p:nvPr/>
        </p:nvSpPr>
        <p:spPr>
          <a:xfrm>
            <a:off x="685800" y="58795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7</a:t>
            </a:r>
            <a:endParaRPr lang="en-US" sz="1000" dirty="0"/>
          </a:p>
        </p:txBody>
      </p:sp>
      <p:sp>
        <p:nvSpPr>
          <p:cNvPr id="93" name="Text 91"/>
          <p:cNvSpPr/>
          <p:nvPr/>
        </p:nvSpPr>
        <p:spPr>
          <a:xfrm>
            <a:off x="1069848" y="5852160"/>
            <a:ext cx="3017520" cy="256032"/>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40핀 헤더</a:t>
            </a:r>
            <a:endParaRPr lang="en-US" sz="1300" dirty="0"/>
          </a:p>
        </p:txBody>
      </p:sp>
      <p:sp>
        <p:nvSpPr>
          <p:cNvPr id="94" name="Text 92"/>
          <p:cNvSpPr/>
          <p:nvPr/>
        </p:nvSpPr>
        <p:spPr>
          <a:xfrm>
            <a:off x="1069848" y="6117336"/>
            <a:ext cx="3108960" cy="365760"/>
          </a:xfrm>
          <a:prstGeom prst="rect">
            <a:avLst/>
          </a:prstGeom>
          <a:noFill/>
          <a:ln/>
        </p:spPr>
        <p:txBody>
          <a:bodyPr wrap="square" lIns="0" tIns="0" rIns="0" bIns="0" rtlCol="0" anchor="t"/>
          <a:lstStyle/>
          <a:p>
            <a:pPr indent="0" marL="0">
              <a:lnSpc>
                <a:spcPts val="1400"/>
              </a:lnSpc>
              <a:buNone/>
            </a:pPr>
            <a:r>
              <a:rPr lang="en-US" sz="1050" dirty="0">
                <a:solidFill>
                  <a:srgbClr val="6B7280"/>
                </a:solidFill>
                <a:latin typeface="맑은 고딕" pitchFamily="34" charset="0"/>
                <a:ea typeface="맑은 고딕" pitchFamily="34" charset="-122"/>
                <a:cs typeface="맑은 고딕" pitchFamily="34" charset="-120"/>
              </a:rPr>
              <a:t>센서와 부품을 연결하는 통로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274320"/>
            <a:ext cx="5486400" cy="219456"/>
          </a:xfrm>
          <a:prstGeom prst="rect">
            <a:avLst/>
          </a:prstGeom>
          <a:noFill/>
          <a:ln/>
        </p:spPr>
        <p:txBody>
          <a:bodyPr wrap="square" lIns="0" tIns="0" rIns="0" bIns="0" rtlCol="0" anchor="ctr"/>
          <a:lstStyle/>
          <a:p>
            <a:pPr indent="0" marL="0">
              <a:buNone/>
            </a:pPr>
            <a:r>
              <a:rPr lang="en-US" sz="1100" b="1" spc="200" kern="0" dirty="0">
                <a:solidFill>
                  <a:srgbClr val="990011"/>
                </a:solidFill>
                <a:latin typeface="맑은 고딕" pitchFamily="34" charset="0"/>
                <a:ea typeface="맑은 고딕" pitchFamily="34" charset="-122"/>
                <a:cs typeface="맑은 고딕" pitchFamily="34" charset="-120"/>
              </a:rPr>
              <a:t>PINOUT</a:t>
            </a:r>
            <a:endParaRPr lang="en-US" sz="1100" dirty="0"/>
          </a:p>
        </p:txBody>
      </p:sp>
      <p:sp>
        <p:nvSpPr>
          <p:cNvPr id="3" name="Text 1"/>
          <p:cNvSpPr/>
          <p:nvPr/>
        </p:nvSpPr>
        <p:spPr>
          <a:xfrm>
            <a:off x="685800" y="493776"/>
            <a:ext cx="5486400" cy="402336"/>
          </a:xfrm>
          <a:prstGeom prst="rect">
            <a:avLst/>
          </a:prstGeom>
          <a:noFill/>
          <a:ln/>
        </p:spPr>
        <p:txBody>
          <a:bodyPr wrap="square" lIns="0" tIns="0" rIns="0" bIns="0" rtlCol="0" anchor="ctr"/>
          <a:lstStyle/>
          <a:p>
            <a:pPr indent="0" marL="0">
              <a:buNone/>
            </a:pPr>
            <a:r>
              <a:rPr lang="en-US" sz="2400" b="1" dirty="0">
                <a:solidFill>
                  <a:srgbClr val="1F2328"/>
                </a:solidFill>
                <a:latin typeface="맑은 고딕" pitchFamily="34" charset="0"/>
                <a:ea typeface="맑은 고딕" pitchFamily="34" charset="-122"/>
                <a:cs typeface="맑은 고딕" pitchFamily="34" charset="-120"/>
              </a:rPr>
              <a:t>40핀 핀 배치도</a:t>
            </a:r>
            <a:endParaRPr lang="en-US" sz="2400" dirty="0"/>
          </a:p>
        </p:txBody>
      </p:sp>
      <p:sp>
        <p:nvSpPr>
          <p:cNvPr id="4" name="Shape 2"/>
          <p:cNvSpPr/>
          <p:nvPr/>
        </p:nvSpPr>
        <p:spPr>
          <a:xfrm>
            <a:off x="6035040" y="603504"/>
            <a:ext cx="173736" cy="173736"/>
          </a:xfrm>
          <a:prstGeom prst="ellipse">
            <a:avLst/>
          </a:prstGeom>
          <a:solidFill>
            <a:srgbClr val="990011"/>
          </a:solidFill>
          <a:ln w="12700">
            <a:solidFill>
              <a:srgbClr val="333333"/>
            </a:solidFill>
            <a:prstDash val="solid"/>
          </a:ln>
        </p:spPr>
      </p:sp>
      <p:sp>
        <p:nvSpPr>
          <p:cNvPr id="5" name="Text 3"/>
          <p:cNvSpPr/>
          <p:nvPr/>
        </p:nvSpPr>
        <p:spPr>
          <a:xfrm>
            <a:off x="6272784" y="548640"/>
            <a:ext cx="914400" cy="274320"/>
          </a:xfrm>
          <a:prstGeom prst="rect">
            <a:avLst/>
          </a:prstGeom>
          <a:noFill/>
          <a:ln/>
        </p:spPr>
        <p:txBody>
          <a:bodyPr wrap="square" lIns="0" tIns="0" rIns="0" bIns="0" rtlCol="0" anchor="ctr"/>
          <a:lstStyle/>
          <a:p>
            <a:pPr indent="0" marL="0">
              <a:buNone/>
            </a:pPr>
            <a:r>
              <a:rPr lang="en-US" sz="1100" dirty="0">
                <a:solidFill>
                  <a:srgbClr val="1F2328"/>
                </a:solidFill>
                <a:latin typeface="맑은 고딕" pitchFamily="34" charset="0"/>
                <a:ea typeface="맑은 고딕" pitchFamily="34" charset="-122"/>
                <a:cs typeface="맑은 고딕" pitchFamily="34" charset="-120"/>
              </a:rPr>
              <a:t>전원</a:t>
            </a:r>
            <a:endParaRPr lang="en-US" sz="1100" dirty="0"/>
          </a:p>
        </p:txBody>
      </p:sp>
      <p:sp>
        <p:nvSpPr>
          <p:cNvPr id="6" name="Shape 4"/>
          <p:cNvSpPr/>
          <p:nvPr/>
        </p:nvSpPr>
        <p:spPr>
          <a:xfrm>
            <a:off x="7114032" y="603504"/>
            <a:ext cx="173736" cy="173736"/>
          </a:xfrm>
          <a:prstGeom prst="ellipse">
            <a:avLst/>
          </a:prstGeom>
          <a:solidFill>
            <a:srgbClr val="4B5563"/>
          </a:solidFill>
          <a:ln w="12700">
            <a:solidFill>
              <a:srgbClr val="333333"/>
            </a:solidFill>
            <a:prstDash val="solid"/>
          </a:ln>
        </p:spPr>
      </p:sp>
      <p:sp>
        <p:nvSpPr>
          <p:cNvPr id="7" name="Text 5"/>
          <p:cNvSpPr/>
          <p:nvPr/>
        </p:nvSpPr>
        <p:spPr>
          <a:xfrm>
            <a:off x="7351776" y="548640"/>
            <a:ext cx="914400" cy="274320"/>
          </a:xfrm>
          <a:prstGeom prst="rect">
            <a:avLst/>
          </a:prstGeom>
          <a:noFill/>
          <a:ln/>
        </p:spPr>
        <p:txBody>
          <a:bodyPr wrap="square" lIns="0" tIns="0" rIns="0" bIns="0" rtlCol="0" anchor="ctr"/>
          <a:lstStyle/>
          <a:p>
            <a:pPr indent="0" marL="0">
              <a:buNone/>
            </a:pPr>
            <a:r>
              <a:rPr lang="en-US" sz="1100" dirty="0">
                <a:solidFill>
                  <a:srgbClr val="1F2328"/>
                </a:solidFill>
                <a:latin typeface="맑은 고딕" pitchFamily="34" charset="0"/>
                <a:ea typeface="맑은 고딕" pitchFamily="34" charset="-122"/>
                <a:cs typeface="맑은 고딕" pitchFamily="34" charset="-120"/>
              </a:rPr>
              <a:t>GND</a:t>
            </a:r>
            <a:endParaRPr lang="en-US" sz="1100" dirty="0"/>
          </a:p>
        </p:txBody>
      </p:sp>
      <p:sp>
        <p:nvSpPr>
          <p:cNvPr id="8" name="Shape 6"/>
          <p:cNvSpPr/>
          <p:nvPr/>
        </p:nvSpPr>
        <p:spPr>
          <a:xfrm>
            <a:off x="8193024" y="603504"/>
            <a:ext cx="173736" cy="173736"/>
          </a:xfrm>
          <a:prstGeom prst="ellipse">
            <a:avLst/>
          </a:prstGeom>
          <a:solidFill>
            <a:srgbClr val="2F3C7E"/>
          </a:solidFill>
          <a:ln w="12700">
            <a:solidFill>
              <a:srgbClr val="333333"/>
            </a:solidFill>
            <a:prstDash val="solid"/>
          </a:ln>
        </p:spPr>
      </p:sp>
      <p:sp>
        <p:nvSpPr>
          <p:cNvPr id="9" name="Text 7"/>
          <p:cNvSpPr/>
          <p:nvPr/>
        </p:nvSpPr>
        <p:spPr>
          <a:xfrm>
            <a:off x="8430768" y="548640"/>
            <a:ext cx="914400" cy="274320"/>
          </a:xfrm>
          <a:prstGeom prst="rect">
            <a:avLst/>
          </a:prstGeom>
          <a:noFill/>
          <a:ln/>
        </p:spPr>
        <p:txBody>
          <a:bodyPr wrap="square" lIns="0" tIns="0" rIns="0" bIns="0" rtlCol="0" anchor="ctr"/>
          <a:lstStyle/>
          <a:p>
            <a:pPr indent="0" marL="0">
              <a:buNone/>
            </a:pPr>
            <a:r>
              <a:rPr lang="en-US" sz="1100" dirty="0">
                <a:solidFill>
                  <a:srgbClr val="1F2328"/>
                </a:solidFill>
                <a:latin typeface="맑은 고딕" pitchFamily="34" charset="0"/>
                <a:ea typeface="맑은 고딕" pitchFamily="34" charset="-122"/>
                <a:cs typeface="맑은 고딕" pitchFamily="34" charset="-120"/>
              </a:rPr>
              <a:t>GPIO</a:t>
            </a:r>
            <a:endParaRPr lang="en-US" sz="1100" dirty="0"/>
          </a:p>
        </p:txBody>
      </p:sp>
      <p:sp>
        <p:nvSpPr>
          <p:cNvPr id="10" name="Shape 8"/>
          <p:cNvSpPr/>
          <p:nvPr/>
        </p:nvSpPr>
        <p:spPr>
          <a:xfrm>
            <a:off x="9272016" y="603504"/>
            <a:ext cx="173736" cy="173736"/>
          </a:xfrm>
          <a:prstGeom prst="ellipse">
            <a:avLst/>
          </a:prstGeom>
          <a:solidFill>
            <a:srgbClr val="0B7285"/>
          </a:solidFill>
          <a:ln w="12700">
            <a:solidFill>
              <a:srgbClr val="333333"/>
            </a:solidFill>
            <a:prstDash val="solid"/>
          </a:ln>
        </p:spPr>
      </p:sp>
      <p:sp>
        <p:nvSpPr>
          <p:cNvPr id="11" name="Text 9"/>
          <p:cNvSpPr/>
          <p:nvPr/>
        </p:nvSpPr>
        <p:spPr>
          <a:xfrm>
            <a:off x="9509760" y="548640"/>
            <a:ext cx="914400" cy="274320"/>
          </a:xfrm>
          <a:prstGeom prst="rect">
            <a:avLst/>
          </a:prstGeom>
          <a:noFill/>
          <a:ln/>
        </p:spPr>
        <p:txBody>
          <a:bodyPr wrap="square" lIns="0" tIns="0" rIns="0" bIns="0" rtlCol="0" anchor="ctr"/>
          <a:lstStyle/>
          <a:p>
            <a:pPr indent="0" marL="0">
              <a:buNone/>
            </a:pPr>
            <a:r>
              <a:rPr lang="en-US" sz="1100" dirty="0">
                <a:solidFill>
                  <a:srgbClr val="1F2328"/>
                </a:solidFill>
                <a:latin typeface="맑은 고딕" pitchFamily="34" charset="0"/>
                <a:ea typeface="맑은 고딕" pitchFamily="34" charset="-122"/>
                <a:cs typeface="맑은 고딕" pitchFamily="34" charset="-120"/>
              </a:rPr>
              <a:t>ADC 가능</a:t>
            </a:r>
            <a:endParaRPr lang="en-US" sz="1100" dirty="0"/>
          </a:p>
        </p:txBody>
      </p:sp>
      <p:sp>
        <p:nvSpPr>
          <p:cNvPr id="12" name="Shape 10"/>
          <p:cNvSpPr/>
          <p:nvPr/>
        </p:nvSpPr>
        <p:spPr>
          <a:xfrm>
            <a:off x="10351008" y="603504"/>
            <a:ext cx="173736" cy="173736"/>
          </a:xfrm>
          <a:prstGeom prst="ellipse">
            <a:avLst/>
          </a:prstGeom>
          <a:solidFill>
            <a:srgbClr val="9CA3AF"/>
          </a:solidFill>
          <a:ln w="12700">
            <a:solidFill>
              <a:srgbClr val="333333"/>
            </a:solidFill>
            <a:prstDash val="solid"/>
          </a:ln>
        </p:spPr>
      </p:sp>
      <p:sp>
        <p:nvSpPr>
          <p:cNvPr id="13" name="Text 11"/>
          <p:cNvSpPr/>
          <p:nvPr/>
        </p:nvSpPr>
        <p:spPr>
          <a:xfrm>
            <a:off x="10588752" y="548640"/>
            <a:ext cx="914400" cy="274320"/>
          </a:xfrm>
          <a:prstGeom prst="rect">
            <a:avLst/>
          </a:prstGeom>
          <a:noFill/>
          <a:ln/>
        </p:spPr>
        <p:txBody>
          <a:bodyPr wrap="square" lIns="0" tIns="0" rIns="0" bIns="0" rtlCol="0" anchor="ctr"/>
          <a:lstStyle/>
          <a:p>
            <a:pPr indent="0" marL="0">
              <a:buNone/>
            </a:pPr>
            <a:r>
              <a:rPr lang="en-US" sz="1100" dirty="0">
                <a:solidFill>
                  <a:srgbClr val="1F2328"/>
                </a:solidFill>
                <a:latin typeface="맑은 고딕" pitchFamily="34" charset="0"/>
                <a:ea typeface="맑은 고딕" pitchFamily="34" charset="-122"/>
                <a:cs typeface="맑은 고딕" pitchFamily="34" charset="-120"/>
              </a:rPr>
              <a:t>기타</a:t>
            </a:r>
            <a:endParaRPr lang="en-US" sz="1100" dirty="0"/>
          </a:p>
        </p:txBody>
      </p:sp>
      <p:sp>
        <p:nvSpPr>
          <p:cNvPr id="14" name="Shape 12"/>
          <p:cNvSpPr/>
          <p:nvPr/>
        </p:nvSpPr>
        <p:spPr>
          <a:xfrm>
            <a:off x="4937760" y="1170432"/>
            <a:ext cx="1115568" cy="5065776"/>
          </a:xfrm>
          <a:prstGeom prst="roundRect">
            <a:avLst>
              <a:gd name="adj" fmla="val 4098"/>
            </a:avLst>
          </a:prstGeom>
          <a:solidFill>
            <a:srgbClr val="23272B"/>
          </a:solidFill>
          <a:ln w="12700">
            <a:solidFill>
              <a:srgbClr val="0E1113"/>
            </a:solidFill>
            <a:prstDash val="solid"/>
          </a:ln>
        </p:spPr>
      </p:sp>
      <p:sp>
        <p:nvSpPr>
          <p:cNvPr id="15" name="Text 13"/>
          <p:cNvSpPr/>
          <p:nvPr/>
        </p:nvSpPr>
        <p:spPr>
          <a:xfrm>
            <a:off x="4937760" y="3154680"/>
            <a:ext cx="1115568" cy="1097280"/>
          </a:xfrm>
          <a:prstGeom prst="rect">
            <a:avLst/>
          </a:prstGeom>
          <a:noFill/>
          <a:ln/>
        </p:spPr>
        <p:txBody>
          <a:bodyPr wrap="square" lIns="0" tIns="0" rIns="0" bIns="0" rtlCol="0" anchor="ctr"/>
          <a:lstStyle/>
          <a:p>
            <a:pPr algn="ctr" indent="0" marL="0">
              <a:buNone/>
            </a:pPr>
            <a:r>
              <a:rPr lang="en-US" sz="1200" b="1" dirty="0">
                <a:solidFill>
                  <a:srgbClr val="9AA0A6"/>
                </a:solidFill>
                <a:latin typeface="맑은 고딕" pitchFamily="34" charset="0"/>
                <a:ea typeface="맑은 고딕" pitchFamily="34" charset="-122"/>
                <a:cs typeface="맑은 고딕" pitchFamily="34" charset="-120"/>
              </a:rPr>
              <a:t>Pico 2 W</a:t>
            </a:r>
            <a:endParaRPr lang="en-US" sz="1200" dirty="0"/>
          </a:p>
        </p:txBody>
      </p:sp>
      <p:sp>
        <p:nvSpPr>
          <p:cNvPr id="16" name="Text 14"/>
          <p:cNvSpPr/>
          <p:nvPr/>
        </p:nvSpPr>
        <p:spPr>
          <a:xfrm>
            <a:off x="4937760" y="1225296"/>
            <a:ext cx="1115568" cy="219456"/>
          </a:xfrm>
          <a:prstGeom prst="rect">
            <a:avLst/>
          </a:prstGeom>
          <a:noFill/>
          <a:ln/>
        </p:spPr>
        <p:txBody>
          <a:bodyPr wrap="square" lIns="0" tIns="0" rIns="0" bIns="0"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USB</a:t>
            </a:r>
            <a:endParaRPr lang="en-US" sz="800" dirty="0"/>
          </a:p>
        </p:txBody>
      </p:sp>
      <p:sp>
        <p:nvSpPr>
          <p:cNvPr id="17" name="Shape 15"/>
          <p:cNvSpPr/>
          <p:nvPr/>
        </p:nvSpPr>
        <p:spPr>
          <a:xfrm>
            <a:off x="4663440" y="1211580"/>
            <a:ext cx="274320" cy="170993"/>
          </a:xfrm>
          <a:prstGeom prst="rect">
            <a:avLst/>
          </a:prstGeom>
          <a:solidFill>
            <a:srgbClr val="2F3C7E"/>
          </a:solidFill>
          <a:ln w="12700">
            <a:solidFill>
              <a:srgbClr val="333333"/>
            </a:solidFill>
            <a:prstDash val="solid"/>
          </a:ln>
        </p:spPr>
      </p:sp>
      <p:sp>
        <p:nvSpPr>
          <p:cNvPr id="18" name="Text 16"/>
          <p:cNvSpPr/>
          <p:nvPr/>
        </p:nvSpPr>
        <p:spPr>
          <a:xfrm>
            <a:off x="4663440" y="1211580"/>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19" name="Text 17"/>
          <p:cNvSpPr/>
          <p:nvPr/>
        </p:nvSpPr>
        <p:spPr>
          <a:xfrm>
            <a:off x="1188720" y="1188720"/>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GP0</a:t>
            </a:r>
            <a:pPr algn="r" indent="0" marL="0">
              <a:buNone/>
            </a:pPr>
            <a:r>
              <a:rPr lang="en-US" sz="900" dirty="0">
                <a:solidFill>
                  <a:srgbClr val="6B7280"/>
                </a:solidFill>
                <a:latin typeface="맑은 고딕" pitchFamily="34" charset="0"/>
                <a:ea typeface="맑은 고딕" pitchFamily="34" charset="-122"/>
                <a:cs typeface="맑은 고딕" pitchFamily="34" charset="-120"/>
              </a:rPr>
              <a:t>   UART0 TX</a:t>
            </a:r>
            <a:endParaRPr lang="en-US" sz="1050" dirty="0"/>
          </a:p>
        </p:txBody>
      </p:sp>
      <p:sp>
        <p:nvSpPr>
          <p:cNvPr id="20" name="Shape 18"/>
          <p:cNvSpPr/>
          <p:nvPr/>
        </p:nvSpPr>
        <p:spPr>
          <a:xfrm>
            <a:off x="4663440" y="1464869"/>
            <a:ext cx="274320" cy="170993"/>
          </a:xfrm>
          <a:prstGeom prst="rect">
            <a:avLst/>
          </a:prstGeom>
          <a:solidFill>
            <a:srgbClr val="2F3C7E"/>
          </a:solidFill>
          <a:ln w="12700">
            <a:solidFill>
              <a:srgbClr val="333333"/>
            </a:solidFill>
            <a:prstDash val="solid"/>
          </a:ln>
        </p:spPr>
      </p:sp>
      <p:sp>
        <p:nvSpPr>
          <p:cNvPr id="21" name="Text 19"/>
          <p:cNvSpPr/>
          <p:nvPr/>
        </p:nvSpPr>
        <p:spPr>
          <a:xfrm>
            <a:off x="4663440" y="1464869"/>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22" name="Text 20"/>
          <p:cNvSpPr/>
          <p:nvPr/>
        </p:nvSpPr>
        <p:spPr>
          <a:xfrm>
            <a:off x="1188720" y="1442009"/>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a:t>
            </a:r>
            <a:pPr algn="r" indent="0" marL="0">
              <a:buNone/>
            </a:pPr>
            <a:r>
              <a:rPr lang="en-US" sz="900" dirty="0">
                <a:solidFill>
                  <a:srgbClr val="6B7280"/>
                </a:solidFill>
                <a:latin typeface="맑은 고딕" pitchFamily="34" charset="0"/>
                <a:ea typeface="맑은 고딕" pitchFamily="34" charset="-122"/>
                <a:cs typeface="맑은 고딕" pitchFamily="34" charset="-120"/>
              </a:rPr>
              <a:t>   UART0 RX</a:t>
            </a:r>
            <a:endParaRPr lang="en-US" sz="1050" dirty="0"/>
          </a:p>
        </p:txBody>
      </p:sp>
      <p:sp>
        <p:nvSpPr>
          <p:cNvPr id="23" name="Shape 21"/>
          <p:cNvSpPr/>
          <p:nvPr/>
        </p:nvSpPr>
        <p:spPr>
          <a:xfrm>
            <a:off x="4663440" y="1718158"/>
            <a:ext cx="274320" cy="170993"/>
          </a:xfrm>
          <a:prstGeom prst="rect">
            <a:avLst/>
          </a:prstGeom>
          <a:solidFill>
            <a:srgbClr val="4B5563"/>
          </a:solidFill>
          <a:ln w="12700">
            <a:solidFill>
              <a:srgbClr val="333333"/>
            </a:solidFill>
            <a:prstDash val="solid"/>
          </a:ln>
        </p:spPr>
      </p:sp>
      <p:sp>
        <p:nvSpPr>
          <p:cNvPr id="24" name="Text 22"/>
          <p:cNvSpPr/>
          <p:nvPr/>
        </p:nvSpPr>
        <p:spPr>
          <a:xfrm>
            <a:off x="4663440" y="1718158"/>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25" name="Text 23"/>
          <p:cNvSpPr/>
          <p:nvPr/>
        </p:nvSpPr>
        <p:spPr>
          <a:xfrm>
            <a:off x="1188720" y="1695298"/>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GND</a:t>
            </a:r>
            <a:pPr algn="r" indent="0" marL="0">
              <a:buNone/>
            </a:pPr>
            <a:endParaRPr lang="en-US" sz="1050" dirty="0"/>
          </a:p>
        </p:txBody>
      </p:sp>
      <p:sp>
        <p:nvSpPr>
          <p:cNvPr id="26" name="Shape 24"/>
          <p:cNvSpPr/>
          <p:nvPr/>
        </p:nvSpPr>
        <p:spPr>
          <a:xfrm>
            <a:off x="4663440" y="1971446"/>
            <a:ext cx="274320" cy="170993"/>
          </a:xfrm>
          <a:prstGeom prst="rect">
            <a:avLst/>
          </a:prstGeom>
          <a:solidFill>
            <a:srgbClr val="2F3C7E"/>
          </a:solidFill>
          <a:ln w="12700">
            <a:solidFill>
              <a:srgbClr val="333333"/>
            </a:solidFill>
            <a:prstDash val="solid"/>
          </a:ln>
        </p:spPr>
      </p:sp>
      <p:sp>
        <p:nvSpPr>
          <p:cNvPr id="27" name="Text 25"/>
          <p:cNvSpPr/>
          <p:nvPr/>
        </p:nvSpPr>
        <p:spPr>
          <a:xfrm>
            <a:off x="4663440" y="1971446"/>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28" name="Text 26"/>
          <p:cNvSpPr/>
          <p:nvPr/>
        </p:nvSpPr>
        <p:spPr>
          <a:xfrm>
            <a:off x="1188720" y="1948586"/>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GP2</a:t>
            </a:r>
            <a:pPr algn="r" indent="0" marL="0">
              <a:buNone/>
            </a:pPr>
            <a:endParaRPr lang="en-US" sz="1050" dirty="0"/>
          </a:p>
        </p:txBody>
      </p:sp>
      <p:sp>
        <p:nvSpPr>
          <p:cNvPr id="29" name="Shape 27"/>
          <p:cNvSpPr/>
          <p:nvPr/>
        </p:nvSpPr>
        <p:spPr>
          <a:xfrm>
            <a:off x="4663440" y="2224735"/>
            <a:ext cx="274320" cy="170993"/>
          </a:xfrm>
          <a:prstGeom prst="rect">
            <a:avLst/>
          </a:prstGeom>
          <a:solidFill>
            <a:srgbClr val="2F3C7E"/>
          </a:solidFill>
          <a:ln w="12700">
            <a:solidFill>
              <a:srgbClr val="333333"/>
            </a:solidFill>
            <a:prstDash val="solid"/>
          </a:ln>
        </p:spPr>
      </p:sp>
      <p:sp>
        <p:nvSpPr>
          <p:cNvPr id="30" name="Text 28"/>
          <p:cNvSpPr/>
          <p:nvPr/>
        </p:nvSpPr>
        <p:spPr>
          <a:xfrm>
            <a:off x="4663440" y="2224735"/>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31" name="Text 29"/>
          <p:cNvSpPr/>
          <p:nvPr/>
        </p:nvSpPr>
        <p:spPr>
          <a:xfrm>
            <a:off x="1188720" y="2201875"/>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GP3</a:t>
            </a:r>
            <a:pPr algn="r" indent="0" marL="0">
              <a:buNone/>
            </a:pPr>
            <a:endParaRPr lang="en-US" sz="1050" dirty="0"/>
          </a:p>
        </p:txBody>
      </p:sp>
      <p:sp>
        <p:nvSpPr>
          <p:cNvPr id="32" name="Shape 30"/>
          <p:cNvSpPr/>
          <p:nvPr/>
        </p:nvSpPr>
        <p:spPr>
          <a:xfrm>
            <a:off x="4663440" y="2478024"/>
            <a:ext cx="274320" cy="170993"/>
          </a:xfrm>
          <a:prstGeom prst="rect">
            <a:avLst/>
          </a:prstGeom>
          <a:solidFill>
            <a:srgbClr val="2F3C7E"/>
          </a:solidFill>
          <a:ln w="12700">
            <a:solidFill>
              <a:srgbClr val="333333"/>
            </a:solidFill>
            <a:prstDash val="solid"/>
          </a:ln>
        </p:spPr>
      </p:sp>
      <p:sp>
        <p:nvSpPr>
          <p:cNvPr id="33" name="Text 31"/>
          <p:cNvSpPr/>
          <p:nvPr/>
        </p:nvSpPr>
        <p:spPr>
          <a:xfrm>
            <a:off x="4663440" y="2478024"/>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6</a:t>
            </a:r>
            <a:endParaRPr lang="en-US" sz="800" dirty="0"/>
          </a:p>
        </p:txBody>
      </p:sp>
      <p:sp>
        <p:nvSpPr>
          <p:cNvPr id="34" name="Text 32"/>
          <p:cNvSpPr/>
          <p:nvPr/>
        </p:nvSpPr>
        <p:spPr>
          <a:xfrm>
            <a:off x="1188720" y="2455164"/>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GP4</a:t>
            </a:r>
            <a:pPr algn="r" indent="0" marL="0">
              <a:buNone/>
            </a:pPr>
            <a:r>
              <a:rPr lang="en-US" sz="900" dirty="0">
                <a:solidFill>
                  <a:srgbClr val="6B7280"/>
                </a:solidFill>
                <a:latin typeface="맑은 고딕" pitchFamily="34" charset="0"/>
                <a:ea typeface="맑은 고딕" pitchFamily="34" charset="-122"/>
                <a:cs typeface="맑은 고딕" pitchFamily="34" charset="-120"/>
              </a:rPr>
              <a:t>   I2C0 SDA</a:t>
            </a:r>
            <a:endParaRPr lang="en-US" sz="1050" dirty="0"/>
          </a:p>
        </p:txBody>
      </p:sp>
      <p:sp>
        <p:nvSpPr>
          <p:cNvPr id="35" name="Shape 33"/>
          <p:cNvSpPr/>
          <p:nvPr/>
        </p:nvSpPr>
        <p:spPr>
          <a:xfrm>
            <a:off x="4663440" y="2731313"/>
            <a:ext cx="274320" cy="170993"/>
          </a:xfrm>
          <a:prstGeom prst="rect">
            <a:avLst/>
          </a:prstGeom>
          <a:solidFill>
            <a:srgbClr val="2F3C7E"/>
          </a:solidFill>
          <a:ln w="12700">
            <a:solidFill>
              <a:srgbClr val="333333"/>
            </a:solidFill>
            <a:prstDash val="solid"/>
          </a:ln>
        </p:spPr>
      </p:sp>
      <p:sp>
        <p:nvSpPr>
          <p:cNvPr id="36" name="Text 34"/>
          <p:cNvSpPr/>
          <p:nvPr/>
        </p:nvSpPr>
        <p:spPr>
          <a:xfrm>
            <a:off x="4663440" y="2731313"/>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7</a:t>
            </a:r>
            <a:endParaRPr lang="en-US" sz="800" dirty="0"/>
          </a:p>
        </p:txBody>
      </p:sp>
      <p:sp>
        <p:nvSpPr>
          <p:cNvPr id="37" name="Text 35"/>
          <p:cNvSpPr/>
          <p:nvPr/>
        </p:nvSpPr>
        <p:spPr>
          <a:xfrm>
            <a:off x="1188720" y="2708453"/>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GP5</a:t>
            </a:r>
            <a:pPr algn="r" indent="0" marL="0">
              <a:buNone/>
            </a:pPr>
            <a:r>
              <a:rPr lang="en-US" sz="900" dirty="0">
                <a:solidFill>
                  <a:srgbClr val="6B7280"/>
                </a:solidFill>
                <a:latin typeface="맑은 고딕" pitchFamily="34" charset="0"/>
                <a:ea typeface="맑은 고딕" pitchFamily="34" charset="-122"/>
                <a:cs typeface="맑은 고딕" pitchFamily="34" charset="-120"/>
              </a:rPr>
              <a:t>   I2C0 SCL</a:t>
            </a:r>
            <a:endParaRPr lang="en-US" sz="1050" dirty="0"/>
          </a:p>
        </p:txBody>
      </p:sp>
      <p:sp>
        <p:nvSpPr>
          <p:cNvPr id="38" name="Shape 36"/>
          <p:cNvSpPr/>
          <p:nvPr/>
        </p:nvSpPr>
        <p:spPr>
          <a:xfrm>
            <a:off x="4663440" y="2984602"/>
            <a:ext cx="274320" cy="170993"/>
          </a:xfrm>
          <a:prstGeom prst="rect">
            <a:avLst/>
          </a:prstGeom>
          <a:solidFill>
            <a:srgbClr val="4B5563"/>
          </a:solidFill>
          <a:ln w="12700">
            <a:solidFill>
              <a:srgbClr val="333333"/>
            </a:solidFill>
            <a:prstDash val="solid"/>
          </a:ln>
        </p:spPr>
      </p:sp>
      <p:sp>
        <p:nvSpPr>
          <p:cNvPr id="39" name="Text 37"/>
          <p:cNvSpPr/>
          <p:nvPr/>
        </p:nvSpPr>
        <p:spPr>
          <a:xfrm>
            <a:off x="4663440" y="2984602"/>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8</a:t>
            </a:r>
            <a:endParaRPr lang="en-US" sz="800" dirty="0"/>
          </a:p>
        </p:txBody>
      </p:sp>
      <p:sp>
        <p:nvSpPr>
          <p:cNvPr id="40" name="Text 38"/>
          <p:cNvSpPr/>
          <p:nvPr/>
        </p:nvSpPr>
        <p:spPr>
          <a:xfrm>
            <a:off x="1188720" y="2961742"/>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GND</a:t>
            </a:r>
            <a:pPr algn="r" indent="0" marL="0">
              <a:buNone/>
            </a:pPr>
            <a:endParaRPr lang="en-US" sz="1050" dirty="0"/>
          </a:p>
        </p:txBody>
      </p:sp>
      <p:sp>
        <p:nvSpPr>
          <p:cNvPr id="41" name="Shape 39"/>
          <p:cNvSpPr/>
          <p:nvPr/>
        </p:nvSpPr>
        <p:spPr>
          <a:xfrm>
            <a:off x="4663440" y="3237890"/>
            <a:ext cx="274320" cy="170993"/>
          </a:xfrm>
          <a:prstGeom prst="rect">
            <a:avLst/>
          </a:prstGeom>
          <a:solidFill>
            <a:srgbClr val="2F3C7E"/>
          </a:solidFill>
          <a:ln w="12700">
            <a:solidFill>
              <a:srgbClr val="333333"/>
            </a:solidFill>
            <a:prstDash val="solid"/>
          </a:ln>
        </p:spPr>
      </p:sp>
      <p:sp>
        <p:nvSpPr>
          <p:cNvPr id="42" name="Text 40"/>
          <p:cNvSpPr/>
          <p:nvPr/>
        </p:nvSpPr>
        <p:spPr>
          <a:xfrm>
            <a:off x="4663440" y="3237890"/>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9</a:t>
            </a:r>
            <a:endParaRPr lang="en-US" sz="800" dirty="0"/>
          </a:p>
        </p:txBody>
      </p:sp>
      <p:sp>
        <p:nvSpPr>
          <p:cNvPr id="43" name="Text 41"/>
          <p:cNvSpPr/>
          <p:nvPr/>
        </p:nvSpPr>
        <p:spPr>
          <a:xfrm>
            <a:off x="1188720" y="3215030"/>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GP6</a:t>
            </a:r>
            <a:pPr algn="r" indent="0" marL="0">
              <a:buNone/>
            </a:pPr>
            <a:endParaRPr lang="en-US" sz="1050" dirty="0"/>
          </a:p>
        </p:txBody>
      </p:sp>
      <p:sp>
        <p:nvSpPr>
          <p:cNvPr id="44" name="Shape 42"/>
          <p:cNvSpPr/>
          <p:nvPr/>
        </p:nvSpPr>
        <p:spPr>
          <a:xfrm>
            <a:off x="4663440" y="3491179"/>
            <a:ext cx="274320" cy="170993"/>
          </a:xfrm>
          <a:prstGeom prst="rect">
            <a:avLst/>
          </a:prstGeom>
          <a:solidFill>
            <a:srgbClr val="2F3C7E"/>
          </a:solidFill>
          <a:ln w="12700">
            <a:solidFill>
              <a:srgbClr val="333333"/>
            </a:solidFill>
            <a:prstDash val="solid"/>
          </a:ln>
        </p:spPr>
      </p:sp>
      <p:sp>
        <p:nvSpPr>
          <p:cNvPr id="45" name="Text 43"/>
          <p:cNvSpPr/>
          <p:nvPr/>
        </p:nvSpPr>
        <p:spPr>
          <a:xfrm>
            <a:off x="4663440" y="3491179"/>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10</a:t>
            </a:r>
            <a:endParaRPr lang="en-US" sz="800" dirty="0"/>
          </a:p>
        </p:txBody>
      </p:sp>
      <p:sp>
        <p:nvSpPr>
          <p:cNvPr id="46" name="Text 44"/>
          <p:cNvSpPr/>
          <p:nvPr/>
        </p:nvSpPr>
        <p:spPr>
          <a:xfrm>
            <a:off x="1188720" y="3468319"/>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GP7</a:t>
            </a:r>
            <a:pPr algn="r" indent="0" marL="0">
              <a:buNone/>
            </a:pPr>
            <a:endParaRPr lang="en-US" sz="1050" dirty="0"/>
          </a:p>
        </p:txBody>
      </p:sp>
      <p:sp>
        <p:nvSpPr>
          <p:cNvPr id="47" name="Shape 45"/>
          <p:cNvSpPr/>
          <p:nvPr/>
        </p:nvSpPr>
        <p:spPr>
          <a:xfrm>
            <a:off x="4663440" y="3744468"/>
            <a:ext cx="274320" cy="170993"/>
          </a:xfrm>
          <a:prstGeom prst="rect">
            <a:avLst/>
          </a:prstGeom>
          <a:solidFill>
            <a:srgbClr val="2F3C7E"/>
          </a:solidFill>
          <a:ln w="12700">
            <a:solidFill>
              <a:srgbClr val="333333"/>
            </a:solidFill>
            <a:prstDash val="solid"/>
          </a:ln>
        </p:spPr>
      </p:sp>
      <p:sp>
        <p:nvSpPr>
          <p:cNvPr id="48" name="Text 46"/>
          <p:cNvSpPr/>
          <p:nvPr/>
        </p:nvSpPr>
        <p:spPr>
          <a:xfrm>
            <a:off x="4663440" y="3744468"/>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11</a:t>
            </a:r>
            <a:endParaRPr lang="en-US" sz="800" dirty="0"/>
          </a:p>
        </p:txBody>
      </p:sp>
      <p:sp>
        <p:nvSpPr>
          <p:cNvPr id="49" name="Text 47"/>
          <p:cNvSpPr/>
          <p:nvPr/>
        </p:nvSpPr>
        <p:spPr>
          <a:xfrm>
            <a:off x="1188720" y="3721608"/>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GP8</a:t>
            </a:r>
            <a:pPr algn="r" indent="0" marL="0">
              <a:buNone/>
            </a:pPr>
            <a:endParaRPr lang="en-US" sz="1050" dirty="0"/>
          </a:p>
        </p:txBody>
      </p:sp>
      <p:sp>
        <p:nvSpPr>
          <p:cNvPr id="50" name="Shape 48"/>
          <p:cNvSpPr/>
          <p:nvPr/>
        </p:nvSpPr>
        <p:spPr>
          <a:xfrm>
            <a:off x="4663440" y="3997757"/>
            <a:ext cx="274320" cy="170993"/>
          </a:xfrm>
          <a:prstGeom prst="rect">
            <a:avLst/>
          </a:prstGeom>
          <a:solidFill>
            <a:srgbClr val="2F3C7E"/>
          </a:solidFill>
          <a:ln w="12700">
            <a:solidFill>
              <a:srgbClr val="333333"/>
            </a:solidFill>
            <a:prstDash val="solid"/>
          </a:ln>
        </p:spPr>
      </p:sp>
      <p:sp>
        <p:nvSpPr>
          <p:cNvPr id="51" name="Text 49"/>
          <p:cNvSpPr/>
          <p:nvPr/>
        </p:nvSpPr>
        <p:spPr>
          <a:xfrm>
            <a:off x="4663440" y="3997757"/>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12</a:t>
            </a:r>
            <a:endParaRPr lang="en-US" sz="800" dirty="0"/>
          </a:p>
        </p:txBody>
      </p:sp>
      <p:sp>
        <p:nvSpPr>
          <p:cNvPr id="52" name="Text 50"/>
          <p:cNvSpPr/>
          <p:nvPr/>
        </p:nvSpPr>
        <p:spPr>
          <a:xfrm>
            <a:off x="1188720" y="3974897"/>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GP9</a:t>
            </a:r>
            <a:pPr algn="r" indent="0" marL="0">
              <a:buNone/>
            </a:pPr>
            <a:endParaRPr lang="en-US" sz="1050" dirty="0"/>
          </a:p>
        </p:txBody>
      </p:sp>
      <p:sp>
        <p:nvSpPr>
          <p:cNvPr id="53" name="Shape 51"/>
          <p:cNvSpPr/>
          <p:nvPr/>
        </p:nvSpPr>
        <p:spPr>
          <a:xfrm>
            <a:off x="4663440" y="4251046"/>
            <a:ext cx="274320" cy="170993"/>
          </a:xfrm>
          <a:prstGeom prst="rect">
            <a:avLst/>
          </a:prstGeom>
          <a:solidFill>
            <a:srgbClr val="4B5563"/>
          </a:solidFill>
          <a:ln w="12700">
            <a:solidFill>
              <a:srgbClr val="333333"/>
            </a:solidFill>
            <a:prstDash val="solid"/>
          </a:ln>
        </p:spPr>
      </p:sp>
      <p:sp>
        <p:nvSpPr>
          <p:cNvPr id="54" name="Text 52"/>
          <p:cNvSpPr/>
          <p:nvPr/>
        </p:nvSpPr>
        <p:spPr>
          <a:xfrm>
            <a:off x="4663440" y="4251046"/>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13</a:t>
            </a:r>
            <a:endParaRPr lang="en-US" sz="800" dirty="0"/>
          </a:p>
        </p:txBody>
      </p:sp>
      <p:sp>
        <p:nvSpPr>
          <p:cNvPr id="55" name="Text 53"/>
          <p:cNvSpPr/>
          <p:nvPr/>
        </p:nvSpPr>
        <p:spPr>
          <a:xfrm>
            <a:off x="1188720" y="4228186"/>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GND</a:t>
            </a:r>
            <a:pPr algn="r" indent="0" marL="0">
              <a:buNone/>
            </a:pPr>
            <a:endParaRPr lang="en-US" sz="1050" dirty="0"/>
          </a:p>
        </p:txBody>
      </p:sp>
      <p:sp>
        <p:nvSpPr>
          <p:cNvPr id="56" name="Shape 54"/>
          <p:cNvSpPr/>
          <p:nvPr/>
        </p:nvSpPr>
        <p:spPr>
          <a:xfrm>
            <a:off x="4663440" y="4504334"/>
            <a:ext cx="274320" cy="170993"/>
          </a:xfrm>
          <a:prstGeom prst="rect">
            <a:avLst/>
          </a:prstGeom>
          <a:solidFill>
            <a:srgbClr val="2F3C7E"/>
          </a:solidFill>
          <a:ln w="12700">
            <a:solidFill>
              <a:srgbClr val="333333"/>
            </a:solidFill>
            <a:prstDash val="solid"/>
          </a:ln>
        </p:spPr>
      </p:sp>
      <p:sp>
        <p:nvSpPr>
          <p:cNvPr id="57" name="Text 55"/>
          <p:cNvSpPr/>
          <p:nvPr/>
        </p:nvSpPr>
        <p:spPr>
          <a:xfrm>
            <a:off x="4663440" y="4504334"/>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14</a:t>
            </a:r>
            <a:endParaRPr lang="en-US" sz="800" dirty="0"/>
          </a:p>
        </p:txBody>
      </p:sp>
      <p:sp>
        <p:nvSpPr>
          <p:cNvPr id="58" name="Text 56"/>
          <p:cNvSpPr/>
          <p:nvPr/>
        </p:nvSpPr>
        <p:spPr>
          <a:xfrm>
            <a:off x="1188720" y="4481474"/>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GP10</a:t>
            </a:r>
            <a:pPr algn="r" indent="0" marL="0">
              <a:buNone/>
            </a:pPr>
            <a:endParaRPr lang="en-US" sz="1050" dirty="0"/>
          </a:p>
        </p:txBody>
      </p:sp>
      <p:sp>
        <p:nvSpPr>
          <p:cNvPr id="59" name="Shape 57"/>
          <p:cNvSpPr/>
          <p:nvPr/>
        </p:nvSpPr>
        <p:spPr>
          <a:xfrm>
            <a:off x="4663440" y="4757623"/>
            <a:ext cx="274320" cy="170993"/>
          </a:xfrm>
          <a:prstGeom prst="rect">
            <a:avLst/>
          </a:prstGeom>
          <a:solidFill>
            <a:srgbClr val="2F3C7E"/>
          </a:solidFill>
          <a:ln w="12700">
            <a:solidFill>
              <a:srgbClr val="333333"/>
            </a:solidFill>
            <a:prstDash val="solid"/>
          </a:ln>
        </p:spPr>
      </p:sp>
      <p:sp>
        <p:nvSpPr>
          <p:cNvPr id="60" name="Text 58"/>
          <p:cNvSpPr/>
          <p:nvPr/>
        </p:nvSpPr>
        <p:spPr>
          <a:xfrm>
            <a:off x="4663440" y="4757623"/>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15</a:t>
            </a:r>
            <a:endParaRPr lang="en-US" sz="800" dirty="0"/>
          </a:p>
        </p:txBody>
      </p:sp>
      <p:sp>
        <p:nvSpPr>
          <p:cNvPr id="61" name="Text 59"/>
          <p:cNvSpPr/>
          <p:nvPr/>
        </p:nvSpPr>
        <p:spPr>
          <a:xfrm>
            <a:off x="1188720" y="4734763"/>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GP11</a:t>
            </a:r>
            <a:pPr algn="r" indent="0" marL="0">
              <a:buNone/>
            </a:pPr>
            <a:endParaRPr lang="en-US" sz="1050" dirty="0"/>
          </a:p>
        </p:txBody>
      </p:sp>
      <p:sp>
        <p:nvSpPr>
          <p:cNvPr id="62" name="Shape 60"/>
          <p:cNvSpPr/>
          <p:nvPr/>
        </p:nvSpPr>
        <p:spPr>
          <a:xfrm>
            <a:off x="4663440" y="5010912"/>
            <a:ext cx="274320" cy="170993"/>
          </a:xfrm>
          <a:prstGeom prst="rect">
            <a:avLst/>
          </a:prstGeom>
          <a:solidFill>
            <a:srgbClr val="2F3C7E"/>
          </a:solidFill>
          <a:ln w="12700">
            <a:solidFill>
              <a:srgbClr val="333333"/>
            </a:solidFill>
            <a:prstDash val="solid"/>
          </a:ln>
        </p:spPr>
      </p:sp>
      <p:sp>
        <p:nvSpPr>
          <p:cNvPr id="63" name="Text 61"/>
          <p:cNvSpPr/>
          <p:nvPr/>
        </p:nvSpPr>
        <p:spPr>
          <a:xfrm>
            <a:off x="4663440" y="5010912"/>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16</a:t>
            </a:r>
            <a:endParaRPr lang="en-US" sz="800" dirty="0"/>
          </a:p>
        </p:txBody>
      </p:sp>
      <p:sp>
        <p:nvSpPr>
          <p:cNvPr id="64" name="Text 62"/>
          <p:cNvSpPr/>
          <p:nvPr/>
        </p:nvSpPr>
        <p:spPr>
          <a:xfrm>
            <a:off x="1188720" y="4988052"/>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GP12</a:t>
            </a:r>
            <a:pPr algn="r" indent="0" marL="0">
              <a:buNone/>
            </a:pPr>
            <a:endParaRPr lang="en-US" sz="1050" dirty="0"/>
          </a:p>
        </p:txBody>
      </p:sp>
      <p:sp>
        <p:nvSpPr>
          <p:cNvPr id="65" name="Shape 63"/>
          <p:cNvSpPr/>
          <p:nvPr/>
        </p:nvSpPr>
        <p:spPr>
          <a:xfrm>
            <a:off x="4663440" y="5264201"/>
            <a:ext cx="274320" cy="170993"/>
          </a:xfrm>
          <a:prstGeom prst="rect">
            <a:avLst/>
          </a:prstGeom>
          <a:solidFill>
            <a:srgbClr val="2F3C7E"/>
          </a:solidFill>
          <a:ln w="12700">
            <a:solidFill>
              <a:srgbClr val="333333"/>
            </a:solidFill>
            <a:prstDash val="solid"/>
          </a:ln>
        </p:spPr>
      </p:sp>
      <p:sp>
        <p:nvSpPr>
          <p:cNvPr id="66" name="Text 64"/>
          <p:cNvSpPr/>
          <p:nvPr/>
        </p:nvSpPr>
        <p:spPr>
          <a:xfrm>
            <a:off x="4663440" y="5264201"/>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17</a:t>
            </a:r>
            <a:endParaRPr lang="en-US" sz="800" dirty="0"/>
          </a:p>
        </p:txBody>
      </p:sp>
      <p:sp>
        <p:nvSpPr>
          <p:cNvPr id="67" name="Text 65"/>
          <p:cNvSpPr/>
          <p:nvPr/>
        </p:nvSpPr>
        <p:spPr>
          <a:xfrm>
            <a:off x="1188720" y="5241341"/>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GP13</a:t>
            </a:r>
            <a:pPr algn="r" indent="0" marL="0">
              <a:buNone/>
            </a:pPr>
            <a:endParaRPr lang="en-US" sz="1050" dirty="0"/>
          </a:p>
        </p:txBody>
      </p:sp>
      <p:sp>
        <p:nvSpPr>
          <p:cNvPr id="68" name="Shape 66"/>
          <p:cNvSpPr/>
          <p:nvPr/>
        </p:nvSpPr>
        <p:spPr>
          <a:xfrm>
            <a:off x="4663440" y="5517490"/>
            <a:ext cx="274320" cy="170993"/>
          </a:xfrm>
          <a:prstGeom prst="rect">
            <a:avLst/>
          </a:prstGeom>
          <a:solidFill>
            <a:srgbClr val="4B5563"/>
          </a:solidFill>
          <a:ln w="12700">
            <a:solidFill>
              <a:srgbClr val="333333"/>
            </a:solidFill>
            <a:prstDash val="solid"/>
          </a:ln>
        </p:spPr>
      </p:sp>
      <p:sp>
        <p:nvSpPr>
          <p:cNvPr id="69" name="Text 67"/>
          <p:cNvSpPr/>
          <p:nvPr/>
        </p:nvSpPr>
        <p:spPr>
          <a:xfrm>
            <a:off x="4663440" y="5517490"/>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18</a:t>
            </a:r>
            <a:endParaRPr lang="en-US" sz="800" dirty="0"/>
          </a:p>
        </p:txBody>
      </p:sp>
      <p:sp>
        <p:nvSpPr>
          <p:cNvPr id="70" name="Text 68"/>
          <p:cNvSpPr/>
          <p:nvPr/>
        </p:nvSpPr>
        <p:spPr>
          <a:xfrm>
            <a:off x="1188720" y="5494630"/>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GND</a:t>
            </a:r>
            <a:pPr algn="r" indent="0" marL="0">
              <a:buNone/>
            </a:pPr>
            <a:endParaRPr lang="en-US" sz="1050" dirty="0"/>
          </a:p>
        </p:txBody>
      </p:sp>
      <p:sp>
        <p:nvSpPr>
          <p:cNvPr id="71" name="Shape 69"/>
          <p:cNvSpPr/>
          <p:nvPr/>
        </p:nvSpPr>
        <p:spPr>
          <a:xfrm>
            <a:off x="4663440" y="5770778"/>
            <a:ext cx="274320" cy="170993"/>
          </a:xfrm>
          <a:prstGeom prst="rect">
            <a:avLst/>
          </a:prstGeom>
          <a:solidFill>
            <a:srgbClr val="2F3C7E"/>
          </a:solidFill>
          <a:ln w="12700">
            <a:solidFill>
              <a:srgbClr val="333333"/>
            </a:solidFill>
            <a:prstDash val="solid"/>
          </a:ln>
        </p:spPr>
      </p:sp>
      <p:sp>
        <p:nvSpPr>
          <p:cNvPr id="72" name="Text 70"/>
          <p:cNvSpPr/>
          <p:nvPr/>
        </p:nvSpPr>
        <p:spPr>
          <a:xfrm>
            <a:off x="4663440" y="5770778"/>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19</a:t>
            </a:r>
            <a:endParaRPr lang="en-US" sz="800" dirty="0"/>
          </a:p>
        </p:txBody>
      </p:sp>
      <p:sp>
        <p:nvSpPr>
          <p:cNvPr id="73" name="Text 71"/>
          <p:cNvSpPr/>
          <p:nvPr/>
        </p:nvSpPr>
        <p:spPr>
          <a:xfrm>
            <a:off x="1188720" y="5747918"/>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GP14</a:t>
            </a:r>
            <a:pPr algn="r" indent="0" marL="0">
              <a:buNone/>
            </a:pPr>
            <a:endParaRPr lang="en-US" sz="1050" dirty="0"/>
          </a:p>
        </p:txBody>
      </p:sp>
      <p:sp>
        <p:nvSpPr>
          <p:cNvPr id="74" name="Shape 72"/>
          <p:cNvSpPr/>
          <p:nvPr/>
        </p:nvSpPr>
        <p:spPr>
          <a:xfrm>
            <a:off x="4663440" y="6024067"/>
            <a:ext cx="274320" cy="170993"/>
          </a:xfrm>
          <a:prstGeom prst="rect">
            <a:avLst/>
          </a:prstGeom>
          <a:solidFill>
            <a:srgbClr val="2F3C7E"/>
          </a:solidFill>
          <a:ln w="12700">
            <a:solidFill>
              <a:srgbClr val="333333"/>
            </a:solidFill>
            <a:prstDash val="solid"/>
          </a:ln>
        </p:spPr>
      </p:sp>
      <p:sp>
        <p:nvSpPr>
          <p:cNvPr id="75" name="Text 73"/>
          <p:cNvSpPr/>
          <p:nvPr/>
        </p:nvSpPr>
        <p:spPr>
          <a:xfrm>
            <a:off x="4663440" y="6024067"/>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20</a:t>
            </a:r>
            <a:endParaRPr lang="en-US" sz="800" dirty="0"/>
          </a:p>
        </p:txBody>
      </p:sp>
      <p:sp>
        <p:nvSpPr>
          <p:cNvPr id="76" name="Text 74"/>
          <p:cNvSpPr/>
          <p:nvPr/>
        </p:nvSpPr>
        <p:spPr>
          <a:xfrm>
            <a:off x="1188720" y="6001207"/>
            <a:ext cx="3401568" cy="216713"/>
          </a:xfrm>
          <a:prstGeom prst="rect">
            <a:avLst/>
          </a:prstGeom>
          <a:noFill/>
          <a:ln/>
        </p:spPr>
        <p:txBody>
          <a:bodyPr wrap="square" lIns="0" tIns="0" rIns="0" bIns="0" rtlCol="0" anchor="ctr"/>
          <a:lstStyle/>
          <a:p>
            <a:pPr algn="r" indent="0" marL="0">
              <a:buNone/>
            </a:pPr>
            <a:r>
              <a:rPr lang="en-US" sz="1050" b="1" dirty="0">
                <a:solidFill>
                  <a:srgbClr val="1F2328"/>
                </a:solidFill>
                <a:latin typeface="Arial" pitchFamily="34" charset="0"/>
                <a:ea typeface="Arial" pitchFamily="34" charset="-122"/>
                <a:cs typeface="Arial" pitchFamily="34" charset="-120"/>
              </a:rPr>
              <a:t>GP15</a:t>
            </a:r>
            <a:pPr algn="r" indent="0" marL="0">
              <a:buNone/>
            </a:pPr>
            <a:endParaRPr lang="en-US" sz="1050" dirty="0"/>
          </a:p>
        </p:txBody>
      </p:sp>
      <p:sp>
        <p:nvSpPr>
          <p:cNvPr id="77" name="Shape 75"/>
          <p:cNvSpPr/>
          <p:nvPr/>
        </p:nvSpPr>
        <p:spPr>
          <a:xfrm>
            <a:off x="6053328" y="1211580"/>
            <a:ext cx="274320" cy="170993"/>
          </a:xfrm>
          <a:prstGeom prst="rect">
            <a:avLst/>
          </a:prstGeom>
          <a:solidFill>
            <a:srgbClr val="990011"/>
          </a:solidFill>
          <a:ln w="12700">
            <a:solidFill>
              <a:srgbClr val="333333"/>
            </a:solidFill>
            <a:prstDash val="solid"/>
          </a:ln>
        </p:spPr>
      </p:sp>
      <p:sp>
        <p:nvSpPr>
          <p:cNvPr id="78" name="Text 76"/>
          <p:cNvSpPr/>
          <p:nvPr/>
        </p:nvSpPr>
        <p:spPr>
          <a:xfrm>
            <a:off x="6053328" y="1211580"/>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40</a:t>
            </a:r>
            <a:endParaRPr lang="en-US" sz="800" dirty="0"/>
          </a:p>
        </p:txBody>
      </p:sp>
      <p:sp>
        <p:nvSpPr>
          <p:cNvPr id="79" name="Text 77"/>
          <p:cNvSpPr/>
          <p:nvPr/>
        </p:nvSpPr>
        <p:spPr>
          <a:xfrm>
            <a:off x="6382512" y="1188720"/>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VBUS</a:t>
            </a:r>
            <a:pPr algn="l" indent="0" marL="0">
              <a:buNone/>
            </a:pPr>
            <a:r>
              <a:rPr lang="en-US" sz="900" dirty="0">
                <a:solidFill>
                  <a:srgbClr val="6B7280"/>
                </a:solidFill>
                <a:latin typeface="맑은 고딕" pitchFamily="34" charset="0"/>
                <a:ea typeface="맑은 고딕" pitchFamily="34" charset="-122"/>
                <a:cs typeface="맑은 고딕" pitchFamily="34" charset="-120"/>
              </a:rPr>
              <a:t>   USB 5V 입력</a:t>
            </a:r>
            <a:endParaRPr lang="en-US" sz="1050" dirty="0"/>
          </a:p>
        </p:txBody>
      </p:sp>
      <p:sp>
        <p:nvSpPr>
          <p:cNvPr id="80" name="Shape 78"/>
          <p:cNvSpPr/>
          <p:nvPr/>
        </p:nvSpPr>
        <p:spPr>
          <a:xfrm>
            <a:off x="6053328" y="1464869"/>
            <a:ext cx="274320" cy="170993"/>
          </a:xfrm>
          <a:prstGeom prst="rect">
            <a:avLst/>
          </a:prstGeom>
          <a:solidFill>
            <a:srgbClr val="990011"/>
          </a:solidFill>
          <a:ln w="12700">
            <a:solidFill>
              <a:srgbClr val="333333"/>
            </a:solidFill>
            <a:prstDash val="solid"/>
          </a:ln>
        </p:spPr>
      </p:sp>
      <p:sp>
        <p:nvSpPr>
          <p:cNvPr id="81" name="Text 79"/>
          <p:cNvSpPr/>
          <p:nvPr/>
        </p:nvSpPr>
        <p:spPr>
          <a:xfrm>
            <a:off x="6053328" y="1464869"/>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39</a:t>
            </a:r>
            <a:endParaRPr lang="en-US" sz="800" dirty="0"/>
          </a:p>
        </p:txBody>
      </p:sp>
      <p:sp>
        <p:nvSpPr>
          <p:cNvPr id="82" name="Text 80"/>
          <p:cNvSpPr/>
          <p:nvPr/>
        </p:nvSpPr>
        <p:spPr>
          <a:xfrm>
            <a:off x="6382512" y="1442009"/>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VSYS</a:t>
            </a:r>
            <a:pPr algn="l" indent="0" marL="0">
              <a:buNone/>
            </a:pPr>
            <a:r>
              <a:rPr lang="en-US" sz="900" dirty="0">
                <a:solidFill>
                  <a:srgbClr val="6B7280"/>
                </a:solidFill>
                <a:latin typeface="맑은 고딕" pitchFamily="34" charset="0"/>
                <a:ea typeface="맑은 고딕" pitchFamily="34" charset="-122"/>
                <a:cs typeface="맑은 고딕" pitchFamily="34" charset="-120"/>
              </a:rPr>
              <a:t>   시스템 전원 1.8~5.5V</a:t>
            </a:r>
            <a:endParaRPr lang="en-US" sz="1050" dirty="0"/>
          </a:p>
        </p:txBody>
      </p:sp>
      <p:sp>
        <p:nvSpPr>
          <p:cNvPr id="83" name="Shape 81"/>
          <p:cNvSpPr/>
          <p:nvPr/>
        </p:nvSpPr>
        <p:spPr>
          <a:xfrm>
            <a:off x="6053328" y="1718158"/>
            <a:ext cx="274320" cy="170993"/>
          </a:xfrm>
          <a:prstGeom prst="rect">
            <a:avLst/>
          </a:prstGeom>
          <a:solidFill>
            <a:srgbClr val="4B5563"/>
          </a:solidFill>
          <a:ln w="12700">
            <a:solidFill>
              <a:srgbClr val="333333"/>
            </a:solidFill>
            <a:prstDash val="solid"/>
          </a:ln>
        </p:spPr>
      </p:sp>
      <p:sp>
        <p:nvSpPr>
          <p:cNvPr id="84" name="Text 82"/>
          <p:cNvSpPr/>
          <p:nvPr/>
        </p:nvSpPr>
        <p:spPr>
          <a:xfrm>
            <a:off x="6053328" y="1718158"/>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38</a:t>
            </a:r>
            <a:endParaRPr lang="en-US" sz="800" dirty="0"/>
          </a:p>
        </p:txBody>
      </p:sp>
      <p:sp>
        <p:nvSpPr>
          <p:cNvPr id="85" name="Text 83"/>
          <p:cNvSpPr/>
          <p:nvPr/>
        </p:nvSpPr>
        <p:spPr>
          <a:xfrm>
            <a:off x="6382512" y="1695298"/>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GND</a:t>
            </a:r>
            <a:pPr algn="l" indent="0" marL="0">
              <a:buNone/>
            </a:pPr>
            <a:endParaRPr lang="en-US" sz="1050" dirty="0"/>
          </a:p>
        </p:txBody>
      </p:sp>
      <p:sp>
        <p:nvSpPr>
          <p:cNvPr id="86" name="Shape 84"/>
          <p:cNvSpPr/>
          <p:nvPr/>
        </p:nvSpPr>
        <p:spPr>
          <a:xfrm>
            <a:off x="6053328" y="1971446"/>
            <a:ext cx="274320" cy="170993"/>
          </a:xfrm>
          <a:prstGeom prst="rect">
            <a:avLst/>
          </a:prstGeom>
          <a:solidFill>
            <a:srgbClr val="9CA3AF"/>
          </a:solidFill>
          <a:ln w="12700">
            <a:solidFill>
              <a:srgbClr val="333333"/>
            </a:solidFill>
            <a:prstDash val="solid"/>
          </a:ln>
        </p:spPr>
      </p:sp>
      <p:sp>
        <p:nvSpPr>
          <p:cNvPr id="87" name="Text 85"/>
          <p:cNvSpPr/>
          <p:nvPr/>
        </p:nvSpPr>
        <p:spPr>
          <a:xfrm>
            <a:off x="6053328" y="1971446"/>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37</a:t>
            </a:r>
            <a:endParaRPr lang="en-US" sz="800" dirty="0"/>
          </a:p>
        </p:txBody>
      </p:sp>
      <p:sp>
        <p:nvSpPr>
          <p:cNvPr id="88" name="Text 86"/>
          <p:cNvSpPr/>
          <p:nvPr/>
        </p:nvSpPr>
        <p:spPr>
          <a:xfrm>
            <a:off x="6382512" y="1948586"/>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3V3_EN</a:t>
            </a:r>
            <a:pPr algn="l" indent="0" marL="0">
              <a:buNone/>
            </a:pPr>
            <a:r>
              <a:rPr lang="en-US" sz="900" dirty="0">
                <a:solidFill>
                  <a:srgbClr val="6B7280"/>
                </a:solidFill>
                <a:latin typeface="맑은 고딕" pitchFamily="34" charset="0"/>
                <a:ea typeface="맑은 고딕" pitchFamily="34" charset="-122"/>
                <a:cs typeface="맑은 고딕" pitchFamily="34" charset="-120"/>
              </a:rPr>
              <a:t>   3.3V 출력 제어</a:t>
            </a:r>
            <a:endParaRPr lang="en-US" sz="1050" dirty="0"/>
          </a:p>
        </p:txBody>
      </p:sp>
      <p:sp>
        <p:nvSpPr>
          <p:cNvPr id="89" name="Shape 87"/>
          <p:cNvSpPr/>
          <p:nvPr/>
        </p:nvSpPr>
        <p:spPr>
          <a:xfrm>
            <a:off x="6053328" y="2224735"/>
            <a:ext cx="274320" cy="170993"/>
          </a:xfrm>
          <a:prstGeom prst="rect">
            <a:avLst/>
          </a:prstGeom>
          <a:solidFill>
            <a:srgbClr val="990011"/>
          </a:solidFill>
          <a:ln w="12700">
            <a:solidFill>
              <a:srgbClr val="333333"/>
            </a:solidFill>
            <a:prstDash val="solid"/>
          </a:ln>
        </p:spPr>
      </p:sp>
      <p:sp>
        <p:nvSpPr>
          <p:cNvPr id="90" name="Text 88"/>
          <p:cNvSpPr/>
          <p:nvPr/>
        </p:nvSpPr>
        <p:spPr>
          <a:xfrm>
            <a:off x="6053328" y="2224735"/>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36</a:t>
            </a:r>
            <a:endParaRPr lang="en-US" sz="800" dirty="0"/>
          </a:p>
        </p:txBody>
      </p:sp>
      <p:sp>
        <p:nvSpPr>
          <p:cNvPr id="91" name="Text 89"/>
          <p:cNvSpPr/>
          <p:nvPr/>
        </p:nvSpPr>
        <p:spPr>
          <a:xfrm>
            <a:off x="6382512" y="2201875"/>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3V3 (OUT)</a:t>
            </a:r>
            <a:pPr algn="l" indent="0" marL="0">
              <a:buNone/>
            </a:pPr>
            <a:r>
              <a:rPr lang="en-US" sz="900" dirty="0">
                <a:solidFill>
                  <a:srgbClr val="6B7280"/>
                </a:solidFill>
                <a:latin typeface="맑은 고딕" pitchFamily="34" charset="0"/>
                <a:ea typeface="맑은 고딕" pitchFamily="34" charset="-122"/>
                <a:cs typeface="맑은 고딕" pitchFamily="34" charset="-120"/>
              </a:rPr>
              <a:t>   3.3V 전원 출력</a:t>
            </a:r>
            <a:endParaRPr lang="en-US" sz="1050" dirty="0"/>
          </a:p>
        </p:txBody>
      </p:sp>
      <p:sp>
        <p:nvSpPr>
          <p:cNvPr id="92" name="Shape 90"/>
          <p:cNvSpPr/>
          <p:nvPr/>
        </p:nvSpPr>
        <p:spPr>
          <a:xfrm>
            <a:off x="6053328" y="2478024"/>
            <a:ext cx="274320" cy="170993"/>
          </a:xfrm>
          <a:prstGeom prst="rect">
            <a:avLst/>
          </a:prstGeom>
          <a:solidFill>
            <a:srgbClr val="990011"/>
          </a:solidFill>
          <a:ln w="12700">
            <a:solidFill>
              <a:srgbClr val="333333"/>
            </a:solidFill>
            <a:prstDash val="solid"/>
          </a:ln>
        </p:spPr>
      </p:sp>
      <p:sp>
        <p:nvSpPr>
          <p:cNvPr id="93" name="Text 91"/>
          <p:cNvSpPr/>
          <p:nvPr/>
        </p:nvSpPr>
        <p:spPr>
          <a:xfrm>
            <a:off x="6053328" y="2478024"/>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35</a:t>
            </a:r>
            <a:endParaRPr lang="en-US" sz="800" dirty="0"/>
          </a:p>
        </p:txBody>
      </p:sp>
      <p:sp>
        <p:nvSpPr>
          <p:cNvPr id="94" name="Text 92"/>
          <p:cNvSpPr/>
          <p:nvPr/>
        </p:nvSpPr>
        <p:spPr>
          <a:xfrm>
            <a:off x="6382512" y="2455164"/>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ADC_VREF</a:t>
            </a:r>
            <a:pPr algn="l" indent="0" marL="0">
              <a:buNone/>
            </a:pPr>
            <a:r>
              <a:rPr lang="en-US" sz="900" dirty="0">
                <a:solidFill>
                  <a:srgbClr val="6B7280"/>
                </a:solidFill>
                <a:latin typeface="맑은 고딕" pitchFamily="34" charset="0"/>
                <a:ea typeface="맑은 고딕" pitchFamily="34" charset="-122"/>
                <a:cs typeface="맑은 고딕" pitchFamily="34" charset="-120"/>
              </a:rPr>
              <a:t>   ADC 기준 전압</a:t>
            </a:r>
            <a:endParaRPr lang="en-US" sz="1050" dirty="0"/>
          </a:p>
        </p:txBody>
      </p:sp>
      <p:sp>
        <p:nvSpPr>
          <p:cNvPr id="95" name="Shape 93"/>
          <p:cNvSpPr/>
          <p:nvPr/>
        </p:nvSpPr>
        <p:spPr>
          <a:xfrm>
            <a:off x="6053328" y="2731313"/>
            <a:ext cx="274320" cy="170993"/>
          </a:xfrm>
          <a:prstGeom prst="rect">
            <a:avLst/>
          </a:prstGeom>
          <a:solidFill>
            <a:srgbClr val="0B7285"/>
          </a:solidFill>
          <a:ln w="12700">
            <a:solidFill>
              <a:srgbClr val="333333"/>
            </a:solidFill>
            <a:prstDash val="solid"/>
          </a:ln>
        </p:spPr>
      </p:sp>
      <p:sp>
        <p:nvSpPr>
          <p:cNvPr id="96" name="Text 94"/>
          <p:cNvSpPr/>
          <p:nvPr/>
        </p:nvSpPr>
        <p:spPr>
          <a:xfrm>
            <a:off x="6053328" y="2731313"/>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34</a:t>
            </a:r>
            <a:endParaRPr lang="en-US" sz="800" dirty="0"/>
          </a:p>
        </p:txBody>
      </p:sp>
      <p:sp>
        <p:nvSpPr>
          <p:cNvPr id="97" name="Text 95"/>
          <p:cNvSpPr/>
          <p:nvPr/>
        </p:nvSpPr>
        <p:spPr>
          <a:xfrm>
            <a:off x="6382512" y="2708453"/>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GP28</a:t>
            </a:r>
            <a:pPr algn="l" indent="0" marL="0">
              <a:buNone/>
            </a:pPr>
            <a:r>
              <a:rPr lang="en-US" sz="900" dirty="0">
                <a:solidFill>
                  <a:srgbClr val="6B7280"/>
                </a:solidFill>
                <a:latin typeface="맑은 고딕" pitchFamily="34" charset="0"/>
                <a:ea typeface="맑은 고딕" pitchFamily="34" charset="-122"/>
                <a:cs typeface="맑은 고딕" pitchFamily="34" charset="-120"/>
              </a:rPr>
              <a:t>   ADC2</a:t>
            </a:r>
            <a:endParaRPr lang="en-US" sz="1050" dirty="0"/>
          </a:p>
        </p:txBody>
      </p:sp>
      <p:sp>
        <p:nvSpPr>
          <p:cNvPr id="98" name="Shape 96"/>
          <p:cNvSpPr/>
          <p:nvPr/>
        </p:nvSpPr>
        <p:spPr>
          <a:xfrm>
            <a:off x="6053328" y="2984602"/>
            <a:ext cx="274320" cy="170993"/>
          </a:xfrm>
          <a:prstGeom prst="rect">
            <a:avLst/>
          </a:prstGeom>
          <a:solidFill>
            <a:srgbClr val="4B5563"/>
          </a:solidFill>
          <a:ln w="12700">
            <a:solidFill>
              <a:srgbClr val="333333"/>
            </a:solidFill>
            <a:prstDash val="solid"/>
          </a:ln>
        </p:spPr>
      </p:sp>
      <p:sp>
        <p:nvSpPr>
          <p:cNvPr id="99" name="Text 97"/>
          <p:cNvSpPr/>
          <p:nvPr/>
        </p:nvSpPr>
        <p:spPr>
          <a:xfrm>
            <a:off x="6053328" y="2984602"/>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33</a:t>
            </a:r>
            <a:endParaRPr lang="en-US" sz="800" dirty="0"/>
          </a:p>
        </p:txBody>
      </p:sp>
      <p:sp>
        <p:nvSpPr>
          <p:cNvPr id="100" name="Text 98"/>
          <p:cNvSpPr/>
          <p:nvPr/>
        </p:nvSpPr>
        <p:spPr>
          <a:xfrm>
            <a:off x="6382512" y="2961742"/>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AGND</a:t>
            </a:r>
            <a:pPr algn="l" indent="0" marL="0">
              <a:buNone/>
            </a:pPr>
            <a:r>
              <a:rPr lang="en-US" sz="900" dirty="0">
                <a:solidFill>
                  <a:srgbClr val="6B7280"/>
                </a:solidFill>
                <a:latin typeface="맑은 고딕" pitchFamily="34" charset="0"/>
                <a:ea typeface="맑은 고딕" pitchFamily="34" charset="-122"/>
                <a:cs typeface="맑은 고딕" pitchFamily="34" charset="-120"/>
              </a:rPr>
              <a:t>   아날로그 GND</a:t>
            </a:r>
            <a:endParaRPr lang="en-US" sz="1050" dirty="0"/>
          </a:p>
        </p:txBody>
      </p:sp>
      <p:sp>
        <p:nvSpPr>
          <p:cNvPr id="101" name="Shape 99"/>
          <p:cNvSpPr/>
          <p:nvPr/>
        </p:nvSpPr>
        <p:spPr>
          <a:xfrm>
            <a:off x="6053328" y="3237890"/>
            <a:ext cx="274320" cy="170993"/>
          </a:xfrm>
          <a:prstGeom prst="rect">
            <a:avLst/>
          </a:prstGeom>
          <a:solidFill>
            <a:srgbClr val="0B7285"/>
          </a:solidFill>
          <a:ln w="12700">
            <a:solidFill>
              <a:srgbClr val="333333"/>
            </a:solidFill>
            <a:prstDash val="solid"/>
          </a:ln>
        </p:spPr>
      </p:sp>
      <p:sp>
        <p:nvSpPr>
          <p:cNvPr id="102" name="Text 100"/>
          <p:cNvSpPr/>
          <p:nvPr/>
        </p:nvSpPr>
        <p:spPr>
          <a:xfrm>
            <a:off x="6053328" y="3237890"/>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32</a:t>
            </a:r>
            <a:endParaRPr lang="en-US" sz="800" dirty="0"/>
          </a:p>
        </p:txBody>
      </p:sp>
      <p:sp>
        <p:nvSpPr>
          <p:cNvPr id="103" name="Text 101"/>
          <p:cNvSpPr/>
          <p:nvPr/>
        </p:nvSpPr>
        <p:spPr>
          <a:xfrm>
            <a:off x="6382512" y="3215030"/>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GP27</a:t>
            </a:r>
            <a:pPr algn="l" indent="0" marL="0">
              <a:buNone/>
            </a:pPr>
            <a:r>
              <a:rPr lang="en-US" sz="900" dirty="0">
                <a:solidFill>
                  <a:srgbClr val="6B7280"/>
                </a:solidFill>
                <a:latin typeface="맑은 고딕" pitchFamily="34" charset="0"/>
                <a:ea typeface="맑은 고딕" pitchFamily="34" charset="-122"/>
                <a:cs typeface="맑은 고딕" pitchFamily="34" charset="-120"/>
              </a:rPr>
              <a:t>   ADC1</a:t>
            </a:r>
            <a:endParaRPr lang="en-US" sz="1050" dirty="0"/>
          </a:p>
        </p:txBody>
      </p:sp>
      <p:sp>
        <p:nvSpPr>
          <p:cNvPr id="104" name="Shape 102"/>
          <p:cNvSpPr/>
          <p:nvPr/>
        </p:nvSpPr>
        <p:spPr>
          <a:xfrm>
            <a:off x="6053328" y="3491179"/>
            <a:ext cx="274320" cy="170993"/>
          </a:xfrm>
          <a:prstGeom prst="rect">
            <a:avLst/>
          </a:prstGeom>
          <a:solidFill>
            <a:srgbClr val="0B7285"/>
          </a:solidFill>
          <a:ln w="12700">
            <a:solidFill>
              <a:srgbClr val="333333"/>
            </a:solidFill>
            <a:prstDash val="solid"/>
          </a:ln>
        </p:spPr>
      </p:sp>
      <p:sp>
        <p:nvSpPr>
          <p:cNvPr id="105" name="Text 103"/>
          <p:cNvSpPr/>
          <p:nvPr/>
        </p:nvSpPr>
        <p:spPr>
          <a:xfrm>
            <a:off x="6053328" y="3491179"/>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31</a:t>
            </a:r>
            <a:endParaRPr lang="en-US" sz="800" dirty="0"/>
          </a:p>
        </p:txBody>
      </p:sp>
      <p:sp>
        <p:nvSpPr>
          <p:cNvPr id="106" name="Text 104"/>
          <p:cNvSpPr/>
          <p:nvPr/>
        </p:nvSpPr>
        <p:spPr>
          <a:xfrm>
            <a:off x="6382512" y="3468319"/>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GP26</a:t>
            </a:r>
            <a:pPr algn="l" indent="0" marL="0">
              <a:buNone/>
            </a:pPr>
            <a:r>
              <a:rPr lang="en-US" sz="900" dirty="0">
                <a:solidFill>
                  <a:srgbClr val="6B7280"/>
                </a:solidFill>
                <a:latin typeface="맑은 고딕" pitchFamily="34" charset="0"/>
                <a:ea typeface="맑은 고딕" pitchFamily="34" charset="-122"/>
                <a:cs typeface="맑은 고딕" pitchFamily="34" charset="-120"/>
              </a:rPr>
              <a:t>   ADC0</a:t>
            </a:r>
            <a:endParaRPr lang="en-US" sz="1050" dirty="0"/>
          </a:p>
        </p:txBody>
      </p:sp>
      <p:sp>
        <p:nvSpPr>
          <p:cNvPr id="107" name="Shape 105"/>
          <p:cNvSpPr/>
          <p:nvPr/>
        </p:nvSpPr>
        <p:spPr>
          <a:xfrm>
            <a:off x="6053328" y="3744468"/>
            <a:ext cx="274320" cy="170993"/>
          </a:xfrm>
          <a:prstGeom prst="rect">
            <a:avLst/>
          </a:prstGeom>
          <a:solidFill>
            <a:srgbClr val="9CA3AF"/>
          </a:solidFill>
          <a:ln w="12700">
            <a:solidFill>
              <a:srgbClr val="333333"/>
            </a:solidFill>
            <a:prstDash val="solid"/>
          </a:ln>
        </p:spPr>
      </p:sp>
      <p:sp>
        <p:nvSpPr>
          <p:cNvPr id="108" name="Text 106"/>
          <p:cNvSpPr/>
          <p:nvPr/>
        </p:nvSpPr>
        <p:spPr>
          <a:xfrm>
            <a:off x="6053328" y="3744468"/>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30</a:t>
            </a:r>
            <a:endParaRPr lang="en-US" sz="800" dirty="0"/>
          </a:p>
        </p:txBody>
      </p:sp>
      <p:sp>
        <p:nvSpPr>
          <p:cNvPr id="109" name="Text 107"/>
          <p:cNvSpPr/>
          <p:nvPr/>
        </p:nvSpPr>
        <p:spPr>
          <a:xfrm>
            <a:off x="6382512" y="3721608"/>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RUN</a:t>
            </a:r>
            <a:pPr algn="l" indent="0" marL="0">
              <a:buNone/>
            </a:pPr>
            <a:r>
              <a:rPr lang="en-US" sz="900" dirty="0">
                <a:solidFill>
                  <a:srgbClr val="6B7280"/>
                </a:solidFill>
                <a:latin typeface="맑은 고딕" pitchFamily="34" charset="0"/>
                <a:ea typeface="맑은 고딕" pitchFamily="34" charset="-122"/>
                <a:cs typeface="맑은 고딕" pitchFamily="34" charset="-120"/>
              </a:rPr>
              <a:t>   리셋</a:t>
            </a:r>
            <a:endParaRPr lang="en-US" sz="1050" dirty="0"/>
          </a:p>
        </p:txBody>
      </p:sp>
      <p:sp>
        <p:nvSpPr>
          <p:cNvPr id="110" name="Shape 108"/>
          <p:cNvSpPr/>
          <p:nvPr/>
        </p:nvSpPr>
        <p:spPr>
          <a:xfrm>
            <a:off x="6053328" y="3997757"/>
            <a:ext cx="274320" cy="170993"/>
          </a:xfrm>
          <a:prstGeom prst="rect">
            <a:avLst/>
          </a:prstGeom>
          <a:solidFill>
            <a:srgbClr val="2F3C7E"/>
          </a:solidFill>
          <a:ln w="12700">
            <a:solidFill>
              <a:srgbClr val="333333"/>
            </a:solidFill>
            <a:prstDash val="solid"/>
          </a:ln>
        </p:spPr>
      </p:sp>
      <p:sp>
        <p:nvSpPr>
          <p:cNvPr id="111" name="Text 109"/>
          <p:cNvSpPr/>
          <p:nvPr/>
        </p:nvSpPr>
        <p:spPr>
          <a:xfrm>
            <a:off x="6053328" y="3997757"/>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29</a:t>
            </a:r>
            <a:endParaRPr lang="en-US" sz="800" dirty="0"/>
          </a:p>
        </p:txBody>
      </p:sp>
      <p:sp>
        <p:nvSpPr>
          <p:cNvPr id="112" name="Text 110"/>
          <p:cNvSpPr/>
          <p:nvPr/>
        </p:nvSpPr>
        <p:spPr>
          <a:xfrm>
            <a:off x="6382512" y="3974897"/>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GP22</a:t>
            </a:r>
            <a:pPr algn="l" indent="0" marL="0">
              <a:buNone/>
            </a:pPr>
            <a:endParaRPr lang="en-US" sz="1050" dirty="0"/>
          </a:p>
        </p:txBody>
      </p:sp>
      <p:sp>
        <p:nvSpPr>
          <p:cNvPr id="113" name="Shape 111"/>
          <p:cNvSpPr/>
          <p:nvPr/>
        </p:nvSpPr>
        <p:spPr>
          <a:xfrm>
            <a:off x="6053328" y="4251046"/>
            <a:ext cx="274320" cy="170993"/>
          </a:xfrm>
          <a:prstGeom prst="rect">
            <a:avLst/>
          </a:prstGeom>
          <a:solidFill>
            <a:srgbClr val="4B5563"/>
          </a:solidFill>
          <a:ln w="12700">
            <a:solidFill>
              <a:srgbClr val="333333"/>
            </a:solidFill>
            <a:prstDash val="solid"/>
          </a:ln>
        </p:spPr>
      </p:sp>
      <p:sp>
        <p:nvSpPr>
          <p:cNvPr id="114" name="Text 112"/>
          <p:cNvSpPr/>
          <p:nvPr/>
        </p:nvSpPr>
        <p:spPr>
          <a:xfrm>
            <a:off x="6053328" y="4251046"/>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28</a:t>
            </a:r>
            <a:endParaRPr lang="en-US" sz="800" dirty="0"/>
          </a:p>
        </p:txBody>
      </p:sp>
      <p:sp>
        <p:nvSpPr>
          <p:cNvPr id="115" name="Text 113"/>
          <p:cNvSpPr/>
          <p:nvPr/>
        </p:nvSpPr>
        <p:spPr>
          <a:xfrm>
            <a:off x="6382512" y="4228186"/>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GND</a:t>
            </a:r>
            <a:pPr algn="l" indent="0" marL="0">
              <a:buNone/>
            </a:pPr>
            <a:endParaRPr lang="en-US" sz="1050" dirty="0"/>
          </a:p>
        </p:txBody>
      </p:sp>
      <p:sp>
        <p:nvSpPr>
          <p:cNvPr id="116" name="Shape 114"/>
          <p:cNvSpPr/>
          <p:nvPr/>
        </p:nvSpPr>
        <p:spPr>
          <a:xfrm>
            <a:off x="6053328" y="4504334"/>
            <a:ext cx="274320" cy="170993"/>
          </a:xfrm>
          <a:prstGeom prst="rect">
            <a:avLst/>
          </a:prstGeom>
          <a:solidFill>
            <a:srgbClr val="2F3C7E"/>
          </a:solidFill>
          <a:ln w="12700">
            <a:solidFill>
              <a:srgbClr val="333333"/>
            </a:solidFill>
            <a:prstDash val="solid"/>
          </a:ln>
        </p:spPr>
      </p:sp>
      <p:sp>
        <p:nvSpPr>
          <p:cNvPr id="117" name="Text 115"/>
          <p:cNvSpPr/>
          <p:nvPr/>
        </p:nvSpPr>
        <p:spPr>
          <a:xfrm>
            <a:off x="6053328" y="4504334"/>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27</a:t>
            </a:r>
            <a:endParaRPr lang="en-US" sz="800" dirty="0"/>
          </a:p>
        </p:txBody>
      </p:sp>
      <p:sp>
        <p:nvSpPr>
          <p:cNvPr id="118" name="Text 116"/>
          <p:cNvSpPr/>
          <p:nvPr/>
        </p:nvSpPr>
        <p:spPr>
          <a:xfrm>
            <a:off x="6382512" y="4481474"/>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GP21</a:t>
            </a:r>
            <a:pPr algn="l" indent="0" marL="0">
              <a:buNone/>
            </a:pPr>
            <a:r>
              <a:rPr lang="en-US" sz="900" dirty="0">
                <a:solidFill>
                  <a:srgbClr val="6B7280"/>
                </a:solidFill>
                <a:latin typeface="맑은 고딕" pitchFamily="34" charset="0"/>
                <a:ea typeface="맑은 고딕" pitchFamily="34" charset="-122"/>
                <a:cs typeface="맑은 고딕" pitchFamily="34" charset="-120"/>
              </a:rPr>
              <a:t>   I2C0 SCL</a:t>
            </a:r>
            <a:endParaRPr lang="en-US" sz="1050" dirty="0"/>
          </a:p>
        </p:txBody>
      </p:sp>
      <p:sp>
        <p:nvSpPr>
          <p:cNvPr id="119" name="Shape 117"/>
          <p:cNvSpPr/>
          <p:nvPr/>
        </p:nvSpPr>
        <p:spPr>
          <a:xfrm>
            <a:off x="6053328" y="4757623"/>
            <a:ext cx="274320" cy="170993"/>
          </a:xfrm>
          <a:prstGeom prst="rect">
            <a:avLst/>
          </a:prstGeom>
          <a:solidFill>
            <a:srgbClr val="2F3C7E"/>
          </a:solidFill>
          <a:ln w="12700">
            <a:solidFill>
              <a:srgbClr val="333333"/>
            </a:solidFill>
            <a:prstDash val="solid"/>
          </a:ln>
        </p:spPr>
      </p:sp>
      <p:sp>
        <p:nvSpPr>
          <p:cNvPr id="120" name="Text 118"/>
          <p:cNvSpPr/>
          <p:nvPr/>
        </p:nvSpPr>
        <p:spPr>
          <a:xfrm>
            <a:off x="6053328" y="4757623"/>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26</a:t>
            </a:r>
            <a:endParaRPr lang="en-US" sz="800" dirty="0"/>
          </a:p>
        </p:txBody>
      </p:sp>
      <p:sp>
        <p:nvSpPr>
          <p:cNvPr id="121" name="Text 119"/>
          <p:cNvSpPr/>
          <p:nvPr/>
        </p:nvSpPr>
        <p:spPr>
          <a:xfrm>
            <a:off x="6382512" y="4734763"/>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GP20</a:t>
            </a:r>
            <a:pPr algn="l" indent="0" marL="0">
              <a:buNone/>
            </a:pPr>
            <a:r>
              <a:rPr lang="en-US" sz="900" dirty="0">
                <a:solidFill>
                  <a:srgbClr val="6B7280"/>
                </a:solidFill>
                <a:latin typeface="맑은 고딕" pitchFamily="34" charset="0"/>
                <a:ea typeface="맑은 고딕" pitchFamily="34" charset="-122"/>
                <a:cs typeface="맑은 고딕" pitchFamily="34" charset="-120"/>
              </a:rPr>
              <a:t>   I2C0 SDA</a:t>
            </a:r>
            <a:endParaRPr lang="en-US" sz="1050" dirty="0"/>
          </a:p>
        </p:txBody>
      </p:sp>
      <p:sp>
        <p:nvSpPr>
          <p:cNvPr id="122" name="Shape 120"/>
          <p:cNvSpPr/>
          <p:nvPr/>
        </p:nvSpPr>
        <p:spPr>
          <a:xfrm>
            <a:off x="6053328" y="5010912"/>
            <a:ext cx="274320" cy="170993"/>
          </a:xfrm>
          <a:prstGeom prst="rect">
            <a:avLst/>
          </a:prstGeom>
          <a:solidFill>
            <a:srgbClr val="2F3C7E"/>
          </a:solidFill>
          <a:ln w="12700">
            <a:solidFill>
              <a:srgbClr val="333333"/>
            </a:solidFill>
            <a:prstDash val="solid"/>
          </a:ln>
        </p:spPr>
      </p:sp>
      <p:sp>
        <p:nvSpPr>
          <p:cNvPr id="123" name="Text 121"/>
          <p:cNvSpPr/>
          <p:nvPr/>
        </p:nvSpPr>
        <p:spPr>
          <a:xfrm>
            <a:off x="6053328" y="5010912"/>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25</a:t>
            </a:r>
            <a:endParaRPr lang="en-US" sz="800" dirty="0"/>
          </a:p>
        </p:txBody>
      </p:sp>
      <p:sp>
        <p:nvSpPr>
          <p:cNvPr id="124" name="Text 122"/>
          <p:cNvSpPr/>
          <p:nvPr/>
        </p:nvSpPr>
        <p:spPr>
          <a:xfrm>
            <a:off x="6382512" y="4988052"/>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GP19</a:t>
            </a:r>
            <a:pPr algn="l" indent="0" marL="0">
              <a:buNone/>
            </a:pPr>
            <a:r>
              <a:rPr lang="en-US" sz="900" dirty="0">
                <a:solidFill>
                  <a:srgbClr val="6B7280"/>
                </a:solidFill>
                <a:latin typeface="맑은 고딕" pitchFamily="34" charset="0"/>
                <a:ea typeface="맑은 고딕" pitchFamily="34" charset="-122"/>
                <a:cs typeface="맑은 고딕" pitchFamily="34" charset="-120"/>
              </a:rPr>
              <a:t>   SPI0 TX</a:t>
            </a:r>
            <a:endParaRPr lang="en-US" sz="1050" dirty="0"/>
          </a:p>
        </p:txBody>
      </p:sp>
      <p:sp>
        <p:nvSpPr>
          <p:cNvPr id="125" name="Shape 123"/>
          <p:cNvSpPr/>
          <p:nvPr/>
        </p:nvSpPr>
        <p:spPr>
          <a:xfrm>
            <a:off x="6053328" y="5264201"/>
            <a:ext cx="274320" cy="170993"/>
          </a:xfrm>
          <a:prstGeom prst="rect">
            <a:avLst/>
          </a:prstGeom>
          <a:solidFill>
            <a:srgbClr val="2F3C7E"/>
          </a:solidFill>
          <a:ln w="12700">
            <a:solidFill>
              <a:srgbClr val="333333"/>
            </a:solidFill>
            <a:prstDash val="solid"/>
          </a:ln>
        </p:spPr>
      </p:sp>
      <p:sp>
        <p:nvSpPr>
          <p:cNvPr id="126" name="Text 124"/>
          <p:cNvSpPr/>
          <p:nvPr/>
        </p:nvSpPr>
        <p:spPr>
          <a:xfrm>
            <a:off x="6053328" y="5264201"/>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24</a:t>
            </a:r>
            <a:endParaRPr lang="en-US" sz="800" dirty="0"/>
          </a:p>
        </p:txBody>
      </p:sp>
      <p:sp>
        <p:nvSpPr>
          <p:cNvPr id="127" name="Text 125"/>
          <p:cNvSpPr/>
          <p:nvPr/>
        </p:nvSpPr>
        <p:spPr>
          <a:xfrm>
            <a:off x="6382512" y="5241341"/>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GP18</a:t>
            </a:r>
            <a:pPr algn="l" indent="0" marL="0">
              <a:buNone/>
            </a:pPr>
            <a:r>
              <a:rPr lang="en-US" sz="900" dirty="0">
                <a:solidFill>
                  <a:srgbClr val="6B7280"/>
                </a:solidFill>
                <a:latin typeface="맑은 고딕" pitchFamily="34" charset="0"/>
                <a:ea typeface="맑은 고딕" pitchFamily="34" charset="-122"/>
                <a:cs typeface="맑은 고딕" pitchFamily="34" charset="-120"/>
              </a:rPr>
              <a:t>   SPI0 SCK</a:t>
            </a:r>
            <a:endParaRPr lang="en-US" sz="1050" dirty="0"/>
          </a:p>
        </p:txBody>
      </p:sp>
      <p:sp>
        <p:nvSpPr>
          <p:cNvPr id="128" name="Shape 126"/>
          <p:cNvSpPr/>
          <p:nvPr/>
        </p:nvSpPr>
        <p:spPr>
          <a:xfrm>
            <a:off x="6053328" y="5517490"/>
            <a:ext cx="274320" cy="170993"/>
          </a:xfrm>
          <a:prstGeom prst="rect">
            <a:avLst/>
          </a:prstGeom>
          <a:solidFill>
            <a:srgbClr val="4B5563"/>
          </a:solidFill>
          <a:ln w="12700">
            <a:solidFill>
              <a:srgbClr val="333333"/>
            </a:solidFill>
            <a:prstDash val="solid"/>
          </a:ln>
        </p:spPr>
      </p:sp>
      <p:sp>
        <p:nvSpPr>
          <p:cNvPr id="129" name="Text 127"/>
          <p:cNvSpPr/>
          <p:nvPr/>
        </p:nvSpPr>
        <p:spPr>
          <a:xfrm>
            <a:off x="6053328" y="5517490"/>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23</a:t>
            </a:r>
            <a:endParaRPr lang="en-US" sz="800" dirty="0"/>
          </a:p>
        </p:txBody>
      </p:sp>
      <p:sp>
        <p:nvSpPr>
          <p:cNvPr id="130" name="Text 128"/>
          <p:cNvSpPr/>
          <p:nvPr/>
        </p:nvSpPr>
        <p:spPr>
          <a:xfrm>
            <a:off x="6382512" y="5494630"/>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GND</a:t>
            </a:r>
            <a:pPr algn="l" indent="0" marL="0">
              <a:buNone/>
            </a:pPr>
            <a:endParaRPr lang="en-US" sz="1050" dirty="0"/>
          </a:p>
        </p:txBody>
      </p:sp>
      <p:sp>
        <p:nvSpPr>
          <p:cNvPr id="131" name="Shape 129"/>
          <p:cNvSpPr/>
          <p:nvPr/>
        </p:nvSpPr>
        <p:spPr>
          <a:xfrm>
            <a:off x="6053328" y="5770778"/>
            <a:ext cx="274320" cy="170993"/>
          </a:xfrm>
          <a:prstGeom prst="rect">
            <a:avLst/>
          </a:prstGeom>
          <a:solidFill>
            <a:srgbClr val="2F3C7E"/>
          </a:solidFill>
          <a:ln w="12700">
            <a:solidFill>
              <a:srgbClr val="333333"/>
            </a:solidFill>
            <a:prstDash val="solid"/>
          </a:ln>
        </p:spPr>
      </p:sp>
      <p:sp>
        <p:nvSpPr>
          <p:cNvPr id="132" name="Text 130"/>
          <p:cNvSpPr/>
          <p:nvPr/>
        </p:nvSpPr>
        <p:spPr>
          <a:xfrm>
            <a:off x="6053328" y="5770778"/>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22</a:t>
            </a:r>
            <a:endParaRPr lang="en-US" sz="800" dirty="0"/>
          </a:p>
        </p:txBody>
      </p:sp>
      <p:sp>
        <p:nvSpPr>
          <p:cNvPr id="133" name="Text 131"/>
          <p:cNvSpPr/>
          <p:nvPr/>
        </p:nvSpPr>
        <p:spPr>
          <a:xfrm>
            <a:off x="6382512" y="5747918"/>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GP17</a:t>
            </a:r>
            <a:pPr algn="l" indent="0" marL="0">
              <a:buNone/>
            </a:pPr>
            <a:r>
              <a:rPr lang="en-US" sz="900" dirty="0">
                <a:solidFill>
                  <a:srgbClr val="6B7280"/>
                </a:solidFill>
                <a:latin typeface="맑은 고딕" pitchFamily="34" charset="0"/>
                <a:ea typeface="맑은 고딕" pitchFamily="34" charset="-122"/>
                <a:cs typeface="맑은 고딕" pitchFamily="34" charset="-120"/>
              </a:rPr>
              <a:t>   SPI0 CSn</a:t>
            </a:r>
            <a:endParaRPr lang="en-US" sz="1050" dirty="0"/>
          </a:p>
        </p:txBody>
      </p:sp>
      <p:sp>
        <p:nvSpPr>
          <p:cNvPr id="134" name="Shape 132"/>
          <p:cNvSpPr/>
          <p:nvPr/>
        </p:nvSpPr>
        <p:spPr>
          <a:xfrm>
            <a:off x="6053328" y="6024067"/>
            <a:ext cx="274320" cy="170993"/>
          </a:xfrm>
          <a:prstGeom prst="rect">
            <a:avLst/>
          </a:prstGeom>
          <a:solidFill>
            <a:srgbClr val="2F3C7E"/>
          </a:solidFill>
          <a:ln w="12700">
            <a:solidFill>
              <a:srgbClr val="333333"/>
            </a:solidFill>
            <a:prstDash val="solid"/>
          </a:ln>
        </p:spPr>
      </p:sp>
      <p:sp>
        <p:nvSpPr>
          <p:cNvPr id="135" name="Text 133"/>
          <p:cNvSpPr/>
          <p:nvPr/>
        </p:nvSpPr>
        <p:spPr>
          <a:xfrm>
            <a:off x="6053328" y="6024067"/>
            <a:ext cx="274320" cy="170993"/>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21</a:t>
            </a:r>
            <a:endParaRPr lang="en-US" sz="800" dirty="0"/>
          </a:p>
        </p:txBody>
      </p:sp>
      <p:sp>
        <p:nvSpPr>
          <p:cNvPr id="136" name="Text 134"/>
          <p:cNvSpPr/>
          <p:nvPr/>
        </p:nvSpPr>
        <p:spPr>
          <a:xfrm>
            <a:off x="6382512" y="6001207"/>
            <a:ext cx="4206240" cy="216713"/>
          </a:xfrm>
          <a:prstGeom prst="rect">
            <a:avLst/>
          </a:prstGeom>
          <a:noFill/>
          <a:ln/>
        </p:spPr>
        <p:txBody>
          <a:bodyPr wrap="square" lIns="0" tIns="0" rIns="0" bIns="0" rtlCol="0" anchor="ctr"/>
          <a:lstStyle/>
          <a:p>
            <a:pPr algn="l" indent="0" marL="0">
              <a:buNone/>
            </a:pPr>
            <a:r>
              <a:rPr lang="en-US" sz="1050" b="1" dirty="0">
                <a:solidFill>
                  <a:srgbClr val="1F2328"/>
                </a:solidFill>
                <a:latin typeface="Arial" pitchFamily="34" charset="0"/>
                <a:ea typeface="Arial" pitchFamily="34" charset="-122"/>
                <a:cs typeface="Arial" pitchFamily="34" charset="-120"/>
              </a:rPr>
              <a:t>GP16</a:t>
            </a:r>
            <a:pPr algn="l" indent="0" marL="0">
              <a:buNone/>
            </a:pPr>
            <a:r>
              <a:rPr lang="en-US" sz="900" dirty="0">
                <a:solidFill>
                  <a:srgbClr val="6B7280"/>
                </a:solidFill>
                <a:latin typeface="맑은 고딕" pitchFamily="34" charset="0"/>
                <a:ea typeface="맑은 고딕" pitchFamily="34" charset="-122"/>
                <a:cs typeface="맑은 고딕" pitchFamily="34" charset="-120"/>
              </a:rPr>
              <a:t>   SPI0 RX</a:t>
            </a:r>
            <a:endParaRPr lang="en-US" sz="1050" dirty="0"/>
          </a:p>
        </p:txBody>
      </p:sp>
      <p:sp>
        <p:nvSpPr>
          <p:cNvPr id="137" name="Text 135"/>
          <p:cNvSpPr/>
          <p:nvPr/>
        </p:nvSpPr>
        <p:spPr>
          <a:xfrm>
            <a:off x="685800" y="6327648"/>
            <a:ext cx="10789920" cy="310896"/>
          </a:xfrm>
          <a:prstGeom prst="rect">
            <a:avLst/>
          </a:prstGeom>
          <a:noFill/>
          <a:ln/>
        </p:spPr>
        <p:txBody>
          <a:bodyPr wrap="square" lIns="0" tIns="0" rIns="0" bIns="0" rtlCol="0" anchor="ctr"/>
          <a:lstStyle/>
          <a:p>
            <a:pPr indent="0" marL="0">
              <a:buNone/>
            </a:pPr>
            <a:r>
              <a:rPr lang="en-US" sz="1150" i="1" dirty="0">
                <a:solidFill>
                  <a:srgbClr val="6B7280"/>
                </a:solidFill>
                <a:latin typeface="맑은 고딕" pitchFamily="34" charset="0"/>
                <a:ea typeface="맑은 고딕" pitchFamily="34" charset="-122"/>
                <a:cs typeface="맑은 고딕" pitchFamily="34" charset="-120"/>
              </a:rPr>
              <a:t>GP23 · GP24 · GP25는 무선 모듈이 내부적으로 사용하므로 핀 헤더에 나와 있지 않습니다. 실제로 쓸 수 있는 GPIO는 26개입니다.</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POWER</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전원 핀 이해하기</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40개 핀 중 전원과 관련된 핀부터 확실히 익혀야 합니다. 여기서 실수하면 보드가 손상됩니다.</a:t>
            </a:r>
            <a:endParaRPr lang="en-US" sz="1500" dirty="0"/>
          </a:p>
        </p:txBody>
      </p:sp>
      <p:sp>
        <p:nvSpPr>
          <p:cNvPr id="5" name="Shape 3"/>
          <p:cNvSpPr/>
          <p:nvPr/>
        </p:nvSpPr>
        <p:spPr>
          <a:xfrm>
            <a:off x="685800" y="2011680"/>
            <a:ext cx="10817352" cy="914400"/>
          </a:xfrm>
          <a:prstGeom prst="roundRect">
            <a:avLst>
              <a:gd name="adj" fmla="val 6000"/>
            </a:avLst>
          </a:prstGeom>
          <a:solidFill>
            <a:srgbClr val="FFFFFF"/>
          </a:solidFill>
          <a:ln w="12700">
            <a:solidFill>
              <a:srgbClr val="DCD6D6"/>
            </a:solidFill>
            <a:prstDash val="solid"/>
          </a:ln>
        </p:spPr>
      </p:sp>
      <p:sp>
        <p:nvSpPr>
          <p:cNvPr id="6" name="Shape 4"/>
          <p:cNvSpPr/>
          <p:nvPr/>
        </p:nvSpPr>
        <p:spPr>
          <a:xfrm>
            <a:off x="914400" y="2231136"/>
            <a:ext cx="1600200" cy="475488"/>
          </a:xfrm>
          <a:prstGeom prst="roundRect">
            <a:avLst>
              <a:gd name="adj" fmla="val 9615"/>
            </a:avLst>
          </a:prstGeom>
          <a:solidFill>
            <a:srgbClr val="990011"/>
          </a:solidFill>
          <a:ln w="12700">
            <a:solidFill>
              <a:srgbClr val="333333"/>
            </a:solidFill>
            <a:prstDash val="solid"/>
          </a:ln>
        </p:spPr>
      </p:sp>
      <p:sp>
        <p:nvSpPr>
          <p:cNvPr id="7" name="Text 5"/>
          <p:cNvSpPr/>
          <p:nvPr/>
        </p:nvSpPr>
        <p:spPr>
          <a:xfrm>
            <a:off x="914400" y="2231136"/>
            <a:ext cx="160020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VBUS</a:t>
            </a:r>
            <a:endParaRPr lang="en-US" sz="1400" dirty="0"/>
          </a:p>
        </p:txBody>
      </p:sp>
      <p:sp>
        <p:nvSpPr>
          <p:cNvPr id="8" name="Text 6"/>
          <p:cNvSpPr/>
          <p:nvPr/>
        </p:nvSpPr>
        <p:spPr>
          <a:xfrm>
            <a:off x="2697480" y="2194560"/>
            <a:ext cx="1188720" cy="274320"/>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40번 핀</a:t>
            </a:r>
            <a:endParaRPr lang="en-US" sz="1250" dirty="0"/>
          </a:p>
        </p:txBody>
      </p:sp>
      <p:sp>
        <p:nvSpPr>
          <p:cNvPr id="9" name="Text 7"/>
          <p:cNvSpPr/>
          <p:nvPr/>
        </p:nvSpPr>
        <p:spPr>
          <a:xfrm>
            <a:off x="2697480" y="2487168"/>
            <a:ext cx="8412480" cy="329184"/>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USB에서 들어오는 5V가 그대로 나오는 핀. 5V가 필요한 부품에 사용합니다.</a:t>
            </a:r>
            <a:endParaRPr lang="en-US" sz="1300" dirty="0"/>
          </a:p>
        </p:txBody>
      </p:sp>
      <p:sp>
        <p:nvSpPr>
          <p:cNvPr id="10" name="Shape 8"/>
          <p:cNvSpPr/>
          <p:nvPr/>
        </p:nvSpPr>
        <p:spPr>
          <a:xfrm>
            <a:off x="685800" y="3035808"/>
            <a:ext cx="10817352" cy="914400"/>
          </a:xfrm>
          <a:prstGeom prst="roundRect">
            <a:avLst>
              <a:gd name="adj" fmla="val 6000"/>
            </a:avLst>
          </a:prstGeom>
          <a:solidFill>
            <a:srgbClr val="FFFFFF"/>
          </a:solidFill>
          <a:ln w="12700">
            <a:solidFill>
              <a:srgbClr val="DCD6D6"/>
            </a:solidFill>
            <a:prstDash val="solid"/>
          </a:ln>
        </p:spPr>
      </p:sp>
      <p:sp>
        <p:nvSpPr>
          <p:cNvPr id="11" name="Shape 9"/>
          <p:cNvSpPr/>
          <p:nvPr/>
        </p:nvSpPr>
        <p:spPr>
          <a:xfrm>
            <a:off x="914400" y="3255264"/>
            <a:ext cx="1600200" cy="475488"/>
          </a:xfrm>
          <a:prstGeom prst="roundRect">
            <a:avLst>
              <a:gd name="adj" fmla="val 9615"/>
            </a:avLst>
          </a:prstGeom>
          <a:solidFill>
            <a:srgbClr val="990011"/>
          </a:solidFill>
          <a:ln w="12700">
            <a:solidFill>
              <a:srgbClr val="333333"/>
            </a:solidFill>
            <a:prstDash val="solid"/>
          </a:ln>
        </p:spPr>
      </p:sp>
      <p:sp>
        <p:nvSpPr>
          <p:cNvPr id="12" name="Text 10"/>
          <p:cNvSpPr/>
          <p:nvPr/>
        </p:nvSpPr>
        <p:spPr>
          <a:xfrm>
            <a:off x="914400" y="3255264"/>
            <a:ext cx="160020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VSYS</a:t>
            </a:r>
            <a:endParaRPr lang="en-US" sz="1400" dirty="0"/>
          </a:p>
        </p:txBody>
      </p:sp>
      <p:sp>
        <p:nvSpPr>
          <p:cNvPr id="13" name="Text 11"/>
          <p:cNvSpPr/>
          <p:nvPr/>
        </p:nvSpPr>
        <p:spPr>
          <a:xfrm>
            <a:off x="2697480" y="3218688"/>
            <a:ext cx="1188720" cy="274320"/>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39번 핀</a:t>
            </a:r>
            <a:endParaRPr lang="en-US" sz="1250" dirty="0"/>
          </a:p>
        </p:txBody>
      </p:sp>
      <p:sp>
        <p:nvSpPr>
          <p:cNvPr id="14" name="Text 12"/>
          <p:cNvSpPr/>
          <p:nvPr/>
        </p:nvSpPr>
        <p:spPr>
          <a:xfrm>
            <a:off x="2697480" y="3511296"/>
            <a:ext cx="8412480" cy="329184"/>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보드에 전원을 넣는 입력 핀. 배터리로 구동할 때 1.8~5.5V를 연결합니다.</a:t>
            </a:r>
            <a:endParaRPr lang="en-US" sz="1300" dirty="0"/>
          </a:p>
        </p:txBody>
      </p:sp>
      <p:sp>
        <p:nvSpPr>
          <p:cNvPr id="15" name="Shape 13"/>
          <p:cNvSpPr/>
          <p:nvPr/>
        </p:nvSpPr>
        <p:spPr>
          <a:xfrm>
            <a:off x="685800" y="4059936"/>
            <a:ext cx="10817352" cy="914400"/>
          </a:xfrm>
          <a:prstGeom prst="roundRect">
            <a:avLst>
              <a:gd name="adj" fmla="val 6000"/>
            </a:avLst>
          </a:prstGeom>
          <a:solidFill>
            <a:srgbClr val="FFFFFF"/>
          </a:solidFill>
          <a:ln w="12700">
            <a:solidFill>
              <a:srgbClr val="DCD6D6"/>
            </a:solidFill>
            <a:prstDash val="solid"/>
          </a:ln>
        </p:spPr>
      </p:sp>
      <p:sp>
        <p:nvSpPr>
          <p:cNvPr id="16" name="Shape 14"/>
          <p:cNvSpPr/>
          <p:nvPr/>
        </p:nvSpPr>
        <p:spPr>
          <a:xfrm>
            <a:off x="914400" y="4279392"/>
            <a:ext cx="1600200" cy="475488"/>
          </a:xfrm>
          <a:prstGeom prst="roundRect">
            <a:avLst>
              <a:gd name="adj" fmla="val 9615"/>
            </a:avLst>
          </a:prstGeom>
          <a:solidFill>
            <a:srgbClr val="990011"/>
          </a:solidFill>
          <a:ln w="12700">
            <a:solidFill>
              <a:srgbClr val="333333"/>
            </a:solidFill>
            <a:prstDash val="solid"/>
          </a:ln>
        </p:spPr>
      </p:sp>
      <p:sp>
        <p:nvSpPr>
          <p:cNvPr id="17" name="Text 15"/>
          <p:cNvSpPr/>
          <p:nvPr/>
        </p:nvSpPr>
        <p:spPr>
          <a:xfrm>
            <a:off x="914400" y="4279392"/>
            <a:ext cx="160020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3V3 (OUT)</a:t>
            </a:r>
            <a:endParaRPr lang="en-US" sz="1400" dirty="0"/>
          </a:p>
        </p:txBody>
      </p:sp>
      <p:sp>
        <p:nvSpPr>
          <p:cNvPr id="18" name="Text 16"/>
          <p:cNvSpPr/>
          <p:nvPr/>
        </p:nvSpPr>
        <p:spPr>
          <a:xfrm>
            <a:off x="2697480" y="4242816"/>
            <a:ext cx="1188720" cy="274320"/>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36번 핀</a:t>
            </a:r>
            <a:endParaRPr lang="en-US" sz="1250" dirty="0"/>
          </a:p>
        </p:txBody>
      </p:sp>
      <p:sp>
        <p:nvSpPr>
          <p:cNvPr id="19" name="Text 17"/>
          <p:cNvSpPr/>
          <p:nvPr/>
        </p:nvSpPr>
        <p:spPr>
          <a:xfrm>
            <a:off x="2697480" y="4535424"/>
            <a:ext cx="8412480" cy="329184"/>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보드가 만들어 주는 3.3V 출력. 대부분의 센서는 여기에 연결합니다.</a:t>
            </a:r>
            <a:endParaRPr lang="en-US" sz="1300" dirty="0"/>
          </a:p>
        </p:txBody>
      </p:sp>
      <p:sp>
        <p:nvSpPr>
          <p:cNvPr id="20" name="Shape 18"/>
          <p:cNvSpPr/>
          <p:nvPr/>
        </p:nvSpPr>
        <p:spPr>
          <a:xfrm>
            <a:off x="685800" y="5084064"/>
            <a:ext cx="10817352" cy="914400"/>
          </a:xfrm>
          <a:prstGeom prst="roundRect">
            <a:avLst>
              <a:gd name="adj" fmla="val 6000"/>
            </a:avLst>
          </a:prstGeom>
          <a:solidFill>
            <a:srgbClr val="FFFFFF"/>
          </a:solidFill>
          <a:ln w="12700">
            <a:solidFill>
              <a:srgbClr val="DCD6D6"/>
            </a:solidFill>
            <a:prstDash val="solid"/>
          </a:ln>
        </p:spPr>
      </p:sp>
      <p:sp>
        <p:nvSpPr>
          <p:cNvPr id="21" name="Shape 19"/>
          <p:cNvSpPr/>
          <p:nvPr/>
        </p:nvSpPr>
        <p:spPr>
          <a:xfrm>
            <a:off x="914400" y="5303520"/>
            <a:ext cx="1600200" cy="475488"/>
          </a:xfrm>
          <a:prstGeom prst="roundRect">
            <a:avLst>
              <a:gd name="adj" fmla="val 9615"/>
            </a:avLst>
          </a:prstGeom>
          <a:solidFill>
            <a:srgbClr val="4B5563"/>
          </a:solidFill>
          <a:ln w="12700">
            <a:solidFill>
              <a:srgbClr val="333333"/>
            </a:solidFill>
            <a:prstDash val="solid"/>
          </a:ln>
        </p:spPr>
      </p:sp>
      <p:sp>
        <p:nvSpPr>
          <p:cNvPr id="22" name="Text 20"/>
          <p:cNvSpPr/>
          <p:nvPr/>
        </p:nvSpPr>
        <p:spPr>
          <a:xfrm>
            <a:off x="914400" y="5303520"/>
            <a:ext cx="160020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GND</a:t>
            </a:r>
            <a:endParaRPr lang="en-US" sz="1400" dirty="0"/>
          </a:p>
        </p:txBody>
      </p:sp>
      <p:sp>
        <p:nvSpPr>
          <p:cNvPr id="23" name="Text 21"/>
          <p:cNvSpPr/>
          <p:nvPr/>
        </p:nvSpPr>
        <p:spPr>
          <a:xfrm>
            <a:off x="2697480" y="5266944"/>
            <a:ext cx="1188720" cy="274320"/>
          </a:xfrm>
          <a:prstGeom prst="rect">
            <a:avLst/>
          </a:prstGeom>
          <a:noFill/>
          <a:ln/>
        </p:spPr>
        <p:txBody>
          <a:bodyPr wrap="square" lIns="0" tIns="0" rIns="0" bIns="0" rtlCol="0" anchor="t"/>
          <a:lstStyle/>
          <a:p>
            <a:pPr indent="0" marL="0">
              <a:buNone/>
            </a:pPr>
            <a:r>
              <a:rPr lang="en-US" sz="1250" b="1" dirty="0">
                <a:solidFill>
                  <a:srgbClr val="6B7280"/>
                </a:solidFill>
                <a:latin typeface="맑은 고딕" pitchFamily="34" charset="0"/>
                <a:ea typeface="맑은 고딕" pitchFamily="34" charset="-122"/>
                <a:cs typeface="맑은 고딕" pitchFamily="34" charset="-120"/>
              </a:rPr>
              <a:t>8곳 핀</a:t>
            </a:r>
            <a:endParaRPr lang="en-US" sz="1250" dirty="0"/>
          </a:p>
        </p:txBody>
      </p:sp>
      <p:sp>
        <p:nvSpPr>
          <p:cNvPr id="24" name="Text 22"/>
          <p:cNvSpPr/>
          <p:nvPr/>
        </p:nvSpPr>
        <p:spPr>
          <a:xfrm>
            <a:off x="2697480" y="5559552"/>
            <a:ext cx="8412480" cy="329184"/>
          </a:xfrm>
          <a:prstGeom prst="rect">
            <a:avLst/>
          </a:prstGeom>
          <a:noFill/>
          <a:ln/>
        </p:spPr>
        <p:txBody>
          <a:bodyPr wrap="square" lIns="0" tIns="0" rIns="0" bIns="0" rtlCol="0" anchor="t"/>
          <a:lstStyle/>
          <a:p>
            <a:pPr indent="0" marL="0">
              <a:buNone/>
            </a:pPr>
            <a:r>
              <a:rPr lang="en-US" sz="1300" dirty="0">
                <a:solidFill>
                  <a:srgbClr val="1F2328"/>
                </a:solidFill>
                <a:latin typeface="맑은 고딕" pitchFamily="34" charset="0"/>
                <a:ea typeface="맑은 고딕" pitchFamily="34" charset="-122"/>
                <a:cs typeface="맑은 고딕" pitchFamily="34" charset="-120"/>
              </a:rPr>
              <a:t>모든 회로의 기준점. 부품의 GND는 반드시 보드의 GND와 연결되어야 합니다.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GPIO</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GPIO — 바깥 세상과 연결되는 통로</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General Purpose Input / Output. 코드로 '입력'과 '출력' 중 어떤 역할을 할지 직접 정할 수 있는 핀입니다.</a:t>
            </a:r>
            <a:endParaRPr lang="en-US" sz="1500" dirty="0"/>
          </a:p>
        </p:txBody>
      </p:sp>
      <p:sp>
        <p:nvSpPr>
          <p:cNvPr id="5" name="Shape 3"/>
          <p:cNvSpPr/>
          <p:nvPr/>
        </p:nvSpPr>
        <p:spPr>
          <a:xfrm>
            <a:off x="685800" y="2011680"/>
            <a:ext cx="2834640" cy="2011680"/>
          </a:xfrm>
          <a:prstGeom prst="roundRect">
            <a:avLst>
              <a:gd name="adj" fmla="val 2727"/>
            </a:avLst>
          </a:prstGeom>
          <a:solidFill>
            <a:srgbClr val="F7F2F2"/>
          </a:solidFill>
          <a:ln w="12700">
            <a:solidFill>
              <a:srgbClr val="DCD6D6"/>
            </a:solidFill>
            <a:prstDash val="solid"/>
          </a:ln>
        </p:spPr>
      </p:sp>
      <p:sp>
        <p:nvSpPr>
          <p:cNvPr id="6" name="Text 4"/>
          <p:cNvSpPr/>
          <p:nvPr/>
        </p:nvSpPr>
        <p:spPr>
          <a:xfrm>
            <a:off x="685800" y="2240280"/>
            <a:ext cx="2834640" cy="914400"/>
          </a:xfrm>
          <a:prstGeom prst="rect">
            <a:avLst/>
          </a:prstGeom>
          <a:noFill/>
          <a:ln/>
        </p:spPr>
        <p:txBody>
          <a:bodyPr wrap="square" lIns="0" tIns="0" rIns="0" bIns="0" rtlCol="0" anchor="ctr"/>
          <a:lstStyle/>
          <a:p>
            <a:pPr algn="ctr" indent="0" marL="0">
              <a:buNone/>
            </a:pPr>
            <a:r>
              <a:rPr lang="en-US" sz="6000" b="1" dirty="0">
                <a:solidFill>
                  <a:srgbClr val="990011"/>
                </a:solidFill>
                <a:latin typeface="맑은 고딕" pitchFamily="34" charset="0"/>
                <a:ea typeface="맑은 고딕" pitchFamily="34" charset="-122"/>
                <a:cs typeface="맑은 고딕" pitchFamily="34" charset="-120"/>
              </a:rPr>
              <a:t>26</a:t>
            </a:r>
            <a:pPr algn="ctr" indent="0" marL="0">
              <a:buNone/>
            </a:pPr>
            <a:r>
              <a:rPr lang="en-US" sz="2000" b="1" dirty="0">
                <a:solidFill>
                  <a:srgbClr val="990011"/>
                </a:solidFill>
                <a:latin typeface="맑은 고딕" pitchFamily="34" charset="0"/>
                <a:ea typeface="맑은 고딕" pitchFamily="34" charset="-122"/>
                <a:cs typeface="맑은 고딕" pitchFamily="34" charset="-120"/>
              </a:rPr>
              <a:t>개</a:t>
            </a:r>
            <a:endParaRPr lang="en-US" sz="6000" dirty="0"/>
          </a:p>
        </p:txBody>
      </p:sp>
      <p:sp>
        <p:nvSpPr>
          <p:cNvPr id="7" name="Text 5"/>
          <p:cNvSpPr/>
          <p:nvPr/>
        </p:nvSpPr>
        <p:spPr>
          <a:xfrm>
            <a:off x="685800" y="3291840"/>
            <a:ext cx="2834640" cy="274320"/>
          </a:xfrm>
          <a:prstGeom prst="rect">
            <a:avLst/>
          </a:prstGeom>
          <a:noFill/>
          <a:ln/>
        </p:spPr>
        <p:txBody>
          <a:bodyPr wrap="square" lIns="0" tIns="0" rIns="0" bIns="0" rtlCol="0" anchor="t"/>
          <a:lstStyle/>
          <a:p>
            <a:pPr algn="ctr" indent="0" marL="0">
              <a:buNone/>
            </a:pPr>
            <a:r>
              <a:rPr lang="en-US" sz="1300" b="1" dirty="0">
                <a:solidFill>
                  <a:srgbClr val="1F2328"/>
                </a:solidFill>
                <a:latin typeface="맑은 고딕" pitchFamily="34" charset="0"/>
                <a:ea typeface="맑은 고딕" pitchFamily="34" charset="-122"/>
                <a:cs typeface="맑은 고딕" pitchFamily="34" charset="-120"/>
              </a:rPr>
              <a:t>사용 가능한 GPIO 핀</a:t>
            </a:r>
            <a:endParaRPr lang="en-US" sz="1300" dirty="0"/>
          </a:p>
        </p:txBody>
      </p:sp>
      <p:sp>
        <p:nvSpPr>
          <p:cNvPr id="8" name="Shape 6"/>
          <p:cNvSpPr/>
          <p:nvPr/>
        </p:nvSpPr>
        <p:spPr>
          <a:xfrm>
            <a:off x="3886200" y="2011680"/>
            <a:ext cx="3703320" cy="2011680"/>
          </a:xfrm>
          <a:prstGeom prst="roundRect">
            <a:avLst>
              <a:gd name="adj" fmla="val 2727"/>
            </a:avLst>
          </a:prstGeom>
          <a:solidFill>
            <a:srgbClr val="FFFFFF"/>
          </a:solidFill>
          <a:ln w="19050">
            <a:solidFill>
              <a:srgbClr val="2F3C7E"/>
            </a:solidFill>
            <a:prstDash val="solid"/>
          </a:ln>
        </p:spPr>
      </p:sp>
      <p:sp>
        <p:nvSpPr>
          <p:cNvPr id="9" name="Shape 7"/>
          <p:cNvSpPr/>
          <p:nvPr/>
        </p:nvSpPr>
        <p:spPr>
          <a:xfrm>
            <a:off x="4160520" y="2240280"/>
            <a:ext cx="384048" cy="384048"/>
          </a:xfrm>
          <a:prstGeom prst="ellipse">
            <a:avLst/>
          </a:prstGeom>
          <a:solidFill>
            <a:srgbClr val="2F3C7E"/>
          </a:solidFill>
          <a:ln w="12700">
            <a:solidFill>
              <a:srgbClr val="2F3C7E"/>
            </a:solidFill>
            <a:prstDash val="solid"/>
          </a:ln>
        </p:spPr>
      </p:sp>
      <p:sp>
        <p:nvSpPr>
          <p:cNvPr id="10" name="Text 8"/>
          <p:cNvSpPr/>
          <p:nvPr/>
        </p:nvSpPr>
        <p:spPr>
          <a:xfrm>
            <a:off x="4160520"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IN</a:t>
            </a:r>
            <a:endParaRPr lang="en-US" sz="1000" dirty="0"/>
          </a:p>
        </p:txBody>
      </p:sp>
      <p:sp>
        <p:nvSpPr>
          <p:cNvPr id="11" name="Text 9"/>
          <p:cNvSpPr/>
          <p:nvPr/>
        </p:nvSpPr>
        <p:spPr>
          <a:xfrm>
            <a:off x="4663440" y="2304288"/>
            <a:ext cx="2743200" cy="274320"/>
          </a:xfrm>
          <a:prstGeom prst="rect">
            <a:avLst/>
          </a:prstGeom>
          <a:noFill/>
          <a:ln/>
        </p:spPr>
        <p:txBody>
          <a:bodyPr wrap="square" lIns="0" tIns="0" rIns="0" bIns="0" rtlCol="0" anchor="t"/>
          <a:lstStyle/>
          <a:p>
            <a:pPr indent="0" marL="0">
              <a:buNone/>
            </a:pPr>
            <a:r>
              <a:rPr lang="en-US" sz="1500" b="1" dirty="0">
                <a:solidFill>
                  <a:srgbClr val="2F3C7E"/>
                </a:solidFill>
                <a:latin typeface="맑은 고딕" pitchFamily="34" charset="0"/>
                <a:ea typeface="맑은 고딕" pitchFamily="34" charset="-122"/>
                <a:cs typeface="맑은 고딕" pitchFamily="34" charset="-120"/>
              </a:rPr>
              <a:t>입력 (INPUT)</a:t>
            </a:r>
            <a:endParaRPr lang="en-US" sz="1500" dirty="0"/>
          </a:p>
        </p:txBody>
      </p:sp>
      <p:sp>
        <p:nvSpPr>
          <p:cNvPr id="12" name="Text 10"/>
          <p:cNvSpPr/>
          <p:nvPr/>
        </p:nvSpPr>
        <p:spPr>
          <a:xfrm>
            <a:off x="4160520" y="2788920"/>
            <a:ext cx="3200400" cy="1005840"/>
          </a:xfrm>
          <a:prstGeom prst="rect">
            <a:avLst/>
          </a:prstGeom>
          <a:noFill/>
          <a:ln/>
        </p:spPr>
        <p:txBody>
          <a:bodyPr wrap="square" lIns="0" tIns="0" rIns="0" bIns="0" rtlCol="0" anchor="t"/>
          <a:lstStyle/>
          <a:p>
            <a:pPr indent="0" marL="0">
              <a:lnSpc>
                <a:spcPts val="1800"/>
              </a:lnSpc>
              <a:buNone/>
            </a:pPr>
            <a:r>
              <a:rPr lang="en-US" sz="1250" dirty="0">
                <a:solidFill>
                  <a:srgbClr val="6B7280"/>
                </a:solidFill>
                <a:latin typeface="맑은 고딕" pitchFamily="34" charset="0"/>
                <a:ea typeface="맑은 고딕" pitchFamily="34" charset="-122"/>
                <a:cs typeface="맑은 고딕" pitchFamily="34" charset="-120"/>
              </a:rPr>
              <a:t>바깥에서 들어오는 신호를 읽습니다.</a:t>
            </a:r>
            <a:endParaRPr lang="en-US" sz="1250" dirty="0"/>
          </a:p>
          <a:p>
            <a:pPr indent="0" marL="0">
              <a:lnSpc>
                <a:spcPts val="1800"/>
              </a:lnSpc>
              <a:buNone/>
            </a:pPr>
            <a:r>
              <a:rPr lang="en-US" sz="1250" dirty="0">
                <a:solidFill>
                  <a:srgbClr val="6B7280"/>
                </a:solidFill>
                <a:latin typeface="맑은 고딕" pitchFamily="34" charset="0"/>
                <a:ea typeface="맑은 고딕" pitchFamily="34" charset="-122"/>
                <a:cs typeface="맑은 고딕" pitchFamily="34" charset="-120"/>
              </a:rPr>
              <a:t>버튼이 눌렸는지, 센서가 무엇을 감지했는지 확인할 때 사용합니다.</a:t>
            </a:r>
            <a:endParaRPr lang="en-US" sz="1250" dirty="0"/>
          </a:p>
        </p:txBody>
      </p:sp>
      <p:sp>
        <p:nvSpPr>
          <p:cNvPr id="13" name="Shape 11"/>
          <p:cNvSpPr/>
          <p:nvPr/>
        </p:nvSpPr>
        <p:spPr>
          <a:xfrm>
            <a:off x="7863840" y="2011680"/>
            <a:ext cx="3685032" cy="2011680"/>
          </a:xfrm>
          <a:prstGeom prst="roundRect">
            <a:avLst>
              <a:gd name="adj" fmla="val 2727"/>
            </a:avLst>
          </a:prstGeom>
          <a:solidFill>
            <a:srgbClr val="FFFFFF"/>
          </a:solidFill>
          <a:ln w="19050">
            <a:solidFill>
              <a:srgbClr val="0B7285"/>
            </a:solidFill>
            <a:prstDash val="solid"/>
          </a:ln>
        </p:spPr>
      </p:sp>
      <p:sp>
        <p:nvSpPr>
          <p:cNvPr id="14" name="Shape 12"/>
          <p:cNvSpPr/>
          <p:nvPr/>
        </p:nvSpPr>
        <p:spPr>
          <a:xfrm>
            <a:off x="8138160" y="2240280"/>
            <a:ext cx="384048" cy="384048"/>
          </a:xfrm>
          <a:prstGeom prst="ellipse">
            <a:avLst/>
          </a:prstGeom>
          <a:solidFill>
            <a:srgbClr val="0B7285"/>
          </a:solidFill>
          <a:ln w="12700">
            <a:solidFill>
              <a:srgbClr val="0B7285"/>
            </a:solidFill>
            <a:prstDash val="solid"/>
          </a:ln>
        </p:spPr>
      </p:sp>
      <p:sp>
        <p:nvSpPr>
          <p:cNvPr id="15" name="Text 13"/>
          <p:cNvSpPr/>
          <p:nvPr/>
        </p:nvSpPr>
        <p:spPr>
          <a:xfrm>
            <a:off x="8138160" y="224028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OUT</a:t>
            </a:r>
            <a:endParaRPr lang="en-US" sz="900" dirty="0"/>
          </a:p>
        </p:txBody>
      </p:sp>
      <p:sp>
        <p:nvSpPr>
          <p:cNvPr id="16" name="Text 14"/>
          <p:cNvSpPr/>
          <p:nvPr/>
        </p:nvSpPr>
        <p:spPr>
          <a:xfrm>
            <a:off x="8641080" y="2304288"/>
            <a:ext cx="2743200" cy="274320"/>
          </a:xfrm>
          <a:prstGeom prst="rect">
            <a:avLst/>
          </a:prstGeom>
          <a:noFill/>
          <a:ln/>
        </p:spPr>
        <p:txBody>
          <a:bodyPr wrap="square" lIns="0" tIns="0" rIns="0" bIns="0" rtlCol="0" anchor="t"/>
          <a:lstStyle/>
          <a:p>
            <a:pPr indent="0" marL="0">
              <a:buNone/>
            </a:pPr>
            <a:r>
              <a:rPr lang="en-US" sz="1500" b="1" dirty="0">
                <a:solidFill>
                  <a:srgbClr val="0B7285"/>
                </a:solidFill>
                <a:latin typeface="맑은 고딕" pitchFamily="34" charset="0"/>
                <a:ea typeface="맑은 고딕" pitchFamily="34" charset="-122"/>
                <a:cs typeface="맑은 고딕" pitchFamily="34" charset="-120"/>
              </a:rPr>
              <a:t>출력 (OUTPUT)</a:t>
            </a:r>
            <a:endParaRPr lang="en-US" sz="1500" dirty="0"/>
          </a:p>
        </p:txBody>
      </p:sp>
      <p:sp>
        <p:nvSpPr>
          <p:cNvPr id="17" name="Text 15"/>
          <p:cNvSpPr/>
          <p:nvPr/>
        </p:nvSpPr>
        <p:spPr>
          <a:xfrm>
            <a:off x="8138160" y="2788920"/>
            <a:ext cx="3200400" cy="1005840"/>
          </a:xfrm>
          <a:prstGeom prst="rect">
            <a:avLst/>
          </a:prstGeom>
          <a:noFill/>
          <a:ln/>
        </p:spPr>
        <p:txBody>
          <a:bodyPr wrap="square" lIns="0" tIns="0" rIns="0" bIns="0" rtlCol="0" anchor="t"/>
          <a:lstStyle/>
          <a:p>
            <a:pPr indent="0" marL="0">
              <a:lnSpc>
                <a:spcPts val="1800"/>
              </a:lnSpc>
              <a:buNone/>
            </a:pPr>
            <a:r>
              <a:rPr lang="en-US" sz="1250" dirty="0">
                <a:solidFill>
                  <a:srgbClr val="6B7280"/>
                </a:solidFill>
                <a:latin typeface="맑은 고딕" pitchFamily="34" charset="0"/>
                <a:ea typeface="맑은 고딕" pitchFamily="34" charset="-122"/>
                <a:cs typeface="맑은 고딕" pitchFamily="34" charset="-120"/>
              </a:rPr>
              <a:t>바깥으로 신호를 내보냅니다.</a:t>
            </a:r>
            <a:endParaRPr lang="en-US" sz="1250" dirty="0"/>
          </a:p>
          <a:p>
            <a:pPr indent="0" marL="0">
              <a:lnSpc>
                <a:spcPts val="1800"/>
              </a:lnSpc>
              <a:buNone/>
            </a:pPr>
            <a:r>
              <a:rPr lang="en-US" sz="1250" dirty="0">
                <a:solidFill>
                  <a:srgbClr val="6B7280"/>
                </a:solidFill>
                <a:latin typeface="맑은 고딕" pitchFamily="34" charset="0"/>
                <a:ea typeface="맑은 고딕" pitchFamily="34" charset="-122"/>
                <a:cs typeface="맑은 고딕" pitchFamily="34" charset="-120"/>
              </a:rPr>
              <a:t>LED를 켜거나, 모터 드라이버에 명령을 전달할 때 사용합니다.</a:t>
            </a:r>
            <a:endParaRPr lang="en-US" sz="1250" dirty="0"/>
          </a:p>
        </p:txBody>
      </p:sp>
      <p:sp>
        <p:nvSpPr>
          <p:cNvPr id="18" name="Shape 16"/>
          <p:cNvSpPr/>
          <p:nvPr/>
        </p:nvSpPr>
        <p:spPr>
          <a:xfrm>
            <a:off x="685800" y="4343400"/>
            <a:ext cx="10817352" cy="1691640"/>
          </a:xfrm>
          <a:prstGeom prst="roundRect">
            <a:avLst>
              <a:gd name="adj" fmla="val 3243"/>
            </a:avLst>
          </a:prstGeom>
          <a:solidFill>
            <a:srgbClr val="F7F2F2"/>
          </a:solidFill>
          <a:ln w="12700">
            <a:solidFill>
              <a:srgbClr val="DCD6D6"/>
            </a:solidFill>
            <a:prstDash val="solid"/>
          </a:ln>
        </p:spPr>
      </p:sp>
      <p:sp>
        <p:nvSpPr>
          <p:cNvPr id="19" name="Text 17"/>
          <p:cNvSpPr/>
          <p:nvPr/>
        </p:nvSpPr>
        <p:spPr>
          <a:xfrm>
            <a:off x="1051560" y="4553712"/>
            <a:ext cx="5029200" cy="310896"/>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디지털 신호는 두 가지 상태만 있습니다</a:t>
            </a:r>
            <a:endParaRPr lang="en-US" sz="1500" dirty="0"/>
          </a:p>
        </p:txBody>
      </p:sp>
      <p:sp>
        <p:nvSpPr>
          <p:cNvPr id="20" name="Shape 18"/>
          <p:cNvSpPr/>
          <p:nvPr/>
        </p:nvSpPr>
        <p:spPr>
          <a:xfrm>
            <a:off x="1051560" y="4956048"/>
            <a:ext cx="2651760" cy="420624"/>
          </a:xfrm>
          <a:prstGeom prst="roundRect">
            <a:avLst>
              <a:gd name="adj" fmla="val 10870"/>
            </a:avLst>
          </a:prstGeom>
          <a:solidFill>
            <a:srgbClr val="990011"/>
          </a:solidFill>
          <a:ln w="12700">
            <a:solidFill>
              <a:srgbClr val="333333"/>
            </a:solidFill>
            <a:prstDash val="solid"/>
          </a:ln>
        </p:spPr>
      </p:sp>
      <p:sp>
        <p:nvSpPr>
          <p:cNvPr id="21" name="Text 19"/>
          <p:cNvSpPr/>
          <p:nvPr/>
        </p:nvSpPr>
        <p:spPr>
          <a:xfrm>
            <a:off x="1051560" y="4956048"/>
            <a:ext cx="265176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HIGH  ·  1  ·  ON</a:t>
            </a:r>
            <a:endParaRPr lang="en-US" sz="1250" dirty="0"/>
          </a:p>
        </p:txBody>
      </p:sp>
      <p:sp>
        <p:nvSpPr>
          <p:cNvPr id="22" name="Text 20"/>
          <p:cNvSpPr/>
          <p:nvPr/>
        </p:nvSpPr>
        <p:spPr>
          <a:xfrm>
            <a:off x="3840480" y="5029200"/>
            <a:ext cx="2194560" cy="292608"/>
          </a:xfrm>
          <a:prstGeom prst="rect">
            <a:avLst/>
          </a:prstGeom>
          <a:noFill/>
          <a:ln/>
        </p:spPr>
        <p:txBody>
          <a:bodyPr wrap="square" lIns="0" tIns="0" rIns="0" bIns="0" rtlCol="0" anchor="t"/>
          <a:lstStyle/>
          <a:p>
            <a:pPr indent="0" marL="0">
              <a:buNone/>
            </a:pPr>
            <a:r>
              <a:rPr lang="en-US" sz="1300" b="1" dirty="0">
                <a:solidFill>
                  <a:srgbClr val="990011"/>
                </a:solidFill>
                <a:latin typeface="맑은 고딕" pitchFamily="34" charset="0"/>
                <a:ea typeface="맑은 고딕" pitchFamily="34" charset="-122"/>
                <a:cs typeface="맑은 고딕" pitchFamily="34" charset="-120"/>
              </a:rPr>
              <a:t>3.3V 가 나옴</a:t>
            </a:r>
            <a:endParaRPr lang="en-US" sz="1300" dirty="0"/>
          </a:p>
        </p:txBody>
      </p:sp>
      <p:sp>
        <p:nvSpPr>
          <p:cNvPr id="23" name="Shape 21"/>
          <p:cNvSpPr/>
          <p:nvPr/>
        </p:nvSpPr>
        <p:spPr>
          <a:xfrm>
            <a:off x="1051560" y="5468112"/>
            <a:ext cx="2651760" cy="420624"/>
          </a:xfrm>
          <a:prstGeom prst="roundRect">
            <a:avLst>
              <a:gd name="adj" fmla="val 10870"/>
            </a:avLst>
          </a:prstGeom>
          <a:solidFill>
            <a:srgbClr val="4B5563"/>
          </a:solidFill>
          <a:ln w="12700">
            <a:solidFill>
              <a:srgbClr val="333333"/>
            </a:solidFill>
            <a:prstDash val="solid"/>
          </a:ln>
        </p:spPr>
      </p:sp>
      <p:sp>
        <p:nvSpPr>
          <p:cNvPr id="24" name="Text 22"/>
          <p:cNvSpPr/>
          <p:nvPr/>
        </p:nvSpPr>
        <p:spPr>
          <a:xfrm>
            <a:off x="1051560" y="5468112"/>
            <a:ext cx="2651760"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LOW  ·  0  ·  OFF</a:t>
            </a:r>
            <a:endParaRPr lang="en-US" sz="1250" dirty="0"/>
          </a:p>
        </p:txBody>
      </p:sp>
      <p:sp>
        <p:nvSpPr>
          <p:cNvPr id="25" name="Text 23"/>
          <p:cNvSpPr/>
          <p:nvPr/>
        </p:nvSpPr>
        <p:spPr>
          <a:xfrm>
            <a:off x="3840480" y="5541264"/>
            <a:ext cx="2194560" cy="292608"/>
          </a:xfrm>
          <a:prstGeom prst="rect">
            <a:avLst/>
          </a:prstGeom>
          <a:noFill/>
          <a:ln/>
        </p:spPr>
        <p:txBody>
          <a:bodyPr wrap="square" lIns="0" tIns="0" rIns="0" bIns="0" rtlCol="0" anchor="t"/>
          <a:lstStyle/>
          <a:p>
            <a:pPr indent="0" marL="0">
              <a:buNone/>
            </a:pPr>
            <a:r>
              <a:rPr lang="en-US" sz="1300" b="1" dirty="0">
                <a:solidFill>
                  <a:srgbClr val="4B5563"/>
                </a:solidFill>
                <a:latin typeface="맑은 고딕" pitchFamily="34" charset="0"/>
                <a:ea typeface="맑은 고딕" pitchFamily="34" charset="-122"/>
                <a:cs typeface="맑은 고딕" pitchFamily="34" charset="-120"/>
              </a:rPr>
              <a:t>0V (GND)</a:t>
            </a:r>
            <a:endParaRPr lang="en-US" sz="1300" dirty="0"/>
          </a:p>
        </p:txBody>
      </p:sp>
      <p:sp>
        <p:nvSpPr>
          <p:cNvPr id="26" name="Text 24"/>
          <p:cNvSpPr/>
          <p:nvPr/>
        </p:nvSpPr>
        <p:spPr>
          <a:xfrm>
            <a:off x="6355080" y="5029200"/>
            <a:ext cx="4754880" cy="822960"/>
          </a:xfrm>
          <a:prstGeom prst="rect">
            <a:avLst/>
          </a:prstGeom>
          <a:noFill/>
          <a:ln/>
        </p:spPr>
        <p:txBody>
          <a:bodyPr wrap="square" lIns="0" tIns="0" rIns="0" bIns="0" rtlCol="0" anchor="t"/>
          <a:lstStyle/>
          <a:p>
            <a:pPr indent="0" marL="0">
              <a:lnSpc>
                <a:spcPts val="1800"/>
              </a:lnSpc>
              <a:buNone/>
            </a:pPr>
            <a:r>
              <a:rPr lang="en-US" sz="1250" dirty="0">
                <a:solidFill>
                  <a:srgbClr val="6B7280"/>
                </a:solidFill>
                <a:latin typeface="맑은 고딕" pitchFamily="34" charset="0"/>
                <a:ea typeface="맑은 고딕" pitchFamily="34" charset="-122"/>
                <a:cs typeface="맑은 고딕" pitchFamily="34" charset="-120"/>
              </a:rPr>
              <a:t>중간값은 없습니다. LED 밝기처럼 '중간'을 표현하려면 PWM이라는 기술이 필요하고, 이는 5차시에 배웁니다.</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SPECIAL FUNCTIONS</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GPIO의 특수 기능</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일부 핀은 단순한 ON/OFF를 넘어 특별한 역할을 함께 맡습니다. 지금은 이름만 익혀 두고, 해당 차시에 자세히 배웁니다.</a:t>
            </a:r>
            <a:endParaRPr lang="en-US" sz="1500" dirty="0"/>
          </a:p>
        </p:txBody>
      </p:sp>
      <p:sp>
        <p:nvSpPr>
          <p:cNvPr id="5" name="Shape 3"/>
          <p:cNvSpPr/>
          <p:nvPr/>
        </p:nvSpPr>
        <p:spPr>
          <a:xfrm>
            <a:off x="685800" y="2011680"/>
            <a:ext cx="3502152" cy="1783080"/>
          </a:xfrm>
          <a:prstGeom prst="roundRect">
            <a:avLst>
              <a:gd name="adj" fmla="val 3077"/>
            </a:avLst>
          </a:prstGeom>
          <a:solidFill>
            <a:srgbClr val="FFFFFF"/>
          </a:solidFill>
          <a:ln w="12700">
            <a:solidFill>
              <a:srgbClr val="DCD6D6"/>
            </a:solidFill>
            <a:prstDash val="solid"/>
          </a:ln>
        </p:spPr>
      </p:sp>
      <p:sp>
        <p:nvSpPr>
          <p:cNvPr id="6" name="Shape 4"/>
          <p:cNvSpPr/>
          <p:nvPr/>
        </p:nvSpPr>
        <p:spPr>
          <a:xfrm>
            <a:off x="941832" y="2249424"/>
            <a:ext cx="1051560" cy="402336"/>
          </a:xfrm>
          <a:prstGeom prst="roundRect">
            <a:avLst>
              <a:gd name="adj" fmla="val 11364"/>
            </a:avLst>
          </a:prstGeom>
          <a:solidFill>
            <a:srgbClr val="0B7285"/>
          </a:solidFill>
          <a:ln w="12700">
            <a:solidFill>
              <a:srgbClr val="333333"/>
            </a:solidFill>
            <a:prstDash val="solid"/>
          </a:ln>
        </p:spPr>
      </p:sp>
      <p:sp>
        <p:nvSpPr>
          <p:cNvPr id="7" name="Text 5"/>
          <p:cNvSpPr/>
          <p:nvPr/>
        </p:nvSpPr>
        <p:spPr>
          <a:xfrm>
            <a:off x="941832" y="2249424"/>
            <a:ext cx="10515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8" name="Text 6"/>
          <p:cNvSpPr/>
          <p:nvPr/>
        </p:nvSpPr>
        <p:spPr>
          <a:xfrm>
            <a:off x="2103120" y="2313432"/>
            <a:ext cx="1463040" cy="292608"/>
          </a:xfrm>
          <a:prstGeom prst="rect">
            <a:avLst/>
          </a:prstGeom>
          <a:noFill/>
          <a:ln/>
        </p:spPr>
        <p:txBody>
          <a:bodyPr wrap="square" lIns="0" tIns="0" rIns="0" bIns="0" rtlCol="0" anchor="t"/>
          <a:lstStyle/>
          <a:p>
            <a:pPr indent="0" marL="0">
              <a:buNone/>
            </a:pPr>
            <a:r>
              <a:rPr lang="en-US" sz="1350" b="1" dirty="0">
                <a:solidFill>
                  <a:srgbClr val="1F2328"/>
                </a:solidFill>
                <a:latin typeface="맑은 고딕" pitchFamily="34" charset="0"/>
                <a:ea typeface="맑은 고딕" pitchFamily="34" charset="-122"/>
                <a:cs typeface="맑은 고딕" pitchFamily="34" charset="-120"/>
              </a:rPr>
              <a:t>아날로그 입력</a:t>
            </a:r>
            <a:endParaRPr lang="en-US" sz="1350" dirty="0"/>
          </a:p>
        </p:txBody>
      </p:sp>
      <p:sp>
        <p:nvSpPr>
          <p:cNvPr id="9" name="Text 7"/>
          <p:cNvSpPr/>
          <p:nvPr/>
        </p:nvSpPr>
        <p:spPr>
          <a:xfrm>
            <a:off x="3227832" y="2322576"/>
            <a:ext cx="731520" cy="256032"/>
          </a:xfrm>
          <a:prstGeom prst="rect">
            <a:avLst/>
          </a:prstGeom>
          <a:noFill/>
          <a:ln/>
        </p:spPr>
        <p:txBody>
          <a:bodyPr wrap="square" lIns="0" tIns="0" rIns="0" bIns="0" rtlCol="0" anchor="t"/>
          <a:lstStyle/>
          <a:p>
            <a:pPr algn="r" indent="0" marL="0">
              <a:buNone/>
            </a:pPr>
            <a:r>
              <a:rPr lang="en-US" sz="1050" b="1" dirty="0">
                <a:solidFill>
                  <a:srgbClr val="0B7285"/>
                </a:solidFill>
                <a:latin typeface="맑은 고딕" pitchFamily="34" charset="0"/>
                <a:ea typeface="맑은 고딕" pitchFamily="34" charset="-122"/>
                <a:cs typeface="맑은 고딕" pitchFamily="34" charset="-120"/>
              </a:rPr>
              <a:t>7차시</a:t>
            </a:r>
            <a:endParaRPr lang="en-US" sz="1050" dirty="0"/>
          </a:p>
        </p:txBody>
      </p:sp>
      <p:sp>
        <p:nvSpPr>
          <p:cNvPr id="10" name="Text 8"/>
          <p:cNvSpPr/>
          <p:nvPr/>
        </p:nvSpPr>
        <p:spPr>
          <a:xfrm>
            <a:off x="941832" y="2816352"/>
            <a:ext cx="2990088" cy="777240"/>
          </a:xfrm>
          <a:prstGeom prst="rect">
            <a:avLst/>
          </a:prstGeom>
          <a:noFill/>
          <a:ln/>
        </p:spPr>
        <p:txBody>
          <a:bodyPr wrap="square" lIns="0" tIns="0" rIns="0" bIns="0" rtlCol="0" anchor="t"/>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0~3.3V 사이의 값을 숫자로 변환</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GP26 · GP27 · GP28 (3개)</a:t>
            </a:r>
            <a:endParaRPr lang="en-US" sz="1150" dirty="0"/>
          </a:p>
        </p:txBody>
      </p:sp>
      <p:sp>
        <p:nvSpPr>
          <p:cNvPr id="11" name="Shape 9"/>
          <p:cNvSpPr/>
          <p:nvPr/>
        </p:nvSpPr>
        <p:spPr>
          <a:xfrm>
            <a:off x="4361688" y="2011680"/>
            <a:ext cx="3502152" cy="1783080"/>
          </a:xfrm>
          <a:prstGeom prst="roundRect">
            <a:avLst>
              <a:gd name="adj" fmla="val 3077"/>
            </a:avLst>
          </a:prstGeom>
          <a:solidFill>
            <a:srgbClr val="FFFFFF"/>
          </a:solidFill>
          <a:ln w="12700">
            <a:solidFill>
              <a:srgbClr val="DCD6D6"/>
            </a:solidFill>
            <a:prstDash val="solid"/>
          </a:ln>
        </p:spPr>
      </p:sp>
      <p:sp>
        <p:nvSpPr>
          <p:cNvPr id="12" name="Shape 10"/>
          <p:cNvSpPr/>
          <p:nvPr/>
        </p:nvSpPr>
        <p:spPr>
          <a:xfrm>
            <a:off x="4617720" y="2249424"/>
            <a:ext cx="1051560" cy="402336"/>
          </a:xfrm>
          <a:prstGeom prst="roundRect">
            <a:avLst>
              <a:gd name="adj" fmla="val 11364"/>
            </a:avLst>
          </a:prstGeom>
          <a:solidFill>
            <a:srgbClr val="990011"/>
          </a:solidFill>
          <a:ln w="12700">
            <a:solidFill>
              <a:srgbClr val="333333"/>
            </a:solidFill>
            <a:prstDash val="solid"/>
          </a:ln>
        </p:spPr>
      </p:sp>
      <p:sp>
        <p:nvSpPr>
          <p:cNvPr id="13" name="Text 11"/>
          <p:cNvSpPr/>
          <p:nvPr/>
        </p:nvSpPr>
        <p:spPr>
          <a:xfrm>
            <a:off x="4617720" y="2249424"/>
            <a:ext cx="10515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PWM</a:t>
            </a:r>
            <a:endParaRPr lang="en-US" sz="1300" dirty="0"/>
          </a:p>
        </p:txBody>
      </p:sp>
      <p:sp>
        <p:nvSpPr>
          <p:cNvPr id="14" name="Text 12"/>
          <p:cNvSpPr/>
          <p:nvPr/>
        </p:nvSpPr>
        <p:spPr>
          <a:xfrm>
            <a:off x="5779008" y="2313432"/>
            <a:ext cx="1463040" cy="292608"/>
          </a:xfrm>
          <a:prstGeom prst="rect">
            <a:avLst/>
          </a:prstGeom>
          <a:noFill/>
          <a:ln/>
        </p:spPr>
        <p:txBody>
          <a:bodyPr wrap="square" lIns="0" tIns="0" rIns="0" bIns="0" rtlCol="0" anchor="t"/>
          <a:lstStyle/>
          <a:p>
            <a:pPr indent="0" marL="0">
              <a:buNone/>
            </a:pPr>
            <a:r>
              <a:rPr lang="en-US" sz="1350" b="1" dirty="0">
                <a:solidFill>
                  <a:srgbClr val="1F2328"/>
                </a:solidFill>
                <a:latin typeface="맑은 고딕" pitchFamily="34" charset="0"/>
                <a:ea typeface="맑은 고딕" pitchFamily="34" charset="-122"/>
                <a:cs typeface="맑은 고딕" pitchFamily="34" charset="-120"/>
              </a:rPr>
              <a:t>출력 세기 조절</a:t>
            </a:r>
            <a:endParaRPr lang="en-US" sz="1350" dirty="0"/>
          </a:p>
        </p:txBody>
      </p:sp>
      <p:sp>
        <p:nvSpPr>
          <p:cNvPr id="15" name="Text 13"/>
          <p:cNvSpPr/>
          <p:nvPr/>
        </p:nvSpPr>
        <p:spPr>
          <a:xfrm>
            <a:off x="6903720" y="2322576"/>
            <a:ext cx="731520" cy="256032"/>
          </a:xfrm>
          <a:prstGeom prst="rect">
            <a:avLst/>
          </a:prstGeom>
          <a:noFill/>
          <a:ln/>
        </p:spPr>
        <p:txBody>
          <a:bodyPr wrap="square" lIns="0" tIns="0" rIns="0" bIns="0" rtlCol="0" anchor="t"/>
          <a:lstStyle/>
          <a:p>
            <a:pPr algn="r" indent="0" marL="0">
              <a:buNone/>
            </a:pPr>
            <a:r>
              <a:rPr lang="en-US" sz="1050" b="1" dirty="0">
                <a:solidFill>
                  <a:srgbClr val="990011"/>
                </a:solidFill>
                <a:latin typeface="맑은 고딕" pitchFamily="34" charset="0"/>
                <a:ea typeface="맑은 고딕" pitchFamily="34" charset="-122"/>
                <a:cs typeface="맑은 고딕" pitchFamily="34" charset="-120"/>
              </a:rPr>
              <a:t>5차시</a:t>
            </a:r>
            <a:endParaRPr lang="en-US" sz="1050" dirty="0"/>
          </a:p>
        </p:txBody>
      </p:sp>
      <p:sp>
        <p:nvSpPr>
          <p:cNvPr id="16" name="Text 14"/>
          <p:cNvSpPr/>
          <p:nvPr/>
        </p:nvSpPr>
        <p:spPr>
          <a:xfrm>
            <a:off x="4617720" y="2816352"/>
            <a:ext cx="2990088" cy="777240"/>
          </a:xfrm>
          <a:prstGeom prst="rect">
            <a:avLst/>
          </a:prstGeom>
          <a:noFill/>
          <a:ln/>
        </p:spPr>
        <p:txBody>
          <a:bodyPr wrap="square" lIns="0" tIns="0" rIns="0" bIns="0" rtlCol="0" anchor="t"/>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LED 밝기, 모터 속도 조절에 사용</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거의 모든 GPIO에서 사용 가능</a:t>
            </a:r>
            <a:endParaRPr lang="en-US" sz="1150" dirty="0"/>
          </a:p>
        </p:txBody>
      </p:sp>
      <p:sp>
        <p:nvSpPr>
          <p:cNvPr id="17" name="Shape 15"/>
          <p:cNvSpPr/>
          <p:nvPr/>
        </p:nvSpPr>
        <p:spPr>
          <a:xfrm>
            <a:off x="8037576" y="2011680"/>
            <a:ext cx="3502152" cy="1783080"/>
          </a:xfrm>
          <a:prstGeom prst="roundRect">
            <a:avLst>
              <a:gd name="adj" fmla="val 3077"/>
            </a:avLst>
          </a:prstGeom>
          <a:solidFill>
            <a:srgbClr val="FFFFFF"/>
          </a:solidFill>
          <a:ln w="12700">
            <a:solidFill>
              <a:srgbClr val="DCD6D6"/>
            </a:solidFill>
            <a:prstDash val="solid"/>
          </a:ln>
        </p:spPr>
      </p:sp>
      <p:sp>
        <p:nvSpPr>
          <p:cNvPr id="18" name="Shape 16"/>
          <p:cNvSpPr/>
          <p:nvPr/>
        </p:nvSpPr>
        <p:spPr>
          <a:xfrm>
            <a:off x="8293608" y="2249424"/>
            <a:ext cx="1051560" cy="402336"/>
          </a:xfrm>
          <a:prstGeom prst="roundRect">
            <a:avLst>
              <a:gd name="adj" fmla="val 11364"/>
            </a:avLst>
          </a:prstGeom>
          <a:solidFill>
            <a:srgbClr val="2F3C7E"/>
          </a:solidFill>
          <a:ln w="12700">
            <a:solidFill>
              <a:srgbClr val="333333"/>
            </a:solidFill>
            <a:prstDash val="solid"/>
          </a:ln>
        </p:spPr>
      </p:sp>
      <p:sp>
        <p:nvSpPr>
          <p:cNvPr id="19" name="Text 17"/>
          <p:cNvSpPr/>
          <p:nvPr/>
        </p:nvSpPr>
        <p:spPr>
          <a:xfrm>
            <a:off x="8293608" y="2249424"/>
            <a:ext cx="10515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I2C</a:t>
            </a:r>
            <a:endParaRPr lang="en-US" sz="1300" dirty="0"/>
          </a:p>
        </p:txBody>
      </p:sp>
      <p:sp>
        <p:nvSpPr>
          <p:cNvPr id="20" name="Text 18"/>
          <p:cNvSpPr/>
          <p:nvPr/>
        </p:nvSpPr>
        <p:spPr>
          <a:xfrm>
            <a:off x="9454896" y="2313432"/>
            <a:ext cx="1463040" cy="292608"/>
          </a:xfrm>
          <a:prstGeom prst="rect">
            <a:avLst/>
          </a:prstGeom>
          <a:noFill/>
          <a:ln/>
        </p:spPr>
        <p:txBody>
          <a:bodyPr wrap="square" lIns="0" tIns="0" rIns="0" bIns="0" rtlCol="0" anchor="t"/>
          <a:lstStyle/>
          <a:p>
            <a:pPr indent="0" marL="0">
              <a:buNone/>
            </a:pPr>
            <a:r>
              <a:rPr lang="en-US" sz="1350" b="1" dirty="0">
                <a:solidFill>
                  <a:srgbClr val="1F2328"/>
                </a:solidFill>
                <a:latin typeface="맑은 고딕" pitchFamily="34" charset="0"/>
                <a:ea typeface="맑은 고딕" pitchFamily="34" charset="-122"/>
                <a:cs typeface="맑은 고딕" pitchFamily="34" charset="-120"/>
              </a:rPr>
              <a:t>센서 통신</a:t>
            </a:r>
            <a:endParaRPr lang="en-US" sz="1350" dirty="0"/>
          </a:p>
        </p:txBody>
      </p:sp>
      <p:sp>
        <p:nvSpPr>
          <p:cNvPr id="21" name="Text 19"/>
          <p:cNvSpPr/>
          <p:nvPr/>
        </p:nvSpPr>
        <p:spPr>
          <a:xfrm>
            <a:off x="10579608" y="2322576"/>
            <a:ext cx="731520" cy="256032"/>
          </a:xfrm>
          <a:prstGeom prst="rect">
            <a:avLst/>
          </a:prstGeom>
          <a:noFill/>
          <a:ln/>
        </p:spPr>
        <p:txBody>
          <a:bodyPr wrap="square" lIns="0" tIns="0" rIns="0" bIns="0" rtlCol="0" anchor="t"/>
          <a:lstStyle/>
          <a:p>
            <a:pPr algn="r" indent="0" marL="0">
              <a:buNone/>
            </a:pPr>
            <a:r>
              <a:rPr lang="en-US" sz="1050" b="1" dirty="0">
                <a:solidFill>
                  <a:srgbClr val="2F3C7E"/>
                </a:solidFill>
                <a:latin typeface="맑은 고딕" pitchFamily="34" charset="0"/>
                <a:ea typeface="맑은 고딕" pitchFamily="34" charset="-122"/>
                <a:cs typeface="맑은 고딕" pitchFamily="34" charset="-120"/>
              </a:rPr>
              <a:t>8차시</a:t>
            </a:r>
            <a:endParaRPr lang="en-US" sz="1050" dirty="0"/>
          </a:p>
        </p:txBody>
      </p:sp>
      <p:sp>
        <p:nvSpPr>
          <p:cNvPr id="22" name="Text 20"/>
          <p:cNvSpPr/>
          <p:nvPr/>
        </p:nvSpPr>
        <p:spPr>
          <a:xfrm>
            <a:off x="8293608" y="2816352"/>
            <a:ext cx="2990088" cy="777240"/>
          </a:xfrm>
          <a:prstGeom prst="rect">
            <a:avLst/>
          </a:prstGeom>
          <a:noFill/>
          <a:ln/>
        </p:spPr>
        <p:txBody>
          <a:bodyPr wrap="square" lIns="0" tIns="0" rIns="0" bIns="0" rtlCol="0" anchor="t"/>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선 2개로 여러 센서를 연결</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SDA · SCL 한 쌍을 사용</a:t>
            </a:r>
            <a:endParaRPr lang="en-US" sz="1150" dirty="0"/>
          </a:p>
        </p:txBody>
      </p:sp>
      <p:sp>
        <p:nvSpPr>
          <p:cNvPr id="23" name="Shape 21"/>
          <p:cNvSpPr/>
          <p:nvPr/>
        </p:nvSpPr>
        <p:spPr>
          <a:xfrm>
            <a:off x="685800" y="3995928"/>
            <a:ext cx="3502152" cy="1783080"/>
          </a:xfrm>
          <a:prstGeom prst="roundRect">
            <a:avLst>
              <a:gd name="adj" fmla="val 3077"/>
            </a:avLst>
          </a:prstGeom>
          <a:solidFill>
            <a:srgbClr val="FFFFFF"/>
          </a:solidFill>
          <a:ln w="12700">
            <a:solidFill>
              <a:srgbClr val="DCD6D6"/>
            </a:solidFill>
            <a:prstDash val="solid"/>
          </a:ln>
        </p:spPr>
      </p:sp>
      <p:sp>
        <p:nvSpPr>
          <p:cNvPr id="24" name="Shape 22"/>
          <p:cNvSpPr/>
          <p:nvPr/>
        </p:nvSpPr>
        <p:spPr>
          <a:xfrm>
            <a:off x="941832" y="4233672"/>
            <a:ext cx="1051560" cy="402336"/>
          </a:xfrm>
          <a:prstGeom prst="roundRect">
            <a:avLst>
              <a:gd name="adj" fmla="val 11364"/>
            </a:avLst>
          </a:prstGeom>
          <a:solidFill>
            <a:srgbClr val="9CA3AF"/>
          </a:solidFill>
          <a:ln w="12700">
            <a:solidFill>
              <a:srgbClr val="333333"/>
            </a:solidFill>
            <a:prstDash val="solid"/>
          </a:ln>
        </p:spPr>
      </p:sp>
      <p:sp>
        <p:nvSpPr>
          <p:cNvPr id="25" name="Text 23"/>
          <p:cNvSpPr/>
          <p:nvPr/>
        </p:nvSpPr>
        <p:spPr>
          <a:xfrm>
            <a:off x="941832" y="4233672"/>
            <a:ext cx="10515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SPI</a:t>
            </a:r>
            <a:endParaRPr lang="en-US" sz="1300" dirty="0"/>
          </a:p>
        </p:txBody>
      </p:sp>
      <p:sp>
        <p:nvSpPr>
          <p:cNvPr id="26" name="Text 24"/>
          <p:cNvSpPr/>
          <p:nvPr/>
        </p:nvSpPr>
        <p:spPr>
          <a:xfrm>
            <a:off x="2103120" y="4297680"/>
            <a:ext cx="1463040" cy="292608"/>
          </a:xfrm>
          <a:prstGeom prst="rect">
            <a:avLst/>
          </a:prstGeom>
          <a:noFill/>
          <a:ln/>
        </p:spPr>
        <p:txBody>
          <a:bodyPr wrap="square" lIns="0" tIns="0" rIns="0" bIns="0" rtlCol="0" anchor="t"/>
          <a:lstStyle/>
          <a:p>
            <a:pPr indent="0" marL="0">
              <a:buNone/>
            </a:pPr>
            <a:r>
              <a:rPr lang="en-US" sz="1350" b="1" dirty="0">
                <a:solidFill>
                  <a:srgbClr val="1F2328"/>
                </a:solidFill>
                <a:latin typeface="맑은 고딕" pitchFamily="34" charset="0"/>
                <a:ea typeface="맑은 고딕" pitchFamily="34" charset="-122"/>
                <a:cs typeface="맑은 고딕" pitchFamily="34" charset="-120"/>
              </a:rPr>
              <a:t>고속 통신</a:t>
            </a:r>
            <a:endParaRPr lang="en-US" sz="1350" dirty="0"/>
          </a:p>
        </p:txBody>
      </p:sp>
      <p:sp>
        <p:nvSpPr>
          <p:cNvPr id="27" name="Text 25"/>
          <p:cNvSpPr/>
          <p:nvPr/>
        </p:nvSpPr>
        <p:spPr>
          <a:xfrm>
            <a:off x="3227832" y="4306824"/>
            <a:ext cx="731520" cy="256032"/>
          </a:xfrm>
          <a:prstGeom prst="rect">
            <a:avLst/>
          </a:prstGeom>
          <a:noFill/>
          <a:ln/>
        </p:spPr>
        <p:txBody>
          <a:bodyPr wrap="square" lIns="0" tIns="0" rIns="0" bIns="0" rtlCol="0" anchor="t"/>
          <a:lstStyle/>
          <a:p>
            <a:pPr algn="r" indent="0" marL="0">
              <a:buNone/>
            </a:pPr>
            <a:r>
              <a:rPr lang="en-US" sz="1050" b="1" dirty="0">
                <a:solidFill>
                  <a:srgbClr val="9CA3AF"/>
                </a:solidFill>
                <a:latin typeface="맑은 고딕" pitchFamily="34" charset="0"/>
                <a:ea typeface="맑은 고딕" pitchFamily="34" charset="-122"/>
                <a:cs typeface="맑은 고딕" pitchFamily="34" charset="-120"/>
              </a:rPr>
              <a:t>심화</a:t>
            </a:r>
            <a:endParaRPr lang="en-US" sz="1050" dirty="0"/>
          </a:p>
        </p:txBody>
      </p:sp>
      <p:sp>
        <p:nvSpPr>
          <p:cNvPr id="28" name="Text 26"/>
          <p:cNvSpPr/>
          <p:nvPr/>
        </p:nvSpPr>
        <p:spPr>
          <a:xfrm>
            <a:off x="941832" y="4800600"/>
            <a:ext cx="2990088" cy="777240"/>
          </a:xfrm>
          <a:prstGeom prst="rect">
            <a:avLst/>
          </a:prstGeom>
          <a:noFill/>
          <a:ln/>
        </p:spPr>
        <p:txBody>
          <a:bodyPr wrap="square" lIns="0" tIns="0" rIns="0" bIns="0" rtlCol="0" anchor="t"/>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I2C보다 빠른 통신 방식</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디스플레이 등에 사용</a:t>
            </a:r>
            <a:endParaRPr lang="en-US" sz="1150" dirty="0"/>
          </a:p>
        </p:txBody>
      </p:sp>
      <p:sp>
        <p:nvSpPr>
          <p:cNvPr id="29" name="Shape 27"/>
          <p:cNvSpPr/>
          <p:nvPr/>
        </p:nvSpPr>
        <p:spPr>
          <a:xfrm>
            <a:off x="4361688" y="3995928"/>
            <a:ext cx="3502152" cy="1783080"/>
          </a:xfrm>
          <a:prstGeom prst="roundRect">
            <a:avLst>
              <a:gd name="adj" fmla="val 3077"/>
            </a:avLst>
          </a:prstGeom>
          <a:solidFill>
            <a:srgbClr val="FFFFFF"/>
          </a:solidFill>
          <a:ln w="12700">
            <a:solidFill>
              <a:srgbClr val="DCD6D6"/>
            </a:solidFill>
            <a:prstDash val="solid"/>
          </a:ln>
        </p:spPr>
      </p:sp>
      <p:sp>
        <p:nvSpPr>
          <p:cNvPr id="30" name="Shape 28"/>
          <p:cNvSpPr/>
          <p:nvPr/>
        </p:nvSpPr>
        <p:spPr>
          <a:xfrm>
            <a:off x="4617720" y="4233672"/>
            <a:ext cx="1051560" cy="402336"/>
          </a:xfrm>
          <a:prstGeom prst="roundRect">
            <a:avLst>
              <a:gd name="adj" fmla="val 11364"/>
            </a:avLst>
          </a:prstGeom>
          <a:solidFill>
            <a:srgbClr val="9CA3AF"/>
          </a:solidFill>
          <a:ln w="12700">
            <a:solidFill>
              <a:srgbClr val="333333"/>
            </a:solidFill>
            <a:prstDash val="solid"/>
          </a:ln>
        </p:spPr>
      </p:sp>
      <p:sp>
        <p:nvSpPr>
          <p:cNvPr id="31" name="Text 29"/>
          <p:cNvSpPr/>
          <p:nvPr/>
        </p:nvSpPr>
        <p:spPr>
          <a:xfrm>
            <a:off x="4617720" y="4233672"/>
            <a:ext cx="10515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UART</a:t>
            </a:r>
            <a:endParaRPr lang="en-US" sz="1300" dirty="0"/>
          </a:p>
        </p:txBody>
      </p:sp>
      <p:sp>
        <p:nvSpPr>
          <p:cNvPr id="32" name="Text 30"/>
          <p:cNvSpPr/>
          <p:nvPr/>
        </p:nvSpPr>
        <p:spPr>
          <a:xfrm>
            <a:off x="5779008" y="4297680"/>
            <a:ext cx="1463040" cy="292608"/>
          </a:xfrm>
          <a:prstGeom prst="rect">
            <a:avLst/>
          </a:prstGeom>
          <a:noFill/>
          <a:ln/>
        </p:spPr>
        <p:txBody>
          <a:bodyPr wrap="square" lIns="0" tIns="0" rIns="0" bIns="0" rtlCol="0" anchor="t"/>
          <a:lstStyle/>
          <a:p>
            <a:pPr indent="0" marL="0">
              <a:buNone/>
            </a:pPr>
            <a:r>
              <a:rPr lang="en-US" sz="1350" b="1" dirty="0">
                <a:solidFill>
                  <a:srgbClr val="1F2328"/>
                </a:solidFill>
                <a:latin typeface="맑은 고딕" pitchFamily="34" charset="0"/>
                <a:ea typeface="맑은 고딕" pitchFamily="34" charset="-122"/>
                <a:cs typeface="맑은 고딕" pitchFamily="34" charset="-120"/>
              </a:rPr>
              <a:t>직렬 통신</a:t>
            </a:r>
            <a:endParaRPr lang="en-US" sz="1350" dirty="0"/>
          </a:p>
        </p:txBody>
      </p:sp>
      <p:sp>
        <p:nvSpPr>
          <p:cNvPr id="33" name="Text 31"/>
          <p:cNvSpPr/>
          <p:nvPr/>
        </p:nvSpPr>
        <p:spPr>
          <a:xfrm>
            <a:off x="6903720" y="4306824"/>
            <a:ext cx="731520" cy="256032"/>
          </a:xfrm>
          <a:prstGeom prst="rect">
            <a:avLst/>
          </a:prstGeom>
          <a:noFill/>
          <a:ln/>
        </p:spPr>
        <p:txBody>
          <a:bodyPr wrap="square" lIns="0" tIns="0" rIns="0" bIns="0" rtlCol="0" anchor="t"/>
          <a:lstStyle/>
          <a:p>
            <a:pPr algn="r" indent="0" marL="0">
              <a:buNone/>
            </a:pPr>
            <a:r>
              <a:rPr lang="en-US" sz="1050" b="1" dirty="0">
                <a:solidFill>
                  <a:srgbClr val="9CA3AF"/>
                </a:solidFill>
                <a:latin typeface="맑은 고딕" pitchFamily="34" charset="0"/>
                <a:ea typeface="맑은 고딕" pitchFamily="34" charset="-122"/>
                <a:cs typeface="맑은 고딕" pitchFamily="34" charset="-120"/>
              </a:rPr>
              <a:t>심화</a:t>
            </a:r>
            <a:endParaRPr lang="en-US" sz="1050" dirty="0"/>
          </a:p>
        </p:txBody>
      </p:sp>
      <p:sp>
        <p:nvSpPr>
          <p:cNvPr id="34" name="Text 32"/>
          <p:cNvSpPr/>
          <p:nvPr/>
        </p:nvSpPr>
        <p:spPr>
          <a:xfrm>
            <a:off x="4617720" y="4800600"/>
            <a:ext cx="2990088" cy="777240"/>
          </a:xfrm>
          <a:prstGeom prst="rect">
            <a:avLst/>
          </a:prstGeom>
          <a:noFill/>
          <a:ln/>
        </p:spPr>
        <p:txBody>
          <a:bodyPr wrap="square" lIns="0" tIns="0" rIns="0" bIns="0" rtlCol="0" anchor="t"/>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장치끼리 문자를 주고받는 방식</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TX · RX 한 쌍을 사용</a:t>
            </a:r>
            <a:endParaRPr lang="en-US" sz="1150" dirty="0"/>
          </a:p>
        </p:txBody>
      </p:sp>
      <p:sp>
        <p:nvSpPr>
          <p:cNvPr id="35" name="Shape 33"/>
          <p:cNvSpPr/>
          <p:nvPr/>
        </p:nvSpPr>
        <p:spPr>
          <a:xfrm>
            <a:off x="8037576" y="3995928"/>
            <a:ext cx="3502152" cy="1783080"/>
          </a:xfrm>
          <a:prstGeom prst="roundRect">
            <a:avLst>
              <a:gd name="adj" fmla="val 3077"/>
            </a:avLst>
          </a:prstGeom>
          <a:solidFill>
            <a:srgbClr val="FFFFFF"/>
          </a:solidFill>
          <a:ln w="12700">
            <a:solidFill>
              <a:srgbClr val="DCD6D6"/>
            </a:solidFill>
            <a:prstDash val="solid"/>
          </a:ln>
        </p:spPr>
      </p:sp>
      <p:sp>
        <p:nvSpPr>
          <p:cNvPr id="36" name="Shape 34"/>
          <p:cNvSpPr/>
          <p:nvPr/>
        </p:nvSpPr>
        <p:spPr>
          <a:xfrm>
            <a:off x="8293608" y="4233672"/>
            <a:ext cx="1051560" cy="402336"/>
          </a:xfrm>
          <a:prstGeom prst="roundRect">
            <a:avLst>
              <a:gd name="adj" fmla="val 11364"/>
            </a:avLst>
          </a:prstGeom>
          <a:solidFill>
            <a:srgbClr val="4B5563"/>
          </a:solidFill>
          <a:ln w="12700">
            <a:solidFill>
              <a:srgbClr val="333333"/>
            </a:solidFill>
            <a:prstDash val="solid"/>
          </a:ln>
        </p:spPr>
      </p:sp>
      <p:sp>
        <p:nvSpPr>
          <p:cNvPr id="37" name="Text 35"/>
          <p:cNvSpPr/>
          <p:nvPr/>
        </p:nvSpPr>
        <p:spPr>
          <a:xfrm>
            <a:off x="8293608" y="4233672"/>
            <a:ext cx="10515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GND</a:t>
            </a:r>
            <a:endParaRPr lang="en-US" sz="1300" dirty="0"/>
          </a:p>
        </p:txBody>
      </p:sp>
      <p:sp>
        <p:nvSpPr>
          <p:cNvPr id="38" name="Text 36"/>
          <p:cNvSpPr/>
          <p:nvPr/>
        </p:nvSpPr>
        <p:spPr>
          <a:xfrm>
            <a:off x="9454896" y="4297680"/>
            <a:ext cx="1463040" cy="292608"/>
          </a:xfrm>
          <a:prstGeom prst="rect">
            <a:avLst/>
          </a:prstGeom>
          <a:noFill/>
          <a:ln/>
        </p:spPr>
        <p:txBody>
          <a:bodyPr wrap="square" lIns="0" tIns="0" rIns="0" bIns="0" rtlCol="0" anchor="t"/>
          <a:lstStyle/>
          <a:p>
            <a:pPr indent="0" marL="0">
              <a:buNone/>
            </a:pPr>
            <a:r>
              <a:rPr lang="en-US" sz="1350" b="1" dirty="0">
                <a:solidFill>
                  <a:srgbClr val="1F2328"/>
                </a:solidFill>
                <a:latin typeface="맑은 고딕" pitchFamily="34" charset="0"/>
                <a:ea typeface="맑은 고딕" pitchFamily="34" charset="-122"/>
                <a:cs typeface="맑은 고딕" pitchFamily="34" charset="-120"/>
              </a:rPr>
              <a:t>기준점</a:t>
            </a:r>
            <a:endParaRPr lang="en-US" sz="1350" dirty="0"/>
          </a:p>
        </p:txBody>
      </p:sp>
      <p:sp>
        <p:nvSpPr>
          <p:cNvPr id="39" name="Text 37"/>
          <p:cNvSpPr/>
          <p:nvPr/>
        </p:nvSpPr>
        <p:spPr>
          <a:xfrm>
            <a:off x="10579608" y="4306824"/>
            <a:ext cx="731520" cy="256032"/>
          </a:xfrm>
          <a:prstGeom prst="rect">
            <a:avLst/>
          </a:prstGeom>
          <a:noFill/>
          <a:ln/>
        </p:spPr>
        <p:txBody>
          <a:bodyPr wrap="square" lIns="0" tIns="0" rIns="0" bIns="0" rtlCol="0" anchor="t"/>
          <a:lstStyle/>
          <a:p>
            <a:pPr algn="r" indent="0" marL="0">
              <a:buNone/>
            </a:pPr>
            <a:r>
              <a:rPr lang="en-US" sz="1050" b="1" dirty="0">
                <a:solidFill>
                  <a:srgbClr val="4B5563"/>
                </a:solidFill>
                <a:latin typeface="맑은 고딕" pitchFamily="34" charset="0"/>
                <a:ea typeface="맑은 고딕" pitchFamily="34" charset="-122"/>
                <a:cs typeface="맑은 고딕" pitchFamily="34" charset="-120"/>
              </a:rPr>
              <a:t>매 시간</a:t>
            </a:r>
            <a:endParaRPr lang="en-US" sz="1050" dirty="0"/>
          </a:p>
        </p:txBody>
      </p:sp>
      <p:sp>
        <p:nvSpPr>
          <p:cNvPr id="40" name="Text 38"/>
          <p:cNvSpPr/>
          <p:nvPr/>
        </p:nvSpPr>
        <p:spPr>
          <a:xfrm>
            <a:off x="8293608" y="4800600"/>
            <a:ext cx="2990088" cy="777240"/>
          </a:xfrm>
          <a:prstGeom prst="rect">
            <a:avLst/>
          </a:prstGeom>
          <a:noFill/>
          <a:ln/>
        </p:spPr>
        <p:txBody>
          <a:bodyPr wrap="square" lIns="0" tIns="0" rIns="0" bIns="0" rtlCol="0" anchor="t"/>
          <a:lstStyle/>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특수 기능은 아니지만 가장 중요</a:t>
            </a:r>
            <a:endParaRPr lang="en-US" sz="1150" dirty="0"/>
          </a:p>
          <a:p>
            <a:pPr indent="0" marL="0">
              <a:lnSpc>
                <a:spcPts val="1700"/>
              </a:lnSpc>
              <a:buNone/>
            </a:pPr>
            <a:r>
              <a:rPr lang="en-US" sz="1150" dirty="0">
                <a:solidFill>
                  <a:srgbClr val="6B7280"/>
                </a:solidFill>
                <a:latin typeface="맑은 고딕" pitchFamily="34" charset="0"/>
                <a:ea typeface="맑은 고딕" pitchFamily="34" charset="-122"/>
                <a:cs typeface="맑은 고딕" pitchFamily="34" charset="-120"/>
              </a:rPr>
              <a:t>8개 핀이 골고루 배치됨</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685800" y="777240"/>
            <a:ext cx="10789920" cy="256032"/>
          </a:xfrm>
          <a:prstGeom prst="rect">
            <a:avLst/>
          </a:prstGeom>
          <a:noFill/>
          <a:ln/>
        </p:spPr>
        <p:txBody>
          <a:bodyPr wrap="square" lIns="0" tIns="0" rIns="0" bIns="0" rtlCol="0" anchor="ctr"/>
          <a:lstStyle/>
          <a:p>
            <a:pPr indent="0" marL="0">
              <a:buNone/>
            </a:pPr>
            <a:r>
              <a:rPr lang="en-US" sz="1200" b="1" spc="200" kern="0" dirty="0">
                <a:solidFill>
                  <a:srgbClr val="F0A9AE"/>
                </a:solidFill>
                <a:latin typeface="맑은 고딕" pitchFamily="34" charset="0"/>
                <a:ea typeface="맑은 고딕" pitchFamily="34" charset="-122"/>
                <a:cs typeface="맑은 고딕" pitchFamily="34" charset="-120"/>
              </a:rPr>
              <a:t>MOST IMPORTANT RULE</a:t>
            </a:r>
            <a:endParaRPr lang="en-US" sz="1200" dirty="0"/>
          </a:p>
        </p:txBody>
      </p:sp>
      <p:sp>
        <p:nvSpPr>
          <p:cNvPr id="3" name="Text 1"/>
          <p:cNvSpPr/>
          <p:nvPr/>
        </p:nvSpPr>
        <p:spPr>
          <a:xfrm>
            <a:off x="685800" y="1051560"/>
            <a:ext cx="1078992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Pico 2 W의 GPIO는 3.3V 입니다</a:t>
            </a:r>
            <a:endParaRPr lang="en-US" sz="3400" dirty="0"/>
          </a:p>
        </p:txBody>
      </p:sp>
      <p:sp>
        <p:nvSpPr>
          <p:cNvPr id="4" name="Text 2"/>
          <p:cNvSpPr/>
          <p:nvPr/>
        </p:nvSpPr>
        <p:spPr>
          <a:xfrm>
            <a:off x="685800" y="1755648"/>
            <a:ext cx="10789920" cy="365760"/>
          </a:xfrm>
          <a:prstGeom prst="rect">
            <a:avLst/>
          </a:prstGeom>
          <a:noFill/>
          <a:ln/>
        </p:spPr>
        <p:txBody>
          <a:bodyPr wrap="square" lIns="0" tIns="0" rIns="0" bIns="0" rtlCol="0" anchor="ctr"/>
          <a:lstStyle/>
          <a:p>
            <a:pPr indent="0" marL="0">
              <a:buNone/>
            </a:pPr>
            <a:r>
              <a:rPr lang="en-US" sz="1500" dirty="0">
                <a:solidFill>
                  <a:srgbClr val="A9B0B8"/>
                </a:solidFill>
                <a:latin typeface="맑은 고딕" pitchFamily="34" charset="0"/>
                <a:ea typeface="맑은 고딕" pitchFamily="34" charset="-122"/>
                <a:cs typeface="맑은 고딕" pitchFamily="34" charset="-120"/>
              </a:rPr>
              <a:t>이번 학기에 기억해야 할 규칙이 딱 하나라면, 바로 이것입니다.</a:t>
            </a:r>
            <a:endParaRPr lang="en-US" sz="1500" dirty="0"/>
          </a:p>
        </p:txBody>
      </p:sp>
      <p:sp>
        <p:nvSpPr>
          <p:cNvPr id="5" name="Shape 3"/>
          <p:cNvSpPr/>
          <p:nvPr/>
        </p:nvSpPr>
        <p:spPr>
          <a:xfrm>
            <a:off x="685800" y="2423160"/>
            <a:ext cx="5285232" cy="3108960"/>
          </a:xfrm>
          <a:prstGeom prst="roundRect">
            <a:avLst>
              <a:gd name="adj" fmla="val 2353"/>
            </a:avLst>
          </a:prstGeom>
          <a:solidFill>
            <a:srgbClr val="16281F"/>
          </a:solidFill>
          <a:ln w="19050">
            <a:solidFill>
              <a:srgbClr val="2E6B45"/>
            </a:solidFill>
            <a:prstDash val="solid"/>
          </a:ln>
        </p:spPr>
      </p:sp>
      <p:sp>
        <p:nvSpPr>
          <p:cNvPr id="6" name="Text 4"/>
          <p:cNvSpPr/>
          <p:nvPr/>
        </p:nvSpPr>
        <p:spPr>
          <a:xfrm>
            <a:off x="1005840" y="2651760"/>
            <a:ext cx="457200" cy="457200"/>
          </a:xfrm>
          <a:prstGeom prst="rect">
            <a:avLst/>
          </a:prstGeom>
          <a:noFill/>
          <a:ln/>
        </p:spPr>
        <p:txBody>
          <a:bodyPr wrap="square" lIns="0" tIns="0" rIns="0" bIns="0" rtlCol="0" anchor="ctr"/>
          <a:lstStyle/>
          <a:p>
            <a:pPr algn="ctr" indent="0" marL="0">
              <a:buNone/>
            </a:pPr>
            <a:r>
              <a:rPr lang="en-US" sz="2600" b="1" dirty="0">
                <a:solidFill>
                  <a:srgbClr val="5BC47E"/>
                </a:solidFill>
                <a:latin typeface="Arial" pitchFamily="34" charset="0"/>
                <a:ea typeface="Arial" pitchFamily="34" charset="-122"/>
                <a:cs typeface="Arial" pitchFamily="34" charset="-120"/>
              </a:rPr>
              <a:t>O</a:t>
            </a:r>
            <a:endParaRPr lang="en-US" sz="2600" dirty="0"/>
          </a:p>
        </p:txBody>
      </p:sp>
      <p:sp>
        <p:nvSpPr>
          <p:cNvPr id="7" name="Text 5"/>
          <p:cNvSpPr/>
          <p:nvPr/>
        </p:nvSpPr>
        <p:spPr>
          <a:xfrm>
            <a:off x="1554480" y="2697480"/>
            <a:ext cx="3657600" cy="365760"/>
          </a:xfrm>
          <a:prstGeom prst="rect">
            <a:avLst/>
          </a:prstGeom>
          <a:noFill/>
          <a:ln/>
        </p:spPr>
        <p:txBody>
          <a:bodyPr wrap="square" lIns="0" tIns="0" rIns="0" bIns="0" rtlCol="0" anchor="ctr"/>
          <a:lstStyle/>
          <a:p>
            <a:pPr indent="0" marL="0">
              <a:buNone/>
            </a:pPr>
            <a:r>
              <a:rPr lang="en-US" sz="1900" b="1" dirty="0">
                <a:solidFill>
                  <a:srgbClr val="5BC47E"/>
                </a:solidFill>
                <a:latin typeface="맑은 고딕" pitchFamily="34" charset="0"/>
                <a:ea typeface="맑은 고딕" pitchFamily="34" charset="-122"/>
                <a:cs typeface="맑은 고딕" pitchFamily="34" charset="-120"/>
              </a:rPr>
              <a:t>해도 되는 것</a:t>
            </a:r>
            <a:endParaRPr lang="en-US" sz="1900" dirty="0"/>
          </a:p>
        </p:txBody>
      </p:sp>
      <p:sp>
        <p:nvSpPr>
          <p:cNvPr id="8" name="Text 6"/>
          <p:cNvSpPr/>
          <p:nvPr/>
        </p:nvSpPr>
        <p:spPr>
          <a:xfrm>
            <a:off x="1097280" y="3291840"/>
            <a:ext cx="4572000" cy="2011680"/>
          </a:xfrm>
          <a:prstGeom prst="rect">
            <a:avLst/>
          </a:prstGeom>
          <a:noFill/>
          <a:ln/>
        </p:spPr>
        <p:txBody>
          <a:bodyPr wrap="square" lIns="0" tIns="0" rIns="0" bIns="0" rtlCol="0" anchor="ctr"/>
          <a:lstStyle/>
          <a:p>
            <a:pPr marL="342900" indent="-342900">
              <a:spcAft>
                <a:spcPts val="1200"/>
              </a:spcAft>
              <a:buSzPct val="100000"/>
              <a:buChar char="•"/>
            </a:pPr>
            <a:r>
              <a:rPr lang="en-US" sz="1350" dirty="0">
                <a:solidFill>
                  <a:srgbClr val="D5E5DA"/>
                </a:solidFill>
                <a:latin typeface="맑은 고딕" pitchFamily="34" charset="0"/>
                <a:ea typeface="맑은 고딕" pitchFamily="34" charset="-122"/>
                <a:cs typeface="맑은 고딕" pitchFamily="34" charset="-120"/>
              </a:rPr>
              <a:t>3.3V로 동작하는 센서를 3V3 핀에 연결</a:t>
            </a:r>
            <a:endParaRPr lang="en-US" sz="1350" dirty="0"/>
          </a:p>
          <a:p>
            <a:pPr marL="342900" indent="-342900">
              <a:spcAft>
                <a:spcPts val="1200"/>
              </a:spcAft>
              <a:buSzPct val="100000"/>
              <a:buChar char="•"/>
            </a:pPr>
            <a:r>
              <a:rPr lang="en-US" sz="1350" dirty="0">
                <a:solidFill>
                  <a:srgbClr val="D5E5DA"/>
                </a:solidFill>
                <a:latin typeface="맑은 고딕" pitchFamily="34" charset="0"/>
                <a:ea typeface="맑은 고딕" pitchFamily="34" charset="-122"/>
                <a:cs typeface="맑은 고딕" pitchFamily="34" charset="-120"/>
              </a:rPr>
              <a:t>GPIO 출력으로 저항을 거쳐 LED 켜기</a:t>
            </a:r>
            <a:endParaRPr lang="en-US" sz="1350" dirty="0"/>
          </a:p>
          <a:p>
            <a:pPr marL="342900" indent="-342900">
              <a:spcAft>
                <a:spcPts val="1200"/>
              </a:spcAft>
              <a:buSzPct val="100000"/>
              <a:buChar char="•"/>
            </a:pPr>
            <a:r>
              <a:rPr lang="en-US" sz="1350" dirty="0">
                <a:solidFill>
                  <a:srgbClr val="D5E5DA"/>
                </a:solidFill>
                <a:latin typeface="맑은 고딕" pitchFamily="34" charset="0"/>
                <a:ea typeface="맑은 고딕" pitchFamily="34" charset="-122"/>
                <a:cs typeface="맑은 고딕" pitchFamily="34" charset="-120"/>
              </a:rPr>
              <a:t>GND는 반드시 서로 연결하기</a:t>
            </a:r>
            <a:endParaRPr lang="en-US" sz="1350" dirty="0"/>
          </a:p>
          <a:p>
            <a:pPr marL="342900" indent="-342900">
              <a:spcAft>
                <a:spcPts val="1200"/>
              </a:spcAft>
              <a:buSzPct val="100000"/>
              <a:buChar char="•"/>
            </a:pPr>
            <a:r>
              <a:rPr lang="en-US" sz="1350" dirty="0">
                <a:solidFill>
                  <a:srgbClr val="D5E5DA"/>
                </a:solidFill>
                <a:latin typeface="맑은 고딕" pitchFamily="34" charset="0"/>
                <a:ea typeface="맑은 고딕" pitchFamily="34" charset="-122"/>
                <a:cs typeface="맑은 고딕" pitchFamily="34" charset="-120"/>
              </a:rPr>
              <a:t>배선을 바꾸기 전에 USB를 먼저 뽑기</a:t>
            </a:r>
            <a:endParaRPr lang="en-US" sz="1350" dirty="0"/>
          </a:p>
        </p:txBody>
      </p:sp>
      <p:sp>
        <p:nvSpPr>
          <p:cNvPr id="9" name="Shape 7"/>
          <p:cNvSpPr/>
          <p:nvPr/>
        </p:nvSpPr>
        <p:spPr>
          <a:xfrm>
            <a:off x="6217920" y="2423160"/>
            <a:ext cx="5285232" cy="3108960"/>
          </a:xfrm>
          <a:prstGeom prst="roundRect">
            <a:avLst>
              <a:gd name="adj" fmla="val 2353"/>
            </a:avLst>
          </a:prstGeom>
          <a:solidFill>
            <a:srgbClr val="2E1216"/>
          </a:solidFill>
          <a:ln w="19050">
            <a:solidFill>
              <a:srgbClr val="8E2029"/>
            </a:solidFill>
            <a:prstDash val="solid"/>
          </a:ln>
        </p:spPr>
      </p:sp>
      <p:sp>
        <p:nvSpPr>
          <p:cNvPr id="10" name="Text 8"/>
          <p:cNvSpPr/>
          <p:nvPr/>
        </p:nvSpPr>
        <p:spPr>
          <a:xfrm>
            <a:off x="6537960" y="2651760"/>
            <a:ext cx="457200" cy="457200"/>
          </a:xfrm>
          <a:prstGeom prst="rect">
            <a:avLst/>
          </a:prstGeom>
          <a:noFill/>
          <a:ln/>
        </p:spPr>
        <p:txBody>
          <a:bodyPr wrap="square" lIns="0" tIns="0" rIns="0" bIns="0" rtlCol="0" anchor="ctr"/>
          <a:lstStyle/>
          <a:p>
            <a:pPr algn="ctr" indent="0" marL="0">
              <a:buNone/>
            </a:pPr>
            <a:r>
              <a:rPr lang="en-US" sz="2600" b="1" dirty="0">
                <a:solidFill>
                  <a:srgbClr val="F06A75"/>
                </a:solidFill>
                <a:latin typeface="Arial" pitchFamily="34" charset="0"/>
                <a:ea typeface="Arial" pitchFamily="34" charset="-122"/>
                <a:cs typeface="Arial" pitchFamily="34" charset="-120"/>
              </a:rPr>
              <a:t>X</a:t>
            </a:r>
            <a:endParaRPr lang="en-US" sz="2600" dirty="0"/>
          </a:p>
        </p:txBody>
      </p:sp>
      <p:sp>
        <p:nvSpPr>
          <p:cNvPr id="11" name="Text 9"/>
          <p:cNvSpPr/>
          <p:nvPr/>
        </p:nvSpPr>
        <p:spPr>
          <a:xfrm>
            <a:off x="7086600" y="2697480"/>
            <a:ext cx="4023360" cy="365760"/>
          </a:xfrm>
          <a:prstGeom prst="rect">
            <a:avLst/>
          </a:prstGeom>
          <a:noFill/>
          <a:ln/>
        </p:spPr>
        <p:txBody>
          <a:bodyPr wrap="square" lIns="0" tIns="0" rIns="0" bIns="0" rtlCol="0" anchor="ctr"/>
          <a:lstStyle/>
          <a:p>
            <a:pPr indent="0" marL="0">
              <a:buNone/>
            </a:pPr>
            <a:r>
              <a:rPr lang="en-US" sz="1900" b="1" dirty="0">
                <a:solidFill>
                  <a:srgbClr val="F06A75"/>
                </a:solidFill>
                <a:latin typeface="맑은 고딕" pitchFamily="34" charset="0"/>
                <a:ea typeface="맑은 고딕" pitchFamily="34" charset="-122"/>
                <a:cs typeface="맑은 고딕" pitchFamily="34" charset="-120"/>
              </a:rPr>
              <a:t>절대 하면 안 되는 것</a:t>
            </a:r>
            <a:endParaRPr lang="en-US" sz="1900" dirty="0"/>
          </a:p>
        </p:txBody>
      </p:sp>
      <p:sp>
        <p:nvSpPr>
          <p:cNvPr id="12" name="Text 10"/>
          <p:cNvSpPr/>
          <p:nvPr/>
        </p:nvSpPr>
        <p:spPr>
          <a:xfrm>
            <a:off x="6629400" y="3291840"/>
            <a:ext cx="4572000" cy="2011680"/>
          </a:xfrm>
          <a:prstGeom prst="rect">
            <a:avLst/>
          </a:prstGeom>
          <a:noFill/>
          <a:ln/>
        </p:spPr>
        <p:txBody>
          <a:bodyPr wrap="square" lIns="0" tIns="0" rIns="0" bIns="0" rtlCol="0" anchor="ctr"/>
          <a:lstStyle/>
          <a:p>
            <a:pPr marL="342900" indent="-342900">
              <a:spcAft>
                <a:spcPts val="1200"/>
              </a:spcAft>
              <a:buSzPct val="100000"/>
              <a:buChar char="•"/>
            </a:pPr>
            <a:r>
              <a:rPr lang="en-US" sz="1350" dirty="0">
                <a:solidFill>
                  <a:srgbClr val="EFD2D5"/>
                </a:solidFill>
                <a:latin typeface="맑은 고딕" pitchFamily="34" charset="0"/>
                <a:ea typeface="맑은 고딕" pitchFamily="34" charset="-122"/>
                <a:cs typeface="맑은 고딕" pitchFamily="34" charset="-120"/>
              </a:rPr>
              <a:t>GPIO 핀에 5V 신호를 직접 넣기</a:t>
            </a:r>
            <a:endParaRPr lang="en-US" sz="1350" dirty="0"/>
          </a:p>
          <a:p>
            <a:pPr marL="342900" indent="-342900">
              <a:spcAft>
                <a:spcPts val="1200"/>
              </a:spcAft>
              <a:buSzPct val="100000"/>
              <a:buChar char="•"/>
            </a:pPr>
            <a:r>
              <a:rPr lang="en-US" sz="1350" dirty="0">
                <a:solidFill>
                  <a:srgbClr val="EFD2D5"/>
                </a:solidFill>
                <a:latin typeface="맑은 고딕" pitchFamily="34" charset="0"/>
                <a:ea typeface="맑은 고딕" pitchFamily="34" charset="-122"/>
                <a:cs typeface="맑은 고딕" pitchFamily="34" charset="-120"/>
              </a:rPr>
              <a:t>GPIO에 모터를 직접 연결하기</a:t>
            </a:r>
            <a:endParaRPr lang="en-US" sz="1350" dirty="0"/>
          </a:p>
          <a:p>
            <a:pPr marL="342900" indent="-342900">
              <a:spcAft>
                <a:spcPts val="1200"/>
              </a:spcAft>
              <a:buSzPct val="100000"/>
              <a:buChar char="•"/>
            </a:pPr>
            <a:r>
              <a:rPr lang="en-US" sz="1350" dirty="0">
                <a:solidFill>
                  <a:srgbClr val="EFD2D5"/>
                </a:solidFill>
                <a:latin typeface="맑은 고딕" pitchFamily="34" charset="0"/>
                <a:ea typeface="맑은 고딕" pitchFamily="34" charset="-122"/>
                <a:cs typeface="맑은 고딕" pitchFamily="34" charset="-120"/>
              </a:rPr>
              <a:t>3V3 핀에 외부 전원을 넣기</a:t>
            </a:r>
            <a:endParaRPr lang="en-US" sz="1350" dirty="0"/>
          </a:p>
          <a:p>
            <a:pPr marL="342900" indent="-342900">
              <a:spcAft>
                <a:spcPts val="1200"/>
              </a:spcAft>
              <a:buSzPct val="100000"/>
              <a:buChar char="•"/>
            </a:pPr>
            <a:r>
              <a:rPr lang="en-US" sz="1350" dirty="0">
                <a:solidFill>
                  <a:srgbClr val="EFD2D5"/>
                </a:solidFill>
                <a:latin typeface="맑은 고딕" pitchFamily="34" charset="0"/>
                <a:ea typeface="맑은 고딕" pitchFamily="34" charset="-122"/>
                <a:cs typeface="맑은 고딕" pitchFamily="34" charset="-120"/>
              </a:rPr>
              <a:t>전원이 켜진 상태로 배선 바꾸기</a:t>
            </a:r>
            <a:endParaRPr lang="en-US" sz="1350" dirty="0"/>
          </a:p>
        </p:txBody>
      </p:sp>
      <p:sp>
        <p:nvSpPr>
          <p:cNvPr id="13" name="Text 11"/>
          <p:cNvSpPr/>
          <p:nvPr/>
        </p:nvSpPr>
        <p:spPr>
          <a:xfrm>
            <a:off x="685800" y="5806440"/>
            <a:ext cx="10789920" cy="365760"/>
          </a:xfrm>
          <a:prstGeom prst="rect">
            <a:avLst/>
          </a:prstGeom>
          <a:noFill/>
          <a:ln/>
        </p:spPr>
        <p:txBody>
          <a:bodyPr wrap="square" lIns="0" tIns="0" rIns="0" bIns="0" rtlCol="0" anchor="ctr"/>
          <a:lstStyle/>
          <a:p>
            <a:pPr indent="0" marL="0">
              <a:buNone/>
            </a:pPr>
            <a:r>
              <a:rPr lang="en-US" sz="1400" b="1" dirty="0">
                <a:solidFill>
                  <a:srgbClr val="F0A9AE"/>
                </a:solidFill>
                <a:latin typeface="맑은 고딕" pitchFamily="34" charset="0"/>
                <a:ea typeface="맑은 고딕" pitchFamily="34" charset="-122"/>
                <a:cs typeface="맑은 고딕" pitchFamily="34" charset="-120"/>
              </a:rPr>
              <a:t>5V를 GPIO에 넣으면 칩이 손상됩니다. 되돌릴 수 없고, 보드를 새로 사야 합니다.</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SAFETY</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실습 전 안전 수칙</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부품보다 보드가 비쌉니다. 아래 네 가지만 지키면 사고의 대부분을 막을 수 있습니다.</a:t>
            </a:r>
            <a:endParaRPr lang="en-US" sz="1500" dirty="0"/>
          </a:p>
        </p:txBody>
      </p:sp>
      <p:sp>
        <p:nvSpPr>
          <p:cNvPr id="5" name="Shape 3"/>
          <p:cNvSpPr/>
          <p:nvPr/>
        </p:nvSpPr>
        <p:spPr>
          <a:xfrm>
            <a:off x="685800" y="2011680"/>
            <a:ext cx="10817352" cy="960120"/>
          </a:xfrm>
          <a:prstGeom prst="roundRect">
            <a:avLst>
              <a:gd name="adj" fmla="val 5714"/>
            </a:avLst>
          </a:prstGeom>
          <a:solidFill>
            <a:srgbClr val="F7F2F2"/>
          </a:solidFill>
          <a:ln w="12700">
            <a:solidFill>
              <a:srgbClr val="DCD6D6"/>
            </a:solidFill>
            <a:prstDash val="solid"/>
          </a:ln>
        </p:spPr>
      </p:sp>
      <p:sp>
        <p:nvSpPr>
          <p:cNvPr id="6" name="Shape 4"/>
          <p:cNvSpPr/>
          <p:nvPr/>
        </p:nvSpPr>
        <p:spPr>
          <a:xfrm>
            <a:off x="960120" y="2286000"/>
            <a:ext cx="411480" cy="411480"/>
          </a:xfrm>
          <a:prstGeom prst="ellipse">
            <a:avLst/>
          </a:prstGeom>
          <a:solidFill>
            <a:srgbClr val="990011"/>
          </a:solidFill>
          <a:ln w="12700">
            <a:solidFill>
              <a:srgbClr val="990011"/>
            </a:solidFill>
            <a:prstDash val="solid"/>
          </a:ln>
        </p:spPr>
      </p:sp>
      <p:sp>
        <p:nvSpPr>
          <p:cNvPr id="7" name="Text 5"/>
          <p:cNvSpPr/>
          <p:nvPr/>
        </p:nvSpPr>
        <p:spPr>
          <a:xfrm>
            <a:off x="960120" y="2286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6"/>
          <p:cNvSpPr/>
          <p:nvPr/>
        </p:nvSpPr>
        <p:spPr>
          <a:xfrm>
            <a:off x="1554480" y="2194560"/>
            <a:ext cx="54864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전류 한계를 지킨다</a:t>
            </a:r>
            <a:endParaRPr lang="en-US" sz="1500" dirty="0"/>
          </a:p>
        </p:txBody>
      </p:sp>
      <p:sp>
        <p:nvSpPr>
          <p:cNvPr id="9" name="Text 7"/>
          <p:cNvSpPr/>
          <p:nvPr/>
        </p:nvSpPr>
        <p:spPr>
          <a:xfrm>
            <a:off x="1554480" y="2523744"/>
            <a:ext cx="9509760" cy="329184"/>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GPIO 하나에서 뽑아 쓸 수 있는 전류는 아주 작습니다. LED에는 반드시 저항을 함께 씁니다.</a:t>
            </a:r>
            <a:endParaRPr lang="en-US" sz="1250" dirty="0"/>
          </a:p>
        </p:txBody>
      </p:sp>
      <p:sp>
        <p:nvSpPr>
          <p:cNvPr id="10" name="Shape 8"/>
          <p:cNvSpPr/>
          <p:nvPr/>
        </p:nvSpPr>
        <p:spPr>
          <a:xfrm>
            <a:off x="685800" y="3054096"/>
            <a:ext cx="10817352" cy="960120"/>
          </a:xfrm>
          <a:prstGeom prst="roundRect">
            <a:avLst>
              <a:gd name="adj" fmla="val 5714"/>
            </a:avLst>
          </a:prstGeom>
          <a:solidFill>
            <a:srgbClr val="FFFFFF"/>
          </a:solidFill>
          <a:ln w="12700">
            <a:solidFill>
              <a:srgbClr val="DCD6D6"/>
            </a:solidFill>
            <a:prstDash val="solid"/>
          </a:ln>
        </p:spPr>
      </p:sp>
      <p:sp>
        <p:nvSpPr>
          <p:cNvPr id="11" name="Shape 9"/>
          <p:cNvSpPr/>
          <p:nvPr/>
        </p:nvSpPr>
        <p:spPr>
          <a:xfrm>
            <a:off x="960120" y="3328416"/>
            <a:ext cx="411480" cy="411480"/>
          </a:xfrm>
          <a:prstGeom prst="ellipse">
            <a:avLst/>
          </a:prstGeom>
          <a:solidFill>
            <a:srgbClr val="990011"/>
          </a:solidFill>
          <a:ln w="12700">
            <a:solidFill>
              <a:srgbClr val="990011"/>
            </a:solidFill>
            <a:prstDash val="solid"/>
          </a:ln>
        </p:spPr>
      </p:sp>
      <p:sp>
        <p:nvSpPr>
          <p:cNvPr id="12" name="Text 10"/>
          <p:cNvSpPr/>
          <p:nvPr/>
        </p:nvSpPr>
        <p:spPr>
          <a:xfrm>
            <a:off x="960120" y="3328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1"/>
          <p:cNvSpPr/>
          <p:nvPr/>
        </p:nvSpPr>
        <p:spPr>
          <a:xfrm>
            <a:off x="1554480" y="3236976"/>
            <a:ext cx="54864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모터는 직접 연결하지 않는다</a:t>
            </a:r>
            <a:endParaRPr lang="en-US" sz="1500" dirty="0"/>
          </a:p>
        </p:txBody>
      </p:sp>
      <p:sp>
        <p:nvSpPr>
          <p:cNvPr id="14" name="Text 12"/>
          <p:cNvSpPr/>
          <p:nvPr/>
        </p:nvSpPr>
        <p:spPr>
          <a:xfrm>
            <a:off x="1554480" y="3566160"/>
            <a:ext cx="9509760" cy="329184"/>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DC 모터·펌프·팬은 전류가 커서 GPIO로 직접 구동할 수 없습니다. 반드시 모터 드라이버를 거칩니다. (10차시)</a:t>
            </a:r>
            <a:endParaRPr lang="en-US" sz="1250" dirty="0"/>
          </a:p>
        </p:txBody>
      </p:sp>
      <p:sp>
        <p:nvSpPr>
          <p:cNvPr id="15" name="Shape 13"/>
          <p:cNvSpPr/>
          <p:nvPr/>
        </p:nvSpPr>
        <p:spPr>
          <a:xfrm>
            <a:off x="685800" y="4096512"/>
            <a:ext cx="10817352" cy="960120"/>
          </a:xfrm>
          <a:prstGeom prst="roundRect">
            <a:avLst>
              <a:gd name="adj" fmla="val 5714"/>
            </a:avLst>
          </a:prstGeom>
          <a:solidFill>
            <a:srgbClr val="F7F2F2"/>
          </a:solidFill>
          <a:ln w="12700">
            <a:solidFill>
              <a:srgbClr val="DCD6D6"/>
            </a:solidFill>
            <a:prstDash val="solid"/>
          </a:ln>
        </p:spPr>
      </p:sp>
      <p:sp>
        <p:nvSpPr>
          <p:cNvPr id="16" name="Shape 14"/>
          <p:cNvSpPr/>
          <p:nvPr/>
        </p:nvSpPr>
        <p:spPr>
          <a:xfrm>
            <a:off x="960120" y="4370832"/>
            <a:ext cx="411480" cy="411480"/>
          </a:xfrm>
          <a:prstGeom prst="ellipse">
            <a:avLst/>
          </a:prstGeom>
          <a:solidFill>
            <a:srgbClr val="990011"/>
          </a:solidFill>
          <a:ln w="12700">
            <a:solidFill>
              <a:srgbClr val="990011"/>
            </a:solidFill>
            <a:prstDash val="solid"/>
          </a:ln>
        </p:spPr>
      </p:sp>
      <p:sp>
        <p:nvSpPr>
          <p:cNvPr id="17" name="Text 15"/>
          <p:cNvSpPr/>
          <p:nvPr/>
        </p:nvSpPr>
        <p:spPr>
          <a:xfrm>
            <a:off x="960120" y="437083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6"/>
          <p:cNvSpPr/>
          <p:nvPr/>
        </p:nvSpPr>
        <p:spPr>
          <a:xfrm>
            <a:off x="1554480" y="4279392"/>
            <a:ext cx="54864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배선은 전원을 끄고 바꾼다</a:t>
            </a:r>
            <a:endParaRPr lang="en-US" sz="1500" dirty="0"/>
          </a:p>
        </p:txBody>
      </p:sp>
      <p:sp>
        <p:nvSpPr>
          <p:cNvPr id="19" name="Text 17"/>
          <p:cNvSpPr/>
          <p:nvPr/>
        </p:nvSpPr>
        <p:spPr>
          <a:xfrm>
            <a:off x="1554480" y="4608576"/>
            <a:ext cx="9509760" cy="329184"/>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USB가 연결된 상태에서 점퍼선을 옮기면 순간적인 합선으로 칩이 손상될 수 있습니다.</a:t>
            </a:r>
            <a:endParaRPr lang="en-US" sz="1250" dirty="0"/>
          </a:p>
        </p:txBody>
      </p:sp>
      <p:sp>
        <p:nvSpPr>
          <p:cNvPr id="20" name="Shape 18"/>
          <p:cNvSpPr/>
          <p:nvPr/>
        </p:nvSpPr>
        <p:spPr>
          <a:xfrm>
            <a:off x="685800" y="5138928"/>
            <a:ext cx="10817352" cy="960120"/>
          </a:xfrm>
          <a:prstGeom prst="roundRect">
            <a:avLst>
              <a:gd name="adj" fmla="val 5714"/>
            </a:avLst>
          </a:prstGeom>
          <a:solidFill>
            <a:srgbClr val="FFFFFF"/>
          </a:solidFill>
          <a:ln w="12700">
            <a:solidFill>
              <a:srgbClr val="DCD6D6"/>
            </a:solidFill>
            <a:prstDash val="solid"/>
          </a:ln>
        </p:spPr>
      </p:sp>
      <p:sp>
        <p:nvSpPr>
          <p:cNvPr id="21" name="Shape 19"/>
          <p:cNvSpPr/>
          <p:nvPr/>
        </p:nvSpPr>
        <p:spPr>
          <a:xfrm>
            <a:off x="960120" y="5413248"/>
            <a:ext cx="411480" cy="411480"/>
          </a:xfrm>
          <a:prstGeom prst="ellipse">
            <a:avLst/>
          </a:prstGeom>
          <a:solidFill>
            <a:srgbClr val="990011"/>
          </a:solidFill>
          <a:ln w="12700">
            <a:solidFill>
              <a:srgbClr val="990011"/>
            </a:solidFill>
            <a:prstDash val="solid"/>
          </a:ln>
        </p:spPr>
      </p:sp>
      <p:sp>
        <p:nvSpPr>
          <p:cNvPr id="22" name="Text 20"/>
          <p:cNvSpPr/>
          <p:nvPr/>
        </p:nvSpPr>
        <p:spPr>
          <a:xfrm>
            <a:off x="960120" y="54132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23" name="Text 21"/>
          <p:cNvSpPr/>
          <p:nvPr/>
        </p:nvSpPr>
        <p:spPr>
          <a:xfrm>
            <a:off x="1554480" y="5321808"/>
            <a:ext cx="5486400" cy="292608"/>
          </a:xfrm>
          <a:prstGeom prst="rect">
            <a:avLst/>
          </a:prstGeom>
          <a:noFill/>
          <a:ln/>
        </p:spPr>
        <p:txBody>
          <a:bodyPr wrap="square" lIns="0" tIns="0" rIns="0" bIns="0" rtlCol="0" anchor="t"/>
          <a:lstStyle/>
          <a:p>
            <a:pPr indent="0" marL="0">
              <a:buNone/>
            </a:pPr>
            <a:r>
              <a:rPr lang="en-US" sz="1500" b="1" dirty="0">
                <a:solidFill>
                  <a:srgbClr val="1F2328"/>
                </a:solidFill>
                <a:latin typeface="맑은 고딕" pitchFamily="34" charset="0"/>
                <a:ea typeface="맑은 고딕" pitchFamily="34" charset="-122"/>
                <a:cs typeface="맑은 고딕" pitchFamily="34" charset="-120"/>
              </a:rPr>
              <a:t>연결 후 한 번 더 확인한다</a:t>
            </a:r>
            <a:endParaRPr lang="en-US" sz="1500" dirty="0"/>
          </a:p>
        </p:txBody>
      </p:sp>
      <p:sp>
        <p:nvSpPr>
          <p:cNvPr id="24" name="Text 22"/>
          <p:cNvSpPr/>
          <p:nvPr/>
        </p:nvSpPr>
        <p:spPr>
          <a:xfrm>
            <a:off x="1554480" y="5650992"/>
            <a:ext cx="9509760" cy="329184"/>
          </a:xfrm>
          <a:prstGeom prst="rect">
            <a:avLst/>
          </a:prstGeom>
          <a:noFill/>
          <a:ln/>
        </p:spPr>
        <p:txBody>
          <a:bodyPr wrap="square" lIns="0" tIns="0" rIns="0" bIns="0" rtlCol="0" anchor="t"/>
          <a:lstStyle/>
          <a:p>
            <a:pPr indent="0" marL="0">
              <a:buNone/>
            </a:pPr>
            <a:r>
              <a:rPr lang="en-US" sz="1250" dirty="0">
                <a:solidFill>
                  <a:srgbClr val="6B7280"/>
                </a:solidFill>
                <a:latin typeface="맑은 고딕" pitchFamily="34" charset="0"/>
                <a:ea typeface="맑은 고딕" pitchFamily="34" charset="-122"/>
                <a:cs typeface="맑은 고딕" pitchFamily="34" charset="-120"/>
              </a:rPr>
              <a:t>특히 VBUS(5V)와 3V3을 헷갈리지 않았는지, GND가 빠지지 않았는지 확인한 뒤 전원을 넣습니다.</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WIRELESS</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Pico 2 W의 'W' — 무선 기능</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보드 이름 끝의 W는 Wireless를 뜻합니다. 별도 부품 없이 보드만으로 네트워크에 연결할 수 있습니다.</a:t>
            </a:r>
            <a:endParaRPr lang="en-US" sz="1500" dirty="0"/>
          </a:p>
        </p:txBody>
      </p:sp>
      <p:sp>
        <p:nvSpPr>
          <p:cNvPr id="5" name="Shape 3"/>
          <p:cNvSpPr/>
          <p:nvPr/>
        </p:nvSpPr>
        <p:spPr>
          <a:xfrm>
            <a:off x="685800" y="2011680"/>
            <a:ext cx="5285232" cy="2103120"/>
          </a:xfrm>
          <a:prstGeom prst="roundRect">
            <a:avLst>
              <a:gd name="adj" fmla="val 2609"/>
            </a:avLst>
          </a:prstGeom>
          <a:solidFill>
            <a:srgbClr val="FFFFFF"/>
          </a:solidFill>
          <a:ln w="19050">
            <a:solidFill>
              <a:srgbClr val="990011"/>
            </a:solidFill>
            <a:prstDash val="solid"/>
          </a:ln>
        </p:spPr>
      </p:sp>
      <p:sp>
        <p:nvSpPr>
          <p:cNvPr id="6" name="Text 4"/>
          <p:cNvSpPr/>
          <p:nvPr/>
        </p:nvSpPr>
        <p:spPr>
          <a:xfrm>
            <a:off x="1051560" y="2240280"/>
            <a:ext cx="2743200" cy="365760"/>
          </a:xfrm>
          <a:prstGeom prst="rect">
            <a:avLst/>
          </a:prstGeom>
          <a:noFill/>
          <a:ln/>
        </p:spPr>
        <p:txBody>
          <a:bodyPr wrap="square" lIns="0" tIns="0" rIns="0" bIns="0" rtlCol="0" anchor="t"/>
          <a:lstStyle/>
          <a:p>
            <a:pPr indent="0" marL="0">
              <a:buNone/>
            </a:pPr>
            <a:r>
              <a:rPr lang="en-US" sz="2200" b="1" dirty="0">
                <a:solidFill>
                  <a:srgbClr val="990011"/>
                </a:solidFill>
                <a:latin typeface="맑은 고딕" pitchFamily="34" charset="0"/>
                <a:ea typeface="맑은 고딕" pitchFamily="34" charset="-122"/>
                <a:cs typeface="맑은 고딕" pitchFamily="34" charset="-120"/>
              </a:rPr>
              <a:t>Wi-Fi</a:t>
            </a:r>
            <a:endParaRPr lang="en-US" sz="2200" dirty="0"/>
          </a:p>
        </p:txBody>
      </p:sp>
      <p:sp>
        <p:nvSpPr>
          <p:cNvPr id="7" name="Text 5"/>
          <p:cNvSpPr/>
          <p:nvPr/>
        </p:nvSpPr>
        <p:spPr>
          <a:xfrm>
            <a:off x="1051560" y="2651760"/>
            <a:ext cx="3200400" cy="274320"/>
          </a:xfrm>
          <a:prstGeom prst="rect">
            <a:avLst/>
          </a:prstGeom>
          <a:noFill/>
          <a:ln/>
        </p:spPr>
        <p:txBody>
          <a:bodyPr wrap="square" lIns="0" tIns="0" rIns="0" bIns="0" rtlCol="0" anchor="t"/>
          <a:lstStyle/>
          <a:p>
            <a:pPr indent="0" marL="0">
              <a:buNone/>
            </a:pPr>
            <a:r>
              <a:rPr lang="en-US" sz="1200" dirty="0">
                <a:solidFill>
                  <a:srgbClr val="6B7280"/>
                </a:solidFill>
                <a:latin typeface="맑은 고딕" pitchFamily="34" charset="0"/>
                <a:ea typeface="맑은 고딕" pitchFamily="34" charset="-122"/>
                <a:cs typeface="맑은 고딕" pitchFamily="34" charset="-120"/>
              </a:rPr>
              <a:t>2.4GHz · 802.11n</a:t>
            </a:r>
            <a:endParaRPr lang="en-US" sz="1200" dirty="0"/>
          </a:p>
        </p:txBody>
      </p:sp>
      <p:sp>
        <p:nvSpPr>
          <p:cNvPr id="8" name="Text 6"/>
          <p:cNvSpPr/>
          <p:nvPr/>
        </p:nvSpPr>
        <p:spPr>
          <a:xfrm>
            <a:off x="1051560" y="3017520"/>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1F2328"/>
                </a:solidFill>
                <a:latin typeface="맑은 고딕" pitchFamily="34" charset="0"/>
                <a:ea typeface="맑은 고딕" pitchFamily="34" charset="-122"/>
                <a:cs typeface="맑은 고딕" pitchFamily="34" charset="-120"/>
              </a:rPr>
              <a:t>공유기에 연결해 IP 주소를 받고, 보드 안에서 웹 서버를 실행할 수 있습니다.</a:t>
            </a:r>
            <a:endParaRPr lang="en-US" sz="1300" dirty="0"/>
          </a:p>
        </p:txBody>
      </p:sp>
      <p:sp>
        <p:nvSpPr>
          <p:cNvPr id="9" name="Shape 7"/>
          <p:cNvSpPr/>
          <p:nvPr/>
        </p:nvSpPr>
        <p:spPr>
          <a:xfrm>
            <a:off x="6217920" y="2011680"/>
            <a:ext cx="5285232" cy="2103120"/>
          </a:xfrm>
          <a:prstGeom prst="roundRect">
            <a:avLst>
              <a:gd name="adj" fmla="val 2609"/>
            </a:avLst>
          </a:prstGeom>
          <a:solidFill>
            <a:srgbClr val="FFFFFF"/>
          </a:solidFill>
          <a:ln w="19050">
            <a:solidFill>
              <a:srgbClr val="2F3C7E"/>
            </a:solidFill>
            <a:prstDash val="solid"/>
          </a:ln>
        </p:spPr>
      </p:sp>
      <p:sp>
        <p:nvSpPr>
          <p:cNvPr id="10" name="Text 8"/>
          <p:cNvSpPr/>
          <p:nvPr/>
        </p:nvSpPr>
        <p:spPr>
          <a:xfrm>
            <a:off x="6583680" y="2240280"/>
            <a:ext cx="4572000" cy="365760"/>
          </a:xfrm>
          <a:prstGeom prst="rect">
            <a:avLst/>
          </a:prstGeom>
          <a:noFill/>
          <a:ln/>
        </p:spPr>
        <p:txBody>
          <a:bodyPr wrap="square" lIns="0" tIns="0" rIns="0" bIns="0" rtlCol="0" anchor="t"/>
          <a:lstStyle/>
          <a:p>
            <a:pPr indent="0" marL="0">
              <a:buNone/>
            </a:pPr>
            <a:r>
              <a:rPr lang="en-US" sz="2200" b="1" dirty="0">
                <a:solidFill>
                  <a:srgbClr val="2F3C7E"/>
                </a:solidFill>
                <a:latin typeface="맑은 고딕" pitchFamily="34" charset="0"/>
                <a:ea typeface="맑은 고딕" pitchFamily="34" charset="-122"/>
                <a:cs typeface="맑은 고딕" pitchFamily="34" charset="-120"/>
              </a:rPr>
              <a:t>Bluetooth 5.2 / BLE</a:t>
            </a:r>
            <a:endParaRPr lang="en-US" sz="2200" dirty="0"/>
          </a:p>
        </p:txBody>
      </p:sp>
      <p:sp>
        <p:nvSpPr>
          <p:cNvPr id="11" name="Text 9"/>
          <p:cNvSpPr/>
          <p:nvPr/>
        </p:nvSpPr>
        <p:spPr>
          <a:xfrm>
            <a:off x="6583680" y="2651760"/>
            <a:ext cx="3200400" cy="274320"/>
          </a:xfrm>
          <a:prstGeom prst="rect">
            <a:avLst/>
          </a:prstGeom>
          <a:noFill/>
          <a:ln/>
        </p:spPr>
        <p:txBody>
          <a:bodyPr wrap="square" lIns="0" tIns="0" rIns="0" bIns="0" rtlCol="0" anchor="t"/>
          <a:lstStyle/>
          <a:p>
            <a:pPr indent="0" marL="0">
              <a:buNone/>
            </a:pPr>
            <a:r>
              <a:rPr lang="en-US" sz="1200" dirty="0">
                <a:solidFill>
                  <a:srgbClr val="6B7280"/>
                </a:solidFill>
                <a:latin typeface="맑은 고딕" pitchFamily="34" charset="0"/>
                <a:ea typeface="맑은 고딕" pitchFamily="34" charset="-122"/>
                <a:cs typeface="맑은 고딕" pitchFamily="34" charset="-120"/>
              </a:rPr>
              <a:t>저전력 근거리 통신</a:t>
            </a:r>
            <a:endParaRPr lang="en-US" sz="1200" dirty="0"/>
          </a:p>
        </p:txBody>
      </p:sp>
      <p:sp>
        <p:nvSpPr>
          <p:cNvPr id="12" name="Text 10"/>
          <p:cNvSpPr/>
          <p:nvPr/>
        </p:nvSpPr>
        <p:spPr>
          <a:xfrm>
            <a:off x="6583680" y="3017520"/>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6B7280"/>
                </a:solidFill>
                <a:latin typeface="맑은 고딕" pitchFamily="34" charset="0"/>
                <a:ea typeface="맑은 고딕" pitchFamily="34" charset="-122"/>
                <a:cs typeface="맑은 고딕" pitchFamily="34" charset="-120"/>
              </a:rPr>
              <a:t>스마트폰과 직접 연결하는 방식입니다. 이번 학기 정규 차시에는 포함되지 않습니다.</a:t>
            </a:r>
            <a:endParaRPr lang="en-US" sz="1300" dirty="0"/>
          </a:p>
        </p:txBody>
      </p:sp>
      <p:sp>
        <p:nvSpPr>
          <p:cNvPr id="13" name="Shape 11"/>
          <p:cNvSpPr/>
          <p:nvPr/>
        </p:nvSpPr>
        <p:spPr>
          <a:xfrm>
            <a:off x="685800" y="4389120"/>
            <a:ext cx="10817352" cy="1600200"/>
          </a:xfrm>
          <a:prstGeom prst="roundRect">
            <a:avLst>
              <a:gd name="adj" fmla="val 3429"/>
            </a:avLst>
          </a:prstGeom>
          <a:solidFill>
            <a:srgbClr val="F7F2F2"/>
          </a:solidFill>
          <a:ln w="12700">
            <a:solidFill>
              <a:srgbClr val="DCD6D6"/>
            </a:solidFill>
            <a:prstDash val="solid"/>
          </a:ln>
        </p:spPr>
      </p:sp>
      <p:sp>
        <p:nvSpPr>
          <p:cNvPr id="14" name="Text 12"/>
          <p:cNvSpPr/>
          <p:nvPr/>
        </p:nvSpPr>
        <p:spPr>
          <a:xfrm>
            <a:off x="1051560" y="4572000"/>
            <a:ext cx="4572000" cy="292608"/>
          </a:xfrm>
          <a:prstGeom prst="rect">
            <a:avLst/>
          </a:prstGeom>
          <a:noFill/>
          <a:ln/>
        </p:spPr>
        <p:txBody>
          <a:bodyPr wrap="square" lIns="0" tIns="0" rIns="0" bIns="0" rtlCol="0" anchor="t"/>
          <a:lstStyle/>
          <a:p>
            <a:pPr indent="0" marL="0">
              <a:buNone/>
            </a:pPr>
            <a:r>
              <a:rPr lang="en-US" sz="1400" b="1" dirty="0">
                <a:solidFill>
                  <a:srgbClr val="990011"/>
                </a:solidFill>
                <a:latin typeface="맑은 고딕" pitchFamily="34" charset="0"/>
                <a:ea typeface="맑은 고딕" pitchFamily="34" charset="-122"/>
                <a:cs typeface="맑은 고딕" pitchFamily="34" charset="-120"/>
              </a:rPr>
              <a:t>우리가 12차시까지 도달할 모습</a:t>
            </a:r>
            <a:endParaRPr lang="en-US" sz="1400" dirty="0"/>
          </a:p>
        </p:txBody>
      </p:sp>
      <p:sp>
        <p:nvSpPr>
          <p:cNvPr id="15" name="Shape 13"/>
          <p:cNvSpPr/>
          <p:nvPr/>
        </p:nvSpPr>
        <p:spPr>
          <a:xfrm>
            <a:off x="1097280" y="5029200"/>
            <a:ext cx="1691640" cy="548640"/>
          </a:xfrm>
          <a:prstGeom prst="roundRect">
            <a:avLst>
              <a:gd name="adj" fmla="val 8333"/>
            </a:avLst>
          </a:prstGeom>
          <a:solidFill>
            <a:srgbClr val="FFFFFF"/>
          </a:solidFill>
          <a:ln w="12700">
            <a:solidFill>
              <a:srgbClr val="DCD6D6"/>
            </a:solidFill>
            <a:prstDash val="solid"/>
          </a:ln>
        </p:spPr>
      </p:sp>
      <p:sp>
        <p:nvSpPr>
          <p:cNvPr id="16" name="Text 14"/>
          <p:cNvSpPr/>
          <p:nvPr/>
        </p:nvSpPr>
        <p:spPr>
          <a:xfrm>
            <a:off x="1097280" y="5029200"/>
            <a:ext cx="1691640" cy="548640"/>
          </a:xfrm>
          <a:prstGeom prst="rect">
            <a:avLst/>
          </a:prstGeom>
          <a:noFill/>
          <a:ln/>
        </p:spPr>
        <p:txBody>
          <a:bodyPr wrap="square" lIns="0" tIns="0" rIns="0" bIns="0" rtlCol="0" anchor="ctr"/>
          <a:lstStyle/>
          <a:p>
            <a:pPr algn="ctr" indent="0" marL="0">
              <a:buNone/>
            </a:pPr>
            <a:r>
              <a:rPr lang="en-US" sz="1300" b="1" dirty="0">
                <a:solidFill>
                  <a:srgbClr val="1F2328"/>
                </a:solidFill>
                <a:latin typeface="맑은 고딕" pitchFamily="34" charset="0"/>
                <a:ea typeface="맑은 고딕" pitchFamily="34" charset="-122"/>
                <a:cs typeface="맑은 고딕" pitchFamily="34" charset="-120"/>
              </a:rPr>
              <a:t>센서</a:t>
            </a:r>
            <a:endParaRPr lang="en-US" sz="1300" dirty="0"/>
          </a:p>
        </p:txBody>
      </p:sp>
      <p:sp>
        <p:nvSpPr>
          <p:cNvPr id="17" name="Shape 15"/>
          <p:cNvSpPr/>
          <p:nvPr/>
        </p:nvSpPr>
        <p:spPr>
          <a:xfrm>
            <a:off x="2880360" y="5193792"/>
            <a:ext cx="384048" cy="219456"/>
          </a:xfrm>
          <a:prstGeom prst="rightArrow">
            <a:avLst/>
          </a:prstGeom>
          <a:solidFill>
            <a:srgbClr val="B9B2B2"/>
          </a:solidFill>
          <a:ln w="12700">
            <a:solidFill>
              <a:srgbClr val="333333"/>
            </a:solidFill>
            <a:prstDash val="solid"/>
          </a:ln>
        </p:spPr>
      </p:sp>
      <p:sp>
        <p:nvSpPr>
          <p:cNvPr id="18" name="Shape 16"/>
          <p:cNvSpPr/>
          <p:nvPr/>
        </p:nvSpPr>
        <p:spPr>
          <a:xfrm>
            <a:off x="3264408" y="5029200"/>
            <a:ext cx="1691640" cy="548640"/>
          </a:xfrm>
          <a:prstGeom prst="roundRect">
            <a:avLst>
              <a:gd name="adj" fmla="val 8333"/>
            </a:avLst>
          </a:prstGeom>
          <a:solidFill>
            <a:srgbClr val="990011"/>
          </a:solidFill>
          <a:ln w="12700">
            <a:solidFill>
              <a:srgbClr val="990011"/>
            </a:solidFill>
            <a:prstDash val="solid"/>
          </a:ln>
        </p:spPr>
      </p:sp>
      <p:sp>
        <p:nvSpPr>
          <p:cNvPr id="19" name="Text 17"/>
          <p:cNvSpPr/>
          <p:nvPr/>
        </p:nvSpPr>
        <p:spPr>
          <a:xfrm>
            <a:off x="3264408" y="5029200"/>
            <a:ext cx="1691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Pico 2 W</a:t>
            </a:r>
            <a:endParaRPr lang="en-US" sz="1300" dirty="0"/>
          </a:p>
        </p:txBody>
      </p:sp>
      <p:sp>
        <p:nvSpPr>
          <p:cNvPr id="20" name="Shape 18"/>
          <p:cNvSpPr/>
          <p:nvPr/>
        </p:nvSpPr>
        <p:spPr>
          <a:xfrm>
            <a:off x="5047488" y="5193792"/>
            <a:ext cx="384048" cy="219456"/>
          </a:xfrm>
          <a:prstGeom prst="rightArrow">
            <a:avLst/>
          </a:prstGeom>
          <a:solidFill>
            <a:srgbClr val="B9B2B2"/>
          </a:solidFill>
          <a:ln w="12700">
            <a:solidFill>
              <a:srgbClr val="333333"/>
            </a:solidFill>
            <a:prstDash val="solid"/>
          </a:ln>
        </p:spPr>
      </p:sp>
      <p:sp>
        <p:nvSpPr>
          <p:cNvPr id="21" name="Shape 19"/>
          <p:cNvSpPr/>
          <p:nvPr/>
        </p:nvSpPr>
        <p:spPr>
          <a:xfrm>
            <a:off x="5431536" y="5029200"/>
            <a:ext cx="1691640" cy="548640"/>
          </a:xfrm>
          <a:prstGeom prst="roundRect">
            <a:avLst>
              <a:gd name="adj" fmla="val 8333"/>
            </a:avLst>
          </a:prstGeom>
          <a:solidFill>
            <a:srgbClr val="FFFFFF"/>
          </a:solidFill>
          <a:ln w="12700">
            <a:solidFill>
              <a:srgbClr val="DCD6D6"/>
            </a:solidFill>
            <a:prstDash val="solid"/>
          </a:ln>
        </p:spPr>
      </p:sp>
      <p:sp>
        <p:nvSpPr>
          <p:cNvPr id="22" name="Text 20"/>
          <p:cNvSpPr/>
          <p:nvPr/>
        </p:nvSpPr>
        <p:spPr>
          <a:xfrm>
            <a:off x="5431536" y="5029200"/>
            <a:ext cx="1691640" cy="548640"/>
          </a:xfrm>
          <a:prstGeom prst="rect">
            <a:avLst/>
          </a:prstGeom>
          <a:noFill/>
          <a:ln/>
        </p:spPr>
        <p:txBody>
          <a:bodyPr wrap="square" lIns="0" tIns="0" rIns="0" bIns="0" rtlCol="0" anchor="ctr"/>
          <a:lstStyle/>
          <a:p>
            <a:pPr algn="ctr" indent="0" marL="0">
              <a:buNone/>
            </a:pPr>
            <a:r>
              <a:rPr lang="en-US" sz="1300" b="1" dirty="0">
                <a:solidFill>
                  <a:srgbClr val="1F2328"/>
                </a:solidFill>
                <a:latin typeface="맑은 고딕" pitchFamily="34" charset="0"/>
                <a:ea typeface="맑은 고딕" pitchFamily="34" charset="-122"/>
                <a:cs typeface="맑은 고딕" pitchFamily="34" charset="-120"/>
              </a:rPr>
              <a:t>Wi-Fi</a:t>
            </a:r>
            <a:endParaRPr lang="en-US" sz="1300" dirty="0"/>
          </a:p>
        </p:txBody>
      </p:sp>
      <p:sp>
        <p:nvSpPr>
          <p:cNvPr id="23" name="Shape 21"/>
          <p:cNvSpPr/>
          <p:nvPr/>
        </p:nvSpPr>
        <p:spPr>
          <a:xfrm>
            <a:off x="7214616" y="5193792"/>
            <a:ext cx="384048" cy="219456"/>
          </a:xfrm>
          <a:prstGeom prst="rightArrow">
            <a:avLst/>
          </a:prstGeom>
          <a:solidFill>
            <a:srgbClr val="B9B2B2"/>
          </a:solidFill>
          <a:ln w="12700">
            <a:solidFill>
              <a:srgbClr val="333333"/>
            </a:solidFill>
            <a:prstDash val="solid"/>
          </a:ln>
        </p:spPr>
      </p:sp>
      <p:sp>
        <p:nvSpPr>
          <p:cNvPr id="24" name="Shape 22"/>
          <p:cNvSpPr/>
          <p:nvPr/>
        </p:nvSpPr>
        <p:spPr>
          <a:xfrm>
            <a:off x="7598664" y="5029200"/>
            <a:ext cx="1691640" cy="548640"/>
          </a:xfrm>
          <a:prstGeom prst="roundRect">
            <a:avLst>
              <a:gd name="adj" fmla="val 8333"/>
            </a:avLst>
          </a:prstGeom>
          <a:solidFill>
            <a:srgbClr val="FFFFFF"/>
          </a:solidFill>
          <a:ln w="12700">
            <a:solidFill>
              <a:srgbClr val="DCD6D6"/>
            </a:solidFill>
            <a:prstDash val="solid"/>
          </a:ln>
        </p:spPr>
      </p:sp>
      <p:sp>
        <p:nvSpPr>
          <p:cNvPr id="25" name="Text 23"/>
          <p:cNvSpPr/>
          <p:nvPr/>
        </p:nvSpPr>
        <p:spPr>
          <a:xfrm>
            <a:off x="7598664" y="5029200"/>
            <a:ext cx="1691640" cy="548640"/>
          </a:xfrm>
          <a:prstGeom prst="rect">
            <a:avLst/>
          </a:prstGeom>
          <a:noFill/>
          <a:ln/>
        </p:spPr>
        <p:txBody>
          <a:bodyPr wrap="square" lIns="0" tIns="0" rIns="0" bIns="0" rtlCol="0" anchor="ctr"/>
          <a:lstStyle/>
          <a:p>
            <a:pPr algn="ctr" indent="0" marL="0">
              <a:buNone/>
            </a:pPr>
            <a:r>
              <a:rPr lang="en-US" sz="1300" b="1" dirty="0">
                <a:solidFill>
                  <a:srgbClr val="1F2328"/>
                </a:solidFill>
                <a:latin typeface="맑은 고딕" pitchFamily="34" charset="0"/>
                <a:ea typeface="맑은 고딕" pitchFamily="34" charset="-122"/>
                <a:cs typeface="맑은 고딕" pitchFamily="34" charset="-120"/>
              </a:rPr>
              <a:t>웹 서버</a:t>
            </a:r>
            <a:endParaRPr lang="en-US" sz="1300" dirty="0"/>
          </a:p>
        </p:txBody>
      </p:sp>
      <p:sp>
        <p:nvSpPr>
          <p:cNvPr id="26" name="Shape 24"/>
          <p:cNvSpPr/>
          <p:nvPr/>
        </p:nvSpPr>
        <p:spPr>
          <a:xfrm>
            <a:off x="9381744" y="5193792"/>
            <a:ext cx="384048" cy="219456"/>
          </a:xfrm>
          <a:prstGeom prst="rightArrow">
            <a:avLst/>
          </a:prstGeom>
          <a:solidFill>
            <a:srgbClr val="B9B2B2"/>
          </a:solidFill>
          <a:ln w="12700">
            <a:solidFill>
              <a:srgbClr val="333333"/>
            </a:solidFill>
            <a:prstDash val="solid"/>
          </a:ln>
        </p:spPr>
      </p:sp>
      <p:sp>
        <p:nvSpPr>
          <p:cNvPr id="27" name="Shape 25"/>
          <p:cNvSpPr/>
          <p:nvPr/>
        </p:nvSpPr>
        <p:spPr>
          <a:xfrm>
            <a:off x="9765792" y="5029200"/>
            <a:ext cx="1691640" cy="548640"/>
          </a:xfrm>
          <a:prstGeom prst="roundRect">
            <a:avLst>
              <a:gd name="adj" fmla="val 8333"/>
            </a:avLst>
          </a:prstGeom>
          <a:solidFill>
            <a:srgbClr val="FFFFFF"/>
          </a:solidFill>
          <a:ln w="12700">
            <a:solidFill>
              <a:srgbClr val="DCD6D6"/>
            </a:solidFill>
            <a:prstDash val="solid"/>
          </a:ln>
        </p:spPr>
      </p:sp>
      <p:sp>
        <p:nvSpPr>
          <p:cNvPr id="28" name="Text 26"/>
          <p:cNvSpPr/>
          <p:nvPr/>
        </p:nvSpPr>
        <p:spPr>
          <a:xfrm>
            <a:off x="9765792" y="5029200"/>
            <a:ext cx="1691640" cy="548640"/>
          </a:xfrm>
          <a:prstGeom prst="rect">
            <a:avLst/>
          </a:prstGeom>
          <a:noFill/>
          <a:ln/>
        </p:spPr>
        <p:txBody>
          <a:bodyPr wrap="square" lIns="0" tIns="0" rIns="0" bIns="0" rtlCol="0" anchor="ctr"/>
          <a:lstStyle/>
          <a:p>
            <a:pPr algn="ctr" indent="0" marL="0">
              <a:buNone/>
            </a:pPr>
            <a:r>
              <a:rPr lang="en-US" sz="1300" b="1" dirty="0">
                <a:solidFill>
                  <a:srgbClr val="1F2328"/>
                </a:solidFill>
                <a:latin typeface="맑은 고딕" pitchFamily="34" charset="0"/>
                <a:ea typeface="맑은 고딕" pitchFamily="34" charset="-122"/>
                <a:cs typeface="맑은 고딕" pitchFamily="34" charset="-120"/>
              </a:rPr>
              <a:t>스마트폰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HOW TO PROGRAM</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Pico 2 W는 어떻게 프로그래밍할까?</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두 가지 방법이 있습니다. 우리는 배우기 쉬운 MicroPython으로 시작합니다.</a:t>
            </a:r>
            <a:endParaRPr lang="en-US" sz="1500" dirty="0"/>
          </a:p>
        </p:txBody>
      </p:sp>
      <p:sp>
        <p:nvSpPr>
          <p:cNvPr id="5" name="Shape 3"/>
          <p:cNvSpPr/>
          <p:nvPr/>
        </p:nvSpPr>
        <p:spPr>
          <a:xfrm>
            <a:off x="685800" y="2011680"/>
            <a:ext cx="5285232" cy="3017520"/>
          </a:xfrm>
          <a:prstGeom prst="roundRect">
            <a:avLst>
              <a:gd name="adj" fmla="val 2424"/>
            </a:avLst>
          </a:prstGeom>
          <a:solidFill>
            <a:srgbClr val="F7F2F2"/>
          </a:solidFill>
          <a:ln w="25400">
            <a:solidFill>
              <a:srgbClr val="990011"/>
            </a:solidFill>
            <a:prstDash val="solid"/>
          </a:ln>
        </p:spPr>
      </p:sp>
      <p:sp>
        <p:nvSpPr>
          <p:cNvPr id="6" name="Shape 4"/>
          <p:cNvSpPr/>
          <p:nvPr/>
        </p:nvSpPr>
        <p:spPr>
          <a:xfrm>
            <a:off x="1051560" y="2240280"/>
            <a:ext cx="1371600" cy="347472"/>
          </a:xfrm>
          <a:prstGeom prst="roundRect">
            <a:avLst>
              <a:gd name="adj" fmla="val 13158"/>
            </a:avLst>
          </a:prstGeom>
          <a:solidFill>
            <a:srgbClr val="990011"/>
          </a:solidFill>
          <a:ln w="12700">
            <a:solidFill>
              <a:srgbClr val="333333"/>
            </a:solidFill>
            <a:prstDash val="solid"/>
          </a:ln>
        </p:spPr>
      </p:sp>
      <p:sp>
        <p:nvSpPr>
          <p:cNvPr id="7" name="Text 5"/>
          <p:cNvSpPr/>
          <p:nvPr/>
        </p:nvSpPr>
        <p:spPr>
          <a:xfrm>
            <a:off x="1051560" y="224028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우리의 선택</a:t>
            </a:r>
            <a:endParaRPr lang="en-US" sz="1100" dirty="0"/>
          </a:p>
        </p:txBody>
      </p:sp>
      <p:sp>
        <p:nvSpPr>
          <p:cNvPr id="8" name="Text 6"/>
          <p:cNvSpPr/>
          <p:nvPr/>
        </p:nvSpPr>
        <p:spPr>
          <a:xfrm>
            <a:off x="1051560" y="2743200"/>
            <a:ext cx="4114800" cy="411480"/>
          </a:xfrm>
          <a:prstGeom prst="rect">
            <a:avLst/>
          </a:prstGeom>
          <a:noFill/>
          <a:ln/>
        </p:spPr>
        <p:txBody>
          <a:bodyPr wrap="square" lIns="0" tIns="0" rIns="0" bIns="0" rtlCol="0" anchor="t"/>
          <a:lstStyle/>
          <a:p>
            <a:pPr indent="0" marL="0">
              <a:buNone/>
            </a:pPr>
            <a:r>
              <a:rPr lang="en-US" sz="2400" b="1" dirty="0">
                <a:solidFill>
                  <a:srgbClr val="990011"/>
                </a:solidFill>
                <a:latin typeface="맑은 고딕" pitchFamily="34" charset="0"/>
                <a:ea typeface="맑은 고딕" pitchFamily="34" charset="-122"/>
                <a:cs typeface="맑은 고딕" pitchFamily="34" charset="-120"/>
              </a:rPr>
              <a:t>MicroPython</a:t>
            </a:r>
            <a:endParaRPr lang="en-US" sz="2400" dirty="0"/>
          </a:p>
        </p:txBody>
      </p:sp>
      <p:sp>
        <p:nvSpPr>
          <p:cNvPr id="9" name="Text 7"/>
          <p:cNvSpPr/>
          <p:nvPr/>
        </p:nvSpPr>
        <p:spPr>
          <a:xfrm>
            <a:off x="1051560" y="3200400"/>
            <a:ext cx="4572000" cy="274320"/>
          </a:xfrm>
          <a:prstGeom prst="rect">
            <a:avLst/>
          </a:prstGeom>
          <a:noFill/>
          <a:ln/>
        </p:spPr>
        <p:txBody>
          <a:bodyPr wrap="square" lIns="0" tIns="0" rIns="0" bIns="0" rtlCol="0" anchor="t"/>
          <a:lstStyle/>
          <a:p>
            <a:pPr indent="0" marL="0">
              <a:buNone/>
            </a:pPr>
            <a:r>
              <a:rPr lang="en-US" sz="1200" dirty="0">
                <a:solidFill>
                  <a:srgbClr val="6B7280"/>
                </a:solidFill>
                <a:latin typeface="맑은 고딕" pitchFamily="34" charset="0"/>
                <a:ea typeface="맑은 고딕" pitchFamily="34" charset="-122"/>
                <a:cs typeface="맑은 고딕" pitchFamily="34" charset="-120"/>
              </a:rPr>
              <a:t>파이썬을 작은 기기에서 쓸 수 있게 만든 버전</a:t>
            </a:r>
            <a:endParaRPr lang="en-US" sz="1200" dirty="0"/>
          </a:p>
        </p:txBody>
      </p:sp>
      <p:sp>
        <p:nvSpPr>
          <p:cNvPr id="10" name="Text 8"/>
          <p:cNvSpPr/>
          <p:nvPr/>
        </p:nvSpPr>
        <p:spPr>
          <a:xfrm>
            <a:off x="1143000" y="3611880"/>
            <a:ext cx="4480560" cy="11887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F2328"/>
                </a:solidFill>
                <a:latin typeface="맑은 고딕" pitchFamily="34" charset="0"/>
                <a:ea typeface="맑은 고딕" pitchFamily="34" charset="-122"/>
                <a:cs typeface="맑은 고딕" pitchFamily="34" charset="-120"/>
              </a:rPr>
              <a:t>문법이 간단해 바로 시작할 수 있음</a:t>
            </a:r>
            <a:endParaRPr lang="en-US" sz="1300" dirty="0"/>
          </a:p>
          <a:p>
            <a:pPr marL="342900" indent="-342900">
              <a:spcAft>
                <a:spcPts val="1000"/>
              </a:spcAft>
              <a:buSzPct val="100000"/>
              <a:buChar char="•"/>
            </a:pPr>
            <a:r>
              <a:rPr lang="en-US" sz="1300" dirty="0">
                <a:solidFill>
                  <a:srgbClr val="1F2328"/>
                </a:solidFill>
                <a:latin typeface="맑은 고딕" pitchFamily="34" charset="0"/>
                <a:ea typeface="맑은 고딕" pitchFamily="34" charset="-122"/>
                <a:cs typeface="맑은 고딕" pitchFamily="34" charset="-120"/>
              </a:rPr>
              <a:t>코드를 고치고 즉시 실행해 확인 가능</a:t>
            </a:r>
            <a:endParaRPr lang="en-US" sz="1300" dirty="0"/>
          </a:p>
          <a:p>
            <a:pPr marL="342900" indent="-342900">
              <a:spcAft>
                <a:spcPts val="1000"/>
              </a:spcAft>
              <a:buSzPct val="100000"/>
              <a:buChar char="•"/>
            </a:pPr>
            <a:r>
              <a:rPr lang="en-US" sz="1300" dirty="0">
                <a:solidFill>
                  <a:srgbClr val="1F2328"/>
                </a:solidFill>
                <a:latin typeface="맑은 고딕" pitchFamily="34" charset="0"/>
                <a:ea typeface="맑은 고딕" pitchFamily="34" charset="-122"/>
                <a:cs typeface="맑은 고딕" pitchFamily="34" charset="-120"/>
              </a:rPr>
              <a:t>Thonny 프로그램 하나면 준비 완료</a:t>
            </a:r>
            <a:endParaRPr lang="en-US" sz="1300" dirty="0"/>
          </a:p>
        </p:txBody>
      </p:sp>
      <p:sp>
        <p:nvSpPr>
          <p:cNvPr id="11" name="Shape 9"/>
          <p:cNvSpPr/>
          <p:nvPr/>
        </p:nvSpPr>
        <p:spPr>
          <a:xfrm>
            <a:off x="6217920" y="2011680"/>
            <a:ext cx="5285232" cy="3017520"/>
          </a:xfrm>
          <a:prstGeom prst="roundRect">
            <a:avLst>
              <a:gd name="adj" fmla="val 2424"/>
            </a:avLst>
          </a:prstGeom>
          <a:solidFill>
            <a:srgbClr val="FFFFFF"/>
          </a:solidFill>
          <a:ln w="12700">
            <a:solidFill>
              <a:srgbClr val="DCD6D6"/>
            </a:solidFill>
            <a:prstDash val="solid"/>
          </a:ln>
        </p:spPr>
      </p:sp>
      <p:sp>
        <p:nvSpPr>
          <p:cNvPr id="12" name="Text 10"/>
          <p:cNvSpPr/>
          <p:nvPr/>
        </p:nvSpPr>
        <p:spPr>
          <a:xfrm>
            <a:off x="6583680" y="2743200"/>
            <a:ext cx="4114800" cy="411480"/>
          </a:xfrm>
          <a:prstGeom prst="rect">
            <a:avLst/>
          </a:prstGeom>
          <a:noFill/>
          <a:ln/>
        </p:spPr>
        <p:txBody>
          <a:bodyPr wrap="square" lIns="0" tIns="0" rIns="0" bIns="0" rtlCol="0" anchor="t"/>
          <a:lstStyle/>
          <a:p>
            <a:pPr indent="0" marL="0">
              <a:buNone/>
            </a:pPr>
            <a:r>
              <a:rPr lang="en-US" sz="2400" b="1" dirty="0">
                <a:solidFill>
                  <a:srgbClr val="6B7280"/>
                </a:solidFill>
                <a:latin typeface="맑은 고딕" pitchFamily="34" charset="0"/>
                <a:ea typeface="맑은 고딕" pitchFamily="34" charset="-122"/>
                <a:cs typeface="맑은 고딕" pitchFamily="34" charset="-120"/>
              </a:rPr>
              <a:t>C / C++ SDK</a:t>
            </a:r>
            <a:endParaRPr lang="en-US" sz="2400" dirty="0"/>
          </a:p>
        </p:txBody>
      </p:sp>
      <p:sp>
        <p:nvSpPr>
          <p:cNvPr id="13" name="Text 11"/>
          <p:cNvSpPr/>
          <p:nvPr/>
        </p:nvSpPr>
        <p:spPr>
          <a:xfrm>
            <a:off x="6583680" y="3200400"/>
            <a:ext cx="4572000" cy="274320"/>
          </a:xfrm>
          <a:prstGeom prst="rect">
            <a:avLst/>
          </a:prstGeom>
          <a:noFill/>
          <a:ln/>
        </p:spPr>
        <p:txBody>
          <a:bodyPr wrap="square" lIns="0" tIns="0" rIns="0" bIns="0" rtlCol="0" anchor="t"/>
          <a:lstStyle/>
          <a:p>
            <a:pPr indent="0" marL="0">
              <a:buNone/>
            </a:pPr>
            <a:r>
              <a:rPr lang="en-US" sz="1200" dirty="0">
                <a:solidFill>
                  <a:srgbClr val="6B7280"/>
                </a:solidFill>
                <a:latin typeface="맑은 고딕" pitchFamily="34" charset="0"/>
                <a:ea typeface="맑은 고딕" pitchFamily="34" charset="-122"/>
                <a:cs typeface="맑은 고딕" pitchFamily="34" charset="-120"/>
              </a:rPr>
              <a:t>라즈베리파이 재단이 제공하는 공식 개발 환경</a:t>
            </a:r>
            <a:endParaRPr lang="en-US" sz="1200" dirty="0"/>
          </a:p>
        </p:txBody>
      </p:sp>
      <p:sp>
        <p:nvSpPr>
          <p:cNvPr id="14" name="Text 12"/>
          <p:cNvSpPr/>
          <p:nvPr/>
        </p:nvSpPr>
        <p:spPr>
          <a:xfrm>
            <a:off x="6675120" y="3611880"/>
            <a:ext cx="4480560" cy="11887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6B7280"/>
                </a:solidFill>
                <a:latin typeface="맑은 고딕" pitchFamily="34" charset="0"/>
                <a:ea typeface="맑은 고딕" pitchFamily="34" charset="-122"/>
                <a:cs typeface="맑은 고딕" pitchFamily="34" charset="-120"/>
              </a:rPr>
              <a:t>실행 속도가 훨씬 빠름</a:t>
            </a:r>
            <a:endParaRPr lang="en-US" sz="1300" dirty="0"/>
          </a:p>
          <a:p>
            <a:pPr marL="342900" indent="-342900">
              <a:spcAft>
                <a:spcPts val="1000"/>
              </a:spcAft>
              <a:buSzPct val="100000"/>
              <a:buChar char="•"/>
            </a:pPr>
            <a:r>
              <a:rPr lang="en-US" sz="1300" dirty="0">
                <a:solidFill>
                  <a:srgbClr val="6B7280"/>
                </a:solidFill>
                <a:latin typeface="맑은 고딕" pitchFamily="34" charset="0"/>
                <a:ea typeface="맑은 고딕" pitchFamily="34" charset="-122"/>
                <a:cs typeface="맑은 고딕" pitchFamily="34" charset="-120"/>
              </a:rPr>
              <a:t>하드웨어를 세밀하게 제어 가능</a:t>
            </a:r>
            <a:endParaRPr lang="en-US" sz="1300" dirty="0"/>
          </a:p>
          <a:p>
            <a:pPr marL="342900" indent="-342900">
              <a:spcAft>
                <a:spcPts val="1000"/>
              </a:spcAft>
              <a:buSzPct val="100000"/>
              <a:buChar char="•"/>
            </a:pPr>
            <a:r>
              <a:rPr lang="en-US" sz="1300" dirty="0">
                <a:solidFill>
                  <a:srgbClr val="6B7280"/>
                </a:solidFill>
                <a:latin typeface="맑은 고딕" pitchFamily="34" charset="0"/>
                <a:ea typeface="맑은 고딕" pitchFamily="34" charset="-122"/>
                <a:cs typeface="맑은 고딕" pitchFamily="34" charset="-120"/>
              </a:rPr>
              <a:t>설치와 빌드 과정이 복잡함</a:t>
            </a:r>
            <a:endParaRPr lang="en-US" sz="1300" dirty="0"/>
          </a:p>
        </p:txBody>
      </p:sp>
      <p:sp>
        <p:nvSpPr>
          <p:cNvPr id="15" name="Text 13"/>
          <p:cNvSpPr/>
          <p:nvPr/>
        </p:nvSpPr>
        <p:spPr>
          <a:xfrm>
            <a:off x="685800" y="5303520"/>
            <a:ext cx="10789920" cy="365760"/>
          </a:xfrm>
          <a:prstGeom prst="rect">
            <a:avLst/>
          </a:prstGeom>
          <a:noFill/>
          <a:ln/>
        </p:spPr>
        <p:txBody>
          <a:bodyPr wrap="square" lIns="0" tIns="0" rIns="0" bIns="0" rtlCol="0" anchor="t"/>
          <a:lstStyle/>
          <a:p>
            <a:pPr indent="0" marL="0">
              <a:buNone/>
            </a:pPr>
            <a:r>
              <a:rPr lang="en-US" sz="1400" b="1" dirty="0">
                <a:solidFill>
                  <a:srgbClr val="990011"/>
                </a:solidFill>
                <a:latin typeface="맑은 고딕" pitchFamily="34" charset="0"/>
                <a:ea typeface="맑은 고딕" pitchFamily="34" charset="-122"/>
                <a:cs typeface="맑은 고딕" pitchFamily="34" charset="-120"/>
              </a:rPr>
              <a:t>다음 시간에 Thonny를 설치하고 Pico 2 W에 MicroPython을 올린 뒤, 첫 프로그램을 실행합니다.</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329184"/>
            <a:ext cx="10789920" cy="237744"/>
          </a:xfrm>
          <a:prstGeom prst="rect">
            <a:avLst/>
          </a:prstGeom>
          <a:noFill/>
          <a:ln/>
        </p:spPr>
        <p:txBody>
          <a:bodyPr wrap="square" lIns="0" tIns="0" rIns="0" bIns="0" rtlCol="0" anchor="ctr"/>
          <a:lstStyle/>
          <a:p>
            <a:pPr indent="0" marL="0">
              <a:buNone/>
            </a:pPr>
            <a:r>
              <a:rPr lang="en-US" sz="1200" b="1" spc="100" kern="0" dirty="0">
                <a:solidFill>
                  <a:srgbClr val="990011"/>
                </a:solidFill>
                <a:latin typeface="맑은 고딕" pitchFamily="34" charset="0"/>
                <a:ea typeface="맑은 고딕" pitchFamily="34" charset="-122"/>
                <a:cs typeface="맑은 고딕" pitchFamily="34" charset="-120"/>
              </a:rPr>
              <a:t>PREVIEW</a:t>
            </a:r>
            <a:endParaRPr lang="en-US" sz="1200" dirty="0"/>
          </a:p>
        </p:txBody>
      </p:sp>
      <p:sp>
        <p:nvSpPr>
          <p:cNvPr id="3" name="Text 1"/>
          <p:cNvSpPr/>
          <p:nvPr/>
        </p:nvSpPr>
        <p:spPr>
          <a:xfrm>
            <a:off x="685800" y="566928"/>
            <a:ext cx="10789920" cy="566928"/>
          </a:xfrm>
          <a:prstGeom prst="rect">
            <a:avLst/>
          </a:prstGeom>
          <a:noFill/>
          <a:ln/>
        </p:spPr>
        <p:txBody>
          <a:bodyPr wrap="square" lIns="0" tIns="0" rIns="0" bIns="0" rtlCol="0" anchor="ctr"/>
          <a:lstStyle/>
          <a:p>
            <a:pPr indent="0" marL="0">
              <a:buNone/>
            </a:pPr>
            <a:r>
              <a:rPr lang="en-US" sz="3000" b="1" dirty="0">
                <a:solidFill>
                  <a:srgbClr val="1F2328"/>
                </a:solidFill>
                <a:latin typeface="맑은 고딕" pitchFamily="34" charset="0"/>
                <a:ea typeface="맑은 고딕" pitchFamily="34" charset="-122"/>
                <a:cs typeface="맑은 고딕" pitchFamily="34" charset="-120"/>
              </a:rPr>
              <a:t>다음 시간에 만들 첫 코드</a:t>
            </a:r>
            <a:endParaRPr lang="en-US" sz="3000" dirty="0"/>
          </a:p>
        </p:txBody>
      </p:sp>
      <p:sp>
        <p:nvSpPr>
          <p:cNvPr id="4" name="Text 2"/>
          <p:cNvSpPr/>
          <p:nvPr/>
        </p:nvSpPr>
        <p:spPr>
          <a:xfrm>
            <a:off x="685800" y="1371600"/>
            <a:ext cx="10789920" cy="365760"/>
          </a:xfrm>
          <a:prstGeom prst="rect">
            <a:avLst/>
          </a:prstGeom>
          <a:noFill/>
          <a:ln/>
        </p:spPr>
        <p:txBody>
          <a:bodyPr wrap="square" lIns="0" tIns="0" rIns="0" bIns="0" rtlCol="0" anchor="t"/>
          <a:lstStyle/>
          <a:p>
            <a:pPr indent="0" marL="0">
              <a:buNone/>
            </a:pPr>
            <a:r>
              <a:rPr lang="en-US" sz="1500" dirty="0">
                <a:solidFill>
                  <a:srgbClr val="6B7280"/>
                </a:solidFill>
                <a:latin typeface="맑은 고딕" pitchFamily="34" charset="0"/>
                <a:ea typeface="맑은 고딕" pitchFamily="34" charset="-122"/>
                <a:cs typeface="맑은 고딕" pitchFamily="34" charset="-120"/>
              </a:rPr>
              <a:t>보드에 내장된 LED를 1초 간격으로 깜빡이게 하는 프로그램입니다. 지금은 눈으로만 따라가 봅시다.</a:t>
            </a:r>
            <a:endParaRPr lang="en-US" sz="1500" dirty="0"/>
          </a:p>
        </p:txBody>
      </p:sp>
      <p:sp>
        <p:nvSpPr>
          <p:cNvPr id="5" name="Shape 3"/>
          <p:cNvSpPr/>
          <p:nvPr/>
        </p:nvSpPr>
        <p:spPr>
          <a:xfrm>
            <a:off x="685800" y="2011680"/>
            <a:ext cx="5669280" cy="3063240"/>
          </a:xfrm>
          <a:prstGeom prst="roundRect">
            <a:avLst>
              <a:gd name="adj" fmla="val 1791"/>
            </a:avLst>
          </a:prstGeom>
          <a:solidFill>
            <a:srgbClr val="1A1D21"/>
          </a:solidFill>
          <a:ln w="12700">
            <a:solidFill>
              <a:srgbClr val="2E3338"/>
            </a:solidFill>
            <a:prstDash val="solid"/>
          </a:ln>
        </p:spPr>
      </p:sp>
      <p:sp>
        <p:nvSpPr>
          <p:cNvPr id="6" name="Text 4"/>
          <p:cNvSpPr/>
          <p:nvPr/>
        </p:nvSpPr>
        <p:spPr>
          <a:xfrm>
            <a:off x="960120" y="2148840"/>
            <a:ext cx="2743200" cy="256032"/>
          </a:xfrm>
          <a:prstGeom prst="rect">
            <a:avLst/>
          </a:prstGeom>
          <a:noFill/>
          <a:ln/>
        </p:spPr>
        <p:txBody>
          <a:bodyPr wrap="square" lIns="0" tIns="0" rIns="0" bIns="0" rtlCol="0" anchor="ctr"/>
          <a:lstStyle/>
          <a:p>
            <a:pPr indent="0" marL="0">
              <a:buNone/>
            </a:pPr>
            <a:r>
              <a:rPr lang="en-US" sz="1000" dirty="0">
                <a:solidFill>
                  <a:srgbClr val="7A828A"/>
                </a:solidFill>
                <a:latin typeface="Consolas" pitchFamily="34" charset="0"/>
                <a:ea typeface="Consolas" pitchFamily="34" charset="-122"/>
                <a:cs typeface="Consolas" pitchFamily="34" charset="-120"/>
              </a:rPr>
              <a:t>blink.py</a:t>
            </a:r>
            <a:endParaRPr lang="en-US" sz="1000" dirty="0"/>
          </a:p>
        </p:txBody>
      </p:sp>
      <p:sp>
        <p:nvSpPr>
          <p:cNvPr id="7" name="Text 5"/>
          <p:cNvSpPr/>
          <p:nvPr/>
        </p:nvSpPr>
        <p:spPr>
          <a:xfrm>
            <a:off x="960120" y="2487168"/>
            <a:ext cx="5120640" cy="274320"/>
          </a:xfrm>
          <a:prstGeom prst="rect">
            <a:avLst/>
          </a:prstGeom>
          <a:noFill/>
          <a:ln/>
        </p:spPr>
        <p:txBody>
          <a:bodyPr wrap="square" lIns="0" tIns="0" rIns="0" bIns="0" rtlCol="0" anchor="ctr"/>
          <a:lstStyle/>
          <a:p>
            <a:pPr indent="0" marL="0">
              <a:buNone/>
            </a:pPr>
            <a:r>
              <a:rPr lang="en-US" sz="1400" dirty="0">
                <a:solidFill>
                  <a:srgbClr val="F0A9AE"/>
                </a:solidFill>
                <a:latin typeface="Consolas" pitchFamily="34" charset="0"/>
                <a:ea typeface="Consolas" pitchFamily="34" charset="-122"/>
                <a:cs typeface="Consolas" pitchFamily="34" charset="-120"/>
              </a:rPr>
              <a:t>from machine import Pin</a:t>
            </a:r>
            <a:endParaRPr lang="en-US" sz="1400" dirty="0"/>
          </a:p>
        </p:txBody>
      </p:sp>
      <p:sp>
        <p:nvSpPr>
          <p:cNvPr id="8" name="Text 6"/>
          <p:cNvSpPr/>
          <p:nvPr/>
        </p:nvSpPr>
        <p:spPr>
          <a:xfrm>
            <a:off x="960120" y="2798064"/>
            <a:ext cx="5120640" cy="274320"/>
          </a:xfrm>
          <a:prstGeom prst="rect">
            <a:avLst/>
          </a:prstGeom>
          <a:noFill/>
          <a:ln/>
        </p:spPr>
        <p:txBody>
          <a:bodyPr wrap="square" lIns="0" tIns="0" rIns="0" bIns="0" rtlCol="0" anchor="ctr"/>
          <a:lstStyle/>
          <a:p>
            <a:pPr indent="0" marL="0">
              <a:buNone/>
            </a:pPr>
            <a:r>
              <a:rPr lang="en-US" sz="1400" dirty="0">
                <a:solidFill>
                  <a:srgbClr val="F0A9AE"/>
                </a:solidFill>
                <a:latin typeface="Consolas" pitchFamily="34" charset="0"/>
                <a:ea typeface="Consolas" pitchFamily="34" charset="-122"/>
                <a:cs typeface="Consolas" pitchFamily="34" charset="-120"/>
              </a:rPr>
              <a:t>from time import sleep</a:t>
            </a:r>
            <a:endParaRPr lang="en-US" sz="1400" dirty="0"/>
          </a:p>
        </p:txBody>
      </p:sp>
      <p:sp>
        <p:nvSpPr>
          <p:cNvPr id="9" name="Text 7"/>
          <p:cNvSpPr/>
          <p:nvPr/>
        </p:nvSpPr>
        <p:spPr>
          <a:xfrm>
            <a:off x="960120" y="3419856"/>
            <a:ext cx="5120640" cy="27432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led = Pin("LED", Pin.OUT)</a:t>
            </a:r>
            <a:endParaRPr lang="en-US" sz="1400" dirty="0"/>
          </a:p>
        </p:txBody>
      </p:sp>
      <p:sp>
        <p:nvSpPr>
          <p:cNvPr id="10" name="Text 8"/>
          <p:cNvSpPr/>
          <p:nvPr/>
        </p:nvSpPr>
        <p:spPr>
          <a:xfrm>
            <a:off x="960120" y="4041648"/>
            <a:ext cx="5120640" cy="274320"/>
          </a:xfrm>
          <a:prstGeom prst="rect">
            <a:avLst/>
          </a:prstGeom>
          <a:noFill/>
          <a:ln/>
        </p:spPr>
        <p:txBody>
          <a:bodyPr wrap="square" lIns="0" tIns="0" rIns="0" bIns="0" rtlCol="0" anchor="ctr"/>
          <a:lstStyle/>
          <a:p>
            <a:pPr indent="0" marL="0">
              <a:buNone/>
            </a:pPr>
            <a:r>
              <a:rPr lang="en-US" sz="1400" dirty="0">
                <a:solidFill>
                  <a:srgbClr val="8FD3E8"/>
                </a:solidFill>
                <a:latin typeface="Consolas" pitchFamily="34" charset="0"/>
                <a:ea typeface="Consolas" pitchFamily="34" charset="-122"/>
                <a:cs typeface="Consolas" pitchFamily="34" charset="-120"/>
              </a:rPr>
              <a:t>while True:</a:t>
            </a:r>
            <a:endParaRPr lang="en-US" sz="1400" dirty="0"/>
          </a:p>
        </p:txBody>
      </p:sp>
      <p:sp>
        <p:nvSpPr>
          <p:cNvPr id="11" name="Text 9"/>
          <p:cNvSpPr/>
          <p:nvPr/>
        </p:nvSpPr>
        <p:spPr>
          <a:xfrm>
            <a:off x="960120" y="4352544"/>
            <a:ext cx="5120640" cy="27432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    led.toggle()</a:t>
            </a:r>
            <a:endParaRPr lang="en-US" sz="1400" dirty="0"/>
          </a:p>
        </p:txBody>
      </p:sp>
      <p:sp>
        <p:nvSpPr>
          <p:cNvPr id="12" name="Text 10"/>
          <p:cNvSpPr/>
          <p:nvPr/>
        </p:nvSpPr>
        <p:spPr>
          <a:xfrm>
            <a:off x="960120" y="4663440"/>
            <a:ext cx="5120640" cy="27432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    sleep(1)</a:t>
            </a:r>
            <a:endParaRPr lang="en-US" sz="1400" dirty="0"/>
          </a:p>
        </p:txBody>
      </p:sp>
      <p:sp>
        <p:nvSpPr>
          <p:cNvPr id="13" name="Text 11"/>
          <p:cNvSpPr/>
          <p:nvPr/>
        </p:nvSpPr>
        <p:spPr>
          <a:xfrm>
            <a:off x="6629400" y="2011680"/>
            <a:ext cx="868680" cy="274320"/>
          </a:xfrm>
          <a:prstGeom prst="rect">
            <a:avLst/>
          </a:prstGeom>
          <a:noFill/>
          <a:ln/>
        </p:spPr>
        <p:txBody>
          <a:bodyPr wrap="square" lIns="0" tIns="0" rIns="0" bIns="0" rtlCol="0" anchor="t"/>
          <a:lstStyle/>
          <a:p>
            <a:pPr indent="0" marL="0">
              <a:buNone/>
            </a:pPr>
            <a:r>
              <a:rPr lang="en-US" sz="1150" b="1" dirty="0">
                <a:solidFill>
                  <a:srgbClr val="990011"/>
                </a:solidFill>
                <a:latin typeface="맑은 고딕" pitchFamily="34" charset="0"/>
                <a:ea typeface="맑은 고딕" pitchFamily="34" charset="-122"/>
                <a:cs typeface="맑은 고딕" pitchFamily="34" charset="-120"/>
              </a:rPr>
              <a:t>1~2행</a:t>
            </a:r>
            <a:endParaRPr lang="en-US" sz="1150" dirty="0"/>
          </a:p>
        </p:txBody>
      </p:sp>
      <p:sp>
        <p:nvSpPr>
          <p:cNvPr id="14" name="Text 12"/>
          <p:cNvSpPr/>
          <p:nvPr/>
        </p:nvSpPr>
        <p:spPr>
          <a:xfrm>
            <a:off x="7543800" y="2011680"/>
            <a:ext cx="3931920" cy="274320"/>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필요한 기능 불러오기</a:t>
            </a:r>
            <a:endParaRPr lang="en-US" sz="1300" dirty="0"/>
          </a:p>
        </p:txBody>
      </p:sp>
      <p:sp>
        <p:nvSpPr>
          <p:cNvPr id="15" name="Text 13"/>
          <p:cNvSpPr/>
          <p:nvPr/>
        </p:nvSpPr>
        <p:spPr>
          <a:xfrm>
            <a:off x="7543800" y="2286000"/>
            <a:ext cx="3977640" cy="292608"/>
          </a:xfrm>
          <a:prstGeom prst="rect">
            <a:avLst/>
          </a:prstGeom>
          <a:noFill/>
          <a:ln/>
        </p:spPr>
        <p:txBody>
          <a:bodyPr wrap="square" lIns="0" tIns="0" rIns="0" bIns="0" rtlCol="0" anchor="t"/>
          <a:lstStyle/>
          <a:p>
            <a:pPr indent="0" marL="0">
              <a:buNone/>
            </a:pPr>
            <a:r>
              <a:rPr lang="en-US" sz="1100" dirty="0">
                <a:solidFill>
                  <a:srgbClr val="6B7280"/>
                </a:solidFill>
                <a:latin typeface="맑은 고딕" pitchFamily="34" charset="0"/>
                <a:ea typeface="맑은 고딕" pitchFamily="34" charset="-122"/>
                <a:cs typeface="맑은 고딕" pitchFamily="34" charset="-120"/>
              </a:rPr>
              <a:t>핀을 다루는 Pin과 시간을 다루는 sleep을 가져옵니다.</a:t>
            </a:r>
            <a:endParaRPr lang="en-US" sz="1100" dirty="0"/>
          </a:p>
        </p:txBody>
      </p:sp>
      <p:sp>
        <p:nvSpPr>
          <p:cNvPr id="16" name="Text 14"/>
          <p:cNvSpPr/>
          <p:nvPr/>
        </p:nvSpPr>
        <p:spPr>
          <a:xfrm>
            <a:off x="6629400" y="2670048"/>
            <a:ext cx="868680" cy="274320"/>
          </a:xfrm>
          <a:prstGeom prst="rect">
            <a:avLst/>
          </a:prstGeom>
          <a:noFill/>
          <a:ln/>
        </p:spPr>
        <p:txBody>
          <a:bodyPr wrap="square" lIns="0" tIns="0" rIns="0" bIns="0" rtlCol="0" anchor="t"/>
          <a:lstStyle/>
          <a:p>
            <a:pPr indent="0" marL="0">
              <a:buNone/>
            </a:pPr>
            <a:r>
              <a:rPr lang="en-US" sz="1150" b="1" dirty="0">
                <a:solidFill>
                  <a:srgbClr val="990011"/>
                </a:solidFill>
                <a:latin typeface="맑은 고딕" pitchFamily="34" charset="0"/>
                <a:ea typeface="맑은 고딕" pitchFamily="34" charset="-122"/>
                <a:cs typeface="맑은 고딕" pitchFamily="34" charset="-120"/>
              </a:rPr>
              <a:t>4행</a:t>
            </a:r>
            <a:endParaRPr lang="en-US" sz="1150" dirty="0"/>
          </a:p>
        </p:txBody>
      </p:sp>
      <p:sp>
        <p:nvSpPr>
          <p:cNvPr id="17" name="Text 15"/>
          <p:cNvSpPr/>
          <p:nvPr/>
        </p:nvSpPr>
        <p:spPr>
          <a:xfrm>
            <a:off x="7543800" y="2670048"/>
            <a:ext cx="3931920" cy="274320"/>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LED 핀을 출력으로 설정</a:t>
            </a:r>
            <a:endParaRPr lang="en-US" sz="1300" dirty="0"/>
          </a:p>
        </p:txBody>
      </p:sp>
      <p:sp>
        <p:nvSpPr>
          <p:cNvPr id="18" name="Text 16"/>
          <p:cNvSpPr/>
          <p:nvPr/>
        </p:nvSpPr>
        <p:spPr>
          <a:xfrm>
            <a:off x="7543800" y="2944368"/>
            <a:ext cx="3977640" cy="292608"/>
          </a:xfrm>
          <a:prstGeom prst="rect">
            <a:avLst/>
          </a:prstGeom>
          <a:noFill/>
          <a:ln/>
        </p:spPr>
        <p:txBody>
          <a:bodyPr wrap="square" lIns="0" tIns="0" rIns="0" bIns="0" rtlCol="0" anchor="t"/>
          <a:lstStyle/>
          <a:p>
            <a:pPr indent="0" marL="0">
              <a:buNone/>
            </a:pPr>
            <a:r>
              <a:rPr lang="en-US" sz="1100" dirty="0">
                <a:solidFill>
                  <a:srgbClr val="6B7280"/>
                </a:solidFill>
                <a:latin typeface="맑은 고딕" pitchFamily="34" charset="0"/>
                <a:ea typeface="맑은 고딕" pitchFamily="34" charset="-122"/>
                <a:cs typeface="맑은 고딕" pitchFamily="34" charset="-120"/>
              </a:rPr>
              <a:t>내장 LED를 출력(OUT) 역할로 설정합니다.</a:t>
            </a:r>
            <a:endParaRPr lang="en-US" sz="1100" dirty="0"/>
          </a:p>
        </p:txBody>
      </p:sp>
      <p:sp>
        <p:nvSpPr>
          <p:cNvPr id="19" name="Text 17"/>
          <p:cNvSpPr/>
          <p:nvPr/>
        </p:nvSpPr>
        <p:spPr>
          <a:xfrm>
            <a:off x="6629400" y="3328416"/>
            <a:ext cx="868680" cy="274320"/>
          </a:xfrm>
          <a:prstGeom prst="rect">
            <a:avLst/>
          </a:prstGeom>
          <a:noFill/>
          <a:ln/>
        </p:spPr>
        <p:txBody>
          <a:bodyPr wrap="square" lIns="0" tIns="0" rIns="0" bIns="0" rtlCol="0" anchor="t"/>
          <a:lstStyle/>
          <a:p>
            <a:pPr indent="0" marL="0">
              <a:buNone/>
            </a:pPr>
            <a:r>
              <a:rPr lang="en-US" sz="1150" b="1" dirty="0">
                <a:solidFill>
                  <a:srgbClr val="990011"/>
                </a:solidFill>
                <a:latin typeface="맑은 고딕" pitchFamily="34" charset="0"/>
                <a:ea typeface="맑은 고딕" pitchFamily="34" charset="-122"/>
                <a:cs typeface="맑은 고딕" pitchFamily="34" charset="-120"/>
              </a:rPr>
              <a:t>6행</a:t>
            </a:r>
            <a:endParaRPr lang="en-US" sz="1150" dirty="0"/>
          </a:p>
        </p:txBody>
      </p:sp>
      <p:sp>
        <p:nvSpPr>
          <p:cNvPr id="20" name="Text 18"/>
          <p:cNvSpPr/>
          <p:nvPr/>
        </p:nvSpPr>
        <p:spPr>
          <a:xfrm>
            <a:off x="7543800" y="3328416"/>
            <a:ext cx="3931920" cy="274320"/>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무한 반복 시작</a:t>
            </a:r>
            <a:endParaRPr lang="en-US" sz="1300" dirty="0"/>
          </a:p>
        </p:txBody>
      </p:sp>
      <p:sp>
        <p:nvSpPr>
          <p:cNvPr id="21" name="Text 19"/>
          <p:cNvSpPr/>
          <p:nvPr/>
        </p:nvSpPr>
        <p:spPr>
          <a:xfrm>
            <a:off x="7543800" y="3602736"/>
            <a:ext cx="3977640" cy="292608"/>
          </a:xfrm>
          <a:prstGeom prst="rect">
            <a:avLst/>
          </a:prstGeom>
          <a:noFill/>
          <a:ln/>
        </p:spPr>
        <p:txBody>
          <a:bodyPr wrap="square" lIns="0" tIns="0" rIns="0" bIns="0" rtlCol="0" anchor="t"/>
          <a:lstStyle/>
          <a:p>
            <a:pPr indent="0" marL="0">
              <a:buNone/>
            </a:pPr>
            <a:r>
              <a:rPr lang="en-US" sz="1100" dirty="0">
                <a:solidFill>
                  <a:srgbClr val="6B7280"/>
                </a:solidFill>
                <a:latin typeface="맑은 고딕" pitchFamily="34" charset="0"/>
                <a:ea typeface="맑은 고딕" pitchFamily="34" charset="-122"/>
                <a:cs typeface="맑은 고딕" pitchFamily="34" charset="-120"/>
              </a:rPr>
              <a:t>전원이 꺼질 때까지 아래 두 줄을 계속 반복합니다.</a:t>
            </a:r>
            <a:endParaRPr lang="en-US" sz="1100" dirty="0"/>
          </a:p>
        </p:txBody>
      </p:sp>
      <p:sp>
        <p:nvSpPr>
          <p:cNvPr id="22" name="Text 20"/>
          <p:cNvSpPr/>
          <p:nvPr/>
        </p:nvSpPr>
        <p:spPr>
          <a:xfrm>
            <a:off x="6629400" y="3986784"/>
            <a:ext cx="868680" cy="274320"/>
          </a:xfrm>
          <a:prstGeom prst="rect">
            <a:avLst/>
          </a:prstGeom>
          <a:noFill/>
          <a:ln/>
        </p:spPr>
        <p:txBody>
          <a:bodyPr wrap="square" lIns="0" tIns="0" rIns="0" bIns="0" rtlCol="0" anchor="t"/>
          <a:lstStyle/>
          <a:p>
            <a:pPr indent="0" marL="0">
              <a:buNone/>
            </a:pPr>
            <a:r>
              <a:rPr lang="en-US" sz="1150" b="1" dirty="0">
                <a:solidFill>
                  <a:srgbClr val="990011"/>
                </a:solidFill>
                <a:latin typeface="맑은 고딕" pitchFamily="34" charset="0"/>
                <a:ea typeface="맑은 고딕" pitchFamily="34" charset="-122"/>
                <a:cs typeface="맑은 고딕" pitchFamily="34" charset="-120"/>
              </a:rPr>
              <a:t>7행</a:t>
            </a:r>
            <a:endParaRPr lang="en-US" sz="1150" dirty="0"/>
          </a:p>
        </p:txBody>
      </p:sp>
      <p:sp>
        <p:nvSpPr>
          <p:cNvPr id="23" name="Text 21"/>
          <p:cNvSpPr/>
          <p:nvPr/>
        </p:nvSpPr>
        <p:spPr>
          <a:xfrm>
            <a:off x="7543800" y="3986784"/>
            <a:ext cx="3931920" cy="274320"/>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LED 상태 뒤집기</a:t>
            </a:r>
            <a:endParaRPr lang="en-US" sz="1300" dirty="0"/>
          </a:p>
        </p:txBody>
      </p:sp>
      <p:sp>
        <p:nvSpPr>
          <p:cNvPr id="24" name="Text 22"/>
          <p:cNvSpPr/>
          <p:nvPr/>
        </p:nvSpPr>
        <p:spPr>
          <a:xfrm>
            <a:off x="7543800" y="4261104"/>
            <a:ext cx="3977640" cy="292608"/>
          </a:xfrm>
          <a:prstGeom prst="rect">
            <a:avLst/>
          </a:prstGeom>
          <a:noFill/>
          <a:ln/>
        </p:spPr>
        <p:txBody>
          <a:bodyPr wrap="square" lIns="0" tIns="0" rIns="0" bIns="0" rtlCol="0" anchor="t"/>
          <a:lstStyle/>
          <a:p>
            <a:pPr indent="0" marL="0">
              <a:buNone/>
            </a:pPr>
            <a:r>
              <a:rPr lang="en-US" sz="1100" dirty="0">
                <a:solidFill>
                  <a:srgbClr val="6B7280"/>
                </a:solidFill>
                <a:latin typeface="맑은 고딕" pitchFamily="34" charset="0"/>
                <a:ea typeface="맑은 고딕" pitchFamily="34" charset="-122"/>
                <a:cs typeface="맑은 고딕" pitchFamily="34" charset="-120"/>
              </a:rPr>
              <a:t>켜져 있으면 끄고, 꺼져 있으면 켭니다.</a:t>
            </a:r>
            <a:endParaRPr lang="en-US" sz="1100" dirty="0"/>
          </a:p>
        </p:txBody>
      </p:sp>
      <p:sp>
        <p:nvSpPr>
          <p:cNvPr id="25" name="Text 23"/>
          <p:cNvSpPr/>
          <p:nvPr/>
        </p:nvSpPr>
        <p:spPr>
          <a:xfrm>
            <a:off x="6629400" y="4645152"/>
            <a:ext cx="868680" cy="274320"/>
          </a:xfrm>
          <a:prstGeom prst="rect">
            <a:avLst/>
          </a:prstGeom>
          <a:noFill/>
          <a:ln/>
        </p:spPr>
        <p:txBody>
          <a:bodyPr wrap="square" lIns="0" tIns="0" rIns="0" bIns="0" rtlCol="0" anchor="t"/>
          <a:lstStyle/>
          <a:p>
            <a:pPr indent="0" marL="0">
              <a:buNone/>
            </a:pPr>
            <a:r>
              <a:rPr lang="en-US" sz="1150" b="1" dirty="0">
                <a:solidFill>
                  <a:srgbClr val="990011"/>
                </a:solidFill>
                <a:latin typeface="맑은 고딕" pitchFamily="34" charset="0"/>
                <a:ea typeface="맑은 고딕" pitchFamily="34" charset="-122"/>
                <a:cs typeface="맑은 고딕" pitchFamily="34" charset="-120"/>
              </a:rPr>
              <a:t>8행</a:t>
            </a:r>
            <a:endParaRPr lang="en-US" sz="1150" dirty="0"/>
          </a:p>
        </p:txBody>
      </p:sp>
      <p:sp>
        <p:nvSpPr>
          <p:cNvPr id="26" name="Text 24"/>
          <p:cNvSpPr/>
          <p:nvPr/>
        </p:nvSpPr>
        <p:spPr>
          <a:xfrm>
            <a:off x="7543800" y="4645152"/>
            <a:ext cx="3931920" cy="274320"/>
          </a:xfrm>
          <a:prstGeom prst="rect">
            <a:avLst/>
          </a:prstGeom>
          <a:noFill/>
          <a:ln/>
        </p:spPr>
        <p:txBody>
          <a:bodyPr wrap="square" lIns="0" tIns="0" rIns="0" bIns="0" rtlCol="0" anchor="t"/>
          <a:lstStyle/>
          <a:p>
            <a:pPr indent="0" marL="0">
              <a:buNone/>
            </a:pPr>
            <a:r>
              <a:rPr lang="en-US" sz="1300" b="1" dirty="0">
                <a:solidFill>
                  <a:srgbClr val="1F2328"/>
                </a:solidFill>
                <a:latin typeface="맑은 고딕" pitchFamily="34" charset="0"/>
                <a:ea typeface="맑은 고딕" pitchFamily="34" charset="-122"/>
                <a:cs typeface="맑은 고딕" pitchFamily="34" charset="-120"/>
              </a:rPr>
              <a:t>1초 기다리기</a:t>
            </a:r>
            <a:endParaRPr lang="en-US" sz="1300" dirty="0"/>
          </a:p>
        </p:txBody>
      </p:sp>
      <p:sp>
        <p:nvSpPr>
          <p:cNvPr id="27" name="Text 25"/>
          <p:cNvSpPr/>
          <p:nvPr/>
        </p:nvSpPr>
        <p:spPr>
          <a:xfrm>
            <a:off x="7543800" y="4919472"/>
            <a:ext cx="3977640" cy="292608"/>
          </a:xfrm>
          <a:prstGeom prst="rect">
            <a:avLst/>
          </a:prstGeom>
          <a:noFill/>
          <a:ln/>
        </p:spPr>
        <p:txBody>
          <a:bodyPr wrap="square" lIns="0" tIns="0" rIns="0" bIns="0" rtlCol="0" anchor="t"/>
          <a:lstStyle/>
          <a:p>
            <a:pPr indent="0" marL="0">
              <a:buNone/>
            </a:pPr>
            <a:r>
              <a:rPr lang="en-US" sz="1100" dirty="0">
                <a:solidFill>
                  <a:srgbClr val="6B7280"/>
                </a:solidFill>
                <a:latin typeface="맑은 고딕" pitchFamily="34" charset="0"/>
                <a:ea typeface="맑은 고딕" pitchFamily="34" charset="-122"/>
                <a:cs typeface="맑은 고딕" pitchFamily="34" charset="-120"/>
              </a:rPr>
              <a:t>이 줄이 없으면 너무 빨라서 깜빡임이 보이지 않습니다.</a:t>
            </a:r>
            <a:endParaRPr lang="en-US" sz="1100" dirty="0"/>
          </a:p>
        </p:txBody>
      </p:sp>
      <p:sp>
        <p:nvSpPr>
          <p:cNvPr id="28" name="Text 26"/>
          <p:cNvSpPr/>
          <p:nvPr/>
        </p:nvSpPr>
        <p:spPr>
          <a:xfrm>
            <a:off x="685800" y="5257800"/>
            <a:ext cx="10789920" cy="365760"/>
          </a:xfrm>
          <a:prstGeom prst="rect">
            <a:avLst/>
          </a:prstGeom>
          <a:noFill/>
          <a:ln/>
        </p:spPr>
        <p:txBody>
          <a:bodyPr wrap="square" lIns="0" tIns="0" rIns="0" bIns="0" rtlCol="0" anchor="t"/>
          <a:lstStyle/>
          <a:p>
            <a:pPr indent="0" marL="0">
              <a:buNone/>
            </a:pPr>
            <a:r>
              <a:rPr lang="en-US" sz="1300" i="1" dirty="0">
                <a:solidFill>
                  <a:srgbClr val="6B7280"/>
                </a:solidFill>
                <a:latin typeface="맑은 고딕" pitchFamily="34" charset="0"/>
                <a:ea typeface="맑은 고딕" pitchFamily="34" charset="-122"/>
                <a:cs typeface="맑은 고딕" pitchFamily="34" charset="-120"/>
              </a:rPr>
              <a:t>코드가 지금 이해되지 않아도 괜찮습니다. 이런 모습이라는 것만 기억하면 됩니다.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1차시 - Raspberry Pi Pico 2 W 입문</dc:title>
  <dc:subject>PptxGenJS Presentation</dc:subject>
  <dc:creator>임베디드 랩</dc:creator>
  <cp:lastModifiedBy>임베디드 랩</cp:lastModifiedBy>
  <cp:revision>1</cp:revision>
  <dcterms:created xsi:type="dcterms:W3CDTF">2026-08-17T13:54:55Z</dcterms:created>
  <dcterms:modified xsi:type="dcterms:W3CDTF">2026-08-17T13:54:55Z</dcterms:modified>
</cp:coreProperties>
</file>