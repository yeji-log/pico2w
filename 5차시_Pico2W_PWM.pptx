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LED 밝기 조절 (PWM)</a:t>
            </a:r>
          </a:p>
          <a:p/>
          <a:p>
            <a:r>
              <a:t>[지시] 지난 시간에 만든 LED 회로와 버튼 회로를 그대로 꺼내게 한다. 새 부품은 없다.</a:t>
            </a:r>
          </a:p>
          <a:p/>
          <a:p>
            <a:r>
              <a:t>1차시 열두 번째 장에서 제가 한 약속이 있습니다. 기억하시는 분?</a:t>
            </a:r>
          </a:p>
          <a:p/>
          <a:p>
            <a:r>
              <a:t>디지털 신호는 HIGH 아니면 LOW, 켜짐 아니면 꺼짐 둘뿐이라고 했죠. 그때 제가 물었습니다. 그럼 LED를 반쯤만 밝게 하려면 어떻게 하냐고요. 방법이 있는데 5차시에 배운다고 했습니다.</a:t>
            </a:r>
          </a:p>
          <a:p/>
          <a:p>
            <a:r>
              <a:t>오늘이 그날입니다.</a:t>
            </a:r>
          </a:p>
          <a:p/>
          <a:p>
            <a:r>
              <a:t>화면 오른쪽 그림이 오늘 배울 것의 전부입니다. 파형이 세 개 있죠. 켜진 시간이 점점 길어지고, 그 아래 LED가 점점 밝아집니다. 이게 PWM입니다.</a:t>
            </a:r>
          </a:p>
          <a:p/>
          <a:p>
            <a:r>
              <a:t>오늘은 배선이 없습니다. 지난 시간 회로 그대로 쓰고 코드만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첫째가 원리입니다. 0과 1밖에 없는데 어떻게 중간이 나오는지. 여기만 이해하면 나머지는 쉽습니다.</a:t>
            </a:r>
          </a:p>
          <a:p/>
          <a:p>
            <a:r>
              <a:t>둘째, 듀티 사이클. 오늘의 핵심 단어예요.</a:t>
            </a:r>
          </a:p>
          <a:p/>
          <a:p>
            <a:r>
              <a:t>셋째, 주파수. 넷째, 밝기를 지정하는 숫자 범위. 다섯째, 숨쉬는 LED를 만듭니다.</a:t>
            </a:r>
          </a:p>
          <a:p/>
          <a:p>
            <a:r>
              <a:t>오늘은 회로를 안 만듭니다. 지난 시간 것 그대로 쓰고 코드만 바꿔요. 대신 개념이 조금 있습니다. 천천히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 네 가지만 짚습니다.</a:t>
            </a:r>
          </a:p>
          <a:p/>
          <a:p>
            <a:r>
              <a:t>Pin.IN으로 입력 설정하고 value()로 읽었죠. 플로팅이라는 문제를 만났고, 풀다운으로 해결했습니다. 그리고 입력과 출력을 한 프로그램에 담았습니다.</a:t>
            </a:r>
          </a:p>
          <a:p/>
          <a:p>
            <a:r>
              <a:t>[지시] 회로 확인 시간을 3분 준다. GP15 LED 회로가 살아 있는지 blink 코드로 먼저 확인시키는 것이 좋다.</a:t>
            </a:r>
          </a:p>
          <a:p/>
          <a:p>
            <a:r>
              <a:t>오늘은 다시 출력 얘기입니다. 다만 훨씬 섬세해져요. 지금까지는 켜거나 끄거나였는데, 오늘은 얼마나 밝게 켤지를 정합니다.</a:t>
            </a:r>
          </a:p>
          <a:p/>
          <a:p>
            <a:r>
              <a:t>회로는 3차시 것 그대로입니다. GP15에 저항 거쳐 LED. 버튼 회로도 그대로 두세요. 실습에서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0과 1뿐인데 어떻게 중간을 만들까</a:t>
            </a:r>
          </a:p>
          <a:p/>
          <a:p>
            <a:r>
              <a:t>먼저 문제를 분명히 해 둡시다.</a:t>
            </a:r>
          </a:p>
          <a:p/>
          <a:p>
            <a:r>
              <a:t>왼쪽이 지금까지 우리가 할 수 있던 전부입니다. HIGH면 3.3볼트가 쭉 나오고, LOW면 0볼트가 쭉 나옵니다. 그 사이는 없어요. GPIO는 1.65볼트 같은 걸 만들지 못합니다.</a:t>
            </a:r>
          </a:p>
          <a:p/>
          <a:p>
            <a:r>
              <a:t>오른쪽이 오늘 하고 싶은 겁니다. LED가 단계별로 밝아지는 거죠.</a:t>
            </a:r>
          </a:p>
          <a:p/>
          <a:p>
            <a:r>
              <a:t>[발문] GPIO가 중간 전압을 못 만드는데, 어떻게 중간 밝기를 만들 수 있을까요? 잠깐 생각해 보세요.</a:t>
            </a:r>
          </a:p>
          <a:p/>
          <a:p>
            <a:r>
              <a:t>힌트를 하나 드릴게요. 전압을 낮추는 게 아니라, 시간을 나누는 겁니다.</a:t>
            </a:r>
          </a:p>
          <a:p/>
          <a:p>
            <a:r>
              <a:t>[지시] 아래 인용 박스를 짚는다.</a:t>
            </a:r>
          </a:p>
          <a:p/>
          <a:p>
            <a:r>
              <a:t>1차시에 제가 이렇게 말했습니다. 중간을 표현하려면 PWM이 필요하고 5차시에 배운다고요. 오늘입니다. 다음 장이 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아주 빠르게 껐다 켰다 반복한다</a:t>
            </a:r>
          </a:p>
          <a:p/>
          <a:p>
            <a:r>
              <a:t>답은 이겁니다. 전압을 낮추는 게 아니라, 켜져 있는 시간을 줄이는 겁니다.</a:t>
            </a:r>
          </a:p>
          <a:p/>
          <a:p>
            <a:r>
              <a:t>화면 왼쪽 파형을 보세요. 3.3볼트로 올라갔다가 0볼트로 내려가는 게 반복되죠. 지금은 켜진 시간과 꺼진 시간이 반반입니다.</a:t>
            </a:r>
          </a:p>
          <a:p/>
          <a:p>
            <a:r>
              <a:t>이걸 1초에 1000번 반복합니다. 한 번이 0.001초예요.</a:t>
            </a:r>
          </a:p>
          <a:p/>
          <a:p>
            <a:r>
              <a:t>[발문] 1초에 1000번 깜빡이면 사람 눈에 어떻게 보일까요?</a:t>
            </a:r>
          </a:p>
          <a:p/>
          <a:p>
            <a:r>
              <a:t>깜빡이는 게 안 보입니다. 너무 빨라서요. 대신 눈이 평균을 봅니다. 절반만 켜져 있었으니까 절반 밝기로 보이는 거죠. 이게 잔상 효과입니다. 영화가 정지 사진 여러 장인데 움직이는 것처럼 보이는 것과 같은 원리예요.</a:t>
            </a:r>
          </a:p>
          <a:p/>
          <a:p>
            <a:r>
              <a:t>여기서 중요한 걸 하나 짚고 갑니다. 세 번째 항목이요.</a:t>
            </a:r>
          </a:p>
          <a:p/>
          <a:p>
            <a:r>
              <a:t>LED는 여전히 0과 1만 합니다. 매번 완전히 켜지고 완전히 꺼져요. 중간 전압 같은 건 없습니다. 우리 눈이 속는 것뿐입니다.</a:t>
            </a:r>
          </a:p>
          <a:p/>
          <a:p>
            <a:r>
              <a:t>PWM은 Pulse Width Modulation의 줄임말입니다. 펄스 폭 변조. 켜져 있는 펄스의 폭을 바꾼다는 뜻이에요. 이름이 정확히 그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듀티 사이클 — 켜져 있는 시간의 비율</a:t>
            </a:r>
          </a:p>
          <a:p/>
          <a:p>
            <a:r>
              <a:t>오늘의 핵심 단어입니다. 듀티 사이클.</a:t>
            </a:r>
          </a:p>
          <a:p/>
          <a:p>
            <a:r>
              <a:t>한 주기 중에서 켜져 있는 시간이 몇 퍼센트냐, 이게 듀티 사이클입니다.</a:t>
            </a:r>
          </a:p>
          <a:p/>
          <a:p>
            <a:r>
              <a:t>[지시] 표를 위에서부터 한 줄씩 짚는다.</a:t>
            </a:r>
          </a:p>
          <a:p/>
          <a:p>
            <a:r>
              <a:t>맨 위. 듀티 0퍼센트. 파형이 계속 아래에 붙어 있죠. 한 번도 안 켜집니다. LED는 꺼져 있어요.</a:t>
            </a:r>
          </a:p>
          <a:p/>
          <a:p>
            <a:r>
              <a:t>두 번째. 25퍼센트. 네 칸 중에 한 칸만 위로 올라가 있습니다. 짧게 켜지고 길게 꺼져요. 어둡게 보입니다.</a:t>
            </a:r>
          </a:p>
          <a:p/>
          <a:p>
            <a:r>
              <a:t>세 번째. 50퍼센트. 반반이죠. 중간 밝기입니다.</a:t>
            </a:r>
          </a:p>
          <a:p/>
          <a:p>
            <a:r>
              <a:t>맨 아래. 100퍼센트. 계속 위에 붙어 있습니다. 이건 그냥 켜 놓은 거예요. 3차시에 led.on() 한 것과 똑같습니다.</a:t>
            </a:r>
          </a:p>
          <a:p/>
          <a:p>
            <a:r>
              <a:t>[발문] 그럼 duty를 100퍼센트로 두면 3차시 코드랑 뭐가 다를까요? (답: 다르지 않다. 결과가 같다)</a:t>
            </a:r>
          </a:p>
          <a:p/>
          <a:p>
            <a:r>
              <a:t>정확합니다. 그래서 PWM은 새로운 게 아니라 기존의 켜기·끄기를 더 잘게 나눈 것뿐입니다.</a:t>
            </a:r>
          </a:p>
          <a:p/>
          <a:p>
            <a:r>
              <a:t>가운데 코드 열을 보세요. 숫자가 0, 16384, 32768, 65535인데 이 숫자의 의미는 조금 뒤에 설명하겠습니다. 지금은 클수록 밝다는 것만 아시면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주파수 — 1초에 몇 번 반복할까</a:t>
            </a:r>
          </a:p>
          <a:p/>
          <a:p>
            <a:r>
              <a:t>PWM에는 조절할 게 두 개 있습니다. 하나는 방금 배운 듀티, 다른 하나가 주파수입니다.</a:t>
            </a:r>
          </a:p>
          <a:p/>
          <a:p>
            <a:r>
              <a:t>주파수는 1초에 몇 번 반복하느냐입니다. 단위는 헤르츠예요.</a:t>
            </a:r>
          </a:p>
          <a:p/>
          <a:p>
            <a:r>
              <a:t>왼쪽은 1초에 2번인 경우입니다. 이러면 어떻게 될까요? 그냥 깜빡이는 게 보입니다. 밝기 조절이 아니라 점멸이에요. 2차시에 만든 blink랑 다를 게 없습니다.</a:t>
            </a:r>
          </a:p>
          <a:p/>
          <a:p>
            <a:r>
              <a:t>오른쪽은 1초에 1000번입니다. 너무 빨라서 깜빡임이 안 보이고, 고르게 켜진 것처럼 보입니다. 이게 우리가 원하는 겁니다.</a:t>
            </a:r>
          </a:p>
          <a:p/>
          <a:p>
            <a:r>
              <a:t>[발문] 그럼 경계가 어디쯤일까요? 몇 번부터 안 보일까요?</a:t>
            </a:r>
          </a:p>
          <a:p/>
          <a:p>
            <a:r>
              <a:t>대략 100번 정도부터입니다. 사람마다 조금 다르고, 곁눈질로 보면 더 잘 보입니다. 형광등이나 오래된 모니터에서 깜빡임을 느낀 적 있다면 그게 이 이야기예요.</a:t>
            </a:r>
          </a:p>
          <a:p/>
          <a:p>
            <a:r>
              <a:t>우리는 1000을 씁니다. 여유 있게 잡은 값입니다.</a:t>
            </a:r>
          </a:p>
          <a:p/>
          <a:p>
            <a:r>
              <a:t>마지막 카드가 중요합니다. 주파수를 바꿔도 밝기는 안 변합니다. 밝기는 듀티가 정해요. 이 둘을 헷갈리지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PWM 코드는 세 줄이면 준비 끝</a:t>
            </a:r>
          </a:p>
          <a:p/>
          <a:p>
            <a:r>
              <a:t>코드는 놀랄 만큼 간단합니다.</a:t>
            </a:r>
          </a:p>
          <a:p/>
          <a:p>
            <a:r>
              <a:t>1행. import 줄에 PWM을 하나 더 적습니다. Pin 콤마 PWM.</a:t>
            </a:r>
          </a:p>
          <a:p/>
          <a:p>
            <a:r>
              <a:t>3행이 핵심이에요. 3차시에는 Pin(15, Pin.OUT)이라고 썼죠. 오늘은 PWM(Pin(15))입니다. Pin을 PWM으로 한 번 감싸는 겁니다. 괄호가 두 겹이니 조심하세요.</a:t>
            </a:r>
          </a:p>
          <a:p/>
          <a:p>
            <a:r>
              <a:t>4행. 주파수를 1000으로 정합니다. 한 번만 정하면 계속 유지됩니다.</a:t>
            </a:r>
          </a:p>
          <a:p/>
          <a:p>
            <a:r>
              <a:t>5행. 밝기입니다. 앞으로 이 줄만 바꾸면 밝기가 바뀝니다.</a:t>
            </a:r>
          </a:p>
          <a:p/>
          <a:p>
            <a:r>
              <a:t>[지시] 하단 비교 박스를 짚는다.</a:t>
            </a:r>
          </a:p>
          <a:p/>
          <a:p>
            <a:r>
              <a:t>아래 비교를 보세요. 회로는 그대로고 핀도 그대로입니다. 다루는 방식만 바뀌는 거예요. 3차시에 Pin으로 다뤘던 걸 오늘은 PWM으로 다룹니다.</a:t>
            </a:r>
          </a:p>
          <a:p/>
          <a:p>
            <a:r>
              <a:t>[지시] 여기서 실제로 쳐 보게 한다. duty 값을 32768로 두면 중간 밝기로 켜진다. 3차시 blink와 밝기를 비교시키면 효과가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밝기 값은 0부터 65535까지</a:t>
            </a:r>
          </a:p>
          <a:p/>
          <a:p>
            <a:r>
              <a:t>아까 미뤄 둔 숫자 이야기입니다.</a:t>
            </a:r>
          </a:p>
          <a:p/>
          <a:p>
            <a:r>
              <a:t>duty_u16이라는 이름을 잘 보세요. u16이 붙어 있죠. unsigned 16bit, 부호 없는 16비트라는 뜻입니다.</a:t>
            </a:r>
          </a:p>
          <a:p/>
          <a:p>
            <a:r>
              <a:t>[발문] 정보 시간에 배웠을 텐데, 16비트로 표현할 수 있는 값이 몇 가지죠?</a:t>
            </a:r>
          </a:p>
          <a:p/>
          <a:p>
            <a:r>
              <a:t>2의 16제곱, 65536가지입니다. 그런데 0부터 세니까 마지막 숫자는 65535가 되는 거예요. 그래서 이 어정쩡해 보이는 숫자가 나온 겁니다.</a:t>
            </a:r>
          </a:p>
          <a:p/>
          <a:p>
            <a:r>
              <a:t>이게 흔한 패턴이에요. 8비트면 0에서 255, 16비트면 0에서 65535. 이런 숫자를 보면 몇 비트인지 짐작할 수 있습니다.</a:t>
            </a:r>
          </a:p>
          <a:p/>
          <a:p>
            <a:r>
              <a:t>색깔 막대를 보세요. 왼쪽 0이 꺼짐, 오른쪽 65535가 최대입니다. 가운데 32768이 절반이고요.</a:t>
            </a:r>
          </a:p>
          <a:p/>
          <a:p>
            <a:r>
              <a:t>[지시] 여기서 한 가지 미리 알려 두면 실습에서 혼란이 줄어든다.</a:t>
            </a:r>
          </a:p>
          <a:p/>
          <a:p>
            <a:r>
              <a:t>한 가지 미리 말해 둘게요. 숫자를 절반으로 줄여도 밝기가 절반으로 보이지는 않습니다. 사람 눈은 어두운 쪽 변화에 훨씬 민감하거든요. 그래서 32768이 절반 밝기처럼 안 느껴질 수 있어요. 정상입니다.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밝기 세 단계로 바꿔 보기</a:t>
            </a:r>
          </a:p>
          <a:p/>
          <a:p>
            <a:r>
              <a:t>이제 직접 확인해 봅시다. 코드는 지금까지 배운 것의 조합입니다.</a:t>
            </a:r>
          </a:p>
          <a:p/>
          <a:p>
            <a:r>
              <a:t>앞부분 다섯 줄은 준비고, while 안에서 duty 값을 세 번 바꿉니다. 3000, 20000, 65535. 1초씩 유지하고요.</a:t>
            </a:r>
          </a:p>
          <a:p/>
          <a:p>
            <a:r>
              <a:t>[지시] 다 같이 치고 실행시킨다. 저장 위치는 Raspberry Pi Pico임을 상기시킨다.</a:t>
            </a:r>
          </a:p>
          <a:p/>
          <a:p>
            <a:r>
              <a:t>실행하면 LED가 1초마다 어두웠다가 중간이었다가 밝아집니다.</a:t>
            </a:r>
          </a:p>
          <a:p/>
          <a:p>
            <a:r>
              <a:t>[발문] 세 단계 차이가 고르게 느껴지나요?</a:t>
            </a:r>
          </a:p>
          <a:p/>
          <a:p>
            <a:r>
              <a:t>아마 아닐 겁니다. 3000에서 20000으로 갈 때는 확 밝아지는데, 20000에서 65535로 갈 때는 그만큼 차이가 안 느껴져요. 숫자는 3배 넘게 늘었는데도요.</a:t>
            </a:r>
          </a:p>
          <a:p/>
          <a:p>
            <a:r>
              <a:t>이유는 아까 말한 그겁니다. 사람 눈이 어두운 쪽 변화에 훨씬 민감해서요. 어두울 때 조금만 밝아져도 크게 느끼고, 이미 밝을 때는 많이 밝아져도 잘 못 느낍니다.</a:t>
            </a:r>
          </a:p>
          <a:p/>
          <a:p>
            <a:r>
              <a:t>그래서 밝기를 고르게 보이게 하려면 숫자를 고르게 올리면 안 되고 곱해 가면서 올려야 하는데, 그건 오늘 범위를 넘습니다. 지금은 '숫자와 느낌은 비례하지 않는다' 정도만 알아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for 반복으로 서서히 밝아지게</a:t>
            </a:r>
          </a:p>
          <a:p/>
          <a:p>
            <a:r>
              <a:t>한 단계 더 갑니다. 값을 세 개만 정하는 게 아니라 아주 촘촘하게 바꾸면 어떻게 될까요?</a:t>
            </a:r>
          </a:p>
          <a:p/>
          <a:p>
            <a:r>
              <a:t>for 문을 씁니다. range(0, 65536, 500). 0부터 시작해서 500씩 늘려 가라는 뜻이에요. 65536은 안 포함되니까 마지막 값은 65000입니다. 총 131번 돕니다.</a:t>
            </a:r>
          </a:p>
          <a:p/>
          <a:p>
            <a:r>
              <a:t>그 안에서 v를 그대로 duty로 넣습니다. 반복할 때마다 v가 커지니까 LED가 점점 밝아지죠.</a:t>
            </a:r>
          </a:p>
          <a:p/>
          <a:p>
            <a:r>
              <a:t>sleep(0.01)은 한 단계마다 0.01초 쉬라는 겁니다. 131번이니까 전체는 약 1.3초 걸립니다.</a:t>
            </a:r>
          </a:p>
          <a:p/>
          <a:p>
            <a:r>
              <a:t>[지시] 실행시킨다. 한 번만 밝아지고 끝나므로, 다시 보려면 재실행해야 한다고 알려 준다.</a:t>
            </a:r>
          </a:p>
          <a:p/>
          <a:p>
            <a:r>
              <a:t>실행해 보면 부드럽게 밝아졌다가 그 상태로 끝납니다. while이 아니라 for니까 한 번만 하고 끝나요.</a:t>
            </a:r>
          </a:p>
          <a:p/>
          <a:p>
            <a:r>
              <a:t>[활동] 500을 5000으로 바꿔 보게 한다. 단계가 뚝뚝 끊기는 게 보인다. sleep을 0.05로 바꾸면 느리게 밝아진다. 2분 정도 자유롭게.</a:t>
            </a:r>
          </a:p>
          <a:p/>
          <a:p>
            <a:r>
              <a:t>[발문] 그럼 어두워지게 하려면 어떻게 해야 할까요? (답: 반대로 세면 된다. 다음 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숨쉬는 LED 만들기</a:t>
            </a:r>
          </a:p>
          <a:p/>
          <a:p>
            <a:r>
              <a:t>이제 오늘의 완성작입니다.</a:t>
            </a:r>
          </a:p>
          <a:p/>
          <a:p>
            <a:r>
              <a:t>앞 장의 for 문 뒤에 반대로 세는 for 문을 하나 더 붙입니다. 그리고 그 둘을 while True로 감쌉니다.</a:t>
            </a:r>
          </a:p>
          <a:p/>
          <a:p>
            <a:r>
              <a:t>두 번째 for를 보세요. range(65535, -1, -1000)입니다. 세 번째 숫자가 마이너스 1000이죠. 이러면 거꾸로 셉니다. 65535, 64535, 63535 이렇게요. 가운데 -1은 0까지 포함시키려고 쓴 겁니다.</a:t>
            </a:r>
          </a:p>
          <a:p/>
          <a:p>
            <a:r>
              <a:t>[지시] 들여쓰기를 확인시킨다. for 두 개가 while 안에 있고, 그 안의 두 줄은 다시 한 단계 더 들어간다.</a:t>
            </a:r>
          </a:p>
          <a:p/>
          <a:p>
            <a:r>
              <a:t>들여쓰기가 세 단계입니다. while 안에 for가 있고, for 안에 두 줄이 있어요. 이거 틀리면 에러가 납니다.</a:t>
            </a:r>
          </a:p>
          <a:p/>
          <a:p>
            <a:r>
              <a:t>[지시] 실행. 교실 조명을 잠깐 낮추면 효과가 훨씬 좋다.</a:t>
            </a:r>
          </a:p>
          <a:p/>
          <a:p>
            <a:r>
              <a:t>실행해 보세요. LED가 숨 쉬는 것처럼 부드럽게 밝아졌다 어두워집니다. 노트북 전원 표시등이 이렇게 되어 있는 거 본 적 있죠? 그거랑 같은 원리입니다.</a:t>
            </a:r>
          </a:p>
          <a:p/>
          <a:p>
            <a:r>
              <a:t>[발문] 밝아질 때와 어두워질 때, 속도가 같게 느껴지나요?</a:t>
            </a:r>
          </a:p>
          <a:p/>
          <a:p>
            <a:r>
              <a:t>숫자로는 똑같이 1000씩인데 다르게 느껴질 겁니다. 어두워질 때가 더 빠르게 끝나는 것 같죠. 아까 말한 눈의 특성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PWM에서 오해하기 쉬운 것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 반드시 짚고 넘어가야 할 게 있습니다.</a:t>
            </a:r>
          </a:p>
          <a:p/>
          <a:p>
            <a:r>
              <a:t>[발문] 밝기를 아주 낮게 쓰면 저항을 빼도 될까요?</a:t>
            </a:r>
          </a:p>
          <a:p/>
          <a:p>
            <a:r>
              <a:t>절대 안 됩니다. 이게 오늘 가장 위험한 오해예요.</a:t>
            </a:r>
          </a:p>
          <a:p/>
          <a:p>
            <a:r>
              <a:t>이유는 이렇습니다. PWM은 전압을 낮추는 게 아니라고 했죠. 켜져 있는 그 순간에는 여전히 3.3볼트가 그대로 나옵니다. 다만 짧게 나올 뿐이에요. 그러니까 저항이 없으면 그 짧은 순간에 과전류가 흐릅니다. 결국 LED도 핀도 상합니다.</a:t>
            </a:r>
          </a:p>
          <a:p/>
          <a:p>
            <a:r>
              <a:t>3차시 규칙 그대로입니다. LED 앞에는 언제나 저항.</a:t>
            </a:r>
          </a:p>
          <a:p/>
          <a:p>
            <a:r>
              <a:t>오른쪽 나머지도 봅시다.</a:t>
            </a:r>
          </a:p>
          <a:p/>
          <a:p>
            <a:r>
              <a:t>PWM이 전압을 낮춘다는 오해. 아닙니다. 평균이 낮아지는 것뿐이에요.</a:t>
            </a:r>
          </a:p>
          <a:p/>
          <a:p>
            <a:r>
              <a:t>같은 핀을 Pin으로도 PWM으로도 동시에 쓰는 것. 충돌합니다. PWM을 쓰다가 다시 켜기·끄기로 돌아가려면 deinit()으로 정리하고 Pin으로 다시 만들어야 합니다.</a:t>
            </a:r>
          </a:p>
          <a:p/>
          <a:p>
            <a:r>
              <a:t>duty_u16에 65535보다 큰 값을 넣는 것. 오류가 나거나 예상 못 한 값이 됩니다. 범위를 지키세요.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직접 확인해 봅시다 — 깜빡임은 언제 보이나</a:t>
            </a:r>
          </a:p>
          <a:p/>
          <a:p>
            <a:r>
              <a:t>앞에서 100헤르츠쯤이 경계라고 말로만 했죠. 직접 확인해 봅시다.</a:t>
            </a:r>
          </a:p>
          <a:p/>
          <a:p>
            <a:r>
              <a:t>듀티는 32768로 고정하고 주파수만 바꿉니다. 2, 10, 30, 60, 1000 순서로요.</a:t>
            </a:r>
          </a:p>
          <a:p/>
          <a:p>
            <a:r>
              <a:t>[지시] 셸에서 led.freq() 값만 바꿔 가며 실행하면 빠르다. 코드를 다시 저장할 필요 없다.</a:t>
            </a:r>
          </a:p>
          <a:p/>
          <a:p>
            <a:r>
              <a:t>2헤르츠. 또렷하게 깜빡이죠. 이건 그냥 blink입니다.</a:t>
            </a:r>
          </a:p>
          <a:p/>
          <a:p>
            <a:r>
              <a:t>10헤르츠. 빠르게 깜빡입니다. 아직 잘 보여요.</a:t>
            </a:r>
          </a:p>
          <a:p/>
          <a:p>
            <a:r>
              <a:t>30헤르츠. 가물가물합니다. 사람마다 다르게 보일 거예요.</a:t>
            </a:r>
          </a:p>
          <a:p/>
          <a:p>
            <a:r>
              <a:t>60헤르츠. 거의 안 보입니다.</a:t>
            </a:r>
          </a:p>
          <a:p/>
          <a:p>
            <a:r>
              <a:t>1000헤르츠. 전혀 안 보입니다.</a:t>
            </a:r>
          </a:p>
          <a:p/>
          <a:p>
            <a:r>
              <a:t>[활동] 곁눈질로 보게 한다. 이 팁이 효과가 크다.</a:t>
            </a:r>
          </a:p>
          <a:p/>
          <a:p>
            <a:r>
              <a:t>팁 하나. LED를 똑바로 보지 말고 곁눈질로 보세요. 훨씬 잘 보입니다. 사람 눈은 시야 가장자리에서 변화에 더 민감하거든요. 30헤르츠에서 안 보이던 사람도 곁눈질로는 보일 겁니다.</a:t>
            </a:r>
          </a:p>
          <a:p/>
          <a:p>
            <a:r>
              <a:t>중요한 건 이겁니다. 듀티는 하나도 안 바꿨어요. 그러니까 밝기는 똑같습니다. 주파수만 바꿨는데 완전히 다르게 보이는 거죠. 듀티와 주파수는 서로 다른 것을 담당한다는 걸 이걸로 확실히 알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세 가지 도전</a:t>
            </a:r>
          </a:p>
          <a:p/>
          <a:p>
            <a:r>
              <a:t>세 가지입니다. 순서대로 하세요.</a:t>
            </a:r>
          </a:p>
          <a:p/>
          <a:p>
            <a:r>
              <a:t>첫째, 심장박동. 짧게 두 번 반짝하고 길게 쉬는 리듬입니다. 실제 심장 박동이 두 번 뛰고 쉬죠. duty를 최대와 0으로 오가면서 sleep 시간을 조절하면 됩니다. 3차시에 신호등 만들 때 했던 것과 비슷합니다.</a:t>
            </a:r>
          </a:p>
          <a:p/>
          <a:p>
            <a:r>
              <a:t>둘째, 촛불입니다. randint를 씁니다. random 모듈에서 가져오면 돼요. randint(20000, 45000)이라고 하면 그 사이 아무 숫자나 하나 나옵니다. 그걸 duty에 넣고 짧게 쉬는 걸 반복하면 촛불처럼 흔들립니다.</a:t>
            </a:r>
          </a:p>
          <a:p/>
          <a:p>
            <a:r>
              <a:t>[발문] 범위를 20000에서 45000이 아니라 30000에서 35000으로 좁히면 어떻게 될까요? (답: 덜 흔들리고 차분해진다)</a:t>
            </a:r>
          </a:p>
          <a:p/>
          <a:p>
            <a:r>
              <a:t>셋째는 도전입니다. 4차시에 만든 버튼 회로를 다시 씁니다. 버튼을 누를 때마다 밝기가 꺼짐, 약하게, 중간, 밝게 이렇게 네 단계로 순환하게 만드는 거예요.</a:t>
            </a:r>
          </a:p>
          <a:p/>
          <a:p>
            <a:r>
              <a:t>변수를 하나 만들어서 누를 때마다 1씩 더하고, 3을 넘으면 0으로 되돌리면 됩니다. 그리고 그 단계에 맞는 duty 값을 넣어 주는 거죠. sleep(0.3)은 4차시에 배운 채터링 방지입니다.</a:t>
            </a:r>
          </a:p>
          <a:p/>
          <a:p>
            <a:r>
              <a:t>[지시] 5분 실습. 순회한다. 세 번째는 4차시 버튼 회로가 살아 있어야 하므로, 회로를 뽑아 온 학생은 첫째와 둘째까지만 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밝기가 뜻대로 안 될 때</a:t>
            </a:r>
          </a:p>
          <a:p/>
          <a:p>
            <a:r>
              <a:t>오늘은 배선을 새로 안 했으니 대부분 코드 문제입니다.</a:t>
            </a:r>
          </a:p>
          <a:p/>
          <a:p>
            <a:r>
              <a:t>1위는 PWM으로 안 만든 경우예요. Pin(15, Pin.OUT)이라고 그대로 두고 duty_u16을 부르면 그런 함수가 없다고 에러가 납니다.</a:t>
            </a:r>
          </a:p>
          <a:p/>
          <a:p>
            <a:r>
              <a:t>둘째, 계속 최대로만 보이면 duty 값이 큰 겁니다. 3000 정도로 확 낮춰 보세요.</a:t>
            </a:r>
          </a:p>
          <a:p/>
          <a:p>
            <a:r>
              <a:t>셋째, 깜빡거리면 freq를 안 정했거나 낮게 둔 겁니다. freq(1000) 넣으세요.</a:t>
            </a:r>
          </a:p>
          <a:p/>
          <a:p>
            <a:r>
              <a:t>넷째, 아예 안 켜지면 이건 회로 문제일 수 있습니다. 3차시 회로가 풀렸을 수 있어요.</a:t>
            </a:r>
          </a:p>
          <a:p/>
          <a:p>
            <a:r>
              <a:t>다섯째, PWM 쓰다가 다시 on()이나 off()를 쓰려는데 안 될 때. 핀이 PWM에 잡혀 있어서 그렇습니다. deinit()으로 풀고 Pin으로 다시 만드세요.</a:t>
            </a:r>
          </a:p>
          <a:p/>
          <a:p>
            <a:r>
              <a:t>[지시] 맨 아래 줄을 강조한다. 문제 분해 습관을 계속 강화한다.</a:t>
            </a:r>
          </a:p>
          <a:p/>
          <a:p>
            <a:r>
              <a:t>그리고 4차시에 배운 그 방법, 오늘도 씁니다. 회로가 의심되면 3차시 blink 코드를 다시 올려 보세요. 그게 되면 회로는 멀쩡한 거고 코드 문제입니다. 문제를 반으로 쪼개는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중간을 만들었습니다. 1차시에 못 한다고 했던 그거요. 전압을 낮춘 게 아니라 켜진 시간의 비율을 바꿔서 해냈습니다.</a:t>
            </a:r>
          </a:p>
          <a:p/>
          <a:p>
            <a:r>
              <a:t>둘째, 듀티와 주파수를 구분했습니다. 밝기는 듀티가, 깜빡임 여부는 주파수가 정합니다.</a:t>
            </a:r>
          </a:p>
          <a:p/>
          <a:p>
            <a:r>
              <a:t>셋째, 사람 눈의 한계를 이용했다는 것. 사실 LED는 계속 깜빡이고 있는데 우리 눈이 못 따라가는 것뿐입니다. 기술이 사람의 특성을 이용하는 좋은 예입니다.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오늘 딱 하나. PWM은 전압이 아니라 시간을 나눈다. 이 문장 하나면 오늘 배운 게 다 설명됩니다.</a:t>
            </a:r>
          </a:p>
          <a:p/>
          <a:p>
            <a:r>
              <a:t>그리고 3차시 규칙은 여전히 유효합니다. LED 앞에는 언제나 저항.</a:t>
            </a:r>
          </a:p>
          <a:p/>
          <a:p>
            <a:r>
              <a:t>[지시] 회로는 그대로 두고 보관하게 한다. 다음 시간에 LED를 RGB LED로 바꿔 끼운다.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RGB LED로 색 만들기</a:t>
            </a:r>
          </a:p>
          <a:p/>
          <a:p>
            <a:r>
              <a:t>오늘 PWM 하나로 밝기를 조절했죠. 그럼 PWM을 세 개 쓰면 뭘 할 수 있을까요?</a:t>
            </a:r>
          </a:p>
          <a:p/>
          <a:p>
            <a:r>
              <a:t>색을 만들 수 있습니다.</a:t>
            </a:r>
          </a:p>
          <a:p/>
          <a:p>
            <a:r>
              <a:t>RGB LED라는 부품이 있습니다. 겉보기에는 LED 하나인데 안에 빨강, 초록, 파랑 LED가 각각 들어 있어요. 다리가 네 개입니다.</a:t>
            </a:r>
          </a:p>
          <a:p/>
          <a:p>
            <a:r>
              <a:t>이 셋의 밝기를 따로 조절하면 어떤 색이든 만들 수 있습니다. 빨강을 최대로, 초록을 절반쯤 주면 주황이 되는 식이죠.</a:t>
            </a:r>
          </a:p>
          <a:p/>
          <a:p>
            <a:r>
              <a:t>오른쪽 코드 보세요. 오늘 배운 게 세 줄로 늘어난 것뿐입니다. PWM 세 개 만들고 duty_u16을 세 번 부르는 거예요. 새로 배울 문법이 거의 없습니다.</a:t>
            </a:r>
          </a:p>
          <a:p/>
          <a:p>
            <a:r>
              <a:t>재밌는 건 여기서 웹이랑 연결된다는 겁니다. 여러분이 정보 시간에 쓰는 색 코드, RGB 값 있죠. 그게 실제로 뭘 뜻하는지 다음 시간에 직접 눈으로 보게 됩니다.</a:t>
            </a:r>
          </a:p>
          <a:p/>
          <a:p>
            <a:r>
              <a:t>[마무리] 준비물 공지 — 키트 그대로 가져오세요. RGB LED와 저항 두 개는 다음 시간에 나눠 드립니다. 오늘 만든 회로는 그대로 두셔도 되고, 다음 시간에 LED만 바꿔 끼우면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LED 밝기 조절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켜짐과 꺼짐 사이의 '중간'을 만듭니다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듀티 사이클  ·  duty_u16  ·  freq  ·  숨쉬는 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331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4688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PWM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2708910"/>
            <a:ext cx="112471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6029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2031" y="3348989"/>
            <a:ext cx="449884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5914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1916" y="2708910"/>
            <a:ext cx="112471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68385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84387" y="3348989"/>
            <a:ext cx="449884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18270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34272" y="2708910"/>
            <a:ext cx="281178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99448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15450" y="3348989"/>
            <a:ext cx="281178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80626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96628" y="2708910"/>
            <a:ext cx="281178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61804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7806" y="3348989"/>
            <a:ext cx="281178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2982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58984" y="2708910"/>
            <a:ext cx="478002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20984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36986" y="3348989"/>
            <a:ext cx="84353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05338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21340" y="2708910"/>
            <a:ext cx="478002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83340" y="2724912"/>
            <a:ext cx="32004" cy="640080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99342" y="3348989"/>
            <a:ext cx="84353" cy="32004"/>
          </a:xfrm>
          <a:prstGeom prst="rect">
            <a:avLst/>
          </a:prstGeom>
          <a:solidFill>
            <a:srgbClr val="F0A9AE"/>
          </a:solidFill>
          <a:ln w="508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75904" y="3703320"/>
            <a:ext cx="201168" cy="201168"/>
          </a:xfrm>
          <a:prstGeom prst="ellipse">
            <a:avLst/>
          </a:prstGeom>
          <a:solidFill>
            <a:srgbClr val="6E2830"/>
          </a:solidFill>
          <a:ln w="6350">
            <a:solidFill>
              <a:srgbClr val="6E2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0616" y="3703320"/>
            <a:ext cx="201168" cy="201168"/>
          </a:xfrm>
          <a:prstGeom prst="ellipse">
            <a:avLst/>
          </a:prstGeom>
          <a:solidFill>
            <a:srgbClr val="B6414A"/>
          </a:solidFill>
          <a:ln w="6350">
            <a:solidFill>
              <a:srgbClr val="B64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3032" y="3621024"/>
            <a:ext cx="365760" cy="365760"/>
          </a:xfrm>
          <a:prstGeom prst="ellipse">
            <a:avLst/>
          </a:prstGeom>
          <a:noFill/>
          <a:ln w="9525">
            <a:solidFill>
              <a:srgbClr val="FF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25328" y="3703320"/>
            <a:ext cx="201168" cy="201168"/>
          </a:xfrm>
          <a:prstGeom prst="ellipse">
            <a:avLst/>
          </a:prstGeom>
          <a:solidFill>
            <a:srgbClr val="FF5A64"/>
          </a:solidFill>
          <a:ln w="6350">
            <a:solidFill>
              <a:srgbClr val="FF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PWM의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0과 1만으로 어떻게 중간 밝기를 만드는지 이해한다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듀티 사이클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켜진 시간의 비율이 밝기를 결정한다는 것을 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주파수(freq)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왜 1000Hz를 쓰는지, 낮추면 어떻게 되는지 확인한다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duty_u16(0~65535)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숫자로 밝기를 지정하고 범위의 의미를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숨쉬는 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반복문으로 밝기를 오르내리게 만든다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4차시에는 입력을 배웠습니다. 오늘은 다시 출력으로 돌아오되, 훨씬 섬세하게 다룹니다.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Pin.IN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입력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value()로 핀의 값을 읽었습니다.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플로팅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떠 있는 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아무 데도 연결 안 되면 값이 흔들립니다.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풀다운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0으로 붙잡기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저항으로, 또는 코드 한 줄로 해결했습니다.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IN·OUT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셋을 이었다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입력 → 처리 → 출력을 한 프로그램에 담았습니다.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오늘은 3차시의 LED 회로를 그대로 씁니다.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GP15에 저항과 LED가 연결되어 있으면 준비 끝입니다. 버튼 회로도 실습에서 다시 씁니다.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0과 1뿐인데 어떻게 중간을 만들까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1차시에서 남겨 둔 질문입니다. 오늘 답을 찾습니다.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37744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지금까지 할 수 있던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켜짐 또는 꺼짐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184398"/>
            <a:ext cx="2148840" cy="32004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3687318"/>
            <a:ext cx="2148840" cy="32004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HIGH  ·  3.3V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84048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LOW  ·  0V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285232" cy="2377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12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오늘 하고 싶은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반쯤 밝게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3218688"/>
            <a:ext cx="457200" cy="457200"/>
          </a:xfrm>
          <a:prstGeom prst="ellipse">
            <a:avLst/>
          </a:prstGeom>
          <a:solidFill>
            <a:srgbClr val="E5E7EA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0960" y="3218688"/>
            <a:ext cx="457200" cy="457200"/>
          </a:xfrm>
          <a:prstGeom prst="ellipse">
            <a:avLst/>
          </a:prstGeom>
          <a:solidFill>
            <a:srgbClr val="E4B8BE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1080" y="3218688"/>
            <a:ext cx="457200" cy="457200"/>
          </a:xfrm>
          <a:prstGeom prst="ellipse">
            <a:avLst/>
          </a:prstGeom>
          <a:solidFill>
            <a:srgbClr val="E48A92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3218688"/>
            <a:ext cx="457200" cy="457200"/>
          </a:xfrm>
          <a:prstGeom prst="ellipse">
            <a:avLst/>
          </a:prstGeom>
          <a:solidFill>
            <a:srgbClr val="E35B66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3218688"/>
            <a:ext cx="457200" cy="457200"/>
          </a:xfrm>
          <a:prstGeom prst="ellipse">
            <a:avLst/>
          </a:prstGeom>
          <a:solidFill>
            <a:srgbClr val="E22C3A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8404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0%  ·  25%  ·  50%  ·  75%  · 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18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1차시에서 남겨 둔 약속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"중간을 표현하려면 PWM이라는 기술이 필요하고, 이는 5차시에 배웁니다."  —  1차시 GPIO 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아주 빠르게 껐다 켰다 반복한다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전압을 낮추는 것이 아니라, 켜져 있는 시간을 조절합니다. 이것이 PWM입니다.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760720" cy="3063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GP15에서 실제로 일어나는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5486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3.3V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5486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0V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663190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0329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9300" y="3467862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667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92680" y="2663190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5005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6060" y="3467862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2343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9440" y="2663190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681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12820" y="3467862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7019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86200" y="2663190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357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9580" y="3467862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1695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32960" y="2663190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9033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6340" y="3467862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6371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79720" y="2663190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37098" y="2679192"/>
            <a:ext cx="32004" cy="804672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53100" y="3467862"/>
            <a:ext cx="3733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3675887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1초에 1000번 반복  ·  한 번은 0.001초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4041648"/>
            <a:ext cx="5166360" cy="18288"/>
          </a:xfrm>
          <a:prstGeom prst="rect">
            <a:avLst/>
          </a:prstGeom>
          <a:solidFill>
            <a:srgbClr val="DCD6D6"/>
          </a:solidFill>
          <a:ln w="508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사람 눈에는</a:t>
            </a:r>
          </a:p>
        </p:txBody>
      </p:sp>
      <p:sp>
        <p:nvSpPr>
          <p:cNvPr id="35" name="Oval 34"/>
          <p:cNvSpPr/>
          <p:nvPr/>
        </p:nvSpPr>
        <p:spPr>
          <a:xfrm>
            <a:off x="3017520" y="4160520"/>
            <a:ext cx="384048" cy="384048"/>
          </a:xfrm>
          <a:prstGeom prst="ellipse">
            <a:avLst/>
          </a:prstGeom>
          <a:solidFill>
            <a:srgbClr val="E48A92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4206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절반 밝기로 보임</a:t>
            </a:r>
          </a:p>
        </p:txBody>
      </p:sp>
      <p:sp>
        <p:nvSpPr>
          <p:cNvPr id="37" name="Oval 36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1031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12140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너무 빨라서 못 본다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2468879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1초에 1000번 켜졌다 꺼지면 사람 눈은 그 깜빡임을 구분하지 못합니다.</a:t>
            </a:r>
          </a:p>
        </p:txBody>
      </p:sp>
      <p:sp>
        <p:nvSpPr>
          <p:cNvPr id="41" name="Oval 40"/>
          <p:cNvSpPr/>
          <p:nvPr/>
        </p:nvSpPr>
        <p:spPr>
          <a:xfrm>
            <a:off x="6720840" y="3154679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154679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17296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눈이 평균을 본다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520439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잔상 때문에 켜진 시간과 꺼진 시간이 섞여 중간 밝기로 보입니다.</a:t>
            </a:r>
          </a:p>
        </p:txBody>
      </p:sp>
      <p:sp>
        <p:nvSpPr>
          <p:cNvPr id="45" name="Oval 44"/>
          <p:cNvSpPr/>
          <p:nvPr/>
        </p:nvSpPr>
        <p:spPr>
          <a:xfrm>
            <a:off x="6720840" y="42062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42062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224527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LED는 여전히 0과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57200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실제로는 매번 완전히 켜지고 완전히 꺼집니다. 중간 전압은 없습니다.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PWM은 Pulse Width Modulation, 펄스 폭 변조입니다. 켜져 있는 펄스의 폭을 바꾼다는 뜻입니다.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DUTY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듀티 사이클 — 켜져 있는 시간의 비율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 주기 중에서 켜져 있는 시간이 얼마나 되는지, 그 비율이 밝기를 결정합니다.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288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파형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8288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보이는 밝기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21408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22576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359152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duty_u16(0)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35758"/>
            <a:ext cx="1051560" cy="32004"/>
          </a:xfrm>
          <a:prstGeom prst="rect">
            <a:avLst/>
          </a:prstGeom>
          <a:solidFill>
            <a:srgbClr val="9CA3A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57800" y="2635758"/>
            <a:ext cx="1051560" cy="32004"/>
          </a:xfrm>
          <a:prstGeom prst="rect">
            <a:avLst/>
          </a:prstGeom>
          <a:solidFill>
            <a:srgbClr val="9CA3A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635758"/>
            <a:ext cx="1051560" cy="32004"/>
          </a:xfrm>
          <a:prstGeom prst="rect">
            <a:avLst/>
          </a:prstGeom>
          <a:solidFill>
            <a:srgbClr val="9CA3A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19" y="2635758"/>
            <a:ext cx="1051560" cy="32004"/>
          </a:xfrm>
          <a:prstGeom prst="rect">
            <a:avLst/>
          </a:prstGeom>
          <a:solidFill>
            <a:srgbClr val="9CA3AF"/>
          </a:solidFill>
          <a:ln w="508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32520" y="2304288"/>
            <a:ext cx="347472" cy="347472"/>
          </a:xfrm>
          <a:prstGeom prst="ellipse">
            <a:avLst/>
          </a:prstGeom>
          <a:solidFill>
            <a:srgbClr val="E5E7EA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35915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꺼짐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62656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63824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200400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duty_u16(16384)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092958"/>
            <a:ext cx="26289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3127" y="3108960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69129" y="3477006"/>
            <a:ext cx="788669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41798" y="3108960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7800" y="3092958"/>
            <a:ext cx="26289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04688" y="3108960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20690" y="3477006"/>
            <a:ext cx="788669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3358" y="3108960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092958"/>
            <a:ext cx="26289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56247" y="3108960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72249" y="3477006"/>
            <a:ext cx="788669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4917" y="3108960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19" y="3092958"/>
            <a:ext cx="26289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07807" y="3108960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23809" y="3477006"/>
            <a:ext cx="788669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20" y="3145536"/>
            <a:ext cx="347472" cy="347472"/>
          </a:xfrm>
          <a:prstGeom prst="ellipse">
            <a:avLst/>
          </a:prstGeom>
          <a:solidFill>
            <a:srgbClr val="E4B8BE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2004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어둡게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803904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00507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4041648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duty_u16(32768)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934206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16018" y="3950208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32020" y="4318254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41798" y="3950208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57800" y="3934206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7578" y="3950208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83580" y="4318254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3358" y="3950208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59" y="3934206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9138" y="3950208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35140" y="4318254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44917" y="3950208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60919" y="3934206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70697" y="3950208"/>
            <a:ext cx="32004" cy="384048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86699" y="4318254"/>
            <a:ext cx="52578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32520" y="3986784"/>
            <a:ext cx="347472" cy="347472"/>
          </a:xfrm>
          <a:prstGeom prst="ellipse">
            <a:avLst/>
          </a:prstGeom>
          <a:solidFill>
            <a:srgbClr val="E48A92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04164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4645152"/>
            <a:ext cx="10817352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" y="484632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20" y="4882896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duty_u16(65535)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4775454"/>
            <a:ext cx="105156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57800" y="4775454"/>
            <a:ext cx="105156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59" y="4775454"/>
            <a:ext cx="105156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60919" y="4775454"/>
            <a:ext cx="1051560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732520" y="4828032"/>
            <a:ext cx="347472" cy="347472"/>
          </a:xfrm>
          <a:prstGeom prst="ellipse">
            <a:avLst/>
          </a:prstGeom>
          <a:solidFill>
            <a:srgbClr val="E22C3A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60" y="488289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가장 밝게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듀티 사이클만 바꾸면 됩니다. 주파수는 그대로 두고, 켜진 시간의 비율만 조절하는 것입니다.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주파수 — 1초에 몇 번 반복할까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듀티가 밝기를 정한다면, 주파수는 깜빡임이 보이는지 아닌지를 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514600"/>
          </a:xfrm>
          <a:prstGeom prst="roundRect">
            <a:avLst>
              <a:gd name="adj" fmla="val 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freq(2)  ·  1초에 2번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727198"/>
            <a:ext cx="1143000" cy="32004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8558" y="2743200"/>
            <a:ext cx="32004" cy="640080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0" y="3367278"/>
            <a:ext cx="1143000" cy="32004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1558" y="2743200"/>
            <a:ext cx="32004" cy="640080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727198"/>
            <a:ext cx="1143000" cy="32004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4558" y="2743200"/>
            <a:ext cx="32004" cy="640080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3367278"/>
            <a:ext cx="1143000" cy="32004"/>
          </a:xfrm>
          <a:prstGeom prst="rect">
            <a:avLst/>
          </a:prstGeom>
          <a:solidFill>
            <a:srgbClr val="4B5563"/>
          </a:solidFill>
          <a:ln w="508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57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깜빡이는 것이 그대로 보입니다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684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밝기 조절이 아니라 점멸로 보입니다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65960"/>
            <a:ext cx="5285232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freq(1000)  ·  1초에 1000번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851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979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994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137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65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280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423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551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66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94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09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83779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852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95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12379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138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6679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281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40979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424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567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9579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10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83879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853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98179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996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139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267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282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410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425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553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568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696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711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839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854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982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997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125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140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268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283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4411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426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554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569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697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712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840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855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983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998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126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141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1269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2284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2412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427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3555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4570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4698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5713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841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6856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984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999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8127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9142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927080" y="273039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028578" y="2743200"/>
            <a:ext cx="25603" cy="64008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041380" y="3370478"/>
            <a:ext cx="114300" cy="25603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고르게 켜진 것처럼 보입니다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83680" y="39684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우리가 원하는 밝기 조절이 됩니다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5800" y="4709160"/>
            <a:ext cx="338328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0120" y="49194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경계는 대략 100Hz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0120" y="523036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이보다 낮으면 사람에 따라 깜빡임이 느껴집니다.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402836" y="4709160"/>
            <a:ext cx="338328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77156" y="49194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1000Hz면 충분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77156" y="523036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여유 있게 잡은 값입니다. 이 수업에서는 계속 이 값을 씁니다.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19872" y="4709160"/>
            <a:ext cx="338328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94192" y="49194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듀티와는 별개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94192" y="523036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주파수를 바꿔도 밝기는 변하지 않습니다. 밝기는 듀티가 정합니다.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 코드는 세 줄이면 준비 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3차시의 Pin 대신 PWM으로 만들고, 주파수와 밝기를 정해 주면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251460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pwm_basic.py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55264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PWM(Pin(15))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39312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led.freq(1000)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led.duty_u16(32768)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PWM을 함께 불러오기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331720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Pin 뒤에 PWM을 추가로 적습니다.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1576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71576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핀을 PWM으로 감싸기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990087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Pin(15)를 PWM(...)으로 한 번 감쌉니다.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741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4행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3741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주파수 정하기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648456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1000Hz. 한 번만 정하면 계속 유지됩니다.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3250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5행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0325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밝기 정하기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306824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 줄만 바꾸면 밝기가 바뀝니다.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46320"/>
            <a:ext cx="10817352" cy="10058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4748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3차시 코드와 비교하면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3400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led = Pin(15, Pin.OUT)</a:t>
            </a: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   →   </a:t>
            </a: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led = PWM(Pin(15))</a:t>
            </a: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     같은 핀, 같은 회로. 다루는 방식만 바뀝니다.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밝기 값은 0부터 65535까지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duty_u16에 넣는 숫자입니다. 0이 완전히 꺼짐, 65535가 가장 밝음입니다.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duty_u16( 0 ~ 65535 )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606040"/>
            <a:ext cx="423672" cy="502920"/>
          </a:xfrm>
          <a:prstGeom prst="rect">
            <a:avLst/>
          </a:prstGeom>
          <a:solidFill>
            <a:srgbClr val="E5E7EA"/>
          </a:solidFill>
          <a:ln w="3810"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70659" y="2606040"/>
            <a:ext cx="423672" cy="502920"/>
          </a:xfrm>
          <a:prstGeom prst="rect">
            <a:avLst/>
          </a:prstGeom>
          <a:solidFill>
            <a:srgbClr val="E5DFE2"/>
          </a:solidFill>
          <a:ln w="3810">
            <a:solidFill>
              <a:srgbClr val="E5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89759" y="2606040"/>
            <a:ext cx="423672" cy="502920"/>
          </a:xfrm>
          <a:prstGeom prst="rect">
            <a:avLst/>
          </a:prstGeom>
          <a:solidFill>
            <a:srgbClr val="E5D7DB"/>
          </a:solidFill>
          <a:ln w="3810">
            <a:solidFill>
              <a:srgbClr val="E5D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08860" y="2606040"/>
            <a:ext cx="423672" cy="502920"/>
          </a:xfrm>
          <a:prstGeom prst="rect">
            <a:avLst/>
          </a:prstGeom>
          <a:solidFill>
            <a:srgbClr val="E5CFD3"/>
          </a:solidFill>
          <a:ln w="3810">
            <a:solidFill>
              <a:srgbClr val="E5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27960" y="2606040"/>
            <a:ext cx="423672" cy="502920"/>
          </a:xfrm>
          <a:prstGeom prst="rect">
            <a:avLst/>
          </a:prstGeom>
          <a:solidFill>
            <a:srgbClr val="E4C6CB"/>
          </a:solidFill>
          <a:ln w="3810">
            <a:solidFill>
              <a:srgbClr val="E4C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47060" y="2606040"/>
            <a:ext cx="423672" cy="502920"/>
          </a:xfrm>
          <a:prstGeom prst="rect">
            <a:avLst/>
          </a:prstGeom>
          <a:solidFill>
            <a:srgbClr val="E4BEC4"/>
          </a:solidFill>
          <a:ln w="3810">
            <a:solidFill>
              <a:srgbClr val="E4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606040"/>
            <a:ext cx="423672" cy="502920"/>
          </a:xfrm>
          <a:prstGeom prst="rect">
            <a:avLst/>
          </a:prstGeom>
          <a:solidFill>
            <a:srgbClr val="E4B6BC"/>
          </a:solidFill>
          <a:ln w="3810">
            <a:solidFill>
              <a:srgbClr val="E4B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85259" y="2606040"/>
            <a:ext cx="423672" cy="502920"/>
          </a:xfrm>
          <a:prstGeom prst="rect">
            <a:avLst/>
          </a:prstGeom>
          <a:solidFill>
            <a:srgbClr val="E4AEB4"/>
          </a:solidFill>
          <a:ln w="3810">
            <a:solidFill>
              <a:srgbClr val="E4A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4360" y="2606040"/>
            <a:ext cx="423672" cy="502920"/>
          </a:xfrm>
          <a:prstGeom prst="rect">
            <a:avLst/>
          </a:prstGeom>
          <a:solidFill>
            <a:srgbClr val="E4A6AD"/>
          </a:solidFill>
          <a:ln w="3810">
            <a:solidFill>
              <a:srgbClr val="E4A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23460" y="2606040"/>
            <a:ext cx="423672" cy="502920"/>
          </a:xfrm>
          <a:prstGeom prst="rect">
            <a:avLst/>
          </a:prstGeom>
          <a:solidFill>
            <a:srgbClr val="E49EA5"/>
          </a:solidFill>
          <a:ln w="3810">
            <a:solidFill>
              <a:srgbClr val="E49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42559" y="2606040"/>
            <a:ext cx="423672" cy="502920"/>
          </a:xfrm>
          <a:prstGeom prst="rect">
            <a:avLst/>
          </a:prstGeom>
          <a:solidFill>
            <a:srgbClr val="E4969D"/>
          </a:solidFill>
          <a:ln w="3810">
            <a:solidFill>
              <a:srgbClr val="E49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1660" y="2606040"/>
            <a:ext cx="423672" cy="502920"/>
          </a:xfrm>
          <a:prstGeom prst="rect">
            <a:avLst/>
          </a:prstGeom>
          <a:solidFill>
            <a:srgbClr val="E48E96"/>
          </a:solidFill>
          <a:ln w="3810">
            <a:solidFill>
              <a:srgbClr val="E48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2606040"/>
            <a:ext cx="423672" cy="502920"/>
          </a:xfrm>
          <a:prstGeom prst="rect">
            <a:avLst/>
          </a:prstGeom>
          <a:solidFill>
            <a:srgbClr val="E3858E"/>
          </a:solidFill>
          <a:ln w="3810">
            <a:solidFill>
              <a:srgbClr val="E385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9859" y="2606040"/>
            <a:ext cx="423672" cy="502920"/>
          </a:xfrm>
          <a:prstGeom prst="rect">
            <a:avLst/>
          </a:prstGeom>
          <a:solidFill>
            <a:srgbClr val="E37D87"/>
          </a:solidFill>
          <a:ln w="3810">
            <a:solidFill>
              <a:srgbClr val="E37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18960" y="2606040"/>
            <a:ext cx="423672" cy="502920"/>
          </a:xfrm>
          <a:prstGeom prst="rect">
            <a:avLst/>
          </a:prstGeom>
          <a:solidFill>
            <a:srgbClr val="E3757F"/>
          </a:solidFill>
          <a:ln w="3810">
            <a:solidFill>
              <a:srgbClr val="E37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8060" y="2606040"/>
            <a:ext cx="423672" cy="502920"/>
          </a:xfrm>
          <a:prstGeom prst="rect">
            <a:avLst/>
          </a:prstGeom>
          <a:solidFill>
            <a:srgbClr val="E36D77"/>
          </a:solidFill>
          <a:ln w="3810">
            <a:solidFill>
              <a:srgbClr val="E36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57159" y="2606040"/>
            <a:ext cx="423672" cy="502920"/>
          </a:xfrm>
          <a:prstGeom prst="rect">
            <a:avLst/>
          </a:prstGeom>
          <a:solidFill>
            <a:srgbClr val="E36570"/>
          </a:solidFill>
          <a:ln w="3810">
            <a:solidFill>
              <a:srgbClr val="E36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6260" y="2606040"/>
            <a:ext cx="423672" cy="502920"/>
          </a:xfrm>
          <a:prstGeom prst="rect">
            <a:avLst/>
          </a:prstGeom>
          <a:solidFill>
            <a:srgbClr val="E35D68"/>
          </a:solidFill>
          <a:ln w="3810">
            <a:solidFill>
              <a:srgbClr val="E3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2606040"/>
            <a:ext cx="423672" cy="502920"/>
          </a:xfrm>
          <a:prstGeom prst="rect">
            <a:avLst/>
          </a:prstGeom>
          <a:solidFill>
            <a:srgbClr val="E35560"/>
          </a:solidFill>
          <a:ln w="3810">
            <a:solidFill>
              <a:srgbClr val="E35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14460" y="2606040"/>
            <a:ext cx="423672" cy="502920"/>
          </a:xfrm>
          <a:prstGeom prst="rect">
            <a:avLst/>
          </a:prstGeom>
          <a:solidFill>
            <a:srgbClr val="E34D59"/>
          </a:solidFill>
          <a:ln w="3810">
            <a:solidFill>
              <a:srgbClr val="E34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33560" y="2606040"/>
            <a:ext cx="423672" cy="502920"/>
          </a:xfrm>
          <a:prstGeom prst="rect">
            <a:avLst/>
          </a:prstGeom>
          <a:solidFill>
            <a:srgbClr val="E24451"/>
          </a:solidFill>
          <a:ln w="3810">
            <a:solidFill>
              <a:srgbClr val="E24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52660" y="2606040"/>
            <a:ext cx="423672" cy="502920"/>
          </a:xfrm>
          <a:prstGeom prst="rect">
            <a:avLst/>
          </a:prstGeom>
          <a:solidFill>
            <a:srgbClr val="E23C49"/>
          </a:solidFill>
          <a:ln w="3810">
            <a:solidFill>
              <a:srgbClr val="E23C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71760" y="2606040"/>
            <a:ext cx="423672" cy="502920"/>
          </a:xfrm>
          <a:prstGeom prst="rect">
            <a:avLst/>
          </a:prstGeom>
          <a:solidFill>
            <a:srgbClr val="E23442"/>
          </a:solidFill>
          <a:ln w="3810">
            <a:solidFill>
              <a:srgbClr val="E2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90860" y="2606040"/>
            <a:ext cx="423672" cy="502920"/>
          </a:xfrm>
          <a:prstGeom prst="rect">
            <a:avLst/>
          </a:prstGeom>
          <a:solidFill>
            <a:srgbClr val="E22C3A"/>
          </a:solidFill>
          <a:ln w="3810">
            <a:solidFill>
              <a:srgbClr val="E2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7844" y="3145536"/>
            <a:ext cx="27432" cy="91440"/>
          </a:xfrm>
          <a:prstGeom prst="rect">
            <a:avLst/>
          </a:prstGeom>
          <a:solidFill>
            <a:srgbClr val="9CA3A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52444" y="3145536"/>
            <a:ext cx="27432" cy="91440"/>
          </a:xfrm>
          <a:prstGeom prst="rect">
            <a:avLst/>
          </a:prstGeom>
          <a:solidFill>
            <a:srgbClr val="9CA3A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67044" y="3145536"/>
            <a:ext cx="27432" cy="91440"/>
          </a:xfrm>
          <a:prstGeom prst="rect">
            <a:avLst/>
          </a:prstGeom>
          <a:solidFill>
            <a:srgbClr val="9CA3A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81644" y="3145536"/>
            <a:ext cx="27432" cy="91440"/>
          </a:xfrm>
          <a:prstGeom prst="rect">
            <a:avLst/>
          </a:prstGeom>
          <a:solidFill>
            <a:srgbClr val="9CA3A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96244" y="3145536"/>
            <a:ext cx="27432" cy="91440"/>
          </a:xfrm>
          <a:prstGeom prst="rect">
            <a:avLst/>
          </a:prstGeom>
          <a:solidFill>
            <a:srgbClr val="9CA3A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32918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3547872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꺼짐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39" y="32918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16384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2918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32768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3547872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절반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2918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49151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9184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65535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3547872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최대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343400"/>
            <a:ext cx="33832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572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왜 하필 65535인가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901184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16비트로 표현할 수 있는 값이 2의 16제곱, 65536가지입니다. 0부터 세므로 마지막이 65535가 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02836" y="4343400"/>
            <a:ext cx="33832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77156" y="4572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0은 완전히 꺼짐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77156" y="4901184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듀티 0%입니다. 한 번도 켜지지 않습니다.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4343400"/>
            <a:ext cx="33832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2" y="4572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65535는 항상 켜짐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4901184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듀티 100%입니다. 3차시의 led.on()과 결과가 같습니다.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밝기 세 단계로 바꿔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먼저 눈으로 차이를 확인합니다. duty 값만 바꾸는 코드입니다.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329184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brightness.py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4211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21177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PWM(Pin(15))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2966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led.freq(1000)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6627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5511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led.duty_u16(3000)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3593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72076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led.duty_u16(20000)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89043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led.duty_u16(65535)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97526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sleep(1)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2240280"/>
            <a:ext cx="420624" cy="420624"/>
          </a:xfrm>
          <a:prstGeom prst="ellipse">
            <a:avLst/>
          </a:prstGeom>
          <a:solidFill>
            <a:srgbClr val="E5DEE2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2585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3000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6946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아주 어둡게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00400"/>
            <a:ext cx="420624" cy="420624"/>
          </a:xfrm>
          <a:prstGeom prst="ellipse">
            <a:avLst/>
          </a:prstGeom>
          <a:solidFill>
            <a:srgbClr val="E4AEB4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2186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52958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중간쯤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4160520"/>
            <a:ext cx="420624" cy="420624"/>
          </a:xfrm>
          <a:prstGeom prst="ellipse">
            <a:avLst/>
          </a:prstGeom>
          <a:solidFill>
            <a:srgbClr val="E22C3A"/>
          </a:solidFill>
          <a:ln w="635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17880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65535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48970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가장 밝게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1초마다 밝기가 세 단계로 바뀝니다. 3000과 20000의 차이가 20000과 65535의 차이보다 크게 느껴질 것입니다.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사람 눈은 어두운 쪽의 변화에 훨씬 민감하기 때문입니다. 숫자와 느낌은 비례하지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for 반복으로 서서히 밝아지게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값을 하나씩 바꾸는 대신, 반복문으로 조금씩 올리면 부드럽게 밝아집니다.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27889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fade_in.py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11196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2404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PWM(Pin(15))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led.freq(1000)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14216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for v in range(0, 65536, 500):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7482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led.duty_u16(v)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35424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sleep(0.01)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1031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12140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range(0, 65536, 500)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50591"/>
            <a:ext cx="4279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0부터 500씩 늘려 가며 65000까지, 모두 131번 반복합니다.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3063239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063239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81527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v 가 곧 밝기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10711"/>
            <a:ext cx="4279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반복할 때마다 v가 커지고, 그 값이 그대로 밝기가 됩니다.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40233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0233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04164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sleep(0.01)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70832"/>
            <a:ext cx="4279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 단계마다 0.01초씩 쉽니다. 전체는 약 1.3초 걸립니다.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500과 0.01을 바꿔 보세요.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500을 키우면 단계가 거칠어지고, sleep을 늘리면 천천히 밝아집니다.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숨쉬는 LED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밝아지는 반복문 뒤에 어두워지는 반복문을 붙이면, 부드럽게 호흡하는 LED가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035040" cy="32461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breathe.py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146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294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PWM(Pin(15))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led.freq(1000)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3590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for v in range(0, 65536, 1000):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4164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led.duty_u16(v)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4738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sleep(0.01)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53127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for v in range(65535, -1, -1000):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8867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led.duty_u16(v)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64607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sleep(0.01)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21488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1488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16712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첫 번째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496312"/>
            <a:ext cx="39136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0에서 65000까지. 서서히 밝아집니다.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0" y="3154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154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7296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두 번째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502152"/>
            <a:ext cx="39136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65535에서 0까지. 세 번째 값이 음수라 거꾸로 셉니다.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7086600" y="41605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1605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17880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while 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07992"/>
            <a:ext cx="39136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두 반복문을 계속 되풀이해 호흡처럼 보이게 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range의 세 번째 값이 음수면 거꾸로 셉니다. range(65535, -1, -1000)은 65535부터 1000씩 줄여 갑니다.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밝아질 때보다 어두워질 때가 더 빠르게 느껴집니다. 앞에서 말한 눈의 특성 때문입니다.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PWM에서 오해하기 쉬운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밝기를 낮췄다고 해서 안전해지는 것은 아닙니다. 규칙은 그대로입니다.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맞는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220Ω 저항은 그대로 필요하다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밝기는 duty, 깜빡임은 freq가 정한다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duty 65535는 계속 켠 것과 같다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PWM을 그만 쓰려면 deinit()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흔한 오해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어둡게 쓰니 저항은 빼도 된다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PWM이 전압을 3.3V보다 낮춘다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같은 핀을 Pin과 PWM으로 동시에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duty_u16에 65535보다 큰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PWM은 전류를 제한하지 않습니다. 켜져 있는 순간에는 여전히 3.3V가 그대로 나옵니다.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직접 확인해 봅시다 — 깜빡임은 언제 보이나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주파수를 아주 낮춰 보면, PWM이 사실은 깜빡이고 있다는 것을 눈으로 볼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01168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736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flicker.py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48280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PWM(Pin(15))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48280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led.duty_u16(32768)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28415"/>
            <a:ext cx="48280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led.freq(2)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이 숫자를 하나씩 올려 가며 관찰합니다.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2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1226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또렷하게 깜빡인다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32888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700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10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7919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빠르게 깜빡인다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99815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36975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30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461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가물가물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66744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0390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60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130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거의 안 보인다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33672"/>
            <a:ext cx="528523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3708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1000 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37997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완전히 안 보인다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97680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49884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해 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91456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LED를 똑바로 보지 말고 곁눈질로 보세요. 훨씬 잘 보입니다. 사람 눈은 시야 가장자리에서 변화에 더 민감합니다.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89204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듀티는 그대로 32768입니다.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230368"/>
            <a:ext cx="52852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주파수만 바꿨는데도 완전히 달라 보입니다. 밝기는 그대로인데 깜빡임만 달라진 것입니다.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실습 — 세 가지 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순서대로 해 보세요. 세 번째는 4차시에 만든 버튼 회로를 다시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심장박동 만들기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28416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led.duty_u16(65535)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584448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sleep(0.1)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840480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led.duty_u16(0)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4096512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sleep(0.1)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352544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두 번 반짝 후 길게 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짧게 두 번 밝아졌다가 길게 쉬는 리듬을 만들어 보세요.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77156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7156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7156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촛불 흔들림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7156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1748" y="3328416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random import randint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1748" y="3840480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 = randint(20000, 45000)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1748" y="4096512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led.duty_u16(v)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1748" y="4352544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sleep(0.05)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7156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밝기를 무작위로 바꾸면 촛불처럼 흔들립니다. 범위를 좁히면 차분해집니다.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4192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도전 — 버튼으로 밝기 조절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8784" y="3328416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btn.value() == 1: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3584448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step = step + 1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3840480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if step &gt; 3: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4096512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step =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4352544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    sleep(0.3)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누를 때마다 밝기가 네 단계로 순환하게 만들어 보세요.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밝기가 뜻대로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오늘은 회로가 아니라 코드 문제가 대부분입니다.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밝기가 전혀 안 변한다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PWM으로 안 만들었다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PWM(Pin(15))인지 확인합니다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계속 최대 밝기다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duty 값이 너무 크다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3000처럼 작은 값을 넣어 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깜빡거린다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freq가 너무 낮다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led.freq(1000)을 넣습니다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아예 안 켜진다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3차시 회로가 풀렸다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저항·극성·GND를 다시 확인합니다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on()과 off()가 안 먹는다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핀이 PWM에 잡혀 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deinit() 후 Pin으로 다시 만듭니다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회로가 의심되면 3차시 blink 코드를 다시 올려 보세요. 그것이 되면 회로는 정상입니다.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1차시에 남겨 둔 질문에 오늘 답했습니다.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중간을 만들었다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전압을 낮추는 대신 켜진 시간의 비율을 바꿔 중간 밝기를 만들었습니다.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두 값을 구분했다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밝기는 duty가, 깜빡임 여부는 freq가 정한다는 것을 확인했습니다.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눈의 한계를 이용했다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잔상 덕분에 빠른 깜빡임이 중간 밝기로 보인다는 것을 배웠습니다.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PWM은 전압이 아니라 시간을 나눈다.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RGB LED로 색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PWM 하나로 밝기를 만들었습니다. 세 개를 쓰면 색을 만들 수 있습니다.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빛의 삼원색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빨강·초록·파랑을 섞어 색을 만듭니다. 물감과 달리 섞을수록 밝아집니다.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 세 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R·G·B 각각에 PWM을 하나씩 걸고 세 값을 조절합니다.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색 코드와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웹에서 쓰는 RGB 값이 실제로 무엇을 뜻하는지 직접 확인합니다.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6차시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red   = PWM(Pin(13))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76148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green = PWM(Pin(14))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3580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blue  = PWM(Pin(15))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1985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red.duty_u16(65535)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69417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green.duty_u16(30000)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069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배운 duty_u16을 세 번 쓰는 것이 전부입니다.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오늘 쓴 키트 그대로  (RGB LED와 220Ω 저항 2개는 추가로 배부합니다)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