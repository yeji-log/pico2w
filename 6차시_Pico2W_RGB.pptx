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RGB LED로 색 만들기</a:t>
            </a:r>
          </a:p>
          <a:p/>
          <a:p>
            <a:r>
              <a:t>[지시] 지난 시간 회로를 그대로 꺼내게 한다. RGB LED와 220Ω 저항 2개를 추가로 배부한다.</a:t>
            </a:r>
          </a:p>
          <a:p/>
          <a:p>
            <a:r>
              <a:t>지난 시간에 PWM으로 LED 밝기를 조절했죠. 숫자 하나로 밝기를 정했습니다.</a:t>
            </a:r>
          </a:p>
          <a:p/>
          <a:p>
            <a:r>
              <a:t>오늘은 그 PWM을 세 개 씁니다. 그러면 밝기가 아니라 색을 만들 수 있어요.</a:t>
            </a:r>
          </a:p>
          <a:p/>
          <a:p>
            <a:r>
              <a:t>화면 오른쪽을 보세요. 빨강, 초록, 파랑 세 개의 막대가 있고 각각 채워진 정도가 다릅니다. 그 결과가 오른쪽 주황색 동그라미예요. 세 숫자로 색 하나가 결정되는 겁니다.</a:t>
            </a:r>
          </a:p>
          <a:p/>
          <a:p>
            <a:r>
              <a:t>아래 #FF7326이라고 적힌 거 보이시죠. 여러분이 정보 시간에 웹 페이지 만들 때 쓰는 그 색 코드입니다. 오늘 그게 실제로 뭘 뜻하는지 눈으로 보게 될 겁니다.</a:t>
            </a:r>
          </a:p>
          <a:p/>
          <a:p>
            <a:r>
              <a:t>오늘 새로 배울 문법은 거의 없습니다. 지난 시간 것을 세 번 쓰는 게 전부예요.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첫째, 빛의 삼원색. 물감이랑 정반대라는 게 핵심입니다.</a:t>
            </a:r>
          </a:p>
          <a:p/>
          <a:p>
            <a:r>
              <a:t>둘째, RGB LED 구조. 다리가 네 개인데 그중 하나가 특별합니다. 여기서 막히는 사람이 제일 많아요.</a:t>
            </a:r>
          </a:p>
          <a:p/>
          <a:p>
            <a:r>
              <a:t>셋째, PWM 세 개를 동시에 다루기. 지난 시간 것의 확장입니다.</a:t>
            </a:r>
          </a:p>
          <a:p/>
          <a:p>
            <a:r>
              <a:t>넷째, 색을 숫자로 표현하는 법. 정보 시간에 배운 색 코드가 여기서 나옵니다.</a:t>
            </a:r>
          </a:p>
          <a:p/>
          <a:p>
            <a:r>
              <a:t>다섯째, 함수를 만들어 봅니다. 같은 세 줄을 계속 쓰기 귀찮으니까 하나로 묶는 거예요.</a:t>
            </a:r>
          </a:p>
          <a:p/>
          <a:p>
            <a:r>
              <a:t>오늘 딱 하나만 기억한다면 두 번째, 공통 다리입니다. 이걸 잘못 꽂으면 아무것도 안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 네 가지만 짚습니다.</a:t>
            </a:r>
          </a:p>
          <a:p/>
          <a:p>
            <a:r>
              <a:t>PWM은 전압이 아니라 시간을 나눈다. duty는 밝기, freq는 깜빡임. 그리고 저항은 여전히 필요하다.</a:t>
            </a:r>
          </a:p>
          <a:p/>
          <a:p>
            <a:r>
              <a:t>[지시] 3차시 LED는 빼고, 그 자리에 RGB LED를 꽂을 것이라고 미리 알려 준다.</a:t>
            </a:r>
          </a:p>
          <a:p/>
          <a:p>
            <a:r>
              <a:t>오늘 중요한 건 아래 박스입니다. 저항이 세 개 필요해요. 빨강, 초록, 파랑 각각에 하나씩입니다.</a:t>
            </a:r>
          </a:p>
          <a:p/>
          <a:p>
            <a:r>
              <a:t>[발문] 왜 하나로 몰아 쓰면 안 될까요?</a:t>
            </a:r>
          </a:p>
          <a:p/>
          <a:p>
            <a:r>
              <a:t>세 색이 저항 하나를 같이 쓰면, 한 색을 켤 때와 세 색을 다 켤 때 각 색에 흐르는 전류가 달라집니다. 그러면 색을 정확히 만들 수가 없어요. 그래서 반드시 각각에 하나씩입니다.</a:t>
            </a:r>
          </a:p>
          <a:p/>
          <a:p>
            <a:r>
              <a:t>3차시에 신호등 만들 때도 LED마다 저항 하나씩이라고 했죠. 같은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빛의 삼원색 — 섞을수록 밝아진다</a:t>
            </a:r>
          </a:p>
          <a:p/>
          <a:p>
            <a:r>
              <a:t>RGB LED를 다루기 전에 색 이야기를 먼저 해야 합니다.</a:t>
            </a:r>
          </a:p>
          <a:p/>
          <a:p>
            <a:r>
              <a:t>[발문] 미술 시간에 물감 섞어 봤죠. 여러 색을 다 섞으면 어떻게 되나요?</a:t>
            </a:r>
          </a:p>
          <a:p/>
          <a:p>
            <a:r>
              <a:t>검정에 가까운 탁한 색이 됩니다. 물감은 빛을 흡수하거든요. 섞을수록 흡수하는 게 많아지니까 어두워집니다. 이걸 감산혼합이라고 해요. 빼는 혼합이라는 뜻입니다.</a:t>
            </a:r>
          </a:p>
          <a:p/>
          <a:p>
            <a:r>
              <a:t>그런데 빛은 정반대입니다. 빛은 더하는 거예요. 빨강 빛에 초록 빛을 더하면 더 밝아집니다. 셋을 다 더하면 흰색이 돼요. 이게 가산혼합입니다.</a:t>
            </a:r>
          </a:p>
          <a:p/>
          <a:p>
            <a:r>
              <a:t>[지시] 교실 조명이나 무대 조명을 예로 들면 이해가 빠르다.</a:t>
            </a:r>
          </a:p>
          <a:p/>
          <a:p>
            <a:r>
              <a:t>무대 조명 생각하면 쉽습니다. 빨강 조명이랑 파랑 조명을 같이 켜면 어두워지나요? 아니죠. 더 밝아집니다.</a:t>
            </a:r>
          </a:p>
          <a:p/>
          <a:p>
            <a:r>
              <a:t>아래 세 카드가 두 개씩 섞은 결과입니다. 빨강과 초록을 섞으면 노랑이 나옵니다.</a:t>
            </a:r>
          </a:p>
          <a:p/>
          <a:p>
            <a:r>
              <a:t>[발문] 빨강이랑 초록을 섞으면 노랑이라는 게 이상하지 않나요? 물감으로는 안 그렇잖아요.</a:t>
            </a:r>
          </a:p>
          <a:p/>
          <a:p>
            <a:r>
              <a:t>빛이니까 그렇습니다. 오늘 실제로 눈으로 확인하게 될 거예요. 이게 오늘 실습에서 제일 신기한 부분입니다.</a:t>
            </a:r>
          </a:p>
          <a:p/>
          <a:p>
            <a:r>
              <a:t>여러분 휴대폰 화면도 이 원리로 동작합니다. 화면을 아주 가까이서 보면 빨강 초록 파랑 점이 보여요.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RGB LED — 안에 LED가 세 개</a:t>
            </a:r>
          </a:p>
          <a:p/>
          <a:p>
            <a:r>
              <a:t>[지시] RGB LED를 꺼내 들어 보게 한다. 3차시에 쓴 빨간 LED와 나란히 놓고 비교시키면 좋다.</a:t>
            </a:r>
          </a:p>
          <a:p/>
          <a:p>
            <a:r>
              <a:t>부품을 꺼내 보세요. 3차시에 쓴 LED랑 비슷하게 생겼는데 두 가지가 다릅니다.</a:t>
            </a:r>
          </a:p>
          <a:p/>
          <a:p>
            <a:r>
              <a:t>첫째, 몸통이 투명하거나 뿌옇습니다. 안에 뭐가 들어 있는지 잘 보세요. 아주 작은 칩이 세 개 보일 겁니다. 빨강, 초록, 파랑 LED예요.</a:t>
            </a:r>
          </a:p>
          <a:p/>
          <a:p>
            <a:r>
              <a:t>둘째, 다리가 네 개입니다. 3차시 LED는 두 개였죠.</a:t>
            </a:r>
          </a:p>
          <a:p/>
          <a:p>
            <a:r>
              <a:t>[발문] LED가 세 개면 다리가 여섯 개여야 하는 것 아닌가요?</a:t>
            </a:r>
          </a:p>
          <a:p/>
          <a:p>
            <a:r>
              <a:t>좋은 질문입니다. 세 LED가 한쪽 다리를 같이 쓰기 때문에 네 개면 됩니다. R 하나, G 하나, B 하나, 그리고 셋이 공유하는 공통 다리 하나. 그래서 3 더하기 1, 네 개예요.</a:t>
            </a:r>
          </a:p>
          <a:p/>
          <a:p>
            <a:r>
              <a:t>공통 다리를 찾는 법은 간단합니다. 가장 긴 다리예요. 3차시에 긴 다리가 플러스였죠. 여기서도 가장 긴 게 특별한 다리입니다.</a:t>
            </a:r>
          </a:p>
          <a:p/>
          <a:p>
            <a:r>
              <a:t>순서는 보통 R, 공통, G, B입니다. 공통이 두 번째에 있어요.</a:t>
            </a:r>
          </a:p>
          <a:p/>
          <a:p>
            <a:r>
              <a:t>[지시] 각자 자기 부품에서 가장 긴 다리를 찾아 짚어 보게 한다. 이걸 못 찾으면 다음 단계가 안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공통 다리를 어디에 연결할까</a:t>
            </a:r>
          </a:p>
          <a:p/>
          <a:p>
            <a:r>
              <a:t>여기가 오늘의 고비입니다. 천천히 갑니다.</a:t>
            </a:r>
          </a:p>
          <a:p/>
          <a:p>
            <a:r>
              <a:t>RGB LED는 두 종류가 있습니다. 겉보기로는 구분이 안 돼요.</a:t>
            </a:r>
          </a:p>
          <a:p/>
          <a:p>
            <a:r>
              <a:t>하나는 공통 캐소드입니다. 캐소드는 마이너스라는 뜻이죠. 3차시에 짧은 다리가 캐소드라고 했습니다. 이 제품은 공통 다리를 GND에 연결합니다. 우리가 쓰는 게 이겁니다.</a:t>
            </a:r>
          </a:p>
          <a:p/>
          <a:p>
            <a:r>
              <a:t>다른 하나는 공통 애노드입니다. 플러스예요. 공통 다리를 3.3볼트에 연결합니다.</a:t>
            </a:r>
          </a:p>
          <a:p/>
          <a:p>
            <a:r>
              <a:t>[발문] 공통 애노드로 하면 뭐가 달라질까요?</a:t>
            </a:r>
          </a:p>
          <a:p/>
          <a:p>
            <a:r>
              <a:t>값이 뒤집힙니다. 공통 캐소드는 duty를 키우면 밝아지는데, 공통 애노드는 duty를 키우면 어두워져요. 전류가 흐르는 방향이 반대라서 그렇습니다.</a:t>
            </a:r>
          </a:p>
          <a:p/>
          <a:p>
            <a:r>
              <a:t>그래서 공통 애노드를 쓰면 코드에서 65535 빼기 v로 값을 뒤집어 줘야 합니다.</a:t>
            </a:r>
          </a:p>
          <a:p/>
          <a:p>
            <a:r>
              <a:t>[지시] 하단 박스의 확인 방법을 반드시 짚는다. 이 확인을 건너뛰면 뒤에서 전부 막힌다.</a:t>
            </a:r>
          </a:p>
          <a:p/>
          <a:p>
            <a:r>
              <a:t>확인하는 법은 간단합니다. 일단 공통을 GND에 연결하고 빨강만 켜 보세요. 불이 들어오면 공통 캐소드가 맞는 겁니다. 아무 반응이 없으면 애노드예요. 그때는 공통을 3.3볼트로 옮기면 됩니다.</a:t>
            </a:r>
          </a:p>
          <a:p/>
          <a:p>
            <a:r>
              <a:t>오늘 나눠 드린 건 공통 캐소드입니다. 그래도 확인하는 습관을 들이세요.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오늘 만들 회로</a:t>
            </a:r>
          </a:p>
          <a:p/>
          <a:p>
            <a:r>
              <a:t>3차시 LED는 빼세요. 그 자리에 RGB LED를 꽂습니다.</a:t>
            </a:r>
          </a:p>
          <a:p/>
          <a:p>
            <a:r>
              <a:t>위쪽 그림이 전체 구조입니다. R, G, B 각각이 저항을 거쳐 GP핀으로 갑니다. 그리고 공통 다리는 GND로 갑니다.</a:t>
            </a:r>
          </a:p>
          <a:p/>
          <a:p>
            <a:r>
              <a:t>핀은 GP13, GP14, GP15를 씁니다. 3차시 신호등 만들 때 쓴 그 세 핀이에요. 물리적으로는 17번, 19번, 20번입니다. GND는 그 사이 18번을 쓰면 배선이 짧아집니다.</a:t>
            </a:r>
          </a:p>
          <a:p/>
          <a:p>
            <a:r>
              <a:t>[지시] 핀아웃 인쇄물에서 17, 18, 19, 20번을 짚게 한다. 네 핀이 나란히 붙어 있음을 확인시킨다.</a:t>
            </a:r>
          </a:p>
          <a:p/>
          <a:p>
            <a:r>
              <a:t>아래 배선표는 네 줄입니다. 점퍼선 세 개는 각 색으로, 나머지 하나는 공통에서 GND로.</a:t>
            </a:r>
          </a:p>
          <a:p/>
          <a:p>
            <a:r>
              <a:t>[발문] 저항은 어디에 들어가죠? (답: GP핀과 각 색 다리 사이. 공통 쪽에는 넣지 않는다)</a:t>
            </a:r>
          </a:p>
          <a:p/>
          <a:p>
            <a:r>
              <a:t>맞습니다. 공통 쪽에는 저항을 넣지 않습니다. 거기에 하나만 넣으면 아까 말한 색 간섭이 생겨요.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배선하는 순서</a:t>
            </a:r>
          </a:p>
          <a:p/>
          <a:p>
            <a:r>
              <a:t>[지시] 다 같이 한 단계씩 진행한다. 단계마다 손을 들게 해서 속도를 맞춘다.</a:t>
            </a:r>
          </a:p>
          <a:p/>
          <a:p>
            <a:r>
              <a:t>1번. 케이블을 뽑고, 3차시 LED와 저항을 빼서 자리를 비웁니다.</a:t>
            </a:r>
          </a:p>
          <a:p/>
          <a:p>
            <a:r>
              <a:t>2번. RGB LED를 꽂습니다. 여기가 중요해요. 다리 네 개가 각각 다른 세로줄에 들어가야 합니다. 2차시에 배운 브레드보드 규칙 기억하시죠. 같은 세로줄은 연결되어 있습니다. 두 다리가 같은 줄에 들어가면 그 두 색이 항상 붙어 다니게 돼요.</a:t>
            </a:r>
          </a:p>
          <a:p/>
          <a:p>
            <a:r>
              <a:t>다리 간격이 좁아서 잘 안 들어갈 수 있습니다. 다리를 살짝 벌려서 꽂으세요.</a:t>
            </a:r>
          </a:p>
          <a:p/>
          <a:p>
            <a:r>
              <a:t>3번. 저항 세 개입니다. 220옴이에요. 빨강 빨강 갈색.</a:t>
            </a:r>
          </a:p>
          <a:p/>
          <a:p>
            <a:r>
              <a:t>4번. 점퍼선 네 개. 셋은 GP핀에서 각 저항으로, 하나는 공통에서 GND로.</a:t>
            </a:r>
          </a:p>
          <a:p/>
          <a:p>
            <a:r>
              <a:t>5번. 확인하고 연결합니다. 특히 공통 다리가 GND로 갔는지 보세요.</a:t>
            </a:r>
          </a:p>
          <a:p/>
          <a:p>
            <a:r>
              <a:t>[지시] 순회한다. 다리가 같은 줄에 들어간 경우가 가장 흔하다. 배선이 끝난 조는 다음 장 코드를 미리 쳐 두게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PWM 세 개 만들기</a:t>
            </a:r>
          </a:p>
          <a:p/>
          <a:p>
            <a:r>
              <a:t>코드는 지난 시간 것을 세 번 쓰는 게 전부입니다.</a:t>
            </a:r>
          </a:p>
          <a:p/>
          <a:p>
            <a:r>
              <a:t>3행부터 5행. PWM을 세 개 만듭니다. 이름을 red, green, blue로 지었어요. led1, led2, led3보다 훨씬 알아보기 쉽습니다. 변수 이름은 이렇게 짓는 게 좋습니다.</a:t>
            </a:r>
          </a:p>
          <a:p/>
          <a:p>
            <a:r>
              <a:t>여기서 지난 시간과 조금 다른 게 있어요. 괄호 안에 freq=1000이 들어가 있습니다. 지난 시간에는 만든 다음에 led.freq(1000)을 따로 불렀죠. 이렇게 만들 때 같이 지정할 수도 있습니다. 세 개나 되니까 이 방식이 짧아요.</a:t>
            </a:r>
          </a:p>
          <a:p/>
          <a:p>
            <a:r>
              <a:t>7행부터 9행. 세 값을 정합니다. 빨강만 최대, 나머지는 0. 그러면 빨간색이 켜집니다.</a:t>
            </a:r>
          </a:p>
          <a:p/>
          <a:p>
            <a:r>
              <a:t>[지시] 실행시킨다. 여기서 안 되는 학생을 반드시 잡고 넘어간다.</a:t>
            </a:r>
          </a:p>
          <a:p/>
          <a:p>
            <a:r>
              <a:t>[발문] 빨간불 들어온 사람?</a:t>
            </a:r>
          </a:p>
          <a:p/>
          <a:p>
            <a:r>
              <a:t>안 들어온 사람은 아래 박스를 보세요. 공통 다리 문제일 가능성이 큽니다. GND 대신 3.3볼트에 연결해 보고 그때 켜지면 공통 애노드 제품입니다.</a:t>
            </a:r>
          </a:p>
          <a:p/>
          <a:p>
            <a:r>
              <a:t>[활동] 값을 바꿔 초록만, 파랑만 켜 보게 한다. 1분.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색을 숫자로 — 0~255와 0~65535</a:t>
            </a:r>
          </a:p>
          <a:p/>
          <a:p>
            <a:r>
              <a:t>여기서 정보 교과랑 만납니다.</a:t>
            </a:r>
          </a:p>
          <a:p/>
          <a:p>
            <a:r>
              <a:t>여러분이 웹 페이지 만들 때 색을 어떻게 쓰죠? 빨강이면 255, 0, 0. 이렇게 씁니다. 각 값이 0에서 255예요.</a:t>
            </a:r>
          </a:p>
          <a:p/>
          <a:p>
            <a:r>
              <a:t>[발문] 왜 하필 255까지일까요? 5차시에 비슷한 얘기 했는데요.</a:t>
            </a:r>
          </a:p>
          <a:p/>
          <a:p>
            <a:r>
              <a:t>8비트입니다. 2의 8제곱은 256가지, 0부터 세니까 마지막이 255예요. 지난 시간 65535가 16비트였던 것과 같은 이야기입니다.</a:t>
            </a:r>
          </a:p>
          <a:p/>
          <a:p>
            <a:r>
              <a:t>그런데 우리 duty_u16은 0에서 65535죠. 범위가 다릅니다. 그래서 변환이 필요해요.</a:t>
            </a:r>
          </a:p>
          <a:p/>
          <a:p>
            <a:r>
              <a:t>[지시] 가운데 × 257을 짚는다.</a:t>
            </a:r>
          </a:p>
          <a:p/>
          <a:p>
            <a:r>
              <a:t>방법은 아주 간단합니다. 257을 곱하면 됩니다.</a:t>
            </a:r>
          </a:p>
          <a:p/>
          <a:p>
            <a:r>
              <a:t>[발문] 왜 하필 257일까요?</a:t>
            </a:r>
          </a:p>
          <a:p/>
          <a:p>
            <a:r>
              <a:t>255 곱하기 257이 정확히 65535이기 때문입니다. 계산해 보세요. 딱 맞아떨어집니다. 그래서 웹 값 255를 넣으면 duty 최대값이 정확히 나와요.</a:t>
            </a:r>
          </a:p>
          <a:p/>
          <a:p>
            <a:r>
              <a:t>아래 표를 보세요. 0은 0, 128은 32896, 255는 65535. 이제 웹에서 본 색 값을 그대로 가져다 쓸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세 숫자로 만드는 여덟 가지 색</a:t>
            </a:r>
          </a:p>
          <a:p/>
          <a:p>
            <a:r>
              <a:t>R, G, B를 각각 최대나 0으로만 두어도 여덟 가지 색이 나옵니다. 2 곱하기 2 곱하기 2, 여덟 가지죠.</a:t>
            </a:r>
          </a:p>
          <a:p/>
          <a:p>
            <a:r>
              <a:t>위에서부터 기본 세 색. 빨강, 초록, 파랑.</a:t>
            </a:r>
          </a:p>
          <a:p/>
          <a:p>
            <a:r>
              <a:t>그다음이 두 개씩 섞은 것입니다. 빨강 더하기 초록은 노랑. 아까 배운 그거죠.</a:t>
            </a:r>
          </a:p>
          <a:p/>
          <a:p>
            <a:r>
              <a:t>[지시] 여기서 실제로 노랑을 만들어 보게 하면 반응이 좋다.</a:t>
            </a:r>
          </a:p>
          <a:p/>
          <a:p>
            <a:r>
              <a:t>한번 해 봅시다. red를 65535, green도 65535, blue는 0. 무슨 색이 나올까요?</a:t>
            </a:r>
          </a:p>
          <a:p/>
          <a:p>
            <a:r>
              <a:t>노랑이 나옵니다. 빨강 LED와 초록 LED가 동시에 켜져 있는데 우리 눈에는 노랑 하나로 보이는 거예요. 이게 가산혼합입니다.</a:t>
            </a:r>
          </a:p>
          <a:p/>
          <a:p>
            <a:r>
              <a:t>세 색을 다 최대로 하면 흰색, 다 0이면 꺼짐입니다.</a:t>
            </a:r>
          </a:p>
          <a:p/>
          <a:p>
            <a:r>
              <a:t>오른쪽 웹 색 코드 열을 보세요. FF가 255고 00이 0입니다. 16진수예요. 정보 시간에 배운 그겁니다. 빨강이 #FF0000인 이유가 이제 보이시죠. R자리가 FF, 나머지가 00입니다.</a:t>
            </a:r>
          </a:p>
          <a:p/>
          <a:p>
            <a:r>
              <a:t>맨 아래 줄. 최대와 0만 쓰면 여덟 가지지만, 중간값을 쓰면 훨씬 다양해집니다. 255, 127, 0은 주황이에요.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함수로 묶어 짧게 쓰기</a:t>
            </a:r>
          </a:p>
          <a:p/>
          <a:p>
            <a:r>
              <a:t>색을 하나 바꿀 때마다 세 줄씩 써야 하죠. 열 가지 색을 쓰면 서른 줄입니다. 너무 번거로워요.</a:t>
            </a:r>
          </a:p>
          <a:p/>
          <a:p>
            <a:r>
              <a:t>그래서 묶습니다. 이게 함수입니다.</a:t>
            </a:r>
          </a:p>
          <a:p/>
          <a:p>
            <a:r>
              <a:t>def set_color(r, g, b). def는 define, 정의한다는 뜻이에요. set_color라는 이름을 붙이고, 괄호 안에 r, g, b 세 개를 받겠다고 선언한 겁니다.</a:t>
            </a:r>
          </a:p>
          <a:p/>
          <a:p>
            <a:r>
              <a:t>그 아래 세 줄이 함수의 내용입니다. 들여쓰기가 되어 있죠. 이 세 줄이 set_color의 몸통입니다.</a:t>
            </a:r>
          </a:p>
          <a:p/>
          <a:p>
            <a:r>
              <a:t>[지시] 여기서 중요한 오해를 미리 짚는다.</a:t>
            </a:r>
          </a:p>
          <a:p/>
          <a:p>
            <a:r>
              <a:t>한 가지 주의할 게 있어요. def 부분은 만들기만 하는 거지 실행되는 게 아닙니다. 요리법을 적어 둔 거지 요리를 한 게 아니에요.</a:t>
            </a:r>
          </a:p>
          <a:p/>
          <a:p>
            <a:r>
              <a:t>실제로 실행되는 건 맨 아래 줄입니다. set_color(255, 255, 0). 이렇게 불러야 그때 안의 세 줄이 돌아갑니다. 255, 255, 0이니까 노랑이겠죠.</a:t>
            </a:r>
          </a:p>
          <a:p/>
          <a:p>
            <a:r>
              <a:t>그리고 곱하기 257이 함수 안에 들어가 있습니다. 그래서 우리는 이제 웹에서 본 값을 그대로 넣으면 돼요. 변환은 함수가 알아서 합니다.</a:t>
            </a:r>
          </a:p>
          <a:p/>
          <a:p>
            <a:r>
              <a:t>[지시] 실행. 노랑이 나오면 성공. 여러 색을 바꿔 가며 부르게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무지개 순환 만들기</a:t>
            </a:r>
          </a:p>
          <a:p/>
          <a:p>
            <a:r>
              <a:t>이제 색을 계속 바꿔 봅시다.</a:t>
            </a:r>
          </a:p>
          <a:p/>
          <a:p>
            <a:r>
              <a:t>첫 줄부터 네 줄까지가 색 목록입니다. colors라는 이름으로 무지개 일곱 색을 담아 뒀어요. 대괄호 안에 소괄호 묶음이 일곱 개 들어 있습니다.</a:t>
            </a:r>
          </a:p>
          <a:p/>
          <a:p>
            <a:r>
              <a:t>소괄호 하나가 색 하나예요. (255, 0, 0)은 빨강이죠.</a:t>
            </a:r>
          </a:p>
          <a:p/>
          <a:p>
            <a:r>
              <a:t>[발문] 세 번째 (255, 255, 0)은 무슨 색일까요? (답: 노랑)</a:t>
            </a:r>
          </a:p>
          <a:p/>
          <a:p>
            <a:r>
              <a:t>그다음 for c in colors. 이건 목록에서 하나씩 꺼내라는 뜻입니다. 첫 번째 반복에는 c에 빨강이 들어가고, 두 번째에는 주황이 들어가고, 그렇게 일곱 번 돕니다.</a:t>
            </a:r>
          </a:p>
          <a:p/>
          <a:p>
            <a:r>
              <a:t>c[0], c[1], c[2]는 꺼낸 색에서 R, G, B를 차례로 뽑는 겁니다. 0부터 세는 거 주의하세요.</a:t>
            </a:r>
          </a:p>
          <a:p/>
          <a:p>
            <a:r>
              <a:t>그리고 전체를 while True로 감쌌으니 일곱 색이 끝나면 다시 처음부터 돕니다.</a:t>
            </a:r>
          </a:p>
          <a:p/>
          <a:p>
            <a:r>
              <a:t>[지시] 실행. 색이 순환하는 것을 다 같이 본다. 교실 조명을 낮추면 효과가 좋다.</a:t>
            </a:r>
          </a:p>
          <a:p/>
          <a:p>
            <a:r>
              <a:t>실행하면 LED가 무지개 색으로 계속 바뀝니다. 0.5초마다요. 이 숫자를 줄이면 더 빨리 바뀝니다.</a:t>
            </a:r>
          </a:p>
          <a:p/>
          <a:p>
            <a:r>
              <a:t>[활동] sleep 값을 바꾸거나 목록에 자기 색을 추가해 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RGB LED에서 자주 막히는 것</a:t>
            </a:r>
          </a:p>
          <a:p/>
          <a:p>
            <a:r>
              <a:t>[지시] 화면이 어두워지므로 주의가 모인다. 여기서 한 번 멈춘다.</a:t>
            </a:r>
          </a:p>
          <a:p/>
          <a:p>
            <a:r>
              <a:t>오늘 문제는 거의 두 가지에서 나옵니다. 공통 다리와 저항.</a:t>
            </a:r>
          </a:p>
          <a:p/>
          <a:p>
            <a:r>
              <a:t>왼쪽부터. 가장 긴 다리를 공통으로 쓴다. 저항은 R, G, B 각각에 하나씩. 네 다리는 서로 다른 세로줄에. 색 값은 0에서 255로 쓰고 257을 곱한다.</a:t>
            </a:r>
          </a:p>
          <a:p/>
          <a:p>
            <a:r>
              <a:t>오른쪽 하면 안 되는 것. 공통 쪽에만 저항 하나 넣는 것. 이러면 색을 하나만 켤 때와 세 개 다 켤 때 밝기가 달라져서 색이 안 맞습니다.</a:t>
            </a:r>
          </a:p>
          <a:p/>
          <a:p>
            <a:r>
              <a:t>두 다리를 같은 세로줄에 꽂는 것. 그 두 색이 항상 붙어 다니게 됩니다.</a:t>
            </a:r>
          </a:p>
          <a:p/>
          <a:p>
            <a:r>
              <a:t>웹 색 값을 변환 없이 넣는 것. 255를 그대로 duty에 넣으면 65535 중에 255니까 거의 안 켜져요. 아주 어둡게만 보입니다.</a:t>
            </a:r>
          </a:p>
          <a:p/>
          <a:p>
            <a:r>
              <a:t>[지시] 맨 아래 줄을 반드시 짚는다. 학생들이 고장이라고 생각하기 쉬운 부분이다.</a:t>
            </a:r>
          </a:p>
          <a:p/>
          <a:p>
            <a:r>
              <a:t>마지막으로 하나. 세 색을 다 최대로 해서 흰색을 만들면, 순수한 흰색이 아니라 조금 붉게 보일 겁니다.</a:t>
            </a:r>
          </a:p>
          <a:p/>
          <a:p>
            <a:r>
              <a:t>[발문] 왜 그럴까요?</a:t>
            </a:r>
          </a:p>
          <a:p/>
          <a:p>
            <a:r>
              <a:t>고장이 아닙니다. 빨강 LED는 초록이나 파랑보다 낮은 전압에서도 밝게 켜지거든요. 같은 저항을 쓰면 빨강이 상대적으로 더 밝아집니다. 정확한 흰색을 원하면 빨강 값을 조금 낮추거나 빨강 쪽 저항을 더 큰 것으로 바꾸면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세 가지 도전</a:t>
            </a:r>
          </a:p>
          <a:p/>
          <a:p>
            <a:r>
              <a:t>세 가지입니다.</a:t>
            </a:r>
          </a:p>
          <a:p/>
          <a:p>
            <a:r>
              <a:t>첫째, 자기가 좋아하는 색을 만들어 보세요. 브라우저에서 색 고르는 도구를 열어도 되고, 좋아하는 사이트의 색을 가져와도 됩니다. #으로 시작하는 코드를 찾았으면 두 자리씩 끊어서 10진수로 바꾸면 됩니다. 검색하면 변환기가 많이 나와요.</a:t>
            </a:r>
          </a:p>
          <a:p/>
          <a:p>
            <a:r>
              <a:t>[지시] 색 선택 도구를 화면에 띄워 주면 진행이 빠르다.</a:t>
            </a:r>
          </a:p>
          <a:p/>
          <a:p>
            <a:r>
              <a:t>둘째, 색이 부드럽게 바뀌게 하는 겁니다. 화면 코드를 보세요. 빨강은 255에서 0으로 줄고, 초록은 0에서 255로 늘어납니다. 그러면 빨강에서 주황을 거쳐 초록으로 부드럽게 넘어가요. 5차시에 배운 페이드랑 같은 방식인데, 두 채널을 반대로 움직이는 겁니다.</a:t>
            </a:r>
          </a:p>
          <a:p/>
          <a:p>
            <a:r>
              <a:t>[발문] 초록에서 파랑으로 넘어가게 하려면 어떻게 고쳐야 할까요?</a:t>
            </a:r>
          </a:p>
          <a:p/>
          <a:p>
            <a:r>
              <a:t>셋째는 도전입니다. 4차시 버튼 회로를 다시 씁니다. 버튼을 누를 때마다 목록의 다음 색으로 넘어가게 만드는 거예요. len(colors)는 목록의 길이, 그러니까 7이 나옵니다. i가 7이 되면 0으로 되돌리는 거죠.</a:t>
            </a:r>
          </a:p>
          <a:p/>
          <a:p>
            <a:r>
              <a:t>[지시] 5분 실습. 순회한다. 첫째까지만 해도 충분하다고 안내하고, 빠른 조는 둘째, 셋째로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색이 뜻대로 안 나올 때</a:t>
            </a:r>
          </a:p>
          <a:p/>
          <a:p>
            <a:r>
              <a:t>오늘도 원인은 정해져 있습니다.</a:t>
            </a:r>
          </a:p>
          <a:p/>
          <a:p>
            <a:r>
              <a:t>1위는 공통 다리입니다. 아무 색도 안 나오면 십중팔구 이겁니다. 가장 긴 다리가 GND로 갔는지 보세요.</a:t>
            </a:r>
          </a:p>
          <a:p/>
          <a:p>
            <a:r>
              <a:t>둘째, 값과 반대로 동작하면 공통 애노드 제품입니다. 아까 배웠죠. 공통을 3.3볼트로 옮기고 코드에서 65535 빼기 v로 씁니다.</a:t>
            </a:r>
          </a:p>
          <a:p/>
          <a:p>
            <a:r>
              <a:t>셋째, 한 색만 안 나오면 그 채널만의 문제입니다. 그 다리, 그 저항, 그 점퍼선만 보면 됩니다.</a:t>
            </a:r>
          </a:p>
          <a:p/>
          <a:p>
            <a:r>
              <a:t>넷째, 아주 어둡게만 켜지면 변환을 빠뜨린 겁니다. 255를 그대로 넣으면 65535 중에 255니까 거의 안 보여요.</a:t>
            </a:r>
          </a:p>
          <a:p/>
          <a:p>
            <a:r>
              <a:t>다섯째, 두 색이 항상 같이 켜지면 그 두 다리가 같은 세로줄에 들어간 겁니다.</a:t>
            </a:r>
          </a:p>
          <a:p/>
          <a:p>
            <a:r>
              <a:t>[지시] 맨 아래 줄을 강조한다. 4차시부터 계속 강화해 온 문제 분해 습관이다.</a:t>
            </a:r>
          </a:p>
          <a:p/>
          <a:p>
            <a:r>
              <a:t>그리고 오늘의 방법. 한 색씩 따로 켜 보세요. 빨강만, 초록만, 파랑만. 세 색을 한꺼번에 보면 어디가 문제인지 알 수가 없습니다. 하나씩 확인하면 금방 찾습니다.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문장입니다.</a:t>
            </a:r>
          </a:p>
          <a:p/>
          <a:p>
            <a:r>
              <a:t>첫째, 빛의 원리를 배웠습니다. 물감과 반대로 섞을수록 밝아진다. 빨강과 초록을 섞으면 노랑이 된다는 걸 눈으로 봤죠.</a:t>
            </a:r>
          </a:p>
          <a:p/>
          <a:p>
            <a:r>
              <a:t>둘째, PWM을 세 개 썼습니다. 새로 배운 문법은 거의 없었어요. 지난 시간 것을 세 번 쓴 게 전부입니다. 이렇게 배운 것이 쌓이면서 할 수 있는 게 늘어납니다.</a:t>
            </a:r>
          </a:p>
          <a:p/>
          <a:p>
            <a:r>
              <a:t>셋째, 색 코드를 이해했습니다. 정보 시간에 그냥 외워 쓰던 #FF0000이 사실은 빨강 최대, 초록 0, 파랑 0이라는 뜻이었죠. 이제 화면의 모든 색이 이 원리로 만들어진다는 걸 알게 됐습니다.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오늘 딱 하나. 가장 긴 다리가 공통, 저항은 색마다 하나씩.</a:t>
            </a:r>
          </a:p>
          <a:p/>
          <a:p>
            <a:r>
              <a:t>[지시] 회로는 그대로 두고 보관하게 한다. 다음 시간에는 RGB LED를 그대로 두고 입력 쪽에 부품을 추가한다.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아날로그 입력 (ADC)</a:t>
            </a:r>
          </a:p>
          <a:p/>
          <a:p>
            <a:r>
              <a:t>지금까지 입력은 4차시 버튼 하나였죠. 그런데 버튼은 눌렸거나 아니거나, 두 가지뿐이었습니다.</a:t>
            </a:r>
          </a:p>
          <a:p/>
          <a:p>
            <a:r>
              <a:t>[발문] 그런데 세상에는 두 가지로 안 나뉘는 것들이 많죠. 뭐가 있을까요?</a:t>
            </a:r>
          </a:p>
          <a:p/>
          <a:p>
            <a:r>
              <a:t>온도, 밝기, 소리 크기, 볼륨 손잡이. 이런 건 정도가 있습니다. 이런 걸 아날로그라고 합니다.</a:t>
            </a:r>
          </a:p>
          <a:p/>
          <a:p>
            <a:r>
              <a:t>다음 시간에는 그걸 읽습니다. 가변저항이라는 부품을 씁니다. 손잡이를 돌리면 값이 조금씩 변하는 부품이에요. 라디오 볼륨 손잡이 같은 겁니다.</a:t>
            </a:r>
          </a:p>
          <a:p/>
          <a:p>
            <a:r>
              <a:t>오른쪽 코드 보세요. ADC라는 게 나옵니다. Analog to Digital Converter, 아날로그를 디지털로 바꾸는 장치예요.</a:t>
            </a:r>
          </a:p>
          <a:p/>
          <a:p>
            <a:r>
              <a:t>그리고 read_u16. 오늘 쓴 duty_u16과 이름이 비슷하죠. 범위도 같습니다. 0에서 65535예요. 출력할 때 쓰던 범위를 이번엔 읽는 데 씁니다.</a:t>
            </a:r>
          </a:p>
          <a:p/>
          <a:p>
            <a:r>
              <a:t>1차시에 GP26, 27, 28 세 핀만 아날로그 입력이 된다고 했던 거 기억하시나요. 드디어 그 핀을 쓰게 됩니다.</a:t>
            </a:r>
          </a:p>
          <a:p/>
          <a:p>
            <a:r>
              <a:t>[마무리] 준비물 공지 — 키트 그대로 가져오세요. 가변저항은 다음 시간에 나눠 드립니다. 오늘 만든 RGB 회로는 그대로 두시면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임베디드 랩  ·  6차시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RGB LED로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색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  <a:ea typeface="맑은 고딕"/>
                <a:cs typeface="맑은 고딕"/>
              </a:rPr>
              <a:t>세 가지 빛을 섞어 원하는 색을 만듭니다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  <a:ea typeface="맑은 고딕"/>
                <a:cs typeface="맑은 고딕"/>
              </a:rPr>
              <a:t>빛의 삼원색  ·  공통 캐소드  ·  PWM 세 개  ·  #RRGGBB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4028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37744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RGB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7" y="258775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9B0B8"/>
                </a:solidFill>
                <a:latin typeface="Consolas"/>
                <a:ea typeface="Consolas"/>
                <a:cs typeface="Consolas"/>
              </a:rPr>
              <a:t>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615184"/>
            <a:ext cx="1828800" cy="146304"/>
          </a:xfrm>
          <a:prstGeom prst="roundRect">
            <a:avLst>
              <a:gd name="adj" fmla="val 50000"/>
            </a:avLst>
          </a:prstGeom>
          <a:solidFill>
            <a:srgbClr val="15181B"/>
          </a:solidFill>
          <a:ln w="6350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3879" y="2615184"/>
            <a:ext cx="1828800" cy="146304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 w="6350">
            <a:solidFill>
              <a:srgbClr val="FF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295351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9B0B8"/>
                </a:solidFill>
                <a:latin typeface="Consolas"/>
                <a:ea typeface="Consolas"/>
                <a:cs typeface="Consolas"/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980944"/>
            <a:ext cx="1828800" cy="146304"/>
          </a:xfrm>
          <a:prstGeom prst="roundRect">
            <a:avLst>
              <a:gd name="adj" fmla="val 50000"/>
            </a:avLst>
          </a:prstGeom>
          <a:solidFill>
            <a:srgbClr val="15181B"/>
          </a:solidFill>
          <a:ln w="6350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2980944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4DFF7A"/>
          </a:solidFill>
          <a:ln w="6350">
            <a:solidFill>
              <a:srgbClr val="4DF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3319272"/>
            <a:ext cx="237744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9B0B8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3346704"/>
            <a:ext cx="1828800" cy="146304"/>
          </a:xfrm>
          <a:prstGeom prst="roundRect">
            <a:avLst>
              <a:gd name="adj" fmla="val 50000"/>
            </a:avLst>
          </a:prstGeom>
          <a:solidFill>
            <a:srgbClr val="15181B"/>
          </a:solidFill>
          <a:ln w="6350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3346704"/>
            <a:ext cx="274320" cy="146304"/>
          </a:xfrm>
          <a:prstGeom prst="roundRect">
            <a:avLst>
              <a:gd name="adj" fmla="val 50000"/>
            </a:avLst>
          </a:prstGeom>
          <a:solidFill>
            <a:srgbClr val="4D9DFF"/>
          </a:solidFill>
          <a:ln w="6350">
            <a:solidFill>
              <a:srgbClr val="4D9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7000" y="2651760"/>
            <a:ext cx="1005840" cy="1005840"/>
          </a:xfrm>
          <a:prstGeom prst="ellipse">
            <a:avLst/>
          </a:prstGeom>
          <a:noFill/>
          <a:ln w="9525">
            <a:solidFill>
              <a:srgbClr val="FF7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78440" y="2743200"/>
            <a:ext cx="822960" cy="822960"/>
          </a:xfrm>
          <a:prstGeom prst="ellipse">
            <a:avLst/>
          </a:prstGeom>
          <a:solidFill>
            <a:srgbClr val="FF7326"/>
          </a:solidFill>
          <a:ln w="9525">
            <a:solidFill>
              <a:srgbClr val="FF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3785615"/>
            <a:ext cx="109728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#FF7326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빛의 삼원색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물감과 달리 빛은 섞을수록 밝아진다는 것을 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RGB LED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다리 네 개 중 공통 다리를 찾고 방향을 판단한다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PWM 세 개 다루기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R·G·B 각각에 PWM을 걸어 색을 만든다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색을 숫자로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0~255와 0~65535의 관계를 이해하고 변환한다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함수로 묶기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set_color 함수를 만들어 코드를 짧게 줄인다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5차시에는 PWM으로 밝기를 만들었습니다. 오늘은 그 PWM을 세 개 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PWM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시간을 나눈다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빠르게 켰다 껐다 해서 중간 밝기를 만듭니다.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duty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밝기를 정한다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0부터 65535까지. 클수록 밝습니다.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freq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깜빡임을 정한다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1000Hz면 깜빡임이 보이지 않습니다.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저항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여전히 필요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PWM은 전류를 제한해 주지 않습니다.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오늘은 저항이 세 개 필요합니다.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빨강·초록·파랑 각각에 220Ω을 하나씩 넣습니다. 하나로 몰아 쓰면 색이 서로 간섭합니다.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빛의 삼원색 — 섞을수록 밝아진다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물감은 섞을수록 어두워지지만, 빛은 반대입니다. 이 차이를 먼저 이해해야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651760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감산혼합  ·  물감과 잉크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615184"/>
            <a:ext cx="530352" cy="530352"/>
          </a:xfrm>
          <a:prstGeom prst="ellipse">
            <a:avLst/>
          </a:prstGeom>
          <a:solidFill>
            <a:srgbClr val="00AEE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9072" y="2615184"/>
            <a:ext cx="530352" cy="530352"/>
          </a:xfrm>
          <a:prstGeom prst="ellipse">
            <a:avLst/>
          </a:prstGeom>
          <a:solidFill>
            <a:srgbClr val="EC008C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40864" y="2615184"/>
            <a:ext cx="530352" cy="530352"/>
          </a:xfrm>
          <a:prstGeom prst="ellipse">
            <a:avLst/>
          </a:prstGeom>
          <a:solidFill>
            <a:srgbClr val="FFF2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724912"/>
            <a:ext cx="4572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2615184"/>
            <a:ext cx="530352" cy="530352"/>
          </a:xfrm>
          <a:prstGeom prst="ellipse">
            <a:avLst/>
          </a:prstGeom>
          <a:solidFill>
            <a:srgbClr val="2B2B2B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83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검정에 가까워집니다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빛을 흡수하기 때문에 섞을수록 어두워집니다.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65960"/>
            <a:ext cx="528523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가산혼합  ·  빛</a:t>
            </a:r>
          </a:p>
        </p:txBody>
      </p:sp>
      <p:sp>
        <p:nvSpPr>
          <p:cNvPr id="16" name="Oval 15"/>
          <p:cNvSpPr/>
          <p:nvPr/>
        </p:nvSpPr>
        <p:spPr>
          <a:xfrm>
            <a:off x="6629400" y="2615184"/>
            <a:ext cx="530352" cy="530352"/>
          </a:xfrm>
          <a:prstGeom prst="ellipse">
            <a:avLst/>
          </a:prstGeom>
          <a:solidFill>
            <a:srgbClr val="FF00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51192" y="2615184"/>
            <a:ext cx="530352" cy="530352"/>
          </a:xfrm>
          <a:prstGeom prst="ellipse">
            <a:avLst/>
          </a:prstGeom>
          <a:solidFill>
            <a:srgbClr val="00FF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72983" y="2615184"/>
            <a:ext cx="530352" cy="530352"/>
          </a:xfrm>
          <a:prstGeom prst="ellipse">
            <a:avLst/>
          </a:prstGeom>
          <a:solidFill>
            <a:srgbClr val="0000F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724912"/>
            <a:ext cx="4572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189720" y="2615184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흰색이 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404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빛을 더하기 때문에 섞을수록 밝아집니다.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46320"/>
            <a:ext cx="338328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5102352"/>
            <a:ext cx="475488" cy="4754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90472" y="521208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26" name="Oval 25"/>
          <p:cNvSpPr/>
          <p:nvPr/>
        </p:nvSpPr>
        <p:spPr>
          <a:xfrm>
            <a:off x="1783080" y="5102352"/>
            <a:ext cx="475488" cy="475488"/>
          </a:xfrm>
          <a:prstGeom prst="ellipse">
            <a:avLst/>
          </a:prstGeom>
          <a:solidFill>
            <a:srgbClr val="00FF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521208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=</a:t>
            </a:r>
          </a:p>
        </p:txBody>
      </p:sp>
      <p:sp>
        <p:nvSpPr>
          <p:cNvPr id="28" name="Oval 27"/>
          <p:cNvSpPr/>
          <p:nvPr/>
        </p:nvSpPr>
        <p:spPr>
          <a:xfrm>
            <a:off x="2624328" y="5102352"/>
            <a:ext cx="475488" cy="475488"/>
          </a:xfrm>
          <a:prstGeom prst="ellipse">
            <a:avLst/>
          </a:prstGeom>
          <a:solidFill>
            <a:srgbClr val="FFFF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5212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노랑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2836" y="4846320"/>
            <a:ext cx="338328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77156" y="5102352"/>
            <a:ext cx="475488" cy="475488"/>
          </a:xfrm>
          <a:prstGeom prst="ellipse">
            <a:avLst/>
          </a:prstGeom>
          <a:solidFill>
            <a:srgbClr val="00FF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07508" y="521208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33" name="Oval 32"/>
          <p:cNvSpPr/>
          <p:nvPr/>
        </p:nvSpPr>
        <p:spPr>
          <a:xfrm>
            <a:off x="5500116" y="5102352"/>
            <a:ext cx="475488" cy="475488"/>
          </a:xfrm>
          <a:prstGeom prst="ellipse">
            <a:avLst/>
          </a:prstGeom>
          <a:solidFill>
            <a:srgbClr val="0000F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48756" y="521208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=</a:t>
            </a:r>
          </a:p>
        </p:txBody>
      </p:sp>
      <p:sp>
        <p:nvSpPr>
          <p:cNvPr id="35" name="Oval 34"/>
          <p:cNvSpPr/>
          <p:nvPr/>
        </p:nvSpPr>
        <p:spPr>
          <a:xfrm>
            <a:off x="6341364" y="5102352"/>
            <a:ext cx="475488" cy="475488"/>
          </a:xfrm>
          <a:prstGeom prst="ellipse">
            <a:avLst/>
          </a:prstGeom>
          <a:solidFill>
            <a:srgbClr val="00FFF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17436" y="5212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청록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9872" y="4846320"/>
            <a:ext cx="338328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94192" y="5102352"/>
            <a:ext cx="475488" cy="475488"/>
          </a:xfrm>
          <a:prstGeom prst="ellipse">
            <a:avLst/>
          </a:prstGeom>
          <a:solidFill>
            <a:srgbClr val="FF00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4544" y="521208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40" name="Oval 39"/>
          <p:cNvSpPr/>
          <p:nvPr/>
        </p:nvSpPr>
        <p:spPr>
          <a:xfrm>
            <a:off x="9217152" y="5102352"/>
            <a:ext cx="475488" cy="475488"/>
          </a:xfrm>
          <a:prstGeom prst="ellipse">
            <a:avLst/>
          </a:prstGeom>
          <a:solidFill>
            <a:srgbClr val="0000F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65792" y="521208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=</a:t>
            </a:r>
          </a:p>
        </p:txBody>
      </p:sp>
      <p:sp>
        <p:nvSpPr>
          <p:cNvPr id="42" name="Oval 41"/>
          <p:cNvSpPr/>
          <p:nvPr/>
        </p:nvSpPr>
        <p:spPr>
          <a:xfrm>
            <a:off x="10058400" y="5102352"/>
            <a:ext cx="475488" cy="475488"/>
          </a:xfrm>
          <a:prstGeom prst="ellipse">
            <a:avLst/>
          </a:prstGeom>
          <a:solidFill>
            <a:srgbClr val="FF00F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34472" y="52120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자홍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RGB LED — 안에 LED가 세 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겉보기에는 LED 하나지만 안에 빨강·초록·파랑이 따로 들어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029200" cy="3337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2468880"/>
            <a:ext cx="1005840" cy="1005840"/>
          </a:xfrm>
          <a:prstGeom prst="ellipse">
            <a:avLst/>
          </a:prstGeom>
          <a:solidFill>
            <a:srgbClr val="EDEFF1"/>
          </a:solidFill>
          <a:ln w="1270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834640"/>
            <a:ext cx="182880" cy="182880"/>
          </a:xfrm>
          <a:prstGeom prst="ellipse">
            <a:avLst/>
          </a:prstGeom>
          <a:solidFill>
            <a:srgbClr val="FF0000"/>
          </a:solidFill>
          <a:ln w="6350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2834640"/>
            <a:ext cx="182880" cy="182880"/>
          </a:xfrm>
          <a:prstGeom prst="ellipse">
            <a:avLst/>
          </a:prstGeom>
          <a:solidFill>
            <a:srgbClr val="00FF00"/>
          </a:solidFill>
          <a:ln w="6350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99232" y="2834640"/>
            <a:ext cx="182880" cy="182880"/>
          </a:xfrm>
          <a:prstGeom prst="ellipse">
            <a:avLst/>
          </a:prstGeom>
          <a:solidFill>
            <a:srgbClr val="0000FF"/>
          </a:solidFill>
          <a:ln w="6350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95728" y="3456432"/>
            <a:ext cx="54864" cy="64008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526280"/>
            <a:ext cx="6400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3456432"/>
            <a:ext cx="54864" cy="96012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4526280"/>
            <a:ext cx="6400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3456432"/>
            <a:ext cx="54864" cy="64008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4526280"/>
            <a:ext cx="6400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3456432"/>
            <a:ext cx="54864" cy="640080"/>
          </a:xfrm>
          <a:prstGeom prst="rect">
            <a:avLst/>
          </a:prstGeom>
          <a:solidFill>
            <a:srgbClr val="9AA0A6"/>
          </a:solidFill>
          <a:ln w="50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526280"/>
            <a:ext cx="64008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3776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가장 긴 다리가 공통입니다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7568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LED 세 개가 한 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빨강·초록·파랑 LED가 하나의 투명 몸통 안에 들어 있습니다.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5989320" y="3154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3154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7296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다리는 네 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R·G·B 각각의 다리 하나씩, 그리고 셋이 함께 쓰는 공통 다리 하나입니다.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59893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7024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순서는 R · 공통 · G ·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1772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공통 다리가 가장 길어서 눈으로 바로 찾을 수 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밝기를 따로 조절할 수 있으니, 세 값의 조합으로 어떤 색이든 만들 수 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공통 다리를 어디에 연결할까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제품에 따라 공통 다리가 − 인 것과 + 인 것이 있습니다. 우리는 − 쪽을 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공통 캐소드  ·  우리가 쓰는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237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공통 다리 → GND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17520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9601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200400"/>
            <a:ext cx="41148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3017520"/>
            <a:ext cx="914400" cy="402336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017520"/>
            <a:ext cx="91440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200400"/>
            <a:ext cx="41148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3017520"/>
            <a:ext cx="914400" cy="402336"/>
          </a:xfrm>
          <a:prstGeom prst="roundRect">
            <a:avLst>
              <a:gd name="adj" fmla="val 14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017520"/>
            <a:ext cx="91440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200400"/>
            <a:ext cx="3200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83480" y="3017520"/>
            <a:ext cx="777240" cy="402336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3017520"/>
            <a:ext cx="77724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49039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duty 값이 클수록 밝아집니다. 숫자와 밝기가 그대로 이어집니다.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965960"/>
            <a:ext cx="5285232" cy="2834640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공통 애노드  ·  값이 뒤집히는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52374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공통 다리 → 3V3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017520"/>
            <a:ext cx="960120" cy="402336"/>
          </a:xfrm>
          <a:prstGeom prst="roundRect">
            <a:avLst>
              <a:gd name="adj" fmla="val 14000"/>
            </a:avLst>
          </a:prstGeom>
          <a:solidFill>
            <a:srgbClr val="9AA0A6"/>
          </a:solidFill>
          <a:ln w="1270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017520"/>
            <a:ext cx="96012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3200400"/>
            <a:ext cx="41148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79" y="3017520"/>
            <a:ext cx="914400" cy="4023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017520"/>
            <a:ext cx="91440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200400"/>
            <a:ext cx="41148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81160" y="3017520"/>
            <a:ext cx="914400" cy="402336"/>
          </a:xfrm>
          <a:prstGeom prst="roundRect">
            <a:avLst>
              <a:gd name="adj" fmla="val 14000"/>
            </a:avLst>
          </a:prstGeom>
          <a:solidFill>
            <a:srgbClr val="C4C8CC"/>
          </a:solidFill>
          <a:ln w="12700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81160" y="3017520"/>
            <a:ext cx="91440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95560" y="3200400"/>
            <a:ext cx="3200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15600" y="3017520"/>
            <a:ext cx="777240" cy="402336"/>
          </a:xfrm>
          <a:prstGeom prst="roundRect">
            <a:avLst>
              <a:gd name="adj" fmla="val 14000"/>
            </a:avLst>
          </a:prstGeom>
          <a:solidFill>
            <a:srgbClr val="9AA0A6"/>
          </a:solidFill>
          <a:ln w="1270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3017520"/>
            <a:ext cx="77724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49039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duty 값이 클수록 어두워집니다. 코드에서 65535 − v 로 뒤집어야 합니다.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2920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24865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어느 쪽인지 확인하는 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5229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공통 다리를 GND에 연결한 뒤 빨강 채널만 켜 보세요. 빨간불이 들어오면 공통 캐소드, 아무 반응이 없으면 공통 애노드입니다.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만들 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3차시 LED를 빼고 그 자리에 RGB LED를 꽂습니다. 저항은 세 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2194560"/>
            <a:ext cx="1005840" cy="347472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194560"/>
            <a:ext cx="100584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2350008"/>
            <a:ext cx="4572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60" y="2194560"/>
            <a:ext cx="914400" cy="347472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9144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2350008"/>
            <a:ext cx="4572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52160" y="2194560"/>
            <a:ext cx="868680" cy="347472"/>
          </a:xfrm>
          <a:prstGeom prst="roundRect">
            <a:avLst>
              <a:gd name="adj" fmla="val 14000"/>
            </a:avLst>
          </a:prstGeom>
          <a:solidFill>
            <a:srgbClr val="FF0000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194560"/>
            <a:ext cx="8686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651760"/>
            <a:ext cx="1005840" cy="347472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651760"/>
            <a:ext cx="100584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807208"/>
            <a:ext cx="4572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80560" y="2651760"/>
            <a:ext cx="914400" cy="347472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9144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2807208"/>
            <a:ext cx="4572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2651760"/>
            <a:ext cx="868680" cy="347472"/>
          </a:xfrm>
          <a:prstGeom prst="roundRect">
            <a:avLst>
              <a:gd name="adj" fmla="val 14000"/>
            </a:avLst>
          </a:prstGeom>
          <a:solidFill>
            <a:srgbClr val="00FF00"/>
          </a:solidFill>
          <a:ln w="12700">
            <a:solidFill>
              <a:srgbClr val="00F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2651760"/>
            <a:ext cx="8686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3108960"/>
            <a:ext cx="1005840" cy="347472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108960"/>
            <a:ext cx="100584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3264408"/>
            <a:ext cx="4572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0560" y="3108960"/>
            <a:ext cx="914400" cy="347472"/>
          </a:xfrm>
          <a:prstGeom prst="roundRect">
            <a:avLst>
              <a:gd name="adj" fmla="val 1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108960"/>
            <a:ext cx="91440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220Ω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94960" y="3264408"/>
            <a:ext cx="4572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852160" y="3108960"/>
            <a:ext cx="868680" cy="347472"/>
          </a:xfrm>
          <a:prstGeom prst="roundRect">
            <a:avLst>
              <a:gd name="adj" fmla="val 14000"/>
            </a:avLst>
          </a:prstGeom>
          <a:solidFill>
            <a:srgbClr val="000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3108960"/>
            <a:ext cx="868680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615184"/>
            <a:ext cx="4572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2395728"/>
            <a:ext cx="141732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2395728"/>
            <a:ext cx="1417320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RGB 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15400" y="2743200"/>
            <a:ext cx="45720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72600" y="2542032"/>
            <a:ext cx="1097280" cy="438912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2542032"/>
            <a:ext cx="109728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69880" y="2743200"/>
            <a:ext cx="3200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789920" y="2542032"/>
            <a:ext cx="777240" cy="438912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0" y="2542032"/>
            <a:ext cx="777240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7033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370332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한쪽 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70332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다른 쪽 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977639"/>
            <a:ext cx="10817352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68680" y="4078224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07822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98448" y="4105655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411480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GP13 (17번 핀)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123944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11480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저항 → RGB LED의 R 다리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4526279"/>
            <a:ext cx="10817352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68680" y="4626864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462686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98448" y="4654295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466344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GP14 (19번 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4672583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66344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저항 → RGB LED의 G 다리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5074920"/>
            <a:ext cx="10817352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8680" y="5175504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17550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98448" y="520293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52120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GP15 (20번 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5221224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521208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저항 → RGB LED의 B 다리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5623559"/>
            <a:ext cx="10817352" cy="475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68680" y="5724144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" y="572414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98448" y="5751575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0" y="576072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RGB LED의 공통 다리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0" y="5769864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576072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GND (18번 핀)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GP13·GP14·GP15는 3차시 신호등 실습에서 쓴 그 세 핀입니다. GND는 그 사이 18번 핀입니다.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배선하는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지난 시간과 같습니다. 전원을 뽑고 시작해 마지막에 연결합니다.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12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USB 케이블을 뽑습니다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305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3차시 LED와 저항을 빼고 자리를 비웁니다.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437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RGB LED를 꽂습니다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62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네 다리가 각각 다른 세로줄에 들어가도록 꽂습니다.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204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저항 세 개를 꽂습니다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93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R·G·B 다리가 있는 줄과 점퍼선이 올 줄에 걸쳐 꽂습니다.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 네 개를 연결합니다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3251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GP13·GP14·GP15 각각, 그리고 공통 다리 → GND.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9834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834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38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확인한 뒤 USB를 연결합니다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0566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공통 다리가 GND로 갔는지 한 번 더 봅니다.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15000"/>
            <a:ext cx="10817352" cy="68580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916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네 다리를 모두 다른 세로줄에 꽂으세요.  </a:t>
            </a: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두 다리가 같은 줄에 들어가면 그 두 색이 항상 함께 켜집니다.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PWM 세 개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지난 시간에 하나 만들던 것을 세 번 하면 됩니다. 새 문법은 없습니다.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669280" cy="292608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rgb_basic.py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Pin,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red   = PWM(Pin(13), freq=1000)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73551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green = PWM(Pin(14), freq=1000)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47871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blue  = PWM(Pin(15), freq=1000)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96511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red.duty_u16(65535)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70831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green.duty_u16(0)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645151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blue.duty_u16(0)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3~5행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057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PWM 세 개를 만든다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31720"/>
            <a:ext cx="3685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이름을 red·green·blue로 지으면 헷갈리지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7889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freq=1000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788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만들 때 함께 지정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063239"/>
            <a:ext cx="3685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따로 freq()를 부르지 않아도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7~9행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520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세 값을 정한다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794760"/>
            <a:ext cx="3685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빨강만 최대, 나머지는 0. 빨간색이 켜집니다.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2519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바꿔 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251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값을 서로 바꾸면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526280"/>
            <a:ext cx="3685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초록만 켜기, 파랑만 켜기도 해 보세요.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16636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빨강만 켜지지 않는다면 공통 다리를 의심하세요. 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GND 대신 3V3에 연결해 보고 그때 켜지면 공통 애노드 제품입니다.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색을 숫자로 — 0~255와 0~65535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웹에서 쓰는 색 값은 0~255입니다. duty_u16은 0~65535입니다. 둘을 이어야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7627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웹의 색 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0 ~ 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9923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8비트  ·  256가지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542032"/>
            <a:ext cx="822960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× 257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2944368"/>
            <a:ext cx="960120" cy="228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03580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17627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duty_u16의 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48716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0 ~ 65535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99923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16비트  ·  65536가지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212848"/>
            <a:ext cx="2331720" cy="12801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39572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왜 257인가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670048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255 × 257 이 정확히 65535이기 때문입니다.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77639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웹 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77639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duty_u16 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977639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79392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165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4165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4256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꺼짐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834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128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8348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32896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99262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절반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13248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5504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5504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65535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5595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최대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COLOR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세 숫자로 만드는 여덟 가지 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R·G·B 값을 최대(255) 또는 0으로만 조합해도 여덟 가지 색이 나옵니다.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874519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874519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874519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74519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74519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웹 색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874519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메모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39696"/>
            <a:ext cx="1081735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221991"/>
            <a:ext cx="256032" cy="256032"/>
          </a:xfrm>
          <a:prstGeom prst="ellipse">
            <a:avLst/>
          </a:prstGeom>
          <a:solidFill>
            <a:srgbClr val="FF0000"/>
          </a:solidFill>
          <a:ln w="9525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24027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빨강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2494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494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494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49424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#FF0000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585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기본색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624328"/>
            <a:ext cx="1081735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2706624"/>
            <a:ext cx="256032" cy="256032"/>
          </a:xfrm>
          <a:prstGeom prst="ellipse">
            <a:avLst/>
          </a:prstGeom>
          <a:solidFill>
            <a:srgbClr val="00FF00"/>
          </a:solidFill>
          <a:ln w="9525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27249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초록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73405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73405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3405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73405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#00FF00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74320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기본색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108960"/>
            <a:ext cx="1081735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3191256"/>
            <a:ext cx="256032" cy="256032"/>
          </a:xfrm>
          <a:prstGeom prst="ellipse">
            <a:avLst/>
          </a:prstGeom>
          <a:solidFill>
            <a:srgbClr val="0000FF"/>
          </a:solidFill>
          <a:ln w="9525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320954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파랑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21868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21868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1868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1868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#0000FF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22783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기본색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593591"/>
            <a:ext cx="1081735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96112" y="3675887"/>
            <a:ext cx="256032" cy="256032"/>
          </a:xfrm>
          <a:prstGeom prst="ellipse">
            <a:avLst/>
          </a:prstGeom>
          <a:solidFill>
            <a:srgbClr val="FFFF00"/>
          </a:solidFill>
          <a:ln w="9525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36941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노랑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70332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70332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370332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70332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#FFFF00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712463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 + 초록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078224"/>
            <a:ext cx="1081735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6112" y="4160520"/>
            <a:ext cx="256032" cy="256032"/>
          </a:xfrm>
          <a:prstGeom prst="ellipse">
            <a:avLst/>
          </a:prstGeom>
          <a:solidFill>
            <a:srgbClr val="00FFFF"/>
          </a:solidFill>
          <a:ln w="9525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417880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청록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187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187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418795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18795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#00FFFF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19709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초록 + 파랑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4562856"/>
            <a:ext cx="1081735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6112" y="4645152"/>
            <a:ext cx="256032" cy="256032"/>
          </a:xfrm>
          <a:prstGeom prst="ellipse">
            <a:avLst/>
          </a:prstGeom>
          <a:solidFill>
            <a:srgbClr val="FF00FF"/>
          </a:solidFill>
          <a:ln w="9525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0" y="46634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자홍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6240" y="467258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20640" y="467258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467258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672584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#FF00FF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468172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 + 파랑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5047488"/>
            <a:ext cx="1081735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96112" y="5129783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80160" y="51480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흰색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515721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0" y="515721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5040" y="515721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255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515721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#FFFFFF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09760" y="5166359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세 색 모두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5800" y="5532120"/>
            <a:ext cx="1081735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6112" y="5614416"/>
            <a:ext cx="256032" cy="256032"/>
          </a:xfrm>
          <a:prstGeom prst="ellipse">
            <a:avLst/>
          </a:prstGeom>
          <a:solidFill>
            <a:srgbClr val="2B2B2B"/>
          </a:solidFill>
          <a:ln w="9525">
            <a:solidFill>
              <a:srgbClr val="B9BE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0160" y="563270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꺼짐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0" y="564184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20640" y="564184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0" y="564184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0" y="564184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#000000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09760" y="565099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모두 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61081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중간값을 쓰면 훨씬 다양한 색이 나옵니다. 255·127·0 은 주황, 128·0·255 는 보라입니다.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함수로 묶어 짧게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색을 바꿀 때마다 세 줄씩 쓰기는 번거롭습니다. 하나로 묶어 봅시다.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035040" cy="32461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rgb_color.py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Pin,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146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294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red   = PWM(Pin(13), freq=1000)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green = PWM(Pin(14), freq=1000)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442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blue  = PWM(Pin(15), freq=1000)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3590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def set_color(r, g, b):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4164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red.duty_u16(r * 257)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4738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green.duty_u16(g * 257)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53127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blue.duty_u16(b * 257)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64607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set_color(255, 255, 0)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21488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1488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16712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def 는 함수를 만든다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51460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이름을 붙여 여러 줄을 하나로 묶습니다. 만들기만 하고 실행하지는 않습니다.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3200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3200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21868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 · g · b 는 받는 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56616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부를 때 넣어 준 숫자가 이 자리에 들어갑니다.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27024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× 257 은 안에서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61772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이제 웹 색 값을 그대로 넣으면 됩니다. 변환은 함수가 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40680"/>
            <a:ext cx="10817352" cy="82296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6967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이제 색 하나를 바꾸는 데 한 줄이면 됩니다. 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set_color(0, 0, 255) 는 파랑, set_color(255, 127, 0) 은 주황입니다.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무지개 순환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색 목록을 만들어 두고 차례대로 불러 주면, 색이 계속 바뀝니다.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035040" cy="292608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rainbow.py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colors = [(255, 0, 0), (255, 127, 0),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2491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(255, 255, 0), (0, 255, 0),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(0, 0, 255), (75, 0, 130),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73551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(148, 0, 211)]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1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96511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for c in colors: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70831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set_color(c[0], c[1], c[2])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45151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sleep(0.5)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21031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1031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12140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colors 는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50591"/>
            <a:ext cx="39136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색 일곱 개를 순서대로 담아 둔 목록입니다. 대괄호로 만듭니다.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0" y="3108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108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12724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for c in colors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456432"/>
            <a:ext cx="39136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목록에서 색을 하나씩 꺼내 c에 담습니다. 일곱 번 반복됩니다.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7086600" y="41148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1148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133087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c[0] · c[1] · c[2]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462272"/>
            <a:ext cx="39136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꺼낸 색에서 R·G·B 값을 차례로 뽑아 함수에 넘깁니다.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1097280" y="5138928"/>
            <a:ext cx="530352" cy="530352"/>
          </a:xfrm>
          <a:prstGeom prst="ellipse">
            <a:avLst/>
          </a:prstGeom>
          <a:solidFill>
            <a:srgbClr val="FF00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10512" y="5138928"/>
            <a:ext cx="530352" cy="530352"/>
          </a:xfrm>
          <a:prstGeom prst="ellipse">
            <a:avLst/>
          </a:prstGeom>
          <a:solidFill>
            <a:srgbClr val="FF7F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23744" y="5138928"/>
            <a:ext cx="530352" cy="530352"/>
          </a:xfrm>
          <a:prstGeom prst="ellipse">
            <a:avLst/>
          </a:prstGeom>
          <a:solidFill>
            <a:srgbClr val="FFFF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36976" y="5138928"/>
            <a:ext cx="530352" cy="530352"/>
          </a:xfrm>
          <a:prstGeom prst="ellipse">
            <a:avLst/>
          </a:prstGeom>
          <a:solidFill>
            <a:srgbClr val="00FF00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950208" y="5138928"/>
            <a:ext cx="530352" cy="530352"/>
          </a:xfrm>
          <a:prstGeom prst="ellipse">
            <a:avLst/>
          </a:prstGeom>
          <a:solidFill>
            <a:srgbClr val="0000F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40" y="5138928"/>
            <a:ext cx="530352" cy="530352"/>
          </a:xfrm>
          <a:prstGeom prst="ellipse">
            <a:avLst/>
          </a:prstGeom>
          <a:solidFill>
            <a:srgbClr val="4B0082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76672" y="5138928"/>
            <a:ext cx="530352" cy="530352"/>
          </a:xfrm>
          <a:prstGeom prst="ellipse">
            <a:avLst/>
          </a:prstGeom>
          <a:solidFill>
            <a:srgbClr val="9400D3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23036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빨강 → 주황 → 노랑 → 초록 → 파랑 → 남색 → 보라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577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0.5초마다 다음 색으로 넘어갑니다.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RGB LED에서 자주 막히는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오늘 문제의 대부분은 공통 다리와 저항, 두 가지에서 나옵니다.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  <a:ea typeface="맑은 고딕"/>
                <a:cs typeface="맑은 고딕"/>
              </a:rPr>
              <a:t>해야 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가장 긴 다리를 공통으로 쓰기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R·G·B 각각에 저항 하나씩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네 다리를 다른 세로줄에 꽂기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색 값은 0~255로 쓰고 ×257 변환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  <a:ea typeface="맑은 고딕"/>
                <a:cs typeface="맑은 고딕"/>
              </a:rPr>
              <a:t>하면 안 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공통 쪽에만 저항 하나 넣기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저항 없이 바로 연결하기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두 다리를 같은 세로줄에 꽂기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웹 색 값을 변환 없이 그대로 넣기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흰색이 조금 붉게 보이는 것은 고장이 아닙니다. 빨강이 더 낮은 전압에서도 밝게 켜지기 때문입니다.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실습 — 세 가지 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순서대로 해 보세요. 세 번째는 4차시 버튼 회로를 다시 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내가 좋아하는 색 만들기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28416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웹에서 색 코드 찾기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584448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예: #7B68EE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4096512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set_color(123, 104, 238)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웹에서 마음에 드는 색을 하나 골라 그 값을 그대로 넣어 보세요.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836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77156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7156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7156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색이 부드럽게 바뀌게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77156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1748" y="3328416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for v in range(0, 256, 5):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1748" y="3584448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set_color(255 - v, v,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3840480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    sleep(0.02)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7156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빨강에서 초록으로 서서히 넘어갑니다. 한쪽은 줄이고 한쪽은 늘리는 것입니다.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94192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도전 — 버튼으로 색 바꾸기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94192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8784" y="3328416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btn.value() == 1: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8784" y="3584448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 = i + 1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3840480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if i &gt;= len(colors):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4096512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 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4352544"/>
            <a:ext cx="2651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    sleep(0.3)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누를 때마다 목록의 다음 색으로 넘어가게 만들어 보세요.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색이 뜻대로 안 나올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위에서부터 순서대로 확인하세요. 오늘은 공통 다리가 1위 원인입니다.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아무 색도 안 나온다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공통 다리가 GND에 없다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가장 긴 다리와 GND 연결을 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값과 반대로 동작한다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공통 애노드 제품이다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공통을 3V3에 두고 65535 − v 로 씁니다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한 색만 안 나온다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그 채널 저항이나 배선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해당 다리 · 저항 · 점퍼선을 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아주 어둡게만 켜진다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×257 변환을 안 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set_color 안의 r * 257 을 확인합니다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두 색이 항상 함께 켜진다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두 다리가 같은 줄에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네 다리를 서로 다른 줄로 옮깁니다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한 색씩 따로 켜서 확인하세요. 세 색을 한꺼번에 보면 어디가 문제인지 알 수 없습니다.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PWM 하나로 밝기를 만들었다면, 세 개로는 색을 만들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빛의 원리를 배웠다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빛은 물감과 달리 섞을수록 밝아진다는 것을 눈으로 확인했습니다.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PWM을 세 개 썼다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지난 시간 배운 것을 그대로 세 번 적용해 색을 만들었습니다.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색 코드를 이해했다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웹에서 쓰던 #FF0000이 무엇을 뜻하는지 알게 되었습니다.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가장 긴 다리가 공통, 저항은 색마다 하나씩.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다음 시간 — 아날로그 입력 (ADC)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지금까지 입력은 눌렸다 또는 아니다, 둘뿐이었습니다. 다음 시간에는 정도를 읽습니다.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아날로그란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버튼처럼 0 또는 1이 아니라, 그 사이의 값을 그대로 읽습니다.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가변저항 돌리기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손잡이를 돌린 만큼 값이 변하는 부품을 읽어 봅니다.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읽은 값으로 제어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돌린 만큼 LED 밝기가 바뀌게 만듭니다. 입력과 출력이 이어집니다.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7차시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ADC, Pin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7121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knob = ADC(Pin(26))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14553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v = knob.read_u16()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1985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0 ~ 65535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8862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1차시에 예고한 GP26·27·28, 그 세 핀을 드디어 씁니다. 값의 범위는 오늘과 같습니다.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다음 시간 준비물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데이터용 micro USB 케이블 · 오늘 쓴 키트 그대로  (가변저항은 추가로 배부합니다)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